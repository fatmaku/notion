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day: LiveFX 2.1" id="{977209e9-0636-125d-c096-ff4f87a23a21}">
          <p14:sldIdLst>
            <p14:sldId id="256"/>
            <p14:sldId id="257"/>
            <p14:sldId id="258"/>
            <p14:sldId id="259"/>
            <p14:sldId id="260"/>
            <p14:sldId id="261"/>
            <p14:sldId id="262"/>
            <p14:sldId id="263"/>
            <p14:sldId id="264"/>
            <p14:sldId id="265"/>
            <p14:sldId id="266"/>
          </p14:sldIdLst>
        </p14:section>
        <p14:section name="Vision 2027–2029" id="{636b83da-d500-508c-1222-6a2868c56373}">
          <p14:sldIdLst>
            <p14:sldId id="267"/>
            <p14:sldId id="268"/>
            <p14:sldId id="269"/>
            <p14:sldId id="270"/>
          </p14:sldIdLst>
        </p14:section>
        <p14:section name="Team and ask" id="{1db3909e-7dca-215f-7797-8668318a8739}">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Arial"/>
              </a:defRPr>
            </a:pPr>
            <a:r>
              <a:rPr sz="1100" b="0" i="0" u="none" strike="noStrike">
                <a:solidFill>
                  <a:srgbClr val="FFFFFF"/>
                </a:solidFill>
                <a:latin typeface="Arial"/>
              </a:rPr>
              <a:t>Market size in $B (ranges from secondary sources)</a:t>
            </a:r>
          </a:p>
        </c:rich>
      </c:tx>
      <c:layout/>
      <c:overlay val="0"/>
    </c:title>
    <c:autoTitleDeleted val="0"/>
    <c:plotArea>
      <c:layout/>
      <c:barChart>
        <c:barDir val="col"/>
        <c:grouping val="clustered"/>
        <c:varyColors val="0"/>
        <c:ser>
          <c:idx val="0"/>
          <c:order val="0"/>
          <c:tx>
            <c:strRef>
              <c:f>Sheet1!$B$1</c:f>
              <c:strCache>
                <c:ptCount val="1"/>
                <c:pt idx="0">
                  <c:v>low estimate</c:v>
                </c:pt>
              </c:strCache>
            </c:strRef>
          </c:tx>
          <c:spPr>
            <a:solidFill>
              <a:srgbClr val="FF2D7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Live streaming 2026</c:v>
                  </c:pt>
                  <c:pt idx="1">
                    <c:v>Live streaming 2030</c:v>
                  </c:pt>
                  <c:pt idx="2">
                    <c:v>Creator economy 2026</c:v>
                  </c:pt>
                  <c:pt idx="3">
                    <c:v>of which live (≈ 14%)</c:v>
                  </c:pt>
                </c:lvl>
              </c:multiLvlStrCache>
            </c:multiLvlStrRef>
          </c:cat>
          <c:val>
            <c:numRef>
              <c:f>Sheet1!$B$2:$B$5</c:f>
              <c:numCache>
                <c:formatCode>General</c:formatCode>
                <c:ptCount val="4"/>
                <c:pt idx="0">
                  <c:v>97</c:v>
                </c:pt>
                <c:pt idx="1">
                  <c:v>250</c:v>
                </c:pt>
                <c:pt idx="2">
                  <c:v>216</c:v>
                </c:pt>
                <c:pt idx="3">
                  <c:v>30</c:v>
                </c:pt>
              </c:numCache>
            </c:numRef>
          </c:val>
        </c:ser>
        <c:ser>
          <c:idx val="1"/>
          <c:order val="1"/>
          <c:tx>
            <c:strRef>
              <c:f>Sheet1!$C$1</c:f>
              <c:strCache>
                <c:ptCount val="1"/>
                <c:pt idx="0">
                  <c:v>high estimate</c:v>
                </c:pt>
              </c:strCache>
            </c:strRef>
          </c:tx>
          <c:spPr>
            <a:solidFill>
              <a:srgbClr val="2DFFB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Live streaming 2026</c:v>
                  </c:pt>
                  <c:pt idx="1">
                    <c:v>Live streaming 2030</c:v>
                  </c:pt>
                  <c:pt idx="2">
                    <c:v>Creator economy 2026</c:v>
                  </c:pt>
                  <c:pt idx="3">
                    <c:v>of which live (≈ 14%)</c:v>
                  </c:pt>
                </c:lvl>
              </c:multiLvlStrCache>
            </c:multiLvlStrRef>
          </c:cat>
          <c:val>
            <c:numRef>
              <c:f>Sheet1!$C$2:$C$5</c:f>
              <c:numCache>
                <c:formatCode>General</c:formatCode>
                <c:ptCount val="4"/>
                <c:pt idx="0">
                  <c:v>157</c:v>
                </c:pt>
                <c:pt idx="1">
                  <c:v>345</c:v>
                </c:pt>
                <c:pt idx="2">
                  <c:v>260</c:v>
                </c:pt>
                <c:pt idx="3">
                  <c:v>36</c:v>
                </c:pt>
              </c:numCache>
            </c:numRef>
          </c:val>
        </c:ser>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A3B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2F3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solidFill>
          <a:srgbClr val="0F1115"/>
        </a:solidFill>
        <a:ln>
          <a:noFill/>
        </a:ln>
        <a:effectLst/>
      </c:spPr>
    </c:plotArea>
    <c:legend>
      <c:legendPos val="b"/>
      <c:overlay val="0"/>
      <c:txPr>
        <a:bodyPr/>
        <a:lstStyle/>
        <a:p>
          <a:pPr>
            <a:defRPr sz="900">
              <a:solidFill>
                <a:srgbClr val="9AA3B5"/>
              </a:solidFill>
              <a:latin typeface="Arial"/>
              <a:cs typeface="Arial"/>
            </a:defRPr>
          </a:pPr>
          <a:endParaRPr lang="en-US"/>
        </a:p>
      </c:txPr>
    </c:legend>
    <c:plotVisOnly val="1"/>
    <c:dispBlanksAs val="span"/>
  </c:chart>
  <c:spPr>
    <a:solidFill>
      <a:srgbClr val="0F111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I stream myself, I write books, and I built LiveFX because my live streams were missing exactly what every short video has. What you see today runs in my own streams. At the end I'll show where this is going: from a meme overlay to a visual language for everything spoken. Thirty seconds, then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Auto-captions proved that real-time text from speech works – and that platforms build it in natively. Real-time effects from speech don't exist. That's exactly the gap we fill. An example from my stream: I say “wild” – and nothing happens, except me reaching for the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keyword matching is instant (it works on interim recognition results) and needs no cloud. The optional AI mode catches sentences without a keyword (“that was so embarrassing for him” → Awkward). Everything runs on the creator's own computer – privacy is built in, not bolted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possible, show it live: start the mic, say “that's wild”, the effect appears. Second take: switch on story mode and read a paragraph aloud – “it was raining”, “at night”, “the dragon” – and the scenes change. The trailer is the fallback. The line that sticks: the first video in which memes reacted to my voice convinced me more than any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 longer a prototype: releases from 0.1 to 2.1, unit and end-to-end tests, guides in German and Turkish. Version 2.1 made it lighter and safer: performance mode with 63–69% less frame time on average, 143 free stickers under the MIT licence, text sticker packs in three languages, and a safe GIF search via KLIPY and GIPHY with a youth-protection filter – Google shut down the Tenor API in June 2026. Stress two things: (1) our own sounds, free stickers and linked GIFs mean no copyright strikes, (2) viewer triggers are the bridge to monetization – a gift can already trigger an effect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is no longer a side channel – it's a revenue channel. And Turkey is a young, meme-loving TikTok market with hardly any localized tools – our biggest pack is the Turkish one, and that's no accident. Tech: what needed a server three years ago now runs in the browser – and that's also the foundation of the vision from slide 12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TAM comes from secondary sources with a wide range; SAM and SOM are our estimates, not a study. The point isn't the exact number – it's that even a small share of paying live creators sustains a team, and the real lever is platform integration, not the subscription. New at the bottom: the vision opens adjacent markets – AI video $3.67B [Source 23], language-learning apps $1.54B [Source 33], video editing $2.68B [Source 51], German audiobooks €374M [Source 19]. We don't count any of them in the SOM. The SOM matches the business plan (section 6): 5,000–15,000 paying users in year 3; the base scenario assumes an average of 7,500 Pro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€9.99 is deliberately below Streamlabs Ultra and on par with Voicemod – creators know this price point. The marketplace turns users into suppliers: whoever builds a Turkish meme pack sells it. B2B is the path to the platform: the same engine runs as a browser source in TikTok LIVE Studio. The vision adds Pro+ and education licenses – all prices there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numbers before the meeting – real ones only. The story: the product matured in real streams (the echo problem, dialects and portrait safe zones all came from practice). Now it's about the first 10 external creators and measurable watch-time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bottom-right quadrant is empty – for now. The ones who could fill it are the platforms themselves, which is why we're talking to them. Streamlabs and co. aren't rivals but hosts: LiveFX runs as a browser source in every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by money and proof: the €250k carry us for 18 months with one developer. First the Pro subscription and the mobile app/PWA, in parallel WortBild as the first vision line, then DE/EN and one platform or education pilot. Each step has a gate (next slides). At month 18 we raise the seed round of about €350k – only then do the story engine, auto-edit and VR/AR start. That keeps the small team focused.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captions showed that platforms want to process speech in real time – for free, on billions of devices. We're the next step: pictures instead of text. One engine, one timeline, four lines: Story Film, WortBild, Spaces, Studio. Everything runs in the browser on your own device: a sentence becomes a state delta of a few hundred bytes, drawn in a single canvas. No video diffusion model, no GPU server. To be honest: this is the vision for 2027–2029 – hence the badge. It builds on code that already runs today (story mode, effect engine, offline recognition). WebGPU is now available in all major browsers [Source 27] – we only use it optionally.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it looks: the streamer does nothing but talk. “It was night” – the sky goes dark. “A girl walked into the forest” – trees grow, the character walks in. “It started to rain” – rain, the ambience loop switches. “Suddenly, a dragon” – lightning, a camera jolt, the dragon. Technically: one sentence produces a delta of 200–500 bytes, scenes change 1 to 3 times a minute, and everything is drawn in one canvas with at most 1,200 particles – a budget our effect engine already handles next to OBS today. Cost: at list price, video AI costs $0.05 (Veo 3.1 Lite, 720p) to $0.75 per second [Source 24, 25] – $180–2,700 per hour, and it can't run live at all. LiveFX: €0 without AI, $0.25–0.75 per hour with optional text AI. Market: German audiobooks €374M [Source 19], 23.8M people in Germany listen to podcasts weekly [Source 20], YouTube has over 1B podcast viewers [Source 21]; AI video grows from $3.67B to $24.89B by 2036 [Source 23]. Timeline: the story engine is financed from the follow-on round after Gate 2 – German MVP from month 19 (H2 2028), TR/EN and world packs after that. First publisher case: the founder's own children's book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personal part: I write children's books about neurodiversity, and I'm German-Turkish. The teacher sets three things – “I speak: German”, “Show: Türkçe”, and the mode – and reads aloud. Every word from the learning list becomes picture, word and pronunciation. Repeat-after-me is deliberately not pronunciation scoring, just a green check mark. Tech: word → picture is a table lookup, the operating system provides the pronunciation (speechSynthesis) [Source 29], a school tablet is enough, server cost per child: zero. Market: Duolingo has 58.7M daily users and 12.7M paying subscribers [Source 32], language-learning apps make $1.54B in-app [Source 33], 20.4% of pupils under 16 in Germany mainly speak another language at home [Source 37], 2.65M people in Germany have a migration background from Turkey [Source 38], 25% of fourth-graders fall below the minimum reading standard [Source 39]. Price anchor: ANTON school license €250–700 [Source 41]. Honestly: integration is small in euro terms; it brings credibility and funding. The volume lies with families, publishers and platforms. We say “supports vocabulary learning”, not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doors into the same tool. First, live → highlights: our server already knows every trigger, every gift and every chat message with a timestamp – that yields 3–5 clips per stream. Second, auto-edit: drag a 20-minute MP4 into the window, Whisper transcribes it locally in the browser [Source 60], LiveFX places effects, scenes and cuts as movable chips, and export runs through WebCodecs and the device's hardware encoder [Source 57, 58, 59]. The file never leaves the computer; the marginal cost per video is zero. Spaces: stage and classroom already work today (full screen, phone as the control desk). Audiobook with pictures and AR on the phone come with the follow-on round after Gate 2. WebXR [Source 47, 48] and display glasses like Meta Ray-Ban Display [Source 46] are vision – IDC expects 13.6M smart glasses in 2026 [Source 45], and display glasses are only a small share of that. Competition, honestly: CapCut has 736M MAU [Source 52]; we're not competing as a universal editor but through voice → effect, scenes, TR/DE and local processing. Buyer signal: in 2026 Canva acquired Cavalry and MangoAI [Source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 is user, content supplier and product owner in one person – that's why the product works with dialects, in portrait and in Turkish. And as a children's book author, he brings the first publishing and education case himself. Gönül Demet leads investor relations and is the contact for the pre-seed round. The pre-seed round (€250,000) funds one hire – a mobile/web developer from month 3; further hires follow with the seed round after Gate 2. For WortBild, an EdTech advisory board provides expert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in one slide. Base scenario: revenue grows from €51k in 2027 to €3.15M in 2031; EBITDA turns positive in 2028 and is sustained from month 22. Conservative is €602k revenue in 2031, optimistic €7.44M – years 4 and 5 are extrapolated. Runway: with no revenue at all, the €250k last 18 months. At month 18 we expect between €49k and €369k in cash, depending on the scenario – and raise a seed round of about €350k after Gate 2. Valuation: our offer is €250,000 for 10%, i.e. €2.25M pre-money and €2.5M post-money. The four common pre-revenue methods give €2.35M to €3.0M – Berkus €2.35M, Scorecard €2.95M on a reference in the lower part of the DACH range, VC method €2.43M on the upside scenario, Risk Factor Summation €3.0M; weighted €2.71M. So the offer is a fair, investor-friendly entry price below every reference method. Why: a working product with 575+ automated tests, own IP and content, three languages including the Turkish niche, four vision options on one engine, and capital efficiency – built to v2.1 without outside money. Honestly against it: solo founder, no revenue yet. Alternatively a SAFE with a €2.25M cap and 20% discount, no interest. Negotiation basis, to be reviewed with a tax and legal advisor.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gates over 18 months – each one releases the next budget. Month 3: Pro subscription live and the developer on board. Month 6: 10,000 registered users and 400 paying Pro users as the target; the threshold is 4,000 and 120. Month 12: 20,000 users, 800 Pro, €8,073 MRR, a platform or education pilot running. Month 18 is Gate 2: 50,000 users, 2,000 Pro, €22,586 MRR, five paying schools or courses for WortBild. That is the basis for the seed round. All of these are targets – nothing here is achieved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concretely: what we need is a contact on the live team and an 8-week pilot with 20 creators. We deliver the overlay, packs, support and the measurement (watch time, gifts, clips from lives). For WortBild we're looking for a second pilot with education providers, language-learning platforms or publishers – the first publisher case is the founder's own children's book series. On the round: €250,000 pre-seed for 18 months. Proposed use of funds: team and product €125k, go-to-market and pilots €50k, WortBild €37.5k, legal/trademark/data protection €25k, reserve €12.5k. With no revenue at all that lasts 18 months. Our offer: 10% for the €250,000 – €2.25M pre-money, €2.5M post-money, below every common reference method – or a SAFE with a €2.25M cap and 20% discount; a negotiation basis to be reviewed with a tax and legal advisor. The story engine, auto-edit and VR/AR follow with a seed round of about €350k after Gate 2. Investor contact: Gönül Demet. This deck is also available in German and Turkish.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en-16x9-6_9s.jpg">    </p:cNvPr>
          <p:cNvPicPr>
            <a:picLocks noChangeAspect="1"/>
          </p:cNvPicPr>
          <p:nvPr/>
        </p:nvPicPr>
        <p:blipFill>
          <a:blip r:embed="rId1">
            <a:alphaModFix amt="90000"/>
          </a:blip>
          <a:stretch>
            <a:fillRect/>
          </a:stretch>
        </p:blipFill>
        <p:spPr>
          <a:xfrm>
            <a:off x="6309360" y="0"/>
            <a:ext cx="5882335" cy="3310128"/>
          </a:xfrm>
          <a:prstGeom prst="rect">
            <a:avLst/>
          </a:prstGeom>
        </p:spPr>
      </p:pic>
      <p:pic>
        <p:nvPicPr>
          <p:cNvPr id="3" name="Image 1" descr="/home/user/Notion/live-fx/business/video/stills/en-9x16-29_6s.jpg">    </p:cNvPr>
          <p:cNvPicPr>
            <a:picLocks noChangeAspect="1"/>
          </p:cNvPicPr>
          <p:nvPr/>
        </p:nvPicPr>
        <p:blipFill>
          <a:blip r:embed="rId2"/>
          <a:stretch>
            <a:fillRect/>
          </a:stretch>
        </p:blipFill>
        <p:spPr>
          <a:xfrm>
            <a:off x="9509760" y="3310128"/>
            <a:ext cx="1993392" cy="3547872"/>
          </a:xfrm>
          <a:prstGeom prst="rect">
            <a:avLst/>
          </a:prstGeom>
        </p:spPr>
      </p:pic>
      <p:pic>
        <p:nvPicPr>
          <p:cNvPr id="4" name="Image 2" descr="/home/user/Notion/live-fx/business/landing-assets/mobile.jpg">    </p:cNvPr>
          <p:cNvPicPr>
            <a:picLocks noChangeAspect="1"/>
          </p:cNvPicPr>
          <p:nvPr/>
        </p:nvPicPr>
        <p:blipFill>
          <a:blip r:embed="rId3"/>
          <a:stretch>
            <a:fillRect/>
          </a:stretch>
        </p:blipFill>
        <p:spPr>
          <a:xfrm>
            <a:off x="6309360" y="3310128"/>
            <a:ext cx="1636776" cy="3547872"/>
          </a:xfrm>
          <a:prstGeom prst="rect">
            <a:avLst/>
          </a:prstGeom>
        </p:spPr>
      </p:pic>
      <p:pic>
        <p:nvPicPr>
          <p:cNvPr id="5" name="Image 3" descr="/home/user/Notion/live-fx/business/landing-assets/panel.jpg">    </p:cNvPr>
          <p:cNvPicPr>
            <a:picLocks noChangeAspect="1"/>
          </p:cNvPicPr>
          <p:nvPr/>
        </p:nvPicPr>
        <p:blipFill>
          <a:blip r:embed="rId4"/>
          <a:stretch>
            <a:fillRect/>
          </a:stretch>
        </p:blipFill>
        <p:spPr>
          <a:xfrm>
            <a:off x="7946136" y="3310128"/>
            <a:ext cx="1563624" cy="978408"/>
          </a:xfrm>
          <a:prstGeom prst="rect">
            <a:avLst/>
          </a:prstGeom>
        </p:spPr>
      </p:pic>
      <p:pic>
        <p:nvPicPr>
          <p:cNvPr id="6" name="Image 4" descr="/home/user/Notion/live-fx/business/landing-assets/demo.jpg">    </p:cNvPr>
          <p:cNvPicPr>
            <a:picLocks noChangeAspect="1"/>
          </p:cNvPicPr>
          <p:nvPr/>
        </p:nvPicPr>
        <p:blipFill>
          <a:blip r:embed="rId5"/>
          <a:stretch>
            <a:fillRect/>
          </a:stretch>
        </p:blipFill>
        <p:spPr>
          <a:xfrm>
            <a:off x="7946136" y="4288536"/>
            <a:ext cx="1563624" cy="877824"/>
          </a:xfrm>
          <a:prstGeom prst="rect">
            <a:avLst/>
          </a:prstGeom>
        </p:spPr>
      </p:pic>
      <p:sp>
        <p:nvSpPr>
          <p:cNvPr id="7" name="Shape 0"/>
          <p:cNvSpPr/>
          <p:nvPr/>
        </p:nvSpPr>
        <p:spPr>
          <a:xfrm>
            <a:off x="7946136" y="5166360"/>
            <a:ext cx="1563624" cy="1691640"/>
          </a:xfrm>
          <a:prstGeom prst="rect">
            <a:avLst/>
          </a:prstGeom>
          <a:solidFill>
            <a:srgbClr val="181B23"/>
          </a:solidFill>
          <a:ln w="12700">
            <a:solidFill>
              <a:srgbClr val="181B23"/>
            </a:solidFill>
            <a:prstDash val="solid"/>
          </a:ln>
        </p:spPr>
      </p:sp>
      <p:sp>
        <p:nvSpPr>
          <p:cNvPr id="8" name="Shape 1"/>
          <p:cNvSpPr/>
          <p:nvPr/>
        </p:nvSpPr>
        <p:spPr>
          <a:xfrm>
            <a:off x="11503152" y="3310128"/>
            <a:ext cx="688543" cy="3547872"/>
          </a:xfrm>
          <a:prstGeom prst="rect">
            <a:avLst/>
          </a:prstGeom>
          <a:solidFill>
            <a:srgbClr val="181B23"/>
          </a:solidFill>
          <a:ln w="12700">
            <a:solidFill>
              <a:srgbClr val="181B23"/>
            </a:solidFill>
            <a:prstDash val="solid"/>
          </a:ln>
        </p:spPr>
      </p:sp>
      <p:sp>
        <p:nvSpPr>
          <p:cNvPr id="9" name="Text 2"/>
          <p:cNvSpPr txBox="1"/>
          <p:nvPr/>
        </p:nvSpPr>
        <p:spPr>
          <a:xfrm>
            <a:off x="548640" y="11887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LIVE MEME ENGINE  ·  v2.1</a:t>
            </a:r>
            <a:endParaRPr lang="en-US" sz="1100" dirty="0"/>
          </a:p>
        </p:txBody>
      </p:sp>
      <p:sp>
        <p:nvSpPr>
          <p:cNvPr id="10" name="Text 3"/>
          <p:cNvSpPr txBox="1"/>
          <p:nvPr/>
        </p:nvSpPr>
        <p:spPr>
          <a:xfrm>
            <a:off x="548640" y="1508760"/>
            <a:ext cx="5486400" cy="1097280"/>
          </a:xfrm>
          <a:prstGeom prst="rect">
            <a:avLst/>
          </a:prstGeom>
          <a:noFill/>
          <a:ln/>
        </p:spPr>
        <p:txBody>
          <a:bodyPr wrap="square" lIns="0" tIns="0" rIns="0" bIns="0" rtlCol="0" anchor="t">
            <a:normAutofit/>
          </a:bodyPr>
          <a:lstStyle/>
          <a:p>
            <a:pPr indent="0" marL="0">
              <a:buNone/>
            </a:pPr>
            <a:r>
              <a:rPr lang="en-US" sz="7200" b="1" dirty="0">
                <a:solidFill>
                  <a:srgbClr val="FFFFFF"/>
                </a:solidFill>
                <a:latin typeface="Arial" pitchFamily="34" charset="0"/>
                <a:ea typeface="Arial" pitchFamily="34" charset="-122"/>
                <a:cs typeface="Arial" pitchFamily="34" charset="-120"/>
              </a:rPr>
              <a:t>LiveFX</a:t>
            </a:r>
            <a:endParaRPr lang="en-US" sz="7200" dirty="0"/>
          </a:p>
        </p:txBody>
      </p:sp>
      <p:sp>
        <p:nvSpPr>
          <p:cNvPr id="11" name="Text 4"/>
          <p:cNvSpPr txBox="1"/>
          <p:nvPr/>
        </p:nvSpPr>
        <p:spPr>
          <a:xfrm>
            <a:off x="548640" y="2651760"/>
            <a:ext cx="5577840" cy="731520"/>
          </a:xfrm>
          <a:prstGeom prst="rect">
            <a:avLst/>
          </a:prstGeom>
          <a:noFill/>
          <a:ln/>
        </p:spPr>
        <p:txBody>
          <a:bodyPr wrap="square" lIns="0" tIns="0" rIns="0" bIns="0" rtlCol="0" anchor="t">
            <a:normAutofit/>
          </a:bodyPr>
          <a:lstStyle/>
          <a:p>
            <a:pPr indent="0" marL="0">
              <a:buNone/>
            </a:pPr>
            <a:r>
              <a:rPr lang="en-US" sz="2800" b="1" dirty="0">
                <a:solidFill>
                  <a:srgbClr val="FF2D75"/>
                </a:solidFill>
                <a:latin typeface="Arial" pitchFamily="34" charset="0"/>
                <a:ea typeface="Arial" pitchFamily="34" charset="-122"/>
                <a:cs typeface="Arial" pitchFamily="34" charset="-120"/>
              </a:rPr>
              <a:t>Your voice becomes the effect.</a:t>
            </a:r>
            <a:endParaRPr lang="en-US" sz="2800" dirty="0"/>
          </a:p>
        </p:txBody>
      </p:sp>
      <p:sp>
        <p:nvSpPr>
          <p:cNvPr id="12" name="Text 5"/>
          <p:cNvSpPr txBox="1"/>
          <p:nvPr/>
        </p:nvSpPr>
        <p:spPr>
          <a:xfrm>
            <a:off x="548640" y="3474720"/>
            <a:ext cx="5394960" cy="1280160"/>
          </a:xfrm>
          <a:prstGeom prst="rect">
            <a:avLst/>
          </a:prstGeom>
          <a:noFill/>
          <a:ln/>
        </p:spPr>
        <p:txBody>
          <a:bodyPr wrap="square" lIns="0" tIns="0" rIns="0" bIns="0" rtlCol="0" anchor="t">
            <a:normAutofit/>
          </a:bodyPr>
          <a:lstStyle/>
          <a:p>
            <a:pPr indent="0" marL="0">
              <a:buNone/>
            </a:pPr>
            <a:r>
              <a:rPr lang="en-US" sz="1500" dirty="0">
                <a:solidFill>
                  <a:srgbClr val="9AA3B5"/>
                </a:solidFill>
                <a:latin typeface="Arial" pitchFamily="34" charset="0"/>
                <a:ea typeface="Arial" pitchFamily="34" charset="-122"/>
                <a:cs typeface="Arial" pitchFamily="34" charset="-120"/>
              </a:rPr>
              <a:t>Memes, sounds and scenes in real time – triggered by what the creator says. In under a second, hands-free, on TikTok LIVE, Instagram, YouTube and Twitch.</a:t>
            </a:r>
            <a:endParaRPr lang="en-US" sz="1500" dirty="0"/>
          </a:p>
        </p:txBody>
      </p:sp>
      <p:sp>
        <p:nvSpPr>
          <p:cNvPr id="13" name="Text 6"/>
          <p:cNvSpPr txBox="1"/>
          <p:nvPr/>
        </p:nvSpPr>
        <p:spPr>
          <a:xfrm>
            <a:off x="548640" y="4800600"/>
            <a:ext cx="5394960" cy="548640"/>
          </a:xfrm>
          <a:prstGeom prst="rect">
            <a:avLst/>
          </a:prstGeom>
          <a:noFill/>
          <a:ln/>
        </p:spPr>
        <p:txBody>
          <a:bodyPr wrap="square" lIns="0" tIns="0" rIns="0" bIns="0" rtlCol="0" anchor="t">
            <a:normAutofit/>
          </a:bodyPr>
          <a:lstStyle/>
          <a:p>
            <a:pPr indent="0" marL="0">
              <a:buNone/>
            </a:pPr>
            <a:r>
              <a:rPr lang="en-US" sz="1300" i="1" dirty="0">
                <a:solidFill>
                  <a:srgbClr val="FFD166"/>
                </a:solidFill>
                <a:latin typeface="Arial" pitchFamily="34" charset="0"/>
                <a:ea typeface="Arial" pitchFamily="34" charset="-122"/>
                <a:cs typeface="Arial" pitchFamily="34" charset="-120"/>
              </a:rPr>
              <a:t>And tomorrow: You talk. It becomes a scene.</a:t>
            </a:r>
            <a:endParaRPr lang="en-US" sz="1300" dirty="0"/>
          </a:p>
        </p:txBody>
      </p:sp>
      <p:sp>
        <p:nvSpPr>
          <p:cNvPr id="14" name="Text 7"/>
          <p:cNvSpPr txBox="1"/>
          <p:nvPr/>
        </p:nvSpPr>
        <p:spPr>
          <a:xfrm>
            <a:off x="548640" y="5577840"/>
            <a:ext cx="557784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Tuncay Sancak</a:t>
            </a:r>
            <a:pPr indent="0" marL="0">
              <a:buNone/>
            </a:pPr>
            <a:r>
              <a:rPr lang="en-US" sz="1300" dirty="0">
                <a:solidFill>
                  <a:srgbClr val="9AA3B5"/>
                </a:solidFill>
                <a:latin typeface="Arial" pitchFamily="34" charset="0"/>
                <a:ea typeface="Arial" pitchFamily="34" charset="-122"/>
                <a:cs typeface="Arial" pitchFamily="34" charset="-120"/>
              </a:rPr>
              <a:t>  ·  Founder &amp; Inventor, Managing Director</a:t>
            </a:r>
            <a:endParaRPr lang="en-US" sz="1300" dirty="0"/>
          </a:p>
          <a:p>
            <a:pPr indent="0" marL="0">
              <a:buNone/>
            </a:pPr>
            <a:r>
              <a:rPr lang="en-US" sz="1300" dirty="0">
                <a:solidFill>
                  <a:srgbClr val="9AA3B5"/>
                </a:solidFill>
                <a:latin typeface="Arial" pitchFamily="34" charset="0"/>
                <a:ea typeface="Arial" pitchFamily="34" charset="-122"/>
                <a:cs typeface="Arial" pitchFamily="34" charset="-120"/>
              </a:rPr>
              <a:t>Investor Relations: Gönül Demet  ·  [Email]  ·  October 2026  ·  Confidential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THE PROBLEM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Live is raw. The edit comes too late.</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2</a:t>
            </a:r>
            <a:endParaRPr lang="en-US" sz="900" dirty="0"/>
          </a:p>
        </p:txBody>
      </p:sp>
      <p:sp>
        <p:nvSpPr>
          <p:cNvPr id="6" name="Shape 3"/>
          <p:cNvSpPr/>
          <p:nvPr/>
        </p:nvSpPr>
        <p:spPr>
          <a:xfrm>
            <a:off x="548640" y="1417320"/>
            <a:ext cx="6766560" cy="1051560"/>
          </a:xfrm>
          <a:prstGeom prst="roundRect">
            <a:avLst>
              <a:gd name="adj" fmla="val 10435"/>
            </a:avLst>
          </a:prstGeom>
          <a:solidFill>
            <a:srgbClr val="181B23"/>
          </a:solidFill>
          <a:ln w="12700">
            <a:solidFill>
              <a:srgbClr val="181B23"/>
            </a:solidFill>
            <a:prstDash val="solid"/>
          </a:ln>
        </p:spPr>
      </p:sp>
      <p:sp>
        <p:nvSpPr>
          <p:cNvPr id="7" name="Shape 4"/>
          <p:cNvSpPr/>
          <p:nvPr/>
        </p:nvSpPr>
        <p:spPr>
          <a:xfrm>
            <a:off x="731520" y="1664208"/>
            <a:ext cx="548640" cy="548640"/>
          </a:xfrm>
          <a:prstGeom prst="ellipse">
            <a:avLst/>
          </a:prstGeom>
          <a:solidFill>
            <a:srgbClr val="1F2330"/>
          </a:solidFill>
          <a:ln w="12700">
            <a:solidFill>
              <a:srgbClr val="1F2330"/>
            </a:solidFill>
            <a:prstDash val="solid"/>
          </a:ln>
        </p:spPr>
      </p:sp>
      <p:sp>
        <p:nvSpPr>
          <p:cNvPr id="8" name="Text 5"/>
          <p:cNvSpPr txBox="1"/>
          <p:nvPr/>
        </p:nvSpPr>
        <p:spPr>
          <a:xfrm>
            <a:off x="731520" y="166420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9" name="Text 6"/>
          <p:cNvSpPr txBox="1"/>
          <p:nvPr/>
        </p:nvSpPr>
        <p:spPr>
          <a:xfrm>
            <a:off x="1463040" y="1545336"/>
            <a:ext cx="5669280" cy="384048"/>
          </a:xfrm>
          <a:prstGeom prst="rect">
            <a:avLst/>
          </a:prstGeom>
          <a:noFill/>
          <a:ln/>
        </p:spPr>
        <p:txBody>
          <a:bodyPr wrap="square" lIns="0" tIns="0" rIns="0" bIns="0" rtlCol="0" anchor="t">
            <a:normAutofit/>
          </a:bodyPr>
          <a:lstStyle/>
          <a:p>
            <a:pPr indent="0" marL="0">
              <a:buNone/>
            </a:pPr>
            <a:r>
              <a:rPr lang="en-US" sz="1450" b="1" dirty="0">
                <a:solidFill>
                  <a:srgbClr val="FFFFFF"/>
                </a:solidFill>
                <a:latin typeface="Arial" pitchFamily="34" charset="0"/>
                <a:ea typeface="Arial" pitchFamily="34" charset="-122"/>
                <a:cs typeface="Arial" pitchFamily="34" charset="-120"/>
              </a:rPr>
              <a:t>Everything that makes short videos go viral happens afterwards</a:t>
            </a:r>
            <a:endParaRPr lang="en-US" sz="1450" dirty="0"/>
          </a:p>
        </p:txBody>
      </p:sp>
      <p:sp>
        <p:nvSpPr>
          <p:cNvPr id="10" name="Text 7"/>
          <p:cNvSpPr txBox="1"/>
          <p:nvPr/>
        </p:nvSpPr>
        <p:spPr>
          <a:xfrm>
            <a:off x="1463040" y="192938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Memes, sounds, zooms, stickers – added in the edit, after recording. Live, you get none of it.</a:t>
            </a:r>
            <a:endParaRPr lang="en-US" sz="1200" dirty="0"/>
          </a:p>
        </p:txBody>
      </p:sp>
      <p:sp>
        <p:nvSpPr>
          <p:cNvPr id="11" name="Shape 8"/>
          <p:cNvSpPr/>
          <p:nvPr/>
        </p:nvSpPr>
        <p:spPr>
          <a:xfrm>
            <a:off x="548640" y="2606040"/>
            <a:ext cx="6766560" cy="1051560"/>
          </a:xfrm>
          <a:prstGeom prst="roundRect">
            <a:avLst>
              <a:gd name="adj" fmla="val 10435"/>
            </a:avLst>
          </a:prstGeom>
          <a:solidFill>
            <a:srgbClr val="181B23"/>
          </a:solidFill>
          <a:ln w="12700">
            <a:solidFill>
              <a:srgbClr val="181B23"/>
            </a:solidFill>
            <a:prstDash val="solid"/>
          </a:ln>
        </p:spPr>
      </p:sp>
      <p:sp>
        <p:nvSpPr>
          <p:cNvPr id="12" name="Shape 9"/>
          <p:cNvSpPr/>
          <p:nvPr/>
        </p:nvSpPr>
        <p:spPr>
          <a:xfrm>
            <a:off x="731520" y="2852928"/>
            <a:ext cx="548640" cy="548640"/>
          </a:xfrm>
          <a:prstGeom prst="ellipse">
            <a:avLst/>
          </a:prstGeom>
          <a:solidFill>
            <a:srgbClr val="1F2330"/>
          </a:solidFill>
          <a:ln w="12700">
            <a:solidFill>
              <a:srgbClr val="1F2330"/>
            </a:solidFill>
            <a:prstDash val="solid"/>
          </a:ln>
        </p:spPr>
      </p:sp>
      <p:sp>
        <p:nvSpPr>
          <p:cNvPr id="13" name="Text 10"/>
          <p:cNvSpPr txBox="1"/>
          <p:nvPr/>
        </p:nvSpPr>
        <p:spPr>
          <a:xfrm>
            <a:off x="731520" y="285292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4" name="Text 11"/>
          <p:cNvSpPr txBox="1"/>
          <p:nvPr/>
        </p:nvSpPr>
        <p:spPr>
          <a:xfrm>
            <a:off x="1463040" y="273405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The creator is host, director and editor at once</a:t>
            </a:r>
            <a:endParaRPr lang="en-US" sz="1500" dirty="0"/>
          </a:p>
        </p:txBody>
      </p:sp>
      <p:sp>
        <p:nvSpPr>
          <p:cNvPr id="15" name="Text 12"/>
          <p:cNvSpPr txBox="1"/>
          <p:nvPr/>
        </p:nvSpPr>
        <p:spPr>
          <a:xfrm>
            <a:off x="1463040" y="311810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With two hands, one camera and a chat that won't wait.</a:t>
            </a:r>
            <a:endParaRPr lang="en-US" sz="1200" dirty="0"/>
          </a:p>
        </p:txBody>
      </p:sp>
      <p:sp>
        <p:nvSpPr>
          <p:cNvPr id="16" name="Shape 13"/>
          <p:cNvSpPr/>
          <p:nvPr/>
        </p:nvSpPr>
        <p:spPr>
          <a:xfrm>
            <a:off x="548640" y="3794760"/>
            <a:ext cx="6766560" cy="1051560"/>
          </a:xfrm>
          <a:prstGeom prst="roundRect">
            <a:avLst>
              <a:gd name="adj" fmla="val 10435"/>
            </a:avLst>
          </a:prstGeom>
          <a:solidFill>
            <a:srgbClr val="181B23"/>
          </a:solidFill>
          <a:ln w="12700">
            <a:solidFill>
              <a:srgbClr val="181B23"/>
            </a:solidFill>
            <a:prstDash val="solid"/>
          </a:ln>
        </p:spPr>
      </p:sp>
      <p:sp>
        <p:nvSpPr>
          <p:cNvPr id="17" name="Shape 14"/>
          <p:cNvSpPr/>
          <p:nvPr/>
        </p:nvSpPr>
        <p:spPr>
          <a:xfrm>
            <a:off x="731520" y="4041648"/>
            <a:ext cx="548640" cy="548640"/>
          </a:xfrm>
          <a:prstGeom prst="ellipse">
            <a:avLst/>
          </a:prstGeom>
          <a:solidFill>
            <a:srgbClr val="1F2330"/>
          </a:solidFill>
          <a:ln w="12700">
            <a:solidFill>
              <a:srgbClr val="1F2330"/>
            </a:solidFill>
            <a:prstDash val="solid"/>
          </a:ln>
        </p:spPr>
      </p:sp>
      <p:sp>
        <p:nvSpPr>
          <p:cNvPr id="18" name="Text 15"/>
          <p:cNvSpPr txBox="1"/>
          <p:nvPr/>
        </p:nvSpPr>
        <p:spPr>
          <a:xfrm>
            <a:off x="731520" y="404164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9" name="Text 16"/>
          <p:cNvSpPr txBox="1"/>
          <p:nvPr/>
        </p:nvSpPr>
        <p:spPr>
          <a:xfrm>
            <a:off x="1463040" y="392277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Existing tools react to viewers or to keys</a:t>
            </a:r>
            <a:endParaRPr lang="en-US" sz="1500" dirty="0"/>
          </a:p>
        </p:txBody>
      </p:sp>
      <p:sp>
        <p:nvSpPr>
          <p:cNvPr id="20" name="Text 17"/>
          <p:cNvSpPr txBox="1"/>
          <p:nvPr/>
        </p:nvSpPr>
        <p:spPr>
          <a:xfrm>
            <a:off x="1463040" y="430682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Alerts for donations and follows, soundboards on hotkeys. Both need a click.</a:t>
            </a:r>
            <a:endParaRPr lang="en-US" sz="1200" dirty="0"/>
          </a:p>
        </p:txBody>
      </p:sp>
      <p:sp>
        <p:nvSpPr>
          <p:cNvPr id="21" name="Shape 18"/>
          <p:cNvSpPr/>
          <p:nvPr/>
        </p:nvSpPr>
        <p:spPr>
          <a:xfrm>
            <a:off x="7680960" y="1417320"/>
            <a:ext cx="3959352" cy="3429000"/>
          </a:xfrm>
          <a:prstGeom prst="roundRect">
            <a:avLst>
              <a:gd name="adj" fmla="val 3200"/>
            </a:avLst>
          </a:prstGeom>
          <a:solidFill>
            <a:srgbClr val="1F2330"/>
          </a:solidFill>
          <a:ln w="12700">
            <a:solidFill>
              <a:srgbClr val="1F2330"/>
            </a:solidFill>
            <a:prstDash val="solid"/>
          </a:ln>
        </p:spPr>
      </p:sp>
      <p:sp>
        <p:nvSpPr>
          <p:cNvPr id="22" name="Text 19"/>
          <p:cNvSpPr txBox="1"/>
          <p:nvPr/>
        </p:nvSpPr>
        <p:spPr>
          <a:xfrm>
            <a:off x="7955280" y="1691640"/>
            <a:ext cx="3429000" cy="2011680"/>
          </a:xfrm>
          <a:prstGeom prst="rect">
            <a:avLst/>
          </a:prstGeom>
          <a:noFill/>
          <a:ln/>
        </p:spPr>
        <p:txBody>
          <a:bodyPr wrap="square" lIns="0" tIns="0" rIns="0" bIns="0" rtlCol="0" anchor="ctr">
            <a:normAutofit/>
          </a:bodyPr>
          <a:lstStyle/>
          <a:p>
            <a:pPr indent="0" marL="0">
              <a:buNone/>
            </a:pPr>
            <a:r>
              <a:rPr lang="en-US" sz="2600" b="1" dirty="0">
                <a:solidFill>
                  <a:srgbClr val="FFD166"/>
                </a:solidFill>
                <a:latin typeface="Arial" pitchFamily="34" charset="0"/>
                <a:ea typeface="Arial" pitchFamily="34" charset="-122"/>
                <a:cs typeface="Arial" pitchFamily="34" charset="-120"/>
              </a:rPr>
              <a:t>Nobody reacts to the spoken word.</a:t>
            </a:r>
            <a:endParaRPr lang="en-US" sz="2600" dirty="0"/>
          </a:p>
        </p:txBody>
      </p:sp>
      <p:sp>
        <p:nvSpPr>
          <p:cNvPr id="23" name="Text 20"/>
          <p:cNvSpPr txBox="1"/>
          <p:nvPr/>
        </p:nvSpPr>
        <p:spPr>
          <a:xfrm>
            <a:off x="7955280" y="3749040"/>
            <a:ext cx="342900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Auto-captions proved it: real-time text from speech works. Real-time effects from speech don't exist yet.</a:t>
            </a:r>
            <a:endParaRPr lang="en-US" sz="1200" dirty="0"/>
          </a:p>
        </p:txBody>
      </p:sp>
      <p:sp>
        <p:nvSpPr>
          <p:cNvPr id="24" name="Text 21"/>
          <p:cNvSpPr txBox="1"/>
          <p:nvPr/>
        </p:nvSpPr>
        <p:spPr>
          <a:xfrm>
            <a:off x="548640" y="5166360"/>
            <a:ext cx="11094415" cy="640080"/>
          </a:xfrm>
          <a:prstGeom prst="rect">
            <a:avLst/>
          </a:prstGeom>
          <a:noFill/>
          <a:ln/>
        </p:spPr>
        <p:txBody>
          <a:bodyPr wrap="square" lIns="0" tIns="0" rIns="0" bIns="0" rtlCol="0" anchor="t">
            <a:normAutofit/>
          </a:bodyPr>
          <a:lstStyle/>
          <a:p>
            <a:pPr indent="0" marL="0">
              <a:buNone/>
            </a:pPr>
            <a:r>
              <a:rPr lang="en-US" sz="1400" i="1" dirty="0">
                <a:solidFill>
                  <a:srgbClr val="2DFFB5"/>
                </a:solidFill>
                <a:latin typeface="Arial" pitchFamily="34" charset="0"/>
                <a:ea typeface="Arial" pitchFamily="34" charset="-122"/>
                <a:cs typeface="Arial" pitchFamily="34" charset="-120"/>
              </a:rPr>
              <a:t>“I say ‘wild’ – and nothing happens, except me reaching for the keyboard.”  – Tuncay Sancak, from his own stream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THE SOLUTION</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Voice → effect in under a second</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3</a:t>
            </a:r>
            <a:endParaRPr lang="en-US" sz="900" dirty="0"/>
          </a:p>
        </p:txBody>
      </p:sp>
      <p:sp>
        <p:nvSpPr>
          <p:cNvPr id="6" name="Shape 3"/>
          <p:cNvSpPr/>
          <p:nvPr/>
        </p:nvSpPr>
        <p:spPr>
          <a:xfrm>
            <a:off x="548640" y="1417320"/>
            <a:ext cx="2011680" cy="1463040"/>
          </a:xfrm>
          <a:prstGeom prst="roundRect">
            <a:avLst>
              <a:gd name="adj" fmla="val 7500"/>
            </a:avLst>
          </a:prstGeom>
          <a:solidFill>
            <a:srgbClr val="181B23"/>
          </a:solidFill>
          <a:ln w="12700">
            <a:solidFill>
              <a:srgbClr val="181B23"/>
            </a:solidFill>
            <a:prstDash val="solid"/>
          </a:ln>
        </p:spPr>
      </p:sp>
      <p:sp>
        <p:nvSpPr>
          <p:cNvPr id="7" name="Text 4"/>
          <p:cNvSpPr txBox="1"/>
          <p:nvPr/>
        </p:nvSpPr>
        <p:spPr>
          <a:xfrm>
            <a:off x="54864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8" name="Text 5"/>
          <p:cNvSpPr txBox="1"/>
          <p:nvPr/>
        </p:nvSpPr>
        <p:spPr>
          <a:xfrm>
            <a:off x="64008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Mic</a:t>
            </a:r>
            <a:endParaRPr lang="en-US" sz="1500" dirty="0"/>
          </a:p>
        </p:txBody>
      </p:sp>
      <p:sp>
        <p:nvSpPr>
          <p:cNvPr id="9" name="Text 6"/>
          <p:cNvSpPr txBox="1"/>
          <p:nvPr/>
        </p:nvSpPr>
        <p:spPr>
          <a:xfrm>
            <a:off x="64008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Creator speaks</a:t>
            </a:r>
            <a:endParaRPr lang="en-US" sz="1100" dirty="0"/>
          </a:p>
        </p:txBody>
      </p:sp>
      <p:sp>
        <p:nvSpPr>
          <p:cNvPr id="10" name="Text 7"/>
          <p:cNvSpPr txBox="1"/>
          <p:nvPr/>
        </p:nvSpPr>
        <p:spPr>
          <a:xfrm>
            <a:off x="254203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1" name="Shape 8"/>
          <p:cNvSpPr/>
          <p:nvPr/>
        </p:nvSpPr>
        <p:spPr>
          <a:xfrm>
            <a:off x="2811780" y="1417320"/>
            <a:ext cx="2011680" cy="1463040"/>
          </a:xfrm>
          <a:prstGeom prst="roundRect">
            <a:avLst>
              <a:gd name="adj" fmla="val 7500"/>
            </a:avLst>
          </a:prstGeom>
          <a:solidFill>
            <a:srgbClr val="181B23"/>
          </a:solidFill>
          <a:ln w="12700">
            <a:solidFill>
              <a:srgbClr val="181B23"/>
            </a:solidFill>
            <a:prstDash val="solid"/>
          </a:ln>
        </p:spPr>
      </p:sp>
      <p:sp>
        <p:nvSpPr>
          <p:cNvPr id="12" name="Text 9"/>
          <p:cNvSpPr txBox="1"/>
          <p:nvPr/>
        </p:nvSpPr>
        <p:spPr>
          <a:xfrm>
            <a:off x="281178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3" name="Text 10"/>
          <p:cNvSpPr txBox="1"/>
          <p:nvPr/>
        </p:nvSpPr>
        <p:spPr>
          <a:xfrm>
            <a:off x="290322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Recognition</a:t>
            </a:r>
            <a:endParaRPr lang="en-US" sz="1500" dirty="0"/>
          </a:p>
        </p:txBody>
      </p:sp>
      <p:sp>
        <p:nvSpPr>
          <p:cNvPr id="14" name="Text 11"/>
          <p:cNvSpPr txBox="1"/>
          <p:nvPr/>
        </p:nvSpPr>
        <p:spPr>
          <a:xfrm>
            <a:off x="290322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DE / TR / EN, automatic</a:t>
            </a:r>
            <a:endParaRPr lang="en-US" sz="1100" dirty="0"/>
          </a:p>
        </p:txBody>
      </p:sp>
      <p:sp>
        <p:nvSpPr>
          <p:cNvPr id="15" name="Text 12"/>
          <p:cNvSpPr txBox="1"/>
          <p:nvPr/>
        </p:nvSpPr>
        <p:spPr>
          <a:xfrm>
            <a:off x="480517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6" name="Shape 13"/>
          <p:cNvSpPr/>
          <p:nvPr/>
        </p:nvSpPr>
        <p:spPr>
          <a:xfrm>
            <a:off x="5074920" y="1417320"/>
            <a:ext cx="2011680" cy="1463040"/>
          </a:xfrm>
          <a:prstGeom prst="roundRect">
            <a:avLst>
              <a:gd name="adj" fmla="val 7500"/>
            </a:avLst>
          </a:prstGeom>
          <a:solidFill>
            <a:srgbClr val="181B23"/>
          </a:solidFill>
          <a:ln w="12700">
            <a:solidFill>
              <a:srgbClr val="181B23"/>
            </a:solidFill>
            <a:prstDash val="solid"/>
          </a:ln>
        </p:spPr>
      </p:sp>
      <p:sp>
        <p:nvSpPr>
          <p:cNvPr id="17" name="Text 14"/>
          <p:cNvSpPr txBox="1"/>
          <p:nvPr/>
        </p:nvSpPr>
        <p:spPr>
          <a:xfrm>
            <a:off x="507492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8" name="Text 15"/>
          <p:cNvSpPr txBox="1"/>
          <p:nvPr/>
        </p:nvSpPr>
        <p:spPr>
          <a:xfrm>
            <a:off x="516636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Matcher</a:t>
            </a:r>
            <a:endParaRPr lang="en-US" sz="1500" dirty="0"/>
          </a:p>
        </p:txBody>
      </p:sp>
      <p:sp>
        <p:nvSpPr>
          <p:cNvPr id="19" name="Text 16"/>
          <p:cNvSpPr txBox="1"/>
          <p:nvPr/>
        </p:nvSpPr>
        <p:spPr>
          <a:xfrm>
            <a:off x="516636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Dialect-tolerant, instant</a:t>
            </a:r>
            <a:endParaRPr lang="en-US" sz="1100" dirty="0"/>
          </a:p>
        </p:txBody>
      </p:sp>
      <p:sp>
        <p:nvSpPr>
          <p:cNvPr id="20" name="Text 17"/>
          <p:cNvSpPr txBox="1"/>
          <p:nvPr/>
        </p:nvSpPr>
        <p:spPr>
          <a:xfrm>
            <a:off x="706831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1" name="Shape 18"/>
          <p:cNvSpPr/>
          <p:nvPr/>
        </p:nvSpPr>
        <p:spPr>
          <a:xfrm>
            <a:off x="7338060" y="1417320"/>
            <a:ext cx="2011680" cy="1463040"/>
          </a:xfrm>
          <a:prstGeom prst="roundRect">
            <a:avLst>
              <a:gd name="adj" fmla="val 7500"/>
            </a:avLst>
          </a:prstGeom>
          <a:solidFill>
            <a:srgbClr val="181B23"/>
          </a:solidFill>
          <a:ln w="12700">
            <a:solidFill>
              <a:srgbClr val="181B23"/>
            </a:solidFill>
            <a:prstDash val="solid"/>
          </a:ln>
        </p:spPr>
      </p:sp>
      <p:sp>
        <p:nvSpPr>
          <p:cNvPr id="22" name="Text 19"/>
          <p:cNvSpPr txBox="1"/>
          <p:nvPr/>
        </p:nvSpPr>
        <p:spPr>
          <a:xfrm>
            <a:off x="733806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3" name="Text 20"/>
          <p:cNvSpPr txBox="1"/>
          <p:nvPr/>
        </p:nvSpPr>
        <p:spPr>
          <a:xfrm>
            <a:off x="742950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Overlay</a:t>
            </a:r>
            <a:endParaRPr lang="en-US" sz="1500" dirty="0"/>
          </a:p>
        </p:txBody>
      </p:sp>
      <p:sp>
        <p:nvSpPr>
          <p:cNvPr id="24" name="Text 21"/>
          <p:cNvSpPr txBox="1"/>
          <p:nvPr/>
        </p:nvSpPr>
        <p:spPr>
          <a:xfrm>
            <a:off x="742950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Browser source in OBS</a:t>
            </a:r>
            <a:endParaRPr lang="en-US" sz="1100" dirty="0"/>
          </a:p>
        </p:txBody>
      </p:sp>
      <p:sp>
        <p:nvSpPr>
          <p:cNvPr id="25" name="Text 22"/>
          <p:cNvSpPr txBox="1"/>
          <p:nvPr/>
        </p:nvSpPr>
        <p:spPr>
          <a:xfrm>
            <a:off x="933145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9601200" y="1417320"/>
            <a:ext cx="2011680" cy="1463040"/>
          </a:xfrm>
          <a:prstGeom prst="roundRect">
            <a:avLst>
              <a:gd name="adj" fmla="val 7500"/>
            </a:avLst>
          </a:prstGeom>
          <a:solidFill>
            <a:srgbClr val="181B23"/>
          </a:solidFill>
          <a:ln w="12700">
            <a:solidFill>
              <a:srgbClr val="181B23"/>
            </a:solidFill>
            <a:prstDash val="solid"/>
          </a:ln>
        </p:spPr>
      </p:sp>
      <p:sp>
        <p:nvSpPr>
          <p:cNvPr id="27" name="Text 24"/>
          <p:cNvSpPr txBox="1"/>
          <p:nvPr/>
        </p:nvSpPr>
        <p:spPr>
          <a:xfrm>
            <a:off x="960120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8" name="Text 25"/>
          <p:cNvSpPr txBox="1"/>
          <p:nvPr/>
        </p:nvSpPr>
        <p:spPr>
          <a:xfrm>
            <a:off x="969264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Stream</a:t>
            </a:r>
            <a:endParaRPr lang="en-US" sz="1500" dirty="0"/>
          </a:p>
        </p:txBody>
      </p:sp>
      <p:sp>
        <p:nvSpPr>
          <p:cNvPr id="29" name="Text 26"/>
          <p:cNvSpPr txBox="1"/>
          <p:nvPr/>
        </p:nvSpPr>
        <p:spPr>
          <a:xfrm>
            <a:off x="969264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TikTok · IG · YouTube · Twitch</a:t>
            </a:r>
            <a:endParaRPr lang="en-US" sz="1100" dirty="0"/>
          </a:p>
        </p:txBody>
      </p:sp>
      <p:sp>
        <p:nvSpPr>
          <p:cNvPr id="30" name="Shape 27"/>
          <p:cNvSpPr/>
          <p:nvPr/>
        </p:nvSpPr>
        <p:spPr>
          <a:xfrm>
            <a:off x="548640" y="3154680"/>
            <a:ext cx="3520440" cy="1280160"/>
          </a:xfrm>
          <a:prstGeom prst="roundRect">
            <a:avLst>
              <a:gd name="adj" fmla="val 8571"/>
            </a:avLst>
          </a:prstGeom>
          <a:solidFill>
            <a:srgbClr val="1F2330"/>
          </a:solidFill>
          <a:ln w="12700">
            <a:solidFill>
              <a:srgbClr val="1F2330"/>
            </a:solidFill>
            <a:prstDash val="solid"/>
          </a:ln>
        </p:spPr>
      </p:sp>
      <p:sp>
        <p:nvSpPr>
          <p:cNvPr id="31" name="Text 28"/>
          <p:cNvSpPr txBox="1"/>
          <p:nvPr/>
        </p:nvSpPr>
        <p:spPr>
          <a:xfrm>
            <a:off x="77724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2D75"/>
                </a:solidFill>
                <a:latin typeface="Arial" pitchFamily="34" charset="0"/>
                <a:ea typeface="Arial" pitchFamily="34" charset="-122"/>
                <a:cs typeface="Arial" pitchFamily="34" charset="-120"/>
              </a:rPr>
              <a:t>“Wild”</a:t>
            </a:r>
            <a:endParaRPr lang="en-US" sz="2100" dirty="0"/>
          </a:p>
        </p:txBody>
      </p:sp>
      <p:sp>
        <p:nvSpPr>
          <p:cNvPr id="32" name="Text 29"/>
          <p:cNvSpPr txBox="1"/>
          <p:nvPr/>
        </p:nvSpPr>
        <p:spPr>
          <a:xfrm>
            <a:off x="77724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 Neon text + airhorn</a:t>
            </a:r>
            <a:endParaRPr lang="en-US" sz="1300" dirty="0"/>
          </a:p>
        </p:txBody>
      </p:sp>
      <p:sp>
        <p:nvSpPr>
          <p:cNvPr id="33" name="Shape 30"/>
          <p:cNvSpPr/>
          <p:nvPr/>
        </p:nvSpPr>
        <p:spPr>
          <a:xfrm>
            <a:off x="4297680" y="3154680"/>
            <a:ext cx="3520440" cy="1280160"/>
          </a:xfrm>
          <a:prstGeom prst="roundRect">
            <a:avLst>
              <a:gd name="adj" fmla="val 8571"/>
            </a:avLst>
          </a:prstGeom>
          <a:solidFill>
            <a:srgbClr val="1F2330"/>
          </a:solidFill>
          <a:ln w="12700">
            <a:solidFill>
              <a:srgbClr val="1F2330"/>
            </a:solidFill>
            <a:prstDash val="solid"/>
          </a:ln>
        </p:spPr>
      </p:sp>
      <p:sp>
        <p:nvSpPr>
          <p:cNvPr id="34" name="Text 31"/>
          <p:cNvSpPr txBox="1"/>
          <p:nvPr/>
        </p:nvSpPr>
        <p:spPr>
          <a:xfrm>
            <a:off x="452628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D166"/>
                </a:solidFill>
                <a:latin typeface="Arial" pitchFamily="34" charset="0"/>
                <a:ea typeface="Arial" pitchFamily="34" charset="-122"/>
                <a:cs typeface="Arial" pitchFamily="34" charset="-120"/>
              </a:rPr>
              <a:t>“Yok artık”</a:t>
            </a:r>
            <a:endParaRPr lang="en-US" sz="2100" dirty="0"/>
          </a:p>
        </p:txBody>
      </p:sp>
      <p:sp>
        <p:nvSpPr>
          <p:cNvPr id="35" name="Text 32"/>
          <p:cNvSpPr txBox="1"/>
          <p:nvPr/>
        </p:nvSpPr>
        <p:spPr>
          <a:xfrm>
            <a:off x="452628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Meme card + vine boom</a:t>
            </a:r>
            <a:endParaRPr lang="en-US" sz="1300" dirty="0"/>
          </a:p>
        </p:txBody>
      </p:sp>
      <p:sp>
        <p:nvSpPr>
          <p:cNvPr id="36" name="Shape 33"/>
          <p:cNvSpPr/>
          <p:nvPr/>
        </p:nvSpPr>
        <p:spPr>
          <a:xfrm>
            <a:off x="8046720" y="3154680"/>
            <a:ext cx="3520440" cy="1280160"/>
          </a:xfrm>
          <a:prstGeom prst="roundRect">
            <a:avLst>
              <a:gd name="adj" fmla="val 8571"/>
            </a:avLst>
          </a:prstGeom>
          <a:solidFill>
            <a:srgbClr val="1F2330"/>
          </a:solidFill>
          <a:ln w="12700">
            <a:solidFill>
              <a:srgbClr val="1F2330"/>
            </a:solidFill>
            <a:prstDash val="solid"/>
          </a:ln>
        </p:spPr>
      </p:sp>
      <p:sp>
        <p:nvSpPr>
          <p:cNvPr id="37" name="Text 34"/>
          <p:cNvSpPr txBox="1"/>
          <p:nvPr/>
        </p:nvSpPr>
        <p:spPr>
          <a:xfrm>
            <a:off x="827532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2DFFB5"/>
                </a:solidFill>
                <a:latin typeface="Arial" pitchFamily="34" charset="0"/>
                <a:ea typeface="Arial" pitchFamily="34" charset="-122"/>
                <a:cs typeface="Arial" pitchFamily="34" charset="-120"/>
              </a:rPr>
              <a:t>“It was raining…”</a:t>
            </a:r>
            <a:endParaRPr lang="en-US" sz="2100" dirty="0"/>
          </a:p>
        </p:txBody>
      </p:sp>
      <p:sp>
        <p:nvSpPr>
          <p:cNvPr id="38" name="Text 35"/>
          <p:cNvSpPr txBox="1"/>
          <p:nvPr/>
        </p:nvSpPr>
        <p:spPr>
          <a:xfrm>
            <a:off x="827532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Rain scene + ambience loop</a:t>
            </a:r>
            <a:endParaRPr lang="en-US" sz="1300" dirty="0"/>
          </a:p>
        </p:txBody>
      </p:sp>
      <p:sp>
        <p:nvSpPr>
          <p:cNvPr id="39" name="Shape 36"/>
          <p:cNvSpPr/>
          <p:nvPr/>
        </p:nvSpPr>
        <p:spPr>
          <a:xfrm>
            <a:off x="548640" y="4800600"/>
            <a:ext cx="128016" cy="128016"/>
          </a:xfrm>
          <a:prstGeom prst="ellipse">
            <a:avLst/>
          </a:prstGeom>
          <a:solidFill>
            <a:srgbClr val="FF2D75"/>
          </a:solidFill>
          <a:ln w="12700">
            <a:solidFill>
              <a:srgbClr val="FF2D75"/>
            </a:solidFill>
            <a:prstDash val="solid"/>
          </a:ln>
        </p:spPr>
      </p:sp>
      <p:sp>
        <p:nvSpPr>
          <p:cNvPr id="40" name="Text 37"/>
          <p:cNvSpPr txBox="1"/>
          <p:nvPr/>
        </p:nvSpPr>
        <p:spPr>
          <a:xfrm>
            <a:off x="82296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&lt; 1 s reaction – matches fire on interim recognition results</a:t>
            </a:r>
            <a:endParaRPr lang="en-US" sz="1300" dirty="0"/>
          </a:p>
        </p:txBody>
      </p:sp>
      <p:sp>
        <p:nvSpPr>
          <p:cNvPr id="41" name="Shape 38"/>
          <p:cNvSpPr/>
          <p:nvPr/>
        </p:nvSpPr>
        <p:spPr>
          <a:xfrm>
            <a:off x="6172200" y="4800600"/>
            <a:ext cx="128016" cy="128016"/>
          </a:xfrm>
          <a:prstGeom prst="ellipse">
            <a:avLst/>
          </a:prstGeom>
          <a:solidFill>
            <a:srgbClr val="2DFFB5"/>
          </a:solidFill>
          <a:ln w="12700">
            <a:solidFill>
              <a:srgbClr val="2DFFB5"/>
            </a:solidFill>
            <a:prstDash val="solid"/>
          </a:ln>
        </p:spPr>
      </p:sp>
      <p:sp>
        <p:nvSpPr>
          <p:cNvPr id="42" name="Text 39"/>
          <p:cNvSpPr txBox="1"/>
          <p:nvPr/>
        </p:nvSpPr>
        <p:spPr>
          <a:xfrm>
            <a:off x="644652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Hands-free – no key, no click, no second monitor</a:t>
            </a:r>
            <a:endParaRPr lang="en-US" sz="1300" dirty="0"/>
          </a:p>
        </p:txBody>
      </p:sp>
      <p:sp>
        <p:nvSpPr>
          <p:cNvPr id="43" name="Shape 40"/>
          <p:cNvSpPr/>
          <p:nvPr/>
        </p:nvSpPr>
        <p:spPr>
          <a:xfrm>
            <a:off x="548640" y="5422392"/>
            <a:ext cx="128016" cy="128016"/>
          </a:xfrm>
          <a:prstGeom prst="ellipse">
            <a:avLst/>
          </a:prstGeom>
          <a:solidFill>
            <a:srgbClr val="FF2D75"/>
          </a:solidFill>
          <a:ln w="12700">
            <a:solidFill>
              <a:srgbClr val="FF2D75"/>
            </a:solidFill>
            <a:prstDash val="solid"/>
          </a:ln>
        </p:spPr>
      </p:sp>
      <p:sp>
        <p:nvSpPr>
          <p:cNvPr id="44" name="Text 41"/>
          <p:cNvSpPr txBox="1"/>
          <p:nvPr/>
        </p:nvSpPr>
        <p:spPr>
          <a:xfrm>
            <a:off x="82296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Runs locally on the creator's own computer – privacy built in</a:t>
            </a:r>
            <a:endParaRPr lang="en-US" sz="1300" dirty="0"/>
          </a:p>
        </p:txBody>
      </p:sp>
      <p:sp>
        <p:nvSpPr>
          <p:cNvPr id="45" name="Shape 42"/>
          <p:cNvSpPr/>
          <p:nvPr/>
        </p:nvSpPr>
        <p:spPr>
          <a:xfrm>
            <a:off x="6172200" y="5422392"/>
            <a:ext cx="128016" cy="128016"/>
          </a:xfrm>
          <a:prstGeom prst="ellipse">
            <a:avLst/>
          </a:prstGeom>
          <a:solidFill>
            <a:srgbClr val="2DFFB5"/>
          </a:solidFill>
          <a:ln w="12700">
            <a:solidFill>
              <a:srgbClr val="2DFFB5"/>
            </a:solidFill>
            <a:prstDash val="solid"/>
          </a:ln>
        </p:spPr>
      </p:sp>
      <p:sp>
        <p:nvSpPr>
          <p:cNvPr id="46" name="Text 43"/>
          <p:cNvSpPr txBox="1"/>
          <p:nvPr/>
        </p:nvSpPr>
        <p:spPr>
          <a:xfrm>
            <a:off x="644652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AI mode (optional) catches sentences without a keyword: “that was so embarrassing” → Awkward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WHAT IT LOOKS LIKE IN A STREAM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Demo</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4</a:t>
            </a:r>
            <a:endParaRPr lang="en-US" sz="900" dirty="0"/>
          </a:p>
        </p:txBody>
      </p:sp>
      <p:pic>
        <p:nvPicPr>
          <p:cNvPr id="6" name="Image 0" descr="/home/user/Notion/live-fx/business/video/stills/en-16x9-6_9s.jpg">    </p:cNvPr>
          <p:cNvPicPr>
            <a:picLocks noChangeAspect="1"/>
          </p:cNvPicPr>
          <p:nvPr/>
        </p:nvPicPr>
        <p:blipFill>
          <a:blip r:embed="rId1"/>
          <a:stretch>
            <a:fillRect/>
          </a:stretch>
        </p:blipFill>
        <p:spPr>
          <a:xfrm>
            <a:off x="548640" y="1325880"/>
            <a:ext cx="6583680" cy="3703320"/>
          </a:xfrm>
          <a:prstGeom prst="rect">
            <a:avLst/>
          </a:prstGeom>
        </p:spPr>
      </p:pic>
      <p:sp>
        <p:nvSpPr>
          <p:cNvPr id="7" name="Text 3"/>
          <p:cNvSpPr txBox="1"/>
          <p:nvPr/>
        </p:nvSpPr>
        <p:spPr>
          <a:xfrm>
            <a:off x="548640" y="5074920"/>
            <a:ext cx="6583680" cy="457200"/>
          </a:xfrm>
          <a:prstGeom prst="rect">
            <a:avLst/>
          </a:prstGeom>
          <a:noFill/>
          <a:ln/>
        </p:spPr>
        <p:txBody>
          <a:bodyPr wrap="square" lIns="0" tIns="0" rIns="0" bIns="0" rtlCol="0" anchor="t">
            <a:normAutofit/>
          </a:bodyPr>
          <a:lstStyle/>
          <a:p>
            <a:pPr indent="0" marL="0">
              <a:buNone/>
            </a:pPr>
            <a:r>
              <a:rPr lang="en-US" sz="1150" dirty="0">
                <a:solidFill>
                  <a:srgbClr val="9AA3B5"/>
                </a:solidFill>
                <a:latin typeface="Arial" pitchFamily="34" charset="0"/>
                <a:ea typeface="Arial" pitchFamily="34" charset="-122"/>
                <a:cs typeface="Arial" pitchFamily="34" charset="-120"/>
              </a:rPr>
              <a:t>Overlay 16:9 – “Wild!” → neon text + confetti</a:t>
            </a:r>
            <a:endParaRPr lang="en-US" sz="1150" dirty="0"/>
          </a:p>
        </p:txBody>
      </p:sp>
      <p:pic>
        <p:nvPicPr>
          <p:cNvPr id="8" name="Image 1" descr="/home/user/Notion/live-fx/business/video/stills/en-9x16-29_6s.jpg">    </p:cNvPr>
          <p:cNvPicPr>
            <a:picLocks noChangeAspect="1"/>
          </p:cNvPicPr>
          <p:nvPr/>
        </p:nvPicPr>
        <p:blipFill>
          <a:blip r:embed="rId2"/>
          <a:stretch>
            <a:fillRect/>
          </a:stretch>
        </p:blipFill>
        <p:spPr>
          <a:xfrm>
            <a:off x="7406640" y="1325880"/>
            <a:ext cx="2084832" cy="3703320"/>
          </a:xfrm>
          <a:prstGeom prst="rect">
            <a:avLst/>
          </a:prstGeom>
        </p:spPr>
      </p:pic>
      <p:sp>
        <p:nvSpPr>
          <p:cNvPr id="9" name="Text 4"/>
          <p:cNvSpPr txBox="1"/>
          <p:nvPr/>
        </p:nvSpPr>
        <p:spPr>
          <a:xfrm>
            <a:off x="7406640" y="5074920"/>
            <a:ext cx="2194560"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Portrait 9:16 – story mode: “It was raining at night…”</a:t>
            </a:r>
            <a:endParaRPr lang="en-US" sz="1100" dirty="0"/>
          </a:p>
        </p:txBody>
      </p:sp>
      <p:pic>
        <p:nvPicPr>
          <p:cNvPr id="10" name="Image 2" descr="/home/user/Notion/live-fx/business/landing-assets/mobile.jpg">    </p:cNvPr>
          <p:cNvPicPr>
            <a:picLocks noChangeAspect="1"/>
          </p:cNvPicPr>
          <p:nvPr/>
        </p:nvPicPr>
        <p:blipFill>
          <a:blip r:embed="rId3"/>
          <a:stretch>
            <a:fillRect/>
          </a:stretch>
        </p:blipFill>
        <p:spPr>
          <a:xfrm>
            <a:off x="9784080" y="1325880"/>
            <a:ext cx="1709928" cy="3703320"/>
          </a:xfrm>
          <a:prstGeom prst="rect">
            <a:avLst/>
          </a:prstGeom>
        </p:spPr>
      </p:pic>
      <p:sp>
        <p:nvSpPr>
          <p:cNvPr id="11" name="Text 5"/>
          <p:cNvSpPr txBox="1"/>
          <p:nvPr/>
        </p:nvSpPr>
        <p:spPr>
          <a:xfrm>
            <a:off x="9784080" y="5074920"/>
            <a:ext cx="1856232"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Phone remote (PWA)</a:t>
            </a:r>
            <a:endParaRPr lang="en-US" sz="1100" dirty="0"/>
          </a:p>
        </p:txBody>
      </p:sp>
      <p:sp>
        <p:nvSpPr>
          <p:cNvPr id="12" name="Shape 6"/>
          <p:cNvSpPr/>
          <p:nvPr/>
        </p:nvSpPr>
        <p:spPr>
          <a:xfrm>
            <a:off x="548640" y="5623560"/>
            <a:ext cx="11094415" cy="749808"/>
          </a:xfrm>
          <a:prstGeom prst="roundRect">
            <a:avLst>
              <a:gd name="adj" fmla="val 14634"/>
            </a:avLst>
          </a:prstGeom>
          <a:solidFill>
            <a:srgbClr val="1F2330"/>
          </a:solidFill>
          <a:ln w="12700">
            <a:solidFill>
              <a:srgbClr val="1F2330"/>
            </a:solidFill>
            <a:prstDash val="solid"/>
          </a:ln>
        </p:spPr>
      </p:sp>
      <p:sp>
        <p:nvSpPr>
          <p:cNvPr id="13" name="Text 7"/>
          <p:cNvSpPr txBox="1"/>
          <p:nvPr/>
        </p:nvSpPr>
        <p:spPr>
          <a:xfrm>
            <a:off x="822960" y="5669280"/>
            <a:ext cx="10545775" cy="658368"/>
          </a:xfrm>
          <a:prstGeom prst="rect">
            <a:avLst/>
          </a:prstGeom>
          <a:noFill/>
          <a:ln/>
        </p:spPr>
        <p:txBody>
          <a:bodyPr wrap="square" lIns="0" tIns="0" rIns="0" bIns="0" rtlCol="0" anchor="ctr">
            <a:normAutofit/>
          </a:bodyPr>
          <a:lstStyle/>
          <a:p>
            <a:pPr indent="0" marL="0">
              <a:buNone/>
            </a:pPr>
            <a:r>
              <a:rPr lang="en-US" sz="1250" dirty="0">
                <a:solidFill>
                  <a:srgbClr val="FFFFFF"/>
                </a:solidFill>
                <a:latin typeface="Arial" pitchFamily="34" charset="0"/>
                <a:ea typeface="Arial" pitchFamily="34" charset="-122"/>
                <a:cs typeface="Arial" pitchFamily="34" charset="-120"/>
              </a:rPr>
              <a:t>▶  Trailer (30 s): video/LiveFX_Trailer_en_16x9.mp4  ·  Live demo: start the mic and say “that's wild” – or switch on story mode and read a paragraph aloud.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NOT A PROTOTYPE</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The product today – version 2.1</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5</a:t>
            </a:r>
            <a:endParaRPr lang="en-US" sz="900" dirty="0"/>
          </a:p>
        </p:txBody>
      </p:sp>
      <p:sp>
        <p:nvSpPr>
          <p:cNvPr id="6" name="Shape 3"/>
          <p:cNvSpPr/>
          <p:nvPr/>
        </p:nvSpPr>
        <p:spPr>
          <a:xfrm>
            <a:off x="548640" y="1371600"/>
            <a:ext cx="2679192" cy="2194560"/>
          </a:xfrm>
          <a:prstGeom prst="roundRect">
            <a:avLst>
              <a:gd name="adj" fmla="val 5000"/>
            </a:avLst>
          </a:prstGeom>
          <a:solidFill>
            <a:srgbClr val="181B23"/>
          </a:solidFill>
          <a:ln w="12700">
            <a:solidFill>
              <a:srgbClr val="181B23"/>
            </a:solidFill>
            <a:prstDash val="solid"/>
          </a:ln>
        </p:spPr>
      </p:sp>
      <p:sp>
        <p:nvSpPr>
          <p:cNvPr id="7" name="Text 4"/>
          <p:cNvSpPr txBox="1"/>
          <p:nvPr/>
        </p:nvSpPr>
        <p:spPr>
          <a:xfrm>
            <a:off x="731520"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8" name="Text 5"/>
          <p:cNvSpPr txBox="1"/>
          <p:nvPr/>
        </p:nvSpPr>
        <p:spPr>
          <a:xfrm>
            <a:off x="731520"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Recognition</a:t>
            </a:r>
            <a:endParaRPr lang="en-US" sz="1400" dirty="0"/>
          </a:p>
        </p:txBody>
      </p:sp>
      <p:sp>
        <p:nvSpPr>
          <p:cNvPr id="9" name="Text 6"/>
          <p:cNvSpPr txBox="1"/>
          <p:nvPr/>
        </p:nvSpPr>
        <p:spPr>
          <a:xfrm>
            <a:off x="731520"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Browser ASR, auto language DE/TR/EN, dialect tolerance, learning mode, self-test; external via Whisper/Deepgram, offline Whisper (experimental)</a:t>
            </a:r>
            <a:endParaRPr lang="en-US" sz="1100" dirty="0"/>
          </a:p>
        </p:txBody>
      </p:sp>
      <p:sp>
        <p:nvSpPr>
          <p:cNvPr id="10" name="Shape 7"/>
          <p:cNvSpPr/>
          <p:nvPr/>
        </p:nvSpPr>
        <p:spPr>
          <a:xfrm>
            <a:off x="3364992" y="1371600"/>
            <a:ext cx="2679192" cy="2194560"/>
          </a:xfrm>
          <a:prstGeom prst="roundRect">
            <a:avLst>
              <a:gd name="adj" fmla="val 5000"/>
            </a:avLst>
          </a:prstGeom>
          <a:solidFill>
            <a:srgbClr val="181B23"/>
          </a:solidFill>
          <a:ln w="12700">
            <a:solidFill>
              <a:srgbClr val="181B23"/>
            </a:solidFill>
            <a:prstDash val="solid"/>
          </a:ln>
        </p:spPr>
      </p:sp>
      <p:sp>
        <p:nvSpPr>
          <p:cNvPr id="11" name="Text 8"/>
          <p:cNvSpPr txBox="1"/>
          <p:nvPr/>
        </p:nvSpPr>
        <p:spPr>
          <a:xfrm>
            <a:off x="3547872"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2" name="Text 9"/>
          <p:cNvSpPr txBox="1"/>
          <p:nvPr/>
        </p:nvSpPr>
        <p:spPr>
          <a:xfrm>
            <a:off x="3547872"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Effects &amp; performance</a:t>
            </a:r>
            <a:endParaRPr lang="en-US" sz="1400" dirty="0"/>
          </a:p>
        </p:txBody>
      </p:sp>
      <p:sp>
        <p:nvSpPr>
          <p:cNvPr id="13" name="Text 10"/>
          <p:cNvSpPr txBox="1"/>
          <p:nvPr/>
        </p:nvSpPr>
        <p:spPr>
          <a:xfrm>
            <a:off x="3547872"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Canvas particles (60 fps), neon/glitch/sticker text, lower thirds, combos, 4 themes; performance mode: frame time −63 to −69%</a:t>
            </a:r>
            <a:endParaRPr lang="en-US" sz="1100" dirty="0"/>
          </a:p>
        </p:txBody>
      </p:sp>
      <p:sp>
        <p:nvSpPr>
          <p:cNvPr id="14" name="Shape 11"/>
          <p:cNvSpPr/>
          <p:nvPr/>
        </p:nvSpPr>
        <p:spPr>
          <a:xfrm>
            <a:off x="6181344" y="1371600"/>
            <a:ext cx="2679192" cy="2194560"/>
          </a:xfrm>
          <a:prstGeom prst="roundRect">
            <a:avLst>
              <a:gd name="adj" fmla="val 5000"/>
            </a:avLst>
          </a:prstGeom>
          <a:solidFill>
            <a:srgbClr val="181B23"/>
          </a:solidFill>
          <a:ln w="12700">
            <a:solidFill>
              <a:srgbClr val="181B23"/>
            </a:solidFill>
            <a:prstDash val="solid"/>
          </a:ln>
        </p:spPr>
      </p:sp>
      <p:sp>
        <p:nvSpPr>
          <p:cNvPr id="15" name="Text 12"/>
          <p:cNvSpPr txBox="1"/>
          <p:nvPr/>
        </p:nvSpPr>
        <p:spPr>
          <a:xfrm>
            <a:off x="6364224"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6" name="Text 13"/>
          <p:cNvSpPr txBox="1"/>
          <p:nvPr/>
        </p:nvSpPr>
        <p:spPr>
          <a:xfrm>
            <a:off x="6364224"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Story mode</a:t>
            </a:r>
            <a:endParaRPr lang="en-US" sz="1400" dirty="0"/>
          </a:p>
        </p:txBody>
      </p:sp>
      <p:sp>
        <p:nvSpPr>
          <p:cNvPr id="17" name="Text 14"/>
          <p:cNvSpPr txBox="1"/>
          <p:nvPr/>
        </p:nvSpPr>
        <p:spPr>
          <a:xfrm>
            <a:off x="6364224"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13 full-screen scenes, 12 ambience loops, story packs DE/TR/EN</a:t>
            </a:r>
            <a:endParaRPr lang="en-US" sz="1100" dirty="0"/>
          </a:p>
        </p:txBody>
      </p:sp>
      <p:sp>
        <p:nvSpPr>
          <p:cNvPr id="18" name="Shape 15"/>
          <p:cNvSpPr/>
          <p:nvPr/>
        </p:nvSpPr>
        <p:spPr>
          <a:xfrm>
            <a:off x="8997696" y="1371600"/>
            <a:ext cx="2679192" cy="2194560"/>
          </a:xfrm>
          <a:prstGeom prst="roundRect">
            <a:avLst>
              <a:gd name="adj" fmla="val 5000"/>
            </a:avLst>
          </a:prstGeom>
          <a:solidFill>
            <a:srgbClr val="181B23"/>
          </a:solidFill>
          <a:ln w="12700">
            <a:solidFill>
              <a:srgbClr val="181B23"/>
            </a:solidFill>
            <a:prstDash val="solid"/>
          </a:ln>
        </p:spPr>
      </p:sp>
      <p:sp>
        <p:nvSpPr>
          <p:cNvPr id="19" name="Text 16"/>
          <p:cNvSpPr txBox="1"/>
          <p:nvPr/>
        </p:nvSpPr>
        <p:spPr>
          <a:xfrm>
            <a:off x="9180576"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0" name="Text 17"/>
          <p:cNvSpPr txBox="1"/>
          <p:nvPr/>
        </p:nvSpPr>
        <p:spPr>
          <a:xfrm>
            <a:off x="9180576"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Packs</a:t>
            </a:r>
            <a:endParaRPr lang="en-US" sz="1400" dirty="0"/>
          </a:p>
        </p:txBody>
      </p:sp>
      <p:sp>
        <p:nvSpPr>
          <p:cNvPr id="21" name="Text 18"/>
          <p:cNvSpPr txBox="1"/>
          <p:nvPr/>
        </p:nvSpPr>
        <p:spPr>
          <a:xfrm>
            <a:off x="9180576"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Türkçe 85 · Deutsch 49 · English 50 · Family &amp; Kids 27 · Gaming 27 – plus text sticker packs TR/DE/EN</a:t>
            </a:r>
            <a:endParaRPr lang="en-US" sz="1100" dirty="0"/>
          </a:p>
        </p:txBody>
      </p:sp>
      <p:sp>
        <p:nvSpPr>
          <p:cNvPr id="22" name="Shape 19"/>
          <p:cNvSpPr/>
          <p:nvPr/>
        </p:nvSpPr>
        <p:spPr>
          <a:xfrm>
            <a:off x="548640" y="3703320"/>
            <a:ext cx="2679192" cy="2194560"/>
          </a:xfrm>
          <a:prstGeom prst="roundRect">
            <a:avLst>
              <a:gd name="adj" fmla="val 5000"/>
            </a:avLst>
          </a:prstGeom>
          <a:solidFill>
            <a:srgbClr val="181B23"/>
          </a:solidFill>
          <a:ln w="12700">
            <a:solidFill>
              <a:srgbClr val="181B23"/>
            </a:solidFill>
            <a:prstDash val="solid"/>
          </a:ln>
        </p:spPr>
      </p:sp>
      <p:sp>
        <p:nvSpPr>
          <p:cNvPr id="23" name="Text 20"/>
          <p:cNvSpPr txBox="1"/>
          <p:nvPr/>
        </p:nvSpPr>
        <p:spPr>
          <a:xfrm>
            <a:off x="731520"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4" name="Text 21"/>
          <p:cNvSpPr txBox="1"/>
          <p:nvPr/>
        </p:nvSpPr>
        <p:spPr>
          <a:xfrm>
            <a:off x="731520"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Stickers &amp; GIFs</a:t>
            </a:r>
            <a:endParaRPr lang="en-US" sz="1400" dirty="0"/>
          </a:p>
        </p:txBody>
      </p:sp>
      <p:sp>
        <p:nvSpPr>
          <p:cNvPr id="25" name="Text 22"/>
          <p:cNvSpPr txBox="1"/>
          <p:nvPr/>
        </p:nvSpPr>
        <p:spPr>
          <a:xfrm>
            <a:off x="731520"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143 free stickers (MIT licence, 119 animated) · safe GIF search KLIPY/GIPHY with content filter, GIFs linked, not stored</a:t>
            </a:r>
            <a:endParaRPr lang="en-US" sz="1100" dirty="0"/>
          </a:p>
        </p:txBody>
      </p:sp>
      <p:sp>
        <p:nvSpPr>
          <p:cNvPr id="26" name="Shape 23"/>
          <p:cNvSpPr/>
          <p:nvPr/>
        </p:nvSpPr>
        <p:spPr>
          <a:xfrm>
            <a:off x="3364992" y="3703320"/>
            <a:ext cx="2679192" cy="2194560"/>
          </a:xfrm>
          <a:prstGeom prst="roundRect">
            <a:avLst>
              <a:gd name="adj" fmla="val 5000"/>
            </a:avLst>
          </a:prstGeom>
          <a:solidFill>
            <a:srgbClr val="181B23"/>
          </a:solidFill>
          <a:ln w="12700">
            <a:solidFill>
              <a:srgbClr val="181B23"/>
            </a:solidFill>
            <a:prstDash val="solid"/>
          </a:ln>
        </p:spPr>
      </p:sp>
      <p:sp>
        <p:nvSpPr>
          <p:cNvPr id="27" name="Text 24"/>
          <p:cNvSpPr txBox="1"/>
          <p:nvPr/>
        </p:nvSpPr>
        <p:spPr>
          <a:xfrm>
            <a:off x="3547872"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3547872"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Sound engine</a:t>
            </a:r>
            <a:endParaRPr lang="en-US" sz="1400" dirty="0"/>
          </a:p>
        </p:txBody>
      </p:sp>
      <p:sp>
        <p:nvSpPr>
          <p:cNvPr id="29" name="Text 26"/>
          <p:cNvSpPr txBox="1"/>
          <p:nvPr/>
        </p:nvSpPr>
        <p:spPr>
          <a:xfrm>
            <a:off x="3547872"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38 synthesized sounds (no license fees), mixer with limiter, ducking, stereo, reverb</a:t>
            </a:r>
            <a:endParaRPr lang="en-US" sz="1100" dirty="0"/>
          </a:p>
        </p:txBody>
      </p:sp>
      <p:sp>
        <p:nvSpPr>
          <p:cNvPr id="30" name="Shape 27"/>
          <p:cNvSpPr/>
          <p:nvPr/>
        </p:nvSpPr>
        <p:spPr>
          <a:xfrm>
            <a:off x="6181344" y="3703320"/>
            <a:ext cx="2679192" cy="2194560"/>
          </a:xfrm>
          <a:prstGeom prst="roundRect">
            <a:avLst>
              <a:gd name="adj" fmla="val 5000"/>
            </a:avLst>
          </a:prstGeom>
          <a:solidFill>
            <a:srgbClr val="181B23"/>
          </a:solidFill>
          <a:ln w="12700">
            <a:solidFill>
              <a:srgbClr val="181B23"/>
            </a:solidFill>
            <a:prstDash val="solid"/>
          </a:ln>
        </p:spPr>
      </p:sp>
      <p:sp>
        <p:nvSpPr>
          <p:cNvPr id="31" name="Text 28"/>
          <p:cNvSpPr txBox="1"/>
          <p:nvPr/>
        </p:nvSpPr>
        <p:spPr>
          <a:xfrm>
            <a:off x="6364224"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2" name="Text 29"/>
          <p:cNvSpPr txBox="1"/>
          <p:nvPr/>
        </p:nvSpPr>
        <p:spPr>
          <a:xfrm>
            <a:off x="6364224"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Phone &amp; platforms</a:t>
            </a:r>
            <a:endParaRPr lang="en-US" sz="1400" dirty="0"/>
          </a:p>
        </p:txBody>
      </p:sp>
      <p:sp>
        <p:nvSpPr>
          <p:cNvPr id="33" name="Text 30"/>
          <p:cNvSpPr txBox="1"/>
          <p:nvPr/>
        </p:nvSpPr>
        <p:spPr>
          <a:xfrm>
            <a:off x="6364224"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Phone remote (PWA), OBS/Streamlabs, TikTok LIVE Studio, IG Live Producer, demo without OBS</a:t>
            </a:r>
            <a:endParaRPr lang="en-US" sz="1100" dirty="0"/>
          </a:p>
        </p:txBody>
      </p:sp>
      <p:sp>
        <p:nvSpPr>
          <p:cNvPr id="34" name="Shape 31"/>
          <p:cNvSpPr/>
          <p:nvPr/>
        </p:nvSpPr>
        <p:spPr>
          <a:xfrm>
            <a:off x="8997696" y="3703320"/>
            <a:ext cx="2679192" cy="2194560"/>
          </a:xfrm>
          <a:prstGeom prst="roundRect">
            <a:avLst>
              <a:gd name="adj" fmla="val 5000"/>
            </a:avLst>
          </a:prstGeom>
          <a:solidFill>
            <a:srgbClr val="181B23"/>
          </a:solidFill>
          <a:ln w="12700">
            <a:solidFill>
              <a:srgbClr val="181B23"/>
            </a:solidFill>
            <a:prstDash val="solid"/>
          </a:ln>
        </p:spPr>
      </p:sp>
      <p:sp>
        <p:nvSpPr>
          <p:cNvPr id="35" name="Text 32"/>
          <p:cNvSpPr txBox="1"/>
          <p:nvPr/>
        </p:nvSpPr>
        <p:spPr>
          <a:xfrm>
            <a:off x="9180576"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6" name="Text 33"/>
          <p:cNvSpPr txBox="1"/>
          <p:nvPr/>
        </p:nvSpPr>
        <p:spPr>
          <a:xfrm>
            <a:off x="9180576"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Viewers &amp; open API</a:t>
            </a:r>
            <a:endParaRPr lang="en-US" sz="1400" dirty="0"/>
          </a:p>
        </p:txBody>
      </p:sp>
      <p:sp>
        <p:nvSpPr>
          <p:cNvPr id="37" name="Text 34"/>
          <p:cNvSpPr txBox="1"/>
          <p:nvPr/>
        </p:nvSpPr>
        <p:spPr>
          <a:xfrm>
            <a:off x="9180576"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Twitch/YouTube chat, gift webhook (TikFinity / Streamer.bot), token-secured HTTP API, 575+ automated tests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TIMING</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Why now</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6</a:t>
            </a:r>
            <a:endParaRPr lang="en-US" sz="900" dirty="0"/>
          </a:p>
        </p:txBody>
      </p:sp>
      <p:sp>
        <p:nvSpPr>
          <p:cNvPr id="6" name="Text 3"/>
          <p:cNvSpPr txBox="1"/>
          <p:nvPr/>
        </p:nvSpPr>
        <p:spPr>
          <a:xfrm>
            <a:off x="54864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~50%</a:t>
            </a:r>
            <a:endParaRPr lang="en-US" sz="3800" dirty="0"/>
          </a:p>
        </p:txBody>
      </p:sp>
      <p:sp>
        <p:nvSpPr>
          <p:cNvPr id="7" name="Text 4"/>
          <p:cNvSpPr txBox="1"/>
          <p:nvPr/>
        </p:nvSpPr>
        <p:spPr>
          <a:xfrm>
            <a:off x="54864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of live streamers' income comes from gifts; 20–100K followers: $500–3,000/month [Source 5, 6]</a:t>
            </a:r>
            <a:endParaRPr lang="en-US" sz="1200" dirty="0"/>
          </a:p>
        </p:txBody>
      </p:sp>
      <p:sp>
        <p:nvSpPr>
          <p:cNvPr id="8" name="Text 5"/>
          <p:cNvSpPr txBox="1"/>
          <p:nvPr/>
        </p:nvSpPr>
        <p:spPr>
          <a:xfrm>
            <a:off x="434340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&gt; 100M</a:t>
            </a:r>
            <a:endParaRPr lang="en-US" sz="3800" dirty="0"/>
          </a:p>
        </p:txBody>
      </p:sp>
      <p:sp>
        <p:nvSpPr>
          <p:cNvPr id="9" name="Text 6"/>
          <p:cNvSpPr txBox="1"/>
          <p:nvPr/>
        </p:nvSpPr>
        <p:spPr>
          <a:xfrm>
            <a:off x="434340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creators went live on TikTok in 2025 in Southeast Asia, the Caucasus and Central Asia alone, +77% [Source 2]</a:t>
            </a:r>
            <a:endParaRPr lang="en-US" sz="1200" dirty="0"/>
          </a:p>
        </p:txBody>
      </p:sp>
      <p:sp>
        <p:nvSpPr>
          <p:cNvPr id="10" name="Text 7"/>
          <p:cNvSpPr txBox="1"/>
          <p:nvPr/>
        </p:nvSpPr>
        <p:spPr>
          <a:xfrm>
            <a:off x="813816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 14%</a:t>
            </a:r>
            <a:endParaRPr lang="en-US" sz="3800" dirty="0"/>
          </a:p>
        </p:txBody>
      </p:sp>
      <p:sp>
        <p:nvSpPr>
          <p:cNvPr id="11" name="Text 8"/>
          <p:cNvSpPr txBox="1"/>
          <p:nvPr/>
        </p:nvSpPr>
        <p:spPr>
          <a:xfrm>
            <a:off x="813816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of the creator economy (~$216–260B in 2026) is live [Source 3, 4]</a:t>
            </a:r>
            <a:endParaRPr lang="en-US" sz="1200" dirty="0"/>
          </a:p>
        </p:txBody>
      </p:sp>
      <p:sp>
        <p:nvSpPr>
          <p:cNvPr id="12" name="Shape 9"/>
          <p:cNvSpPr/>
          <p:nvPr/>
        </p:nvSpPr>
        <p:spPr>
          <a:xfrm>
            <a:off x="548640" y="3429000"/>
            <a:ext cx="3520440" cy="2331720"/>
          </a:xfrm>
          <a:prstGeom prst="roundRect">
            <a:avLst>
              <a:gd name="adj" fmla="val 4706"/>
            </a:avLst>
          </a:prstGeom>
          <a:solidFill>
            <a:srgbClr val="181B23"/>
          </a:solidFill>
          <a:ln w="12700">
            <a:solidFill>
              <a:srgbClr val="181B23"/>
            </a:solidFill>
            <a:prstDash val="solid"/>
          </a:ln>
        </p:spPr>
      </p:sp>
      <p:sp>
        <p:nvSpPr>
          <p:cNvPr id="13" name="Text 10"/>
          <p:cNvSpPr txBox="1"/>
          <p:nvPr/>
        </p:nvSpPr>
        <p:spPr>
          <a:xfrm>
            <a:off x="77724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Live is a revenue channel</a:t>
            </a:r>
            <a:endParaRPr lang="en-US" sz="1500" dirty="0"/>
          </a:p>
        </p:txBody>
      </p:sp>
      <p:sp>
        <p:nvSpPr>
          <p:cNvPr id="14" name="Text 11"/>
          <p:cNvSpPr txBox="1"/>
          <p:nvPr/>
        </p:nvSpPr>
        <p:spPr>
          <a:xfrm>
            <a:off x="77724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Live commerce and gifting (TikTok LIVE, IG Badges, Super Chat) turn live into a business – not a side format.</a:t>
            </a:r>
            <a:endParaRPr lang="en-US" sz="1200" dirty="0"/>
          </a:p>
        </p:txBody>
      </p:sp>
      <p:sp>
        <p:nvSpPr>
          <p:cNvPr id="15" name="Shape 12"/>
          <p:cNvSpPr/>
          <p:nvPr/>
        </p:nvSpPr>
        <p:spPr>
          <a:xfrm>
            <a:off x="4343400" y="3429000"/>
            <a:ext cx="3520440" cy="2331720"/>
          </a:xfrm>
          <a:prstGeom prst="roundRect">
            <a:avLst>
              <a:gd name="adj" fmla="val 4706"/>
            </a:avLst>
          </a:prstGeom>
          <a:solidFill>
            <a:srgbClr val="181B23"/>
          </a:solidFill>
          <a:ln w="12700">
            <a:solidFill>
              <a:srgbClr val="181B23"/>
            </a:solidFill>
            <a:prstDash val="solid"/>
          </a:ln>
        </p:spPr>
      </p:sp>
      <p:sp>
        <p:nvSpPr>
          <p:cNvPr id="16" name="Text 13"/>
          <p:cNvSpPr txBox="1"/>
          <p:nvPr/>
        </p:nvSpPr>
        <p:spPr>
          <a:xfrm>
            <a:off x="457200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The tech is ready</a:t>
            </a:r>
            <a:endParaRPr lang="en-US" sz="1500" dirty="0"/>
          </a:p>
        </p:txBody>
      </p:sp>
      <p:sp>
        <p:nvSpPr>
          <p:cNvPr id="17" name="Text 14"/>
          <p:cNvSpPr txBox="1"/>
          <p:nvPr/>
        </p:nvSpPr>
        <p:spPr>
          <a:xfrm>
            <a:off x="457200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Streaming ASR &lt; 300 ms, models in the browser, WebGPU in all major browsers [Source 27], AI classification for &lt; $1/hour.</a:t>
            </a:r>
            <a:endParaRPr lang="en-US" sz="1200" dirty="0"/>
          </a:p>
        </p:txBody>
      </p:sp>
      <p:sp>
        <p:nvSpPr>
          <p:cNvPr id="18" name="Shape 15"/>
          <p:cNvSpPr/>
          <p:nvPr/>
        </p:nvSpPr>
        <p:spPr>
          <a:xfrm>
            <a:off x="8138160" y="3429000"/>
            <a:ext cx="3520440" cy="2331720"/>
          </a:xfrm>
          <a:prstGeom prst="roundRect">
            <a:avLst>
              <a:gd name="adj" fmla="val 4706"/>
            </a:avLst>
          </a:prstGeom>
          <a:solidFill>
            <a:srgbClr val="181B23"/>
          </a:solidFill>
          <a:ln w="12700">
            <a:solidFill>
              <a:srgbClr val="181B23"/>
            </a:solidFill>
            <a:prstDash val="solid"/>
          </a:ln>
        </p:spPr>
      </p:sp>
      <p:sp>
        <p:nvSpPr>
          <p:cNvPr id="19" name="Text 16"/>
          <p:cNvSpPr txBox="1"/>
          <p:nvPr/>
        </p:nvSpPr>
        <p:spPr>
          <a:xfrm>
            <a:off x="836676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Platforms compete on creator tools</a:t>
            </a:r>
            <a:endParaRPr lang="en-US" sz="1500" dirty="0"/>
          </a:p>
        </p:txBody>
      </p:sp>
      <p:sp>
        <p:nvSpPr>
          <p:cNvPr id="20" name="Text 17"/>
          <p:cNvSpPr txBox="1"/>
          <p:nvPr/>
        </p:nvSpPr>
        <p:spPr>
          <a:xfrm>
            <a:off x="836676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CapCut ↔ TikTok, Edits ↔ Instagram. Live tools are the next step – and nobody has voice-driven effects.</a:t>
            </a:r>
            <a:endParaRPr lang="en-US" sz="1200" dirty="0"/>
          </a:p>
        </p:txBody>
      </p:sp>
      <p:sp>
        <p:nvSpPr>
          <p:cNvPr id="21" name="Text 18"/>
          <p:cNvSpPr txBox="1"/>
          <p:nvPr/>
        </p:nvSpPr>
        <p:spPr>
          <a:xfrm>
            <a:off x="548640" y="6053328"/>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Sources: QUELLEN.md (research 09/30/2026 and 10/03/2026) – [Source 2–6, 27]</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TAM · SAM · SOM · ADJACENT MARKETS</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Market – ranges, not point estimates</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7</a:t>
            </a:r>
            <a:endParaRPr lang="en-US" sz="900" dirty="0"/>
          </a:p>
        </p:txBody>
      </p:sp>
      <p:graphicFrame>
        <p:nvGraphicFramePr>
          <p:cNvPr id="6" name="Chart 0" descr=""/>
          <p:cNvGraphicFramePr/>
          <p:nvPr/>
        </p:nvGraphicFramePr>
        <p:xfrm>
          <a:off x="548640" y="128016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812280" y="1280160"/>
            <a:ext cx="4828032" cy="1097280"/>
          </a:xfrm>
          <a:prstGeom prst="roundRect">
            <a:avLst>
              <a:gd name="adj" fmla="val 10000"/>
            </a:avLst>
          </a:prstGeom>
          <a:solidFill>
            <a:srgbClr val="181B23"/>
          </a:solidFill>
          <a:ln w="12700">
            <a:solidFill>
              <a:srgbClr val="181B23"/>
            </a:solidFill>
            <a:prstDash val="solid"/>
          </a:ln>
        </p:spPr>
      </p:sp>
      <p:sp>
        <p:nvSpPr>
          <p:cNvPr id="8" name="Text 4"/>
          <p:cNvSpPr txBox="1"/>
          <p:nvPr/>
        </p:nvSpPr>
        <p:spPr>
          <a:xfrm>
            <a:off x="6995160" y="1389888"/>
            <a:ext cx="822960" cy="411480"/>
          </a:xfrm>
          <a:prstGeom prst="rect">
            <a:avLst/>
          </a:prstGeom>
          <a:noFill/>
          <a:ln/>
        </p:spPr>
        <p:txBody>
          <a:bodyPr wrap="square" lIns="0" tIns="0" rIns="0" bIns="0" rtlCol="0" anchor="t">
            <a:normAutofit/>
          </a:bodyPr>
          <a:lstStyle/>
          <a:p>
            <a:pPr indent="0" marL="0">
              <a:buNone/>
            </a:pPr>
            <a:r>
              <a:rPr lang="en-US" sz="1900" b="1" dirty="0">
                <a:solidFill>
                  <a:srgbClr val="FF2D75"/>
                </a:solidFill>
                <a:latin typeface="Arial" pitchFamily="34" charset="0"/>
                <a:ea typeface="Arial" pitchFamily="34" charset="-122"/>
                <a:cs typeface="Arial" pitchFamily="34" charset="-120"/>
              </a:rPr>
              <a:t>TAM</a:t>
            </a:r>
            <a:endParaRPr lang="en-US" sz="1900" dirty="0"/>
          </a:p>
        </p:txBody>
      </p:sp>
      <p:sp>
        <p:nvSpPr>
          <p:cNvPr id="9" name="Text 5"/>
          <p:cNvSpPr txBox="1"/>
          <p:nvPr/>
        </p:nvSpPr>
        <p:spPr>
          <a:xfrm>
            <a:off x="7818120" y="143560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Live streaming market [Source 1, 2]</a:t>
            </a:r>
            <a:endParaRPr lang="en-US" sz="1150" dirty="0"/>
          </a:p>
        </p:txBody>
      </p:sp>
      <p:sp>
        <p:nvSpPr>
          <p:cNvPr id="10" name="Text 6"/>
          <p:cNvSpPr txBox="1"/>
          <p:nvPr/>
        </p:nvSpPr>
        <p:spPr>
          <a:xfrm>
            <a:off x="6995160" y="179222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$97–157B (2026) → $250–345B (2030), CAGR ~27%</a:t>
            </a:r>
            <a:endParaRPr lang="en-US" sz="1050" dirty="0"/>
          </a:p>
        </p:txBody>
      </p:sp>
      <p:sp>
        <p:nvSpPr>
          <p:cNvPr id="11" name="Shape 7"/>
          <p:cNvSpPr/>
          <p:nvPr/>
        </p:nvSpPr>
        <p:spPr>
          <a:xfrm>
            <a:off x="6812280" y="2468880"/>
            <a:ext cx="4828032" cy="1097280"/>
          </a:xfrm>
          <a:prstGeom prst="roundRect">
            <a:avLst>
              <a:gd name="adj" fmla="val 10000"/>
            </a:avLst>
          </a:prstGeom>
          <a:solidFill>
            <a:srgbClr val="181B23"/>
          </a:solidFill>
          <a:ln w="12700">
            <a:solidFill>
              <a:srgbClr val="181B23"/>
            </a:solidFill>
            <a:prstDash val="solid"/>
          </a:ln>
        </p:spPr>
      </p:sp>
      <p:sp>
        <p:nvSpPr>
          <p:cNvPr id="12" name="Text 8"/>
          <p:cNvSpPr txBox="1"/>
          <p:nvPr/>
        </p:nvSpPr>
        <p:spPr>
          <a:xfrm>
            <a:off x="6995160" y="2578608"/>
            <a:ext cx="822960" cy="411480"/>
          </a:xfrm>
          <a:prstGeom prst="rect">
            <a:avLst/>
          </a:prstGeom>
          <a:noFill/>
          <a:ln/>
        </p:spPr>
        <p:txBody>
          <a:bodyPr wrap="square" lIns="0" tIns="0" rIns="0" bIns="0" rtlCol="0" anchor="t">
            <a:normAutofit/>
          </a:bodyPr>
          <a:lstStyle/>
          <a:p>
            <a:pPr indent="0" marL="0">
              <a:buNone/>
            </a:pPr>
            <a:r>
              <a:rPr lang="en-US" sz="1900" b="1" dirty="0">
                <a:solidFill>
                  <a:srgbClr val="2DFFB5"/>
                </a:solidFill>
                <a:latin typeface="Arial" pitchFamily="34" charset="0"/>
                <a:ea typeface="Arial" pitchFamily="34" charset="-122"/>
                <a:cs typeface="Arial" pitchFamily="34" charset="-120"/>
              </a:rPr>
              <a:t>SAM</a:t>
            </a:r>
            <a:endParaRPr lang="en-US" sz="1900" dirty="0"/>
          </a:p>
        </p:txBody>
      </p:sp>
      <p:sp>
        <p:nvSpPr>
          <p:cNvPr id="13" name="Text 9"/>
          <p:cNvSpPr txBox="1"/>
          <p:nvPr/>
        </p:nvSpPr>
        <p:spPr>
          <a:xfrm>
            <a:off x="7818120" y="262432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Live creator tools · estimate</a:t>
            </a:r>
            <a:endParaRPr lang="en-US" sz="1150" dirty="0"/>
          </a:p>
        </p:txBody>
      </p:sp>
      <p:sp>
        <p:nvSpPr>
          <p:cNvPr id="14" name="Text 10"/>
          <p:cNvSpPr txBox="1"/>
          <p:nvPr/>
        </p:nvSpPr>
        <p:spPr>
          <a:xfrm>
            <a:off x="6995160" y="298094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$1–3B – derived from Streamlabs / StreamYard / Voicemod prices × active live creators</a:t>
            </a:r>
            <a:endParaRPr lang="en-US" sz="1050" dirty="0"/>
          </a:p>
        </p:txBody>
      </p:sp>
      <p:sp>
        <p:nvSpPr>
          <p:cNvPr id="15" name="Shape 11"/>
          <p:cNvSpPr/>
          <p:nvPr/>
        </p:nvSpPr>
        <p:spPr>
          <a:xfrm>
            <a:off x="6812280" y="3657600"/>
            <a:ext cx="4828032" cy="1097280"/>
          </a:xfrm>
          <a:prstGeom prst="roundRect">
            <a:avLst>
              <a:gd name="adj" fmla="val 10000"/>
            </a:avLst>
          </a:prstGeom>
          <a:solidFill>
            <a:srgbClr val="181B23"/>
          </a:solidFill>
          <a:ln w="12700">
            <a:solidFill>
              <a:srgbClr val="181B23"/>
            </a:solidFill>
            <a:prstDash val="solid"/>
          </a:ln>
        </p:spPr>
      </p:sp>
      <p:sp>
        <p:nvSpPr>
          <p:cNvPr id="16" name="Text 12"/>
          <p:cNvSpPr txBox="1"/>
          <p:nvPr/>
        </p:nvSpPr>
        <p:spPr>
          <a:xfrm>
            <a:off x="6995160" y="3767328"/>
            <a:ext cx="822960" cy="411480"/>
          </a:xfrm>
          <a:prstGeom prst="rect">
            <a:avLst/>
          </a:prstGeom>
          <a:noFill/>
          <a:ln/>
        </p:spPr>
        <p:txBody>
          <a:bodyPr wrap="square" lIns="0" tIns="0" rIns="0" bIns="0" rtlCol="0" anchor="t">
            <a:normAutofit/>
          </a:bodyPr>
          <a:lstStyle/>
          <a:p>
            <a:pPr indent="0" marL="0">
              <a:buNone/>
            </a:pPr>
            <a:r>
              <a:rPr lang="en-US" sz="1900" b="1" dirty="0">
                <a:solidFill>
                  <a:srgbClr val="FFD166"/>
                </a:solidFill>
                <a:latin typeface="Arial" pitchFamily="34" charset="0"/>
                <a:ea typeface="Arial" pitchFamily="34" charset="-122"/>
                <a:cs typeface="Arial" pitchFamily="34" charset="-120"/>
              </a:rPr>
              <a:t>SOM</a:t>
            </a:r>
            <a:endParaRPr lang="en-US" sz="1900" dirty="0"/>
          </a:p>
        </p:txBody>
      </p:sp>
      <p:sp>
        <p:nvSpPr>
          <p:cNvPr id="17" name="Text 13"/>
          <p:cNvSpPr txBox="1"/>
          <p:nvPr/>
        </p:nvSpPr>
        <p:spPr>
          <a:xfrm>
            <a:off x="7818120" y="381304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Year 3 · estimate</a:t>
            </a:r>
            <a:endParaRPr lang="en-US" sz="1150" dirty="0"/>
          </a:p>
        </p:txBody>
      </p:sp>
      <p:sp>
        <p:nvSpPr>
          <p:cNvPr id="18" name="Text 14"/>
          <p:cNvSpPr txBox="1"/>
          <p:nvPr/>
        </p:nvSpPr>
        <p:spPr>
          <a:xfrm>
            <a:off x="6995160" y="416966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5,000–15,000 paying Pro users × €9.99/month ≈ €0.6–1.8M ARR (as in the business plan; DACH + Turkey + EN niche)</a:t>
            </a:r>
            <a:endParaRPr lang="en-US" sz="1050" dirty="0"/>
          </a:p>
        </p:txBody>
      </p:sp>
      <p:sp>
        <p:nvSpPr>
          <p:cNvPr id="19" name="Text 15"/>
          <p:cNvSpPr txBox="1"/>
          <p:nvPr/>
        </p:nvSpPr>
        <p:spPr>
          <a:xfrm>
            <a:off x="548640" y="4956048"/>
            <a:ext cx="11094415" cy="274320"/>
          </a:xfrm>
          <a:prstGeom prst="rect">
            <a:avLst/>
          </a:prstGeom>
          <a:noFill/>
          <a:ln/>
        </p:spPr>
        <p:txBody>
          <a:bodyPr wrap="square" lIns="0" tIns="0" rIns="0" bIns="0" rtlCol="0" anchor="t">
            <a:normAutofit/>
          </a:bodyPr>
          <a:lstStyle/>
          <a:p>
            <a:pPr indent="0" marL="0">
              <a:buNone/>
            </a:pPr>
            <a:r>
              <a:rPr lang="en-US" sz="1100" b="1" dirty="0">
                <a:solidFill>
                  <a:srgbClr val="5AD1FF"/>
                </a:solidFill>
                <a:latin typeface="Arial" pitchFamily="34" charset="0"/>
                <a:ea typeface="Arial" pitchFamily="34" charset="-122"/>
                <a:cs typeface="Arial" pitchFamily="34" charset="-120"/>
              </a:rPr>
              <a:t>Adjacent markets of the vision (slides 12–15)</a:t>
            </a:r>
            <a:endParaRPr lang="en-US" sz="1100" dirty="0"/>
          </a:p>
        </p:txBody>
      </p:sp>
      <p:sp>
        <p:nvSpPr>
          <p:cNvPr id="20" name="Shape 16"/>
          <p:cNvSpPr/>
          <p:nvPr/>
        </p:nvSpPr>
        <p:spPr>
          <a:xfrm>
            <a:off x="548640" y="5266944"/>
            <a:ext cx="2670734" cy="749808"/>
          </a:xfrm>
          <a:prstGeom prst="roundRect">
            <a:avLst>
              <a:gd name="adj" fmla="val 14634"/>
            </a:avLst>
          </a:prstGeom>
          <a:solidFill>
            <a:srgbClr val="1F2330"/>
          </a:solidFill>
          <a:ln w="12700">
            <a:solidFill>
              <a:srgbClr val="1F2330"/>
            </a:solidFill>
            <a:prstDash val="solid"/>
          </a:ln>
        </p:spPr>
      </p:sp>
      <p:sp>
        <p:nvSpPr>
          <p:cNvPr id="21" name="Text 17"/>
          <p:cNvSpPr txBox="1"/>
          <p:nvPr/>
        </p:nvSpPr>
        <p:spPr>
          <a:xfrm>
            <a:off x="713232"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$3.67B</a:t>
            </a:r>
            <a:endParaRPr lang="en-US" sz="1500" dirty="0"/>
          </a:p>
        </p:txBody>
      </p:sp>
      <p:sp>
        <p:nvSpPr>
          <p:cNvPr id="22" name="Text 18"/>
          <p:cNvSpPr txBox="1"/>
          <p:nvPr/>
        </p:nvSpPr>
        <p:spPr>
          <a:xfrm>
            <a:off x="713232"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AI video generation and editing, 2026 [Source 23]</a:t>
            </a:r>
            <a:endParaRPr lang="en-US" sz="1000" dirty="0"/>
          </a:p>
        </p:txBody>
      </p:sp>
      <p:sp>
        <p:nvSpPr>
          <p:cNvPr id="23" name="Shape 19"/>
          <p:cNvSpPr/>
          <p:nvPr/>
        </p:nvSpPr>
        <p:spPr>
          <a:xfrm>
            <a:off x="3356534" y="5266944"/>
            <a:ext cx="2670734" cy="749808"/>
          </a:xfrm>
          <a:prstGeom prst="roundRect">
            <a:avLst>
              <a:gd name="adj" fmla="val 14634"/>
            </a:avLst>
          </a:prstGeom>
          <a:solidFill>
            <a:srgbClr val="1F2330"/>
          </a:solidFill>
          <a:ln w="12700">
            <a:solidFill>
              <a:srgbClr val="1F2330"/>
            </a:solidFill>
            <a:prstDash val="solid"/>
          </a:ln>
        </p:spPr>
      </p:sp>
      <p:sp>
        <p:nvSpPr>
          <p:cNvPr id="24" name="Text 20"/>
          <p:cNvSpPr txBox="1"/>
          <p:nvPr/>
        </p:nvSpPr>
        <p:spPr>
          <a:xfrm>
            <a:off x="3521126"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$1.54B</a:t>
            </a:r>
            <a:endParaRPr lang="en-US" sz="1500" dirty="0"/>
          </a:p>
        </p:txBody>
      </p:sp>
      <p:sp>
        <p:nvSpPr>
          <p:cNvPr id="25" name="Text 21"/>
          <p:cNvSpPr txBox="1"/>
          <p:nvPr/>
        </p:nvSpPr>
        <p:spPr>
          <a:xfrm>
            <a:off x="3521126"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Language-learning apps, in-app revenue 2025 [Source 33]</a:t>
            </a:r>
            <a:endParaRPr lang="en-US" sz="1000" dirty="0"/>
          </a:p>
        </p:txBody>
      </p:sp>
      <p:sp>
        <p:nvSpPr>
          <p:cNvPr id="26" name="Shape 22"/>
          <p:cNvSpPr/>
          <p:nvPr/>
        </p:nvSpPr>
        <p:spPr>
          <a:xfrm>
            <a:off x="6164428" y="5266944"/>
            <a:ext cx="2670734" cy="749808"/>
          </a:xfrm>
          <a:prstGeom prst="roundRect">
            <a:avLst>
              <a:gd name="adj" fmla="val 14634"/>
            </a:avLst>
          </a:prstGeom>
          <a:solidFill>
            <a:srgbClr val="1F2330"/>
          </a:solidFill>
          <a:ln w="12700">
            <a:solidFill>
              <a:srgbClr val="1F2330"/>
            </a:solidFill>
            <a:prstDash val="solid"/>
          </a:ln>
        </p:spPr>
      </p:sp>
      <p:sp>
        <p:nvSpPr>
          <p:cNvPr id="27" name="Text 23"/>
          <p:cNvSpPr txBox="1"/>
          <p:nvPr/>
        </p:nvSpPr>
        <p:spPr>
          <a:xfrm>
            <a:off x="6329020"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$2.68B</a:t>
            </a:r>
            <a:endParaRPr lang="en-US" sz="1500" dirty="0"/>
          </a:p>
        </p:txBody>
      </p:sp>
      <p:sp>
        <p:nvSpPr>
          <p:cNvPr id="28" name="Text 24"/>
          <p:cNvSpPr txBox="1"/>
          <p:nvPr/>
        </p:nvSpPr>
        <p:spPr>
          <a:xfrm>
            <a:off x="6329020"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Video editing software, 2026 [Source 51]</a:t>
            </a:r>
            <a:endParaRPr lang="en-US" sz="1000" dirty="0"/>
          </a:p>
        </p:txBody>
      </p:sp>
      <p:sp>
        <p:nvSpPr>
          <p:cNvPr id="29" name="Shape 25"/>
          <p:cNvSpPr/>
          <p:nvPr/>
        </p:nvSpPr>
        <p:spPr>
          <a:xfrm>
            <a:off x="8972321" y="5266944"/>
            <a:ext cx="2670734" cy="749808"/>
          </a:xfrm>
          <a:prstGeom prst="roundRect">
            <a:avLst>
              <a:gd name="adj" fmla="val 14634"/>
            </a:avLst>
          </a:prstGeom>
          <a:solidFill>
            <a:srgbClr val="1F2330"/>
          </a:solidFill>
          <a:ln w="12700">
            <a:solidFill>
              <a:srgbClr val="1F2330"/>
            </a:solidFill>
            <a:prstDash val="solid"/>
          </a:ln>
        </p:spPr>
      </p:sp>
      <p:sp>
        <p:nvSpPr>
          <p:cNvPr id="30" name="Text 26"/>
          <p:cNvSpPr txBox="1"/>
          <p:nvPr/>
        </p:nvSpPr>
        <p:spPr>
          <a:xfrm>
            <a:off x="9136913"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€374M</a:t>
            </a:r>
            <a:endParaRPr lang="en-US" sz="1500" dirty="0"/>
          </a:p>
        </p:txBody>
      </p:sp>
      <p:sp>
        <p:nvSpPr>
          <p:cNvPr id="31" name="Text 27"/>
          <p:cNvSpPr txBox="1"/>
          <p:nvPr/>
        </p:nvSpPr>
        <p:spPr>
          <a:xfrm>
            <a:off x="9136913"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German audiobook market 2025, +13% [Source 19]</a:t>
            </a:r>
            <a:endParaRPr lang="en-US" sz="1000" dirty="0"/>
          </a:p>
        </p:txBody>
      </p:sp>
      <p:sp>
        <p:nvSpPr>
          <p:cNvPr id="32" name="Text 28"/>
          <p:cNvSpPr txBox="1"/>
          <p:nvPr/>
        </p:nvSpPr>
        <p:spPr>
          <a:xfrm>
            <a:off x="548640" y="6126480"/>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Sources: QUELLEN.md [Source 1–4, 19, 23, 33, 51] · SAM/SOM are our own estimates, not a study.</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FREE → PRO → PACKS → B2B</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Business model</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8</a:t>
            </a:r>
            <a:endParaRPr lang="en-US" sz="900" dirty="0"/>
          </a:p>
        </p:txBody>
      </p:sp>
      <p:sp>
        <p:nvSpPr>
          <p:cNvPr id="6" name="Shape 3"/>
          <p:cNvSpPr/>
          <p:nvPr/>
        </p:nvSpPr>
        <p:spPr>
          <a:xfrm>
            <a:off x="548640" y="1371600"/>
            <a:ext cx="2679192" cy="3154680"/>
          </a:xfrm>
          <a:prstGeom prst="roundRect">
            <a:avLst>
              <a:gd name="adj" fmla="val 4096"/>
            </a:avLst>
          </a:prstGeom>
          <a:solidFill>
            <a:srgbClr val="181B23"/>
          </a:solidFill>
          <a:ln w="12700">
            <a:solidFill>
              <a:srgbClr val="181B23"/>
            </a:solidFill>
            <a:prstDash val="solid"/>
          </a:ln>
        </p:spPr>
      </p:sp>
      <p:sp>
        <p:nvSpPr>
          <p:cNvPr id="7" name="Text 4"/>
          <p:cNvSpPr txBox="1"/>
          <p:nvPr/>
        </p:nvSpPr>
        <p:spPr>
          <a:xfrm>
            <a:off x="777240"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Free</a:t>
            </a:r>
            <a:endParaRPr lang="en-US" sz="1600" dirty="0"/>
          </a:p>
        </p:txBody>
      </p:sp>
      <p:sp>
        <p:nvSpPr>
          <p:cNvPr id="8" name="Text 5"/>
          <p:cNvSpPr txBox="1"/>
          <p:nvPr/>
        </p:nvSpPr>
        <p:spPr>
          <a:xfrm>
            <a:off x="777240"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€0</a:t>
            </a:r>
            <a:endParaRPr lang="en-US" sz="2400" dirty="0"/>
          </a:p>
        </p:txBody>
      </p:sp>
      <p:sp>
        <p:nvSpPr>
          <p:cNvPr id="9" name="Text 6"/>
          <p:cNvSpPr txBox="1"/>
          <p:nvPr/>
        </p:nvSpPr>
        <p:spPr>
          <a:xfrm>
            <a:off x="777240"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Core features, standard packs, OBS overlay. Reach and community.</a:t>
            </a:r>
            <a:endParaRPr lang="en-US" sz="1200" dirty="0"/>
          </a:p>
        </p:txBody>
      </p:sp>
      <p:sp>
        <p:nvSpPr>
          <p:cNvPr id="10" name="Text 7"/>
          <p:cNvSpPr txBox="1"/>
          <p:nvPr/>
        </p:nvSpPr>
        <p:spPr>
          <a:xfrm>
            <a:off x="3227832"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3364992" y="1371600"/>
            <a:ext cx="2679192" cy="3154680"/>
          </a:xfrm>
          <a:prstGeom prst="roundRect">
            <a:avLst>
              <a:gd name="adj" fmla="val 4096"/>
            </a:avLst>
          </a:prstGeom>
          <a:solidFill>
            <a:srgbClr val="1F2330"/>
          </a:solidFill>
          <a:ln w="12700">
            <a:solidFill>
              <a:srgbClr val="1F2330"/>
            </a:solidFill>
            <a:prstDash val="solid"/>
          </a:ln>
        </p:spPr>
      </p:sp>
      <p:sp>
        <p:nvSpPr>
          <p:cNvPr id="12" name="Text 9"/>
          <p:cNvSpPr txBox="1"/>
          <p:nvPr/>
        </p:nvSpPr>
        <p:spPr>
          <a:xfrm>
            <a:off x="3593592"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Pro</a:t>
            </a:r>
            <a:endParaRPr lang="en-US" sz="1600" dirty="0"/>
          </a:p>
        </p:txBody>
      </p:sp>
      <p:sp>
        <p:nvSpPr>
          <p:cNvPr id="13" name="Text 10"/>
          <p:cNvSpPr txBox="1"/>
          <p:nvPr/>
        </p:nvSpPr>
        <p:spPr>
          <a:xfrm>
            <a:off x="3593592"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€9.99/month</a:t>
            </a:r>
            <a:endParaRPr lang="en-US" sz="2400" dirty="0"/>
          </a:p>
        </p:txBody>
      </p:sp>
      <p:sp>
        <p:nvSpPr>
          <p:cNvPr id="14" name="Text 11"/>
          <p:cNvSpPr txBox="1"/>
          <p:nvPr/>
        </p:nvSpPr>
        <p:spPr>
          <a:xfrm>
            <a:off x="3593592"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AI mode, all scenes and themes, phone remote, cloud sync, priority support.</a:t>
            </a:r>
            <a:endParaRPr lang="en-US" sz="1200" dirty="0"/>
          </a:p>
        </p:txBody>
      </p:sp>
      <p:sp>
        <p:nvSpPr>
          <p:cNvPr id="15" name="Text 12"/>
          <p:cNvSpPr txBox="1"/>
          <p:nvPr/>
        </p:nvSpPr>
        <p:spPr>
          <a:xfrm>
            <a:off x="6044184"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6" name="Shape 13"/>
          <p:cNvSpPr/>
          <p:nvPr/>
        </p:nvSpPr>
        <p:spPr>
          <a:xfrm>
            <a:off x="6181344" y="1371600"/>
            <a:ext cx="2679192" cy="3154680"/>
          </a:xfrm>
          <a:prstGeom prst="roundRect">
            <a:avLst>
              <a:gd name="adj" fmla="val 4096"/>
            </a:avLst>
          </a:prstGeom>
          <a:solidFill>
            <a:srgbClr val="181B23"/>
          </a:solidFill>
          <a:ln w="12700">
            <a:solidFill>
              <a:srgbClr val="181B23"/>
            </a:solidFill>
            <a:prstDash val="solid"/>
          </a:ln>
        </p:spPr>
      </p:sp>
      <p:sp>
        <p:nvSpPr>
          <p:cNvPr id="17" name="Text 14"/>
          <p:cNvSpPr txBox="1"/>
          <p:nvPr/>
        </p:nvSpPr>
        <p:spPr>
          <a:xfrm>
            <a:off x="6409944"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Creator packs</a:t>
            </a:r>
            <a:endParaRPr lang="en-US" sz="1600" dirty="0"/>
          </a:p>
        </p:txBody>
      </p:sp>
      <p:sp>
        <p:nvSpPr>
          <p:cNvPr id="18" name="Text 15"/>
          <p:cNvSpPr txBox="1"/>
          <p:nvPr/>
        </p:nvSpPr>
        <p:spPr>
          <a:xfrm>
            <a:off x="6409944"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70 / 30</a:t>
            </a:r>
            <a:endParaRPr lang="en-US" sz="2400" dirty="0"/>
          </a:p>
        </p:txBody>
      </p:sp>
      <p:sp>
        <p:nvSpPr>
          <p:cNvPr id="19" name="Text 16"/>
          <p:cNvSpPr txBox="1"/>
          <p:nvPr/>
        </p:nvSpPr>
        <p:spPr>
          <a:xfrm>
            <a:off x="6409944"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Marketplace for meme and story packs made by creators for creators. Users become suppliers.</a:t>
            </a:r>
            <a:endParaRPr lang="en-US" sz="1200" dirty="0"/>
          </a:p>
        </p:txBody>
      </p:sp>
      <p:sp>
        <p:nvSpPr>
          <p:cNvPr id="20" name="Text 17"/>
          <p:cNvSpPr txBox="1"/>
          <p:nvPr/>
        </p:nvSpPr>
        <p:spPr>
          <a:xfrm>
            <a:off x="8860536"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21" name="Shape 18"/>
          <p:cNvSpPr/>
          <p:nvPr/>
        </p:nvSpPr>
        <p:spPr>
          <a:xfrm>
            <a:off x="8997696" y="1371600"/>
            <a:ext cx="2679192" cy="3154680"/>
          </a:xfrm>
          <a:prstGeom prst="roundRect">
            <a:avLst>
              <a:gd name="adj" fmla="val 4096"/>
            </a:avLst>
          </a:prstGeom>
          <a:solidFill>
            <a:srgbClr val="181B23"/>
          </a:solidFill>
          <a:ln w="12700">
            <a:solidFill>
              <a:srgbClr val="181B23"/>
            </a:solidFill>
            <a:prstDash val="solid"/>
          </a:ln>
        </p:spPr>
      </p:sp>
      <p:sp>
        <p:nvSpPr>
          <p:cNvPr id="22" name="Text 19"/>
          <p:cNvSpPr txBox="1"/>
          <p:nvPr/>
        </p:nvSpPr>
        <p:spPr>
          <a:xfrm>
            <a:off x="9226296"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B2B license</a:t>
            </a:r>
            <a:endParaRPr lang="en-US" sz="1600" dirty="0"/>
          </a:p>
        </p:txBody>
      </p:sp>
      <p:sp>
        <p:nvSpPr>
          <p:cNvPr id="23" name="Text 20"/>
          <p:cNvSpPr txBox="1"/>
          <p:nvPr/>
        </p:nvSpPr>
        <p:spPr>
          <a:xfrm>
            <a:off x="9226296"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on request</a:t>
            </a:r>
            <a:endParaRPr lang="en-US" sz="2400" dirty="0"/>
          </a:p>
        </p:txBody>
      </p:sp>
      <p:sp>
        <p:nvSpPr>
          <p:cNvPr id="24" name="Text 21"/>
          <p:cNvSpPr txBox="1"/>
          <p:nvPr/>
        </p:nvSpPr>
        <p:spPr>
          <a:xfrm>
            <a:off x="9226296"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SDK / white label for streaming software, agencies, platform integration.</a:t>
            </a:r>
            <a:endParaRPr lang="en-US" sz="1200" dirty="0"/>
          </a:p>
        </p:txBody>
      </p:sp>
      <p:sp>
        <p:nvSpPr>
          <p:cNvPr id="25" name="Shape 22"/>
          <p:cNvSpPr/>
          <p:nvPr/>
        </p:nvSpPr>
        <p:spPr>
          <a:xfrm>
            <a:off x="548640" y="4709160"/>
            <a:ext cx="11094415" cy="1463040"/>
          </a:xfrm>
          <a:prstGeom prst="roundRect">
            <a:avLst>
              <a:gd name="adj" fmla="val 7500"/>
            </a:avLst>
          </a:prstGeom>
          <a:solidFill>
            <a:srgbClr val="1F2330"/>
          </a:solidFill>
          <a:ln w="12700">
            <a:solidFill>
              <a:srgbClr val="1F2330"/>
            </a:solidFill>
            <a:prstDash val="solid"/>
          </a:ln>
        </p:spPr>
      </p:sp>
      <p:sp>
        <p:nvSpPr>
          <p:cNvPr id="26" name="Text 23"/>
          <p:cNvSpPr txBox="1"/>
          <p:nvPr/>
        </p:nvSpPr>
        <p:spPr>
          <a:xfrm>
            <a:off x="822960" y="4828032"/>
            <a:ext cx="7315200" cy="320040"/>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Price anchors in the market</a:t>
            </a:r>
            <a:endParaRPr lang="en-US" sz="1200" dirty="0"/>
          </a:p>
        </p:txBody>
      </p:sp>
      <p:sp>
        <p:nvSpPr>
          <p:cNvPr id="27" name="Text 24"/>
          <p:cNvSpPr txBox="1"/>
          <p:nvPr/>
        </p:nvSpPr>
        <p:spPr>
          <a:xfrm>
            <a:off x="822960" y="5148072"/>
            <a:ext cx="10545775" cy="96012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Streamlabs Ultra $27/month  ·  StreamYard Core $35/month  ·  Restream $16/month  ·  Voicemod Pro $10/month [Source 11, 12, 13]</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Pro sits deliberately at Voicemod level, well below Streamlabs. Vision (estimate): Pro+ “Studio &amp; Scenes” €14.99, WortBild Family €4.99, school and publisher licenses – see slides 13–15.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MATURED IN REAL STREAMS</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Traction</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9</a:t>
            </a:r>
            <a:endParaRPr lang="en-US" sz="900" dirty="0"/>
          </a:p>
        </p:txBody>
      </p:sp>
      <p:sp>
        <p:nvSpPr>
          <p:cNvPr id="6" name="Text 3"/>
          <p:cNvSpPr txBox="1"/>
          <p:nvPr/>
        </p:nvSpPr>
        <p:spPr>
          <a:xfrm>
            <a:off x="54864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[Number]</a:t>
            </a:r>
            <a:endParaRPr lang="en-US" sz="3800" dirty="0"/>
          </a:p>
        </p:txBody>
      </p:sp>
      <p:sp>
        <p:nvSpPr>
          <p:cNvPr id="7" name="Text 4"/>
          <p:cNvSpPr txBox="1"/>
          <p:nvPr/>
        </p:nvSpPr>
        <p:spPr>
          <a:xfrm>
            <a:off x="54864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own live streams with LiveFX since [month/year] – [Number] hours</a:t>
            </a:r>
            <a:endParaRPr lang="en-US" sz="1200" dirty="0"/>
          </a:p>
        </p:txBody>
      </p:sp>
      <p:sp>
        <p:nvSpPr>
          <p:cNvPr id="8" name="Text 5"/>
          <p:cNvSpPr txBox="1"/>
          <p:nvPr/>
        </p:nvSpPr>
        <p:spPr>
          <a:xfrm>
            <a:off x="333756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2.1</a:t>
            </a:r>
            <a:endParaRPr lang="en-US" sz="3800" dirty="0"/>
          </a:p>
        </p:txBody>
      </p:sp>
      <p:sp>
        <p:nvSpPr>
          <p:cNvPr id="9" name="Text 6"/>
          <p:cNvSpPr txBox="1"/>
          <p:nvPr/>
        </p:nvSpPr>
        <p:spPr>
          <a:xfrm>
            <a:off x="333756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current version (releases 0.1 → 2.1), 575+ automated tests, guides in DE/TR</a:t>
            </a:r>
            <a:endParaRPr lang="en-US" sz="1200" dirty="0"/>
          </a:p>
        </p:txBody>
      </p:sp>
      <p:sp>
        <p:nvSpPr>
          <p:cNvPr id="10" name="Text 7"/>
          <p:cNvSpPr txBox="1"/>
          <p:nvPr/>
        </p:nvSpPr>
        <p:spPr>
          <a:xfrm>
            <a:off x="612648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238</a:t>
            </a:r>
            <a:endParaRPr lang="en-US" sz="3800" dirty="0"/>
          </a:p>
        </p:txBody>
      </p:sp>
      <p:sp>
        <p:nvSpPr>
          <p:cNvPr id="11" name="Text 8"/>
          <p:cNvSpPr txBox="1"/>
          <p:nvPr/>
        </p:nvSpPr>
        <p:spPr>
          <a:xfrm>
            <a:off x="612648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triggers in 5 packs + 143 free stickers, 38 sounds, 13 scenes – in 3 languages</a:t>
            </a:r>
            <a:endParaRPr lang="en-US" sz="1200" dirty="0"/>
          </a:p>
        </p:txBody>
      </p:sp>
      <p:sp>
        <p:nvSpPr>
          <p:cNvPr id="12" name="Text 9"/>
          <p:cNvSpPr txBox="1"/>
          <p:nvPr/>
        </p:nvSpPr>
        <p:spPr>
          <a:xfrm>
            <a:off x="891540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Arial" pitchFamily="34" charset="0"/>
                <a:ea typeface="Arial" pitchFamily="34" charset="-122"/>
                <a:cs typeface="Arial" pitchFamily="34" charset="-120"/>
              </a:rPr>
              <a:t>[Number]</a:t>
            </a:r>
            <a:endParaRPr lang="en-US" sz="3800" dirty="0"/>
          </a:p>
        </p:txBody>
      </p:sp>
      <p:sp>
        <p:nvSpPr>
          <p:cNvPr id="13" name="Text 10"/>
          <p:cNvSpPr txBox="1"/>
          <p:nvPr/>
        </p:nvSpPr>
        <p:spPr>
          <a:xfrm>
            <a:off x="891540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followers · [Number] creators on the waitlist · [Number] downloads</a:t>
            </a:r>
            <a:endParaRPr lang="en-US" sz="1200" dirty="0"/>
          </a:p>
        </p:txBody>
      </p:sp>
      <p:pic>
        <p:nvPicPr>
          <p:cNvPr id="14" name="Image 0" descr="/home/user/Notion/live-fx/business/landing-assets/panel.jpg">    </p:cNvPr>
          <p:cNvPicPr>
            <a:picLocks noChangeAspect="1"/>
          </p:cNvPicPr>
          <p:nvPr/>
        </p:nvPicPr>
        <p:blipFill>
          <a:blip r:embed="rId1"/>
          <a:stretch>
            <a:fillRect/>
          </a:stretch>
        </p:blipFill>
        <p:spPr>
          <a:xfrm>
            <a:off x="548640" y="3246120"/>
            <a:ext cx="4389120" cy="2743200"/>
          </a:xfrm>
          <a:prstGeom prst="rect">
            <a:avLst/>
          </a:prstGeom>
        </p:spPr>
      </p:pic>
      <p:sp>
        <p:nvSpPr>
          <p:cNvPr id="15" name="Shape 11"/>
          <p:cNvSpPr/>
          <p:nvPr/>
        </p:nvSpPr>
        <p:spPr>
          <a:xfrm>
            <a:off x="5212080" y="3246120"/>
            <a:ext cx="6428232" cy="2788920"/>
          </a:xfrm>
          <a:prstGeom prst="roundRect">
            <a:avLst>
              <a:gd name="adj" fmla="val 3934"/>
            </a:avLst>
          </a:prstGeom>
          <a:solidFill>
            <a:srgbClr val="181B23"/>
          </a:solidFill>
          <a:ln w="12700">
            <a:solidFill>
              <a:srgbClr val="181B23"/>
            </a:solidFill>
            <a:prstDash val="solid"/>
          </a:ln>
        </p:spPr>
      </p:sp>
      <p:sp>
        <p:nvSpPr>
          <p:cNvPr id="16" name="Text 12"/>
          <p:cNvSpPr txBox="1"/>
          <p:nvPr/>
        </p:nvSpPr>
        <p:spPr>
          <a:xfrm>
            <a:off x="5440680" y="3383280"/>
            <a:ext cx="5943600" cy="36576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What came from practice</a:t>
            </a:r>
            <a:endParaRPr lang="en-US" sz="1500" dirty="0"/>
          </a:p>
        </p:txBody>
      </p:sp>
      <p:sp>
        <p:nvSpPr>
          <p:cNvPr id="17" name="Text 13"/>
          <p:cNvSpPr txBox="1"/>
          <p:nvPr/>
        </p:nvSpPr>
        <p:spPr>
          <a:xfrm>
            <a:off x="5440680" y="3794760"/>
            <a:ext cx="5943600" cy="146304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Echo problem (panel + OBS) → muted preview, sound-check card</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Dialects (“grass” → krass, “helal olsn”) → tolerance + learning mode</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TikTok/IG chat covers the lower third → portrait safe zones</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Reading aloud on stream → story mode with scenes and ambience</a:t>
            </a:r>
            <a:endParaRPr lang="en-US" sz="1200" dirty="0"/>
          </a:p>
        </p:txBody>
      </p:sp>
      <p:sp>
        <p:nvSpPr>
          <p:cNvPr id="18" name="Text 14"/>
          <p:cNvSpPr txBox="1"/>
          <p:nvPr/>
        </p:nvSpPr>
        <p:spPr>
          <a:xfrm>
            <a:off x="5440680" y="5349240"/>
            <a:ext cx="5943600" cy="594360"/>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Next 60 days: 10 creator tests TR/DE · landing page + trailer · community launch · first Pro subscriptions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2×2</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Competition – the empty quadrant</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10</a:t>
            </a:r>
            <a:endParaRPr lang="en-US" sz="900" dirty="0"/>
          </a:p>
        </p:txBody>
      </p:sp>
      <p:sp>
        <p:nvSpPr>
          <p:cNvPr id="6" name="Shape 3"/>
          <p:cNvSpPr/>
          <p:nvPr/>
        </p:nvSpPr>
        <p:spPr>
          <a:xfrm>
            <a:off x="1883664" y="1517904"/>
            <a:ext cx="3090672" cy="2061972"/>
          </a:xfrm>
          <a:prstGeom prst="roundRect">
            <a:avLst>
              <a:gd name="adj" fmla="val 4435"/>
            </a:avLst>
          </a:prstGeom>
          <a:solidFill>
            <a:srgbClr val="181B23"/>
          </a:solidFill>
          <a:ln w="9525">
            <a:solidFill>
              <a:srgbClr val="2A2F3C"/>
            </a:solidFill>
            <a:prstDash val="solid"/>
          </a:ln>
        </p:spPr>
      </p:sp>
      <p:sp>
        <p:nvSpPr>
          <p:cNvPr id="7" name="Text 4"/>
          <p:cNvSpPr txBox="1"/>
          <p:nvPr/>
        </p:nvSpPr>
        <p:spPr>
          <a:xfrm>
            <a:off x="21031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Native platform effects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sticker gifting</a:t>
            </a:r>
            <a:endParaRPr lang="en-US" sz="1400" dirty="0"/>
          </a:p>
        </p:txBody>
      </p:sp>
      <p:sp>
        <p:nvSpPr>
          <p:cNvPr id="8" name="Shape 5"/>
          <p:cNvSpPr/>
          <p:nvPr/>
        </p:nvSpPr>
        <p:spPr>
          <a:xfrm>
            <a:off x="5084064" y="1517904"/>
            <a:ext cx="3090672" cy="2061972"/>
          </a:xfrm>
          <a:prstGeom prst="roundRect">
            <a:avLst>
              <a:gd name="adj" fmla="val 4435"/>
            </a:avLst>
          </a:prstGeom>
          <a:solidFill>
            <a:srgbClr val="181B23"/>
          </a:solidFill>
          <a:ln w="9525">
            <a:solidFill>
              <a:srgbClr val="2A2F3C"/>
            </a:solidFill>
            <a:prstDash val="solid"/>
          </a:ln>
        </p:spPr>
      </p:sp>
      <p:sp>
        <p:nvSpPr>
          <p:cNvPr id="9" name="Text 6"/>
          <p:cNvSpPr txBox="1"/>
          <p:nvPr/>
        </p:nvSpPr>
        <p:spPr>
          <a:xfrm>
            <a:off x="53035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Streamlabs / StreamElements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alerts for donations &amp; follows</a:t>
            </a:r>
            <a:endParaRPr lang="en-US" sz="1400" dirty="0"/>
          </a:p>
        </p:txBody>
      </p:sp>
      <p:sp>
        <p:nvSpPr>
          <p:cNvPr id="10" name="Shape 7"/>
          <p:cNvSpPr/>
          <p:nvPr/>
        </p:nvSpPr>
        <p:spPr>
          <a:xfrm>
            <a:off x="1883664" y="3689604"/>
            <a:ext cx="3090672" cy="2061972"/>
          </a:xfrm>
          <a:prstGeom prst="roundRect">
            <a:avLst>
              <a:gd name="adj" fmla="val 4435"/>
            </a:avLst>
          </a:prstGeom>
          <a:solidFill>
            <a:srgbClr val="181B23"/>
          </a:solidFill>
          <a:ln w="9525">
            <a:solidFill>
              <a:srgbClr val="2A2F3C"/>
            </a:solidFill>
            <a:prstDash val="solid"/>
          </a:ln>
        </p:spPr>
      </p:sp>
      <p:sp>
        <p:nvSpPr>
          <p:cNvPr id="11" name="Text 8"/>
          <p:cNvSpPr txBox="1"/>
          <p:nvPr/>
        </p:nvSpPr>
        <p:spPr>
          <a:xfrm>
            <a:off x="2103120" y="39090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Voicemod · soundboards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Stream Deck (hotkey)</a:t>
            </a:r>
            <a:endParaRPr lang="en-US" sz="1400" dirty="0"/>
          </a:p>
        </p:txBody>
      </p:sp>
      <p:sp>
        <p:nvSpPr>
          <p:cNvPr id="12" name="Shape 9"/>
          <p:cNvSpPr/>
          <p:nvPr/>
        </p:nvSpPr>
        <p:spPr>
          <a:xfrm>
            <a:off x="5084064" y="3689604"/>
            <a:ext cx="3090672" cy="2061972"/>
          </a:xfrm>
          <a:prstGeom prst="roundRect">
            <a:avLst>
              <a:gd name="adj" fmla="val 4435"/>
            </a:avLst>
          </a:prstGeom>
          <a:solidFill>
            <a:srgbClr val="2A1530"/>
          </a:solidFill>
          <a:ln w="25400">
            <a:solidFill>
              <a:srgbClr val="FF2D75"/>
            </a:solidFill>
            <a:prstDash val="solid"/>
          </a:ln>
        </p:spPr>
      </p:sp>
      <p:sp>
        <p:nvSpPr>
          <p:cNvPr id="13" name="Text 10"/>
          <p:cNvSpPr txBox="1"/>
          <p:nvPr/>
        </p:nvSpPr>
        <p:spPr>
          <a:xfrm>
            <a:off x="5303520" y="3909060"/>
            <a:ext cx="2651760" cy="1485900"/>
          </a:xfrm>
          <a:prstGeom prst="rect">
            <a:avLst/>
          </a:prstGeom>
          <a:noFill/>
          <a:ln/>
        </p:spPr>
        <p:txBody>
          <a:bodyPr wrap="square" lIns="0" tIns="0" rIns="0" bIns="0" rtlCol="0" anchor="ctr">
            <a:normAutofit/>
          </a:bodyPr>
          <a:lstStyle/>
          <a:p>
            <a:pPr algn="ctr" indent="0" marL="0">
              <a:buNone/>
            </a:pPr>
            <a:r>
              <a:rPr lang="en-US" sz="3400" b="1" dirty="0">
                <a:solidFill>
                  <a:srgbClr val="FF2D75"/>
                </a:solidFill>
                <a:latin typeface="Arial" pitchFamily="34" charset="0"/>
                <a:ea typeface="Arial" pitchFamily="34" charset="-122"/>
                <a:cs typeface="Arial" pitchFamily="34" charset="-120"/>
              </a:rPr>
              <a:t>LiveFX</a:t>
            </a:r>
            <a:endParaRPr lang="en-US" sz="3400" dirty="0"/>
          </a:p>
        </p:txBody>
      </p:sp>
      <p:sp>
        <p:nvSpPr>
          <p:cNvPr id="14" name="Text 11"/>
          <p:cNvSpPr txBox="1"/>
          <p:nvPr/>
        </p:nvSpPr>
        <p:spPr>
          <a:xfrm>
            <a:off x="5303520" y="5239512"/>
            <a:ext cx="2651760" cy="365760"/>
          </a:xfrm>
          <a:prstGeom prst="rect">
            <a:avLst/>
          </a:prstGeom>
          <a:noFill/>
          <a:ln/>
        </p:spPr>
        <p:txBody>
          <a:bodyPr wrap="square" lIns="0" tIns="0" rIns="0" bIns="0" rtlCol="0" anchor="t">
            <a:normAutofit/>
          </a:bodyPr>
          <a:lstStyle/>
          <a:p>
            <a:pPr algn="ctr" indent="0" marL="0">
              <a:buNone/>
            </a:pPr>
            <a:r>
              <a:rPr lang="en-US" sz="1200" i="1" dirty="0">
                <a:solidFill>
                  <a:srgbClr val="2DFFB5"/>
                </a:solidFill>
                <a:latin typeface="Arial" pitchFamily="34" charset="0"/>
                <a:ea typeface="Arial" pitchFamily="34" charset="-122"/>
                <a:cs typeface="Arial" pitchFamily="34" charset="-120"/>
              </a:rPr>
              <a:t>the only player</a:t>
            </a:r>
            <a:endParaRPr lang="en-US" sz="1200" dirty="0"/>
          </a:p>
        </p:txBody>
      </p:sp>
      <p:sp>
        <p:nvSpPr>
          <p:cNvPr id="15" name="Text 12"/>
          <p:cNvSpPr txBox="1"/>
          <p:nvPr/>
        </p:nvSpPr>
        <p:spPr>
          <a:xfrm>
            <a:off x="18288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manual</a:t>
            </a:r>
            <a:endParaRPr lang="en-US" sz="1100" dirty="0"/>
          </a:p>
        </p:txBody>
      </p:sp>
      <p:sp>
        <p:nvSpPr>
          <p:cNvPr id="16" name="Text 13"/>
          <p:cNvSpPr txBox="1"/>
          <p:nvPr/>
        </p:nvSpPr>
        <p:spPr>
          <a:xfrm>
            <a:off x="50292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automatic</a:t>
            </a:r>
            <a:endParaRPr lang="en-US" sz="1100" dirty="0"/>
          </a:p>
        </p:txBody>
      </p:sp>
      <p:sp>
        <p:nvSpPr>
          <p:cNvPr id="17" name="Text 14"/>
          <p:cNvSpPr txBox="1"/>
          <p:nvPr/>
        </p:nvSpPr>
        <p:spPr>
          <a:xfrm>
            <a:off x="457200" y="21145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Viewer-driven</a:t>
            </a:r>
            <a:endParaRPr lang="en-US" sz="1100" dirty="0"/>
          </a:p>
        </p:txBody>
      </p:sp>
      <p:sp>
        <p:nvSpPr>
          <p:cNvPr id="18" name="Text 15"/>
          <p:cNvSpPr txBox="1"/>
          <p:nvPr/>
        </p:nvSpPr>
        <p:spPr>
          <a:xfrm>
            <a:off x="457200" y="42862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Voice-driven</a:t>
            </a:r>
            <a:endParaRPr lang="en-US" sz="1100" dirty="0"/>
          </a:p>
        </p:txBody>
      </p:sp>
      <p:sp>
        <p:nvSpPr>
          <p:cNvPr id="19" name="Text 16"/>
          <p:cNvSpPr txBox="1"/>
          <p:nvPr/>
        </p:nvSpPr>
        <p:spPr>
          <a:xfrm>
            <a:off x="1828800" y="5879592"/>
            <a:ext cx="6400800" cy="274320"/>
          </a:xfrm>
          <a:prstGeom prst="rect">
            <a:avLst/>
          </a:prstGeom>
          <a:noFill/>
          <a:ln/>
        </p:spPr>
        <p:txBody>
          <a:bodyPr wrap="square" lIns="0" tIns="0" rIns="0" bIns="0" rtlCol="0" anchor="t">
            <a:normAutofit/>
          </a:bodyPr>
          <a:lstStyle/>
          <a:p>
            <a:pPr algn="ctr" indent="0" marL="0">
              <a:buNone/>
            </a:pPr>
            <a:r>
              <a:rPr lang="en-US" sz="1000" dirty="0">
                <a:solidFill>
                  <a:srgbClr val="6B7280"/>
                </a:solidFill>
                <a:latin typeface="Arial" pitchFamily="34" charset="0"/>
                <a:ea typeface="Arial" pitchFamily="34" charset="-122"/>
                <a:cs typeface="Arial" pitchFamily="34" charset="-120"/>
              </a:rPr>
              <a:t>Operation →</a:t>
            </a:r>
            <a:endParaRPr lang="en-US" sz="1000" dirty="0"/>
          </a:p>
        </p:txBody>
      </p:sp>
      <p:sp>
        <p:nvSpPr>
          <p:cNvPr id="20" name="Shape 17"/>
          <p:cNvSpPr/>
          <p:nvPr/>
        </p:nvSpPr>
        <p:spPr>
          <a:xfrm>
            <a:off x="8595360" y="1463040"/>
            <a:ext cx="3044952" cy="4343400"/>
          </a:xfrm>
          <a:prstGeom prst="roundRect">
            <a:avLst>
              <a:gd name="adj" fmla="val 3604"/>
            </a:avLst>
          </a:prstGeom>
          <a:solidFill>
            <a:srgbClr val="181B23"/>
          </a:solidFill>
          <a:ln w="12700">
            <a:solidFill>
              <a:srgbClr val="181B23"/>
            </a:solidFill>
            <a:prstDash val="solid"/>
          </a:ln>
        </p:spPr>
      </p:sp>
      <p:sp>
        <p:nvSpPr>
          <p:cNvPr id="21" name="Text 18"/>
          <p:cNvSpPr txBox="1"/>
          <p:nvPr/>
        </p:nvSpPr>
        <p:spPr>
          <a:xfrm>
            <a:off x="8796528" y="1627632"/>
            <a:ext cx="2697480"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Only with LiveFX</a:t>
            </a:r>
            <a:endParaRPr lang="en-US" sz="1500" dirty="0"/>
          </a:p>
        </p:txBody>
      </p:sp>
      <p:sp>
        <p:nvSpPr>
          <p:cNvPr id="22" name="Shape 19"/>
          <p:cNvSpPr/>
          <p:nvPr/>
        </p:nvSpPr>
        <p:spPr>
          <a:xfrm>
            <a:off x="8796528" y="2240280"/>
            <a:ext cx="109728" cy="109728"/>
          </a:xfrm>
          <a:prstGeom prst="ellipse">
            <a:avLst/>
          </a:prstGeom>
          <a:solidFill>
            <a:srgbClr val="FF2D75"/>
          </a:solidFill>
          <a:ln w="12700">
            <a:solidFill>
              <a:srgbClr val="FF2D75"/>
            </a:solidFill>
            <a:prstDash val="solid"/>
          </a:ln>
        </p:spPr>
      </p:sp>
      <p:sp>
        <p:nvSpPr>
          <p:cNvPr id="23" name="Text 20"/>
          <p:cNvSpPr txBox="1"/>
          <p:nvPr/>
        </p:nvSpPr>
        <p:spPr>
          <a:xfrm>
            <a:off x="9034272" y="212140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Reacts to the spoken word</a:t>
            </a:r>
            <a:endParaRPr lang="en-US" sz="1100" dirty="0"/>
          </a:p>
        </p:txBody>
      </p:sp>
      <p:sp>
        <p:nvSpPr>
          <p:cNvPr id="24" name="Shape 21"/>
          <p:cNvSpPr/>
          <p:nvPr/>
        </p:nvSpPr>
        <p:spPr>
          <a:xfrm>
            <a:off x="8796528" y="2807208"/>
            <a:ext cx="109728" cy="109728"/>
          </a:xfrm>
          <a:prstGeom prst="ellipse">
            <a:avLst/>
          </a:prstGeom>
          <a:solidFill>
            <a:srgbClr val="2DFFB5"/>
          </a:solidFill>
          <a:ln w="12700">
            <a:solidFill>
              <a:srgbClr val="2DFFB5"/>
            </a:solidFill>
            <a:prstDash val="solid"/>
          </a:ln>
        </p:spPr>
      </p:sp>
      <p:sp>
        <p:nvSpPr>
          <p:cNvPr id="25" name="Text 22"/>
          <p:cNvSpPr txBox="1"/>
          <p:nvPr/>
        </p:nvSpPr>
        <p:spPr>
          <a:xfrm>
            <a:off x="9034272" y="2688336"/>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Turkish packs (85 triggers) + story packs</a:t>
            </a:r>
            <a:endParaRPr lang="en-US" sz="1100" dirty="0"/>
          </a:p>
        </p:txBody>
      </p:sp>
      <p:sp>
        <p:nvSpPr>
          <p:cNvPr id="26" name="Shape 23"/>
          <p:cNvSpPr/>
          <p:nvPr/>
        </p:nvSpPr>
        <p:spPr>
          <a:xfrm>
            <a:off x="8796528" y="3374136"/>
            <a:ext cx="109728" cy="109728"/>
          </a:xfrm>
          <a:prstGeom prst="ellipse">
            <a:avLst/>
          </a:prstGeom>
          <a:solidFill>
            <a:srgbClr val="FF2D75"/>
          </a:solidFill>
          <a:ln w="12700">
            <a:solidFill>
              <a:srgbClr val="FF2D75"/>
            </a:solidFill>
            <a:prstDash val="solid"/>
          </a:ln>
        </p:spPr>
      </p:sp>
      <p:sp>
        <p:nvSpPr>
          <p:cNvPr id="27" name="Text 24"/>
          <p:cNvSpPr txBox="1"/>
          <p:nvPr/>
        </p:nvSpPr>
        <p:spPr>
          <a:xfrm>
            <a:off x="9034272" y="3255264"/>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Story scenes with ambience loops</a:t>
            </a:r>
            <a:endParaRPr lang="en-US" sz="1100" dirty="0"/>
          </a:p>
        </p:txBody>
      </p:sp>
      <p:sp>
        <p:nvSpPr>
          <p:cNvPr id="28" name="Shape 25"/>
          <p:cNvSpPr/>
          <p:nvPr/>
        </p:nvSpPr>
        <p:spPr>
          <a:xfrm>
            <a:off x="8796528" y="3941064"/>
            <a:ext cx="109728" cy="109728"/>
          </a:xfrm>
          <a:prstGeom prst="ellipse">
            <a:avLst/>
          </a:prstGeom>
          <a:solidFill>
            <a:srgbClr val="2DFFB5"/>
          </a:solidFill>
          <a:ln w="12700">
            <a:solidFill>
              <a:srgbClr val="2DFFB5"/>
            </a:solidFill>
            <a:prstDash val="solid"/>
          </a:ln>
        </p:spPr>
      </p:sp>
      <p:sp>
        <p:nvSpPr>
          <p:cNvPr id="29" name="Text 26"/>
          <p:cNvSpPr txBox="1"/>
          <p:nvPr/>
        </p:nvSpPr>
        <p:spPr>
          <a:xfrm>
            <a:off x="9034272" y="3822192"/>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Open API for viewer &amp; external triggers</a:t>
            </a:r>
            <a:endParaRPr lang="en-US" sz="1100" dirty="0"/>
          </a:p>
        </p:txBody>
      </p:sp>
      <p:sp>
        <p:nvSpPr>
          <p:cNvPr id="30" name="Shape 27"/>
          <p:cNvSpPr/>
          <p:nvPr/>
        </p:nvSpPr>
        <p:spPr>
          <a:xfrm>
            <a:off x="8796528" y="4507992"/>
            <a:ext cx="109728" cy="109728"/>
          </a:xfrm>
          <a:prstGeom prst="ellipse">
            <a:avLst/>
          </a:prstGeom>
          <a:solidFill>
            <a:srgbClr val="FF2D75"/>
          </a:solidFill>
          <a:ln w="12700">
            <a:solidFill>
              <a:srgbClr val="FF2D75"/>
            </a:solidFill>
            <a:prstDash val="solid"/>
          </a:ln>
        </p:spPr>
      </p:sp>
      <p:sp>
        <p:nvSpPr>
          <p:cNvPr id="31" name="Text 28"/>
          <p:cNvSpPr txBox="1"/>
          <p:nvPr/>
        </p:nvSpPr>
        <p:spPr>
          <a:xfrm>
            <a:off x="9034272" y="4389120"/>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Runs locally – no cloud, no login</a:t>
            </a:r>
            <a:endParaRPr lang="en-US" sz="1100" dirty="0"/>
          </a:p>
        </p:txBody>
      </p:sp>
      <p:sp>
        <p:nvSpPr>
          <p:cNvPr id="32" name="Shape 29"/>
          <p:cNvSpPr/>
          <p:nvPr/>
        </p:nvSpPr>
        <p:spPr>
          <a:xfrm>
            <a:off x="8796528" y="5074920"/>
            <a:ext cx="109728" cy="109728"/>
          </a:xfrm>
          <a:prstGeom prst="ellipse">
            <a:avLst/>
          </a:prstGeom>
          <a:solidFill>
            <a:srgbClr val="2DFFB5"/>
          </a:solidFill>
          <a:ln w="12700">
            <a:solidFill>
              <a:srgbClr val="2DFFB5"/>
            </a:solidFill>
            <a:prstDash val="solid"/>
          </a:ln>
        </p:spPr>
      </p:sp>
      <p:sp>
        <p:nvSpPr>
          <p:cNvPr id="33" name="Text 30"/>
          <p:cNvSpPr txBox="1"/>
          <p:nvPr/>
        </p:nvSpPr>
        <p:spPr>
          <a:xfrm>
            <a:off x="9034272" y="495604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Own sounds – no copyright strikes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18 MONTHS, GATED</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Roadmap: lean to Gate 2, then the seed round</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11</a:t>
            </a:r>
            <a:endParaRPr lang="en-US" sz="900" dirty="0"/>
          </a:p>
        </p:txBody>
      </p:sp>
      <p:sp>
        <p:nvSpPr>
          <p:cNvPr id="6" name="Shape 3"/>
          <p:cNvSpPr/>
          <p:nvPr/>
        </p:nvSpPr>
        <p:spPr>
          <a:xfrm>
            <a:off x="822960" y="2148840"/>
            <a:ext cx="10545775" cy="0"/>
          </a:xfrm>
          <a:prstGeom prst="line">
            <a:avLst/>
          </a:prstGeom>
          <a:noFill/>
          <a:ln w="25400">
            <a:solidFill>
              <a:srgbClr val="2A2F3C"/>
            </a:solidFill>
            <a:prstDash val="solid"/>
          </a:ln>
        </p:spPr>
      </p:sp>
      <p:sp>
        <p:nvSpPr>
          <p:cNvPr id="7" name="Shape 4"/>
          <p:cNvSpPr/>
          <p:nvPr/>
        </p:nvSpPr>
        <p:spPr>
          <a:xfrm>
            <a:off x="731520" y="2048256"/>
            <a:ext cx="201168" cy="201168"/>
          </a:xfrm>
          <a:prstGeom prst="ellipse">
            <a:avLst/>
          </a:prstGeom>
          <a:solidFill>
            <a:srgbClr val="FF2D75"/>
          </a:solidFill>
          <a:ln w="12700">
            <a:solidFill>
              <a:srgbClr val="FF2D75"/>
            </a:solidFill>
            <a:prstDash val="solid"/>
          </a:ln>
        </p:spPr>
      </p:sp>
      <p:sp>
        <p:nvSpPr>
          <p:cNvPr id="8" name="Text 5"/>
          <p:cNvSpPr txBox="1"/>
          <p:nvPr/>
        </p:nvSpPr>
        <p:spPr>
          <a:xfrm>
            <a:off x="731520"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2D75"/>
                </a:solidFill>
                <a:latin typeface="Arial" pitchFamily="34" charset="0"/>
                <a:ea typeface="Arial" pitchFamily="34" charset="-122"/>
                <a:cs typeface="Arial" pitchFamily="34" charset="-120"/>
              </a:rPr>
              <a:t>Q1 2027 · months 1–3</a:t>
            </a:r>
            <a:endParaRPr lang="en-US" sz="1300" dirty="0"/>
          </a:p>
        </p:txBody>
      </p:sp>
      <p:sp>
        <p:nvSpPr>
          <p:cNvPr id="9" name="Shape 6"/>
          <p:cNvSpPr/>
          <p:nvPr/>
        </p:nvSpPr>
        <p:spPr>
          <a:xfrm>
            <a:off x="548640" y="2514600"/>
            <a:ext cx="2679192" cy="2788920"/>
          </a:xfrm>
          <a:prstGeom prst="roundRect">
            <a:avLst>
              <a:gd name="adj" fmla="val 4096"/>
            </a:avLst>
          </a:prstGeom>
          <a:solidFill>
            <a:srgbClr val="181B23"/>
          </a:solidFill>
          <a:ln w="12700">
            <a:solidFill>
              <a:srgbClr val="181B23"/>
            </a:solidFill>
            <a:prstDash val="solid"/>
          </a:ln>
        </p:spPr>
      </p:sp>
      <p:sp>
        <p:nvSpPr>
          <p:cNvPr id="10" name="Text 7"/>
          <p:cNvSpPr txBox="1"/>
          <p:nvPr/>
        </p:nvSpPr>
        <p:spPr>
          <a:xfrm>
            <a:off x="777240"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Pro subscription live</a:t>
            </a:r>
            <a:endParaRPr lang="en-US" sz="1600" dirty="0"/>
          </a:p>
        </p:txBody>
      </p:sp>
      <p:sp>
        <p:nvSpPr>
          <p:cNvPr id="11" name="Text 8"/>
          <p:cNvSpPr txBox="1"/>
          <p:nvPr/>
        </p:nvSpPr>
        <p:spPr>
          <a:xfrm>
            <a:off x="777240"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Pre-seed closed · mobile/web developer on board (month 3) · TR launch · Gate G0</a:t>
            </a:r>
            <a:endParaRPr lang="en-US" sz="1200" dirty="0"/>
          </a:p>
        </p:txBody>
      </p:sp>
      <p:sp>
        <p:nvSpPr>
          <p:cNvPr id="12" name="Shape 9"/>
          <p:cNvSpPr/>
          <p:nvPr/>
        </p:nvSpPr>
        <p:spPr>
          <a:xfrm>
            <a:off x="3547872" y="2048256"/>
            <a:ext cx="201168" cy="201168"/>
          </a:xfrm>
          <a:prstGeom prst="ellipse">
            <a:avLst/>
          </a:prstGeom>
          <a:solidFill>
            <a:srgbClr val="2DFFB5"/>
          </a:solidFill>
          <a:ln w="12700">
            <a:solidFill>
              <a:srgbClr val="2DFFB5"/>
            </a:solidFill>
            <a:prstDash val="solid"/>
          </a:ln>
        </p:spPr>
      </p:sp>
      <p:sp>
        <p:nvSpPr>
          <p:cNvPr id="13" name="Text 10"/>
          <p:cNvSpPr txBox="1"/>
          <p:nvPr/>
        </p:nvSpPr>
        <p:spPr>
          <a:xfrm>
            <a:off x="3547872"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2DFFB5"/>
                </a:solidFill>
                <a:latin typeface="Arial" pitchFamily="34" charset="0"/>
                <a:ea typeface="Arial" pitchFamily="34" charset="-122"/>
                <a:cs typeface="Arial" pitchFamily="34" charset="-120"/>
              </a:rPr>
              <a:t>Q2 2027 · months 4–6</a:t>
            </a:r>
            <a:endParaRPr lang="en-US" sz="1300" dirty="0"/>
          </a:p>
        </p:txBody>
      </p:sp>
      <p:sp>
        <p:nvSpPr>
          <p:cNvPr id="14" name="Shape 11"/>
          <p:cNvSpPr/>
          <p:nvPr/>
        </p:nvSpPr>
        <p:spPr>
          <a:xfrm>
            <a:off x="3364992" y="2514600"/>
            <a:ext cx="2679192" cy="2788920"/>
          </a:xfrm>
          <a:prstGeom prst="roundRect">
            <a:avLst>
              <a:gd name="adj" fmla="val 4096"/>
            </a:avLst>
          </a:prstGeom>
          <a:solidFill>
            <a:srgbClr val="181B23"/>
          </a:solidFill>
          <a:ln w="12700">
            <a:solidFill>
              <a:srgbClr val="181B23"/>
            </a:solidFill>
            <a:prstDash val="solid"/>
          </a:ln>
        </p:spPr>
      </p:sp>
      <p:sp>
        <p:nvSpPr>
          <p:cNvPr id="15" name="Text 12"/>
          <p:cNvSpPr txBox="1"/>
          <p:nvPr/>
        </p:nvSpPr>
        <p:spPr>
          <a:xfrm>
            <a:off x="3593592"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Mobile app/PWA + WortBild</a:t>
            </a:r>
            <a:endParaRPr lang="en-US" sz="1600" dirty="0"/>
          </a:p>
        </p:txBody>
      </p:sp>
      <p:sp>
        <p:nvSpPr>
          <p:cNvPr id="16" name="Text 13"/>
          <p:cNvSpPr txBox="1"/>
          <p:nvPr/>
        </p:nvSpPr>
        <p:spPr>
          <a:xfrm>
            <a:off x="3593592"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WortBild with 300 words and reading aid · 20 beta creators TR/DE · Gate G1</a:t>
            </a:r>
            <a:endParaRPr lang="en-US" sz="1200" dirty="0"/>
          </a:p>
        </p:txBody>
      </p:sp>
      <p:sp>
        <p:nvSpPr>
          <p:cNvPr id="17" name="Shape 14"/>
          <p:cNvSpPr/>
          <p:nvPr/>
        </p:nvSpPr>
        <p:spPr>
          <a:xfrm>
            <a:off x="6364224" y="2048256"/>
            <a:ext cx="201168" cy="201168"/>
          </a:xfrm>
          <a:prstGeom prst="ellipse">
            <a:avLst/>
          </a:prstGeom>
          <a:solidFill>
            <a:srgbClr val="FFD166"/>
          </a:solidFill>
          <a:ln w="12700">
            <a:solidFill>
              <a:srgbClr val="FFD166"/>
            </a:solidFill>
            <a:prstDash val="solid"/>
          </a:ln>
        </p:spPr>
      </p:sp>
      <p:sp>
        <p:nvSpPr>
          <p:cNvPr id="18" name="Text 15"/>
          <p:cNvSpPr txBox="1"/>
          <p:nvPr/>
        </p:nvSpPr>
        <p:spPr>
          <a:xfrm>
            <a:off x="6364224"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Q3–Q4 2027 · months 7–12</a:t>
            </a:r>
            <a:endParaRPr lang="en-US" sz="1300" dirty="0"/>
          </a:p>
        </p:txBody>
      </p:sp>
      <p:sp>
        <p:nvSpPr>
          <p:cNvPr id="19" name="Shape 16"/>
          <p:cNvSpPr/>
          <p:nvPr/>
        </p:nvSpPr>
        <p:spPr>
          <a:xfrm>
            <a:off x="6181344" y="2514600"/>
            <a:ext cx="2679192" cy="2788920"/>
          </a:xfrm>
          <a:prstGeom prst="roundRect">
            <a:avLst>
              <a:gd name="adj" fmla="val 4096"/>
            </a:avLst>
          </a:prstGeom>
          <a:solidFill>
            <a:srgbClr val="181B23"/>
          </a:solidFill>
          <a:ln w="12700">
            <a:solidFill>
              <a:srgbClr val="181B23"/>
            </a:solidFill>
            <a:prstDash val="solid"/>
          </a:ln>
        </p:spPr>
      </p:sp>
      <p:sp>
        <p:nvSpPr>
          <p:cNvPr id="20" name="Text 17"/>
          <p:cNvSpPr txBox="1"/>
          <p:nvPr/>
        </p:nvSpPr>
        <p:spPr>
          <a:xfrm>
            <a:off x="6409944"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DE/EN + pilots</a:t>
            </a:r>
            <a:endParaRPr lang="en-US" sz="1600" dirty="0"/>
          </a:p>
        </p:txBody>
      </p:sp>
      <p:sp>
        <p:nvSpPr>
          <p:cNvPr id="21" name="Text 18"/>
          <p:cNvSpPr txBox="1"/>
          <p:nvPr/>
        </p:nvSpPr>
        <p:spPr>
          <a:xfrm>
            <a:off x="6409944"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DE/EN launch · marketplaces · agency licence · platform or education pilot · Gate G2a</a:t>
            </a:r>
            <a:endParaRPr lang="en-US" sz="1200" dirty="0"/>
          </a:p>
        </p:txBody>
      </p:sp>
      <p:sp>
        <p:nvSpPr>
          <p:cNvPr id="22" name="Shape 19"/>
          <p:cNvSpPr/>
          <p:nvPr/>
        </p:nvSpPr>
        <p:spPr>
          <a:xfrm>
            <a:off x="9180576" y="2048256"/>
            <a:ext cx="201168" cy="201168"/>
          </a:xfrm>
          <a:prstGeom prst="ellipse">
            <a:avLst/>
          </a:prstGeom>
          <a:solidFill>
            <a:srgbClr val="FFFFFF"/>
          </a:solidFill>
          <a:ln w="12700">
            <a:solidFill>
              <a:srgbClr val="FFFFFF"/>
            </a:solidFill>
            <a:prstDash val="solid"/>
          </a:ln>
        </p:spPr>
      </p:sp>
      <p:sp>
        <p:nvSpPr>
          <p:cNvPr id="23" name="Text 20"/>
          <p:cNvSpPr txBox="1"/>
          <p:nvPr/>
        </p:nvSpPr>
        <p:spPr>
          <a:xfrm>
            <a:off x="9180576"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H1 2028 · months 13–18</a:t>
            </a:r>
            <a:endParaRPr lang="en-US" sz="1300" dirty="0"/>
          </a:p>
        </p:txBody>
      </p:sp>
      <p:sp>
        <p:nvSpPr>
          <p:cNvPr id="24" name="Shape 21"/>
          <p:cNvSpPr/>
          <p:nvPr/>
        </p:nvSpPr>
        <p:spPr>
          <a:xfrm>
            <a:off x="8997696" y="2514600"/>
            <a:ext cx="2679192" cy="2788920"/>
          </a:xfrm>
          <a:prstGeom prst="roundRect">
            <a:avLst>
              <a:gd name="adj" fmla="val 4096"/>
            </a:avLst>
          </a:prstGeom>
          <a:solidFill>
            <a:srgbClr val="181B23"/>
          </a:solidFill>
          <a:ln w="12700">
            <a:solidFill>
              <a:srgbClr val="181B23"/>
            </a:solidFill>
            <a:prstDash val="solid"/>
          </a:ln>
        </p:spPr>
      </p:sp>
      <p:sp>
        <p:nvSpPr>
          <p:cNvPr id="25" name="Text 22"/>
          <p:cNvSpPr txBox="1"/>
          <p:nvPr/>
        </p:nvSpPr>
        <p:spPr>
          <a:xfrm>
            <a:off x="9226296"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Gate 2 → seed round</a:t>
            </a:r>
            <a:endParaRPr lang="en-US" sz="1600" dirty="0"/>
          </a:p>
        </p:txBody>
      </p:sp>
      <p:sp>
        <p:nvSpPr>
          <p:cNvPr id="26" name="Text 23"/>
          <p:cNvSpPr txBox="1"/>
          <p:nvPr/>
        </p:nvSpPr>
        <p:spPr>
          <a:xfrm>
            <a:off x="9226296"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WortBild pilot evaluated · seed round ~€350k · from month 19: story engine, Studio, Spaces, build-out team</a:t>
            </a:r>
            <a:endParaRPr lang="en-US" sz="1200" dirty="0"/>
          </a:p>
        </p:txBody>
      </p:sp>
      <p:sp>
        <p:nvSpPr>
          <p:cNvPr id="27" name="Text 24"/>
          <p:cNvSpPr txBox="1"/>
          <p:nvPr/>
        </p:nvSpPr>
        <p:spPr>
          <a:xfrm>
            <a:off x="548640" y="5532120"/>
            <a:ext cx="11094415" cy="685800"/>
          </a:xfrm>
          <a:prstGeom prst="rect">
            <a:avLst/>
          </a:prstGeom>
          <a:noFill/>
          <a:ln/>
        </p:spPr>
        <p:txBody>
          <a:bodyPr wrap="square" lIns="0" tIns="0" rIns="0" bIns="0" rtlCol="0" anchor="t">
            <a:normAutofit/>
          </a:bodyPr>
          <a:lstStyle/>
          <a:p>
            <a:pPr indent="0" marL="0">
              <a:buNone/>
            </a:pPr>
            <a:r>
              <a:rPr lang="en-US" sz="1200" i="1" dirty="0">
                <a:solidFill>
                  <a:srgbClr val="9AA3B5"/>
                </a:solidFill>
                <a:latin typeface="Arial" pitchFamily="34" charset="0"/>
                <a:ea typeface="Arial" pitchFamily="34" charset="-122"/>
                <a:cs typeface="Arial" pitchFamily="34" charset="-120"/>
              </a:rPr>
              <a:t>Lean until month 18: one developer, Pro subscription, mobile app/PWA, WortBild. The story engine (Story Film), auto-edit (Studio) and VR/AR (Spaces) are financed from the follow-on round after Gate 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THE VISION</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900" b="1" dirty="0">
                <a:solidFill>
                  <a:srgbClr val="FFFFFF"/>
                </a:solidFill>
                <a:latin typeface="Arial" pitchFamily="34" charset="0"/>
                <a:ea typeface="Arial" pitchFamily="34" charset="-122"/>
                <a:cs typeface="Arial" pitchFamily="34" charset="-120"/>
              </a:rPr>
              <a:t>Live video from words: You talk. It becomes a scene.</a:t>
            </a:r>
            <a:endParaRPr lang="en-US" sz="29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12</a:t>
            </a:r>
            <a:endParaRPr lang="en-US" sz="900" dirty="0"/>
          </a:p>
        </p:txBody>
      </p:sp>
      <p:sp>
        <p:nvSpPr>
          <p:cNvPr id="8" name="Shape 5"/>
          <p:cNvSpPr/>
          <p:nvPr/>
        </p:nvSpPr>
        <p:spPr>
          <a:xfrm>
            <a:off x="548640" y="1371600"/>
            <a:ext cx="2485568" cy="1143000"/>
          </a:xfrm>
          <a:prstGeom prst="roundRect">
            <a:avLst>
              <a:gd name="adj" fmla="val 9600"/>
            </a:avLst>
          </a:prstGeom>
          <a:solidFill>
            <a:srgbClr val="1F2330"/>
          </a:solidFill>
          <a:ln w="12700">
            <a:solidFill>
              <a:srgbClr val="1F2330"/>
            </a:solidFill>
            <a:prstDash val="solid"/>
          </a:ln>
        </p:spPr>
      </p:sp>
      <p:sp>
        <p:nvSpPr>
          <p:cNvPr id="9" name="Text 6"/>
          <p:cNvSpPr txBox="1"/>
          <p:nvPr/>
        </p:nvSpPr>
        <p:spPr>
          <a:xfrm>
            <a:off x="713232"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0" name="Text 7"/>
          <p:cNvSpPr txBox="1"/>
          <p:nvPr/>
        </p:nvSpPr>
        <p:spPr>
          <a:xfrm>
            <a:off x="1325880"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2D75"/>
                </a:solidFill>
                <a:latin typeface="Arial" pitchFamily="34" charset="0"/>
                <a:ea typeface="Arial" pitchFamily="34" charset="-122"/>
                <a:cs typeface="Arial" pitchFamily="34" charset="-120"/>
              </a:rPr>
              <a:t>Voice</a:t>
            </a:r>
            <a:endParaRPr lang="en-US" sz="1700" dirty="0"/>
          </a:p>
        </p:txBody>
      </p:sp>
      <p:sp>
        <p:nvSpPr>
          <p:cNvPr id="11" name="Text 8"/>
          <p:cNvSpPr txBox="1"/>
          <p:nvPr/>
        </p:nvSpPr>
        <p:spPr>
          <a:xfrm>
            <a:off x="713232"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Mic, reading aloud or a finished video file</a:t>
            </a:r>
            <a:endParaRPr lang="en-US" sz="1100" dirty="0"/>
          </a:p>
        </p:txBody>
      </p:sp>
      <p:sp>
        <p:nvSpPr>
          <p:cNvPr id="12" name="Shape 9"/>
          <p:cNvSpPr/>
          <p:nvPr/>
        </p:nvSpPr>
        <p:spPr>
          <a:xfrm>
            <a:off x="3098216" y="1810512"/>
            <a:ext cx="256032" cy="274320"/>
          </a:xfrm>
          <a:prstGeom prst="rightArrow">
            <a:avLst/>
          </a:prstGeom>
          <a:solidFill>
            <a:srgbClr val="FF2D75"/>
          </a:solidFill>
          <a:ln w="12700">
            <a:solidFill>
              <a:srgbClr val="FF2D75"/>
            </a:solidFill>
            <a:prstDash val="solid"/>
          </a:ln>
        </p:spPr>
      </p:sp>
      <p:sp>
        <p:nvSpPr>
          <p:cNvPr id="13" name="Shape 10"/>
          <p:cNvSpPr/>
          <p:nvPr/>
        </p:nvSpPr>
        <p:spPr>
          <a:xfrm>
            <a:off x="3418256" y="1371600"/>
            <a:ext cx="2485568" cy="1143000"/>
          </a:xfrm>
          <a:prstGeom prst="roundRect">
            <a:avLst>
              <a:gd name="adj" fmla="val 9600"/>
            </a:avLst>
          </a:prstGeom>
          <a:solidFill>
            <a:srgbClr val="1F2330"/>
          </a:solidFill>
          <a:ln w="12700">
            <a:solidFill>
              <a:srgbClr val="1F2330"/>
            </a:solidFill>
            <a:prstDash val="solid"/>
          </a:ln>
        </p:spPr>
      </p:sp>
      <p:sp>
        <p:nvSpPr>
          <p:cNvPr id="14" name="Text 11"/>
          <p:cNvSpPr txBox="1"/>
          <p:nvPr/>
        </p:nvSpPr>
        <p:spPr>
          <a:xfrm>
            <a:off x="3582848"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5" name="Text 12"/>
          <p:cNvSpPr txBox="1"/>
          <p:nvPr/>
        </p:nvSpPr>
        <p:spPr>
          <a:xfrm>
            <a:off x="4195496"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D166"/>
                </a:solidFill>
                <a:latin typeface="Arial" pitchFamily="34" charset="0"/>
                <a:ea typeface="Arial" pitchFamily="34" charset="-122"/>
                <a:cs typeface="Arial" pitchFamily="34" charset="-120"/>
              </a:rPr>
              <a:t>Understand</a:t>
            </a:r>
            <a:endParaRPr lang="en-US" sz="1700" dirty="0"/>
          </a:p>
        </p:txBody>
      </p:sp>
      <p:sp>
        <p:nvSpPr>
          <p:cNvPr id="16" name="Text 13"/>
          <p:cNvSpPr txBox="1"/>
          <p:nvPr/>
        </p:nvSpPr>
        <p:spPr>
          <a:xfrm>
            <a:off x="3582848"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Lexicon DE/TR/EN, dialect-tolerant, AI optional</a:t>
            </a:r>
            <a:endParaRPr lang="en-US" sz="1100" dirty="0"/>
          </a:p>
        </p:txBody>
      </p:sp>
      <p:sp>
        <p:nvSpPr>
          <p:cNvPr id="17" name="Shape 14"/>
          <p:cNvSpPr/>
          <p:nvPr/>
        </p:nvSpPr>
        <p:spPr>
          <a:xfrm>
            <a:off x="5967832" y="1810512"/>
            <a:ext cx="256032" cy="274320"/>
          </a:xfrm>
          <a:prstGeom prst="rightArrow">
            <a:avLst/>
          </a:prstGeom>
          <a:solidFill>
            <a:srgbClr val="FF2D75"/>
          </a:solidFill>
          <a:ln w="12700">
            <a:solidFill>
              <a:srgbClr val="FF2D75"/>
            </a:solidFill>
            <a:prstDash val="solid"/>
          </a:ln>
        </p:spPr>
      </p:sp>
      <p:sp>
        <p:nvSpPr>
          <p:cNvPr id="18" name="Shape 15"/>
          <p:cNvSpPr/>
          <p:nvPr/>
        </p:nvSpPr>
        <p:spPr>
          <a:xfrm>
            <a:off x="6287872" y="1371600"/>
            <a:ext cx="2485568" cy="1143000"/>
          </a:xfrm>
          <a:prstGeom prst="roundRect">
            <a:avLst>
              <a:gd name="adj" fmla="val 9600"/>
            </a:avLst>
          </a:prstGeom>
          <a:solidFill>
            <a:srgbClr val="1F2330"/>
          </a:solidFill>
          <a:ln w="12700">
            <a:solidFill>
              <a:srgbClr val="1F2330"/>
            </a:solidFill>
            <a:prstDash val="solid"/>
          </a:ln>
        </p:spPr>
      </p:sp>
      <p:sp>
        <p:nvSpPr>
          <p:cNvPr id="19" name="Text 16"/>
          <p:cNvSpPr txBox="1"/>
          <p:nvPr/>
        </p:nvSpPr>
        <p:spPr>
          <a:xfrm>
            <a:off x="6452464"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0" name="Text 17"/>
          <p:cNvSpPr txBox="1"/>
          <p:nvPr/>
        </p:nvSpPr>
        <p:spPr>
          <a:xfrm>
            <a:off x="7065112"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2DFFB5"/>
                </a:solidFill>
                <a:latin typeface="Arial" pitchFamily="34" charset="0"/>
                <a:ea typeface="Arial" pitchFamily="34" charset="-122"/>
                <a:cs typeface="Arial" pitchFamily="34" charset="-120"/>
              </a:rPr>
              <a:t>Scene</a:t>
            </a:r>
            <a:endParaRPr lang="en-US" sz="1700" dirty="0"/>
          </a:p>
        </p:txBody>
      </p:sp>
      <p:sp>
        <p:nvSpPr>
          <p:cNvPr id="21" name="Text 18"/>
          <p:cNvSpPr txBox="1"/>
          <p:nvPr/>
        </p:nvSpPr>
        <p:spPr>
          <a:xfrm>
            <a:off x="6452464"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World state ≤ 1 KB, one shared timeline</a:t>
            </a:r>
            <a:endParaRPr lang="en-US" sz="1100" dirty="0"/>
          </a:p>
        </p:txBody>
      </p:sp>
      <p:sp>
        <p:nvSpPr>
          <p:cNvPr id="22" name="Shape 19"/>
          <p:cNvSpPr/>
          <p:nvPr/>
        </p:nvSpPr>
        <p:spPr>
          <a:xfrm>
            <a:off x="8837447" y="1810512"/>
            <a:ext cx="256032" cy="274320"/>
          </a:xfrm>
          <a:prstGeom prst="rightArrow">
            <a:avLst/>
          </a:prstGeom>
          <a:solidFill>
            <a:srgbClr val="FF2D75"/>
          </a:solidFill>
          <a:ln w="12700">
            <a:solidFill>
              <a:srgbClr val="FF2D75"/>
            </a:solidFill>
            <a:prstDash val="solid"/>
          </a:ln>
        </p:spPr>
      </p:sp>
      <p:sp>
        <p:nvSpPr>
          <p:cNvPr id="23" name="Shape 20"/>
          <p:cNvSpPr/>
          <p:nvPr/>
        </p:nvSpPr>
        <p:spPr>
          <a:xfrm>
            <a:off x="9157487" y="1371600"/>
            <a:ext cx="2485568" cy="1143000"/>
          </a:xfrm>
          <a:prstGeom prst="roundRect">
            <a:avLst>
              <a:gd name="adj" fmla="val 9600"/>
            </a:avLst>
          </a:prstGeom>
          <a:solidFill>
            <a:srgbClr val="1F2330"/>
          </a:solidFill>
          <a:ln w="12700">
            <a:solidFill>
              <a:srgbClr val="1F2330"/>
            </a:solidFill>
            <a:prstDash val="solid"/>
          </a:ln>
        </p:spPr>
      </p:sp>
      <p:sp>
        <p:nvSpPr>
          <p:cNvPr id="24" name="Text 21"/>
          <p:cNvSpPr txBox="1"/>
          <p:nvPr/>
        </p:nvSpPr>
        <p:spPr>
          <a:xfrm>
            <a:off x="9322079"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5" name="Text 22"/>
          <p:cNvSpPr txBox="1"/>
          <p:nvPr/>
        </p:nvSpPr>
        <p:spPr>
          <a:xfrm>
            <a:off x="9934727"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5AD1FF"/>
                </a:solidFill>
                <a:latin typeface="Arial" pitchFamily="34" charset="0"/>
                <a:ea typeface="Arial" pitchFamily="34" charset="-122"/>
                <a:cs typeface="Arial" pitchFamily="34" charset="-120"/>
              </a:rPr>
              <a:t>Video</a:t>
            </a:r>
            <a:endParaRPr lang="en-US" sz="1700" dirty="0"/>
          </a:p>
        </p:txBody>
      </p:sp>
      <p:sp>
        <p:nvSpPr>
          <p:cNvPr id="26" name="Text 23"/>
          <p:cNvSpPr txBox="1"/>
          <p:nvPr/>
        </p:nvSpPr>
        <p:spPr>
          <a:xfrm>
            <a:off x="9322079"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Drawn in the browser, 60 fps, on your own device</a:t>
            </a:r>
            <a:endParaRPr lang="en-US" sz="1100" dirty="0"/>
          </a:p>
        </p:txBody>
      </p:sp>
      <p:sp>
        <p:nvSpPr>
          <p:cNvPr id="27" name="Shape 24"/>
          <p:cNvSpPr/>
          <p:nvPr/>
        </p:nvSpPr>
        <p:spPr>
          <a:xfrm>
            <a:off x="548640" y="2743200"/>
            <a:ext cx="2670734" cy="1737360"/>
          </a:xfrm>
          <a:prstGeom prst="roundRect">
            <a:avLst>
              <a:gd name="adj" fmla="val 6316"/>
            </a:avLst>
          </a:prstGeom>
          <a:solidFill>
            <a:srgbClr val="181B23"/>
          </a:solidFill>
          <a:ln w="15875">
            <a:solidFill>
              <a:srgbClr val="2DFFB5"/>
            </a:solidFill>
            <a:prstDash val="solid"/>
          </a:ln>
        </p:spPr>
      </p:sp>
      <p:sp>
        <p:nvSpPr>
          <p:cNvPr id="28" name="Text 25"/>
          <p:cNvSpPr txBox="1"/>
          <p:nvPr/>
        </p:nvSpPr>
        <p:spPr>
          <a:xfrm>
            <a:off x="731520"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9" name="Text 26"/>
          <p:cNvSpPr txBox="1"/>
          <p:nvPr/>
        </p:nvSpPr>
        <p:spPr>
          <a:xfrm>
            <a:off x="1234440"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Story Film</a:t>
            </a:r>
            <a:endParaRPr lang="en-US" sz="1500" dirty="0"/>
          </a:p>
        </p:txBody>
      </p:sp>
      <p:sp>
        <p:nvSpPr>
          <p:cNvPr id="30" name="Text 27"/>
          <p:cNvSpPr txBox="1"/>
          <p:nvPr/>
        </p:nvSpPr>
        <p:spPr>
          <a:xfrm>
            <a:off x="731520"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Every sentence grows a continuous picture-book film – below or beside the live image.</a:t>
            </a:r>
            <a:endParaRPr lang="en-US" sz="1150" dirty="0"/>
          </a:p>
        </p:txBody>
      </p:sp>
      <p:sp>
        <p:nvSpPr>
          <p:cNvPr id="31" name="Shape 28"/>
          <p:cNvSpPr/>
          <p:nvPr/>
        </p:nvSpPr>
        <p:spPr>
          <a:xfrm>
            <a:off x="3356534" y="2743200"/>
            <a:ext cx="2670734" cy="1737360"/>
          </a:xfrm>
          <a:prstGeom prst="roundRect">
            <a:avLst>
              <a:gd name="adj" fmla="val 6316"/>
            </a:avLst>
          </a:prstGeom>
          <a:solidFill>
            <a:srgbClr val="181B23"/>
          </a:solidFill>
          <a:ln w="15875">
            <a:solidFill>
              <a:srgbClr val="FFD166"/>
            </a:solidFill>
            <a:prstDash val="solid"/>
          </a:ln>
        </p:spPr>
      </p:sp>
      <p:sp>
        <p:nvSpPr>
          <p:cNvPr id="32" name="Text 29"/>
          <p:cNvSpPr txBox="1"/>
          <p:nvPr/>
        </p:nvSpPr>
        <p:spPr>
          <a:xfrm>
            <a:off x="3539414"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4042334"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WortBild</a:t>
            </a:r>
            <a:endParaRPr lang="en-US" sz="1500" dirty="0"/>
          </a:p>
        </p:txBody>
      </p:sp>
      <p:sp>
        <p:nvSpPr>
          <p:cNvPr id="34" name="Text 31"/>
          <p:cNvSpPr txBox="1"/>
          <p:nvPr/>
        </p:nvSpPr>
        <p:spPr>
          <a:xfrm>
            <a:off x="3539414"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Spoken word → picture, the word in the target language and its pronunciation. Learning and reading aid.</a:t>
            </a:r>
            <a:endParaRPr lang="en-US" sz="1150" dirty="0"/>
          </a:p>
        </p:txBody>
      </p:sp>
      <p:sp>
        <p:nvSpPr>
          <p:cNvPr id="35" name="Shape 32"/>
          <p:cNvSpPr/>
          <p:nvPr/>
        </p:nvSpPr>
        <p:spPr>
          <a:xfrm>
            <a:off x="6164428" y="2743200"/>
            <a:ext cx="2670734" cy="1737360"/>
          </a:xfrm>
          <a:prstGeom prst="roundRect">
            <a:avLst>
              <a:gd name="adj" fmla="val 6316"/>
            </a:avLst>
          </a:prstGeom>
          <a:solidFill>
            <a:srgbClr val="181B23"/>
          </a:solidFill>
          <a:ln w="15875">
            <a:solidFill>
              <a:srgbClr val="5AD1FF"/>
            </a:solidFill>
            <a:prstDash val="solid"/>
          </a:ln>
        </p:spPr>
      </p:sp>
      <p:sp>
        <p:nvSpPr>
          <p:cNvPr id="36" name="Text 33"/>
          <p:cNvSpPr txBox="1"/>
          <p:nvPr/>
        </p:nvSpPr>
        <p:spPr>
          <a:xfrm>
            <a:off x="6347308"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6850228"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Spaces</a:t>
            </a:r>
            <a:endParaRPr lang="en-US" sz="1500" dirty="0"/>
          </a:p>
        </p:txBody>
      </p:sp>
      <p:sp>
        <p:nvSpPr>
          <p:cNvPr id="38" name="Text 35"/>
          <p:cNvSpPr txBox="1"/>
          <p:nvPr/>
        </p:nvSpPr>
        <p:spPr>
          <a:xfrm>
            <a:off x="6347308"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Stage, classroom, audiobook with pictures, AR on the phone, VR and display glasses.</a:t>
            </a:r>
            <a:endParaRPr lang="en-US" sz="1150" dirty="0"/>
          </a:p>
        </p:txBody>
      </p:sp>
      <p:sp>
        <p:nvSpPr>
          <p:cNvPr id="39" name="Shape 36"/>
          <p:cNvSpPr/>
          <p:nvPr/>
        </p:nvSpPr>
        <p:spPr>
          <a:xfrm>
            <a:off x="8972321" y="2743200"/>
            <a:ext cx="2670734" cy="1737360"/>
          </a:xfrm>
          <a:prstGeom prst="roundRect">
            <a:avLst>
              <a:gd name="adj" fmla="val 6316"/>
            </a:avLst>
          </a:prstGeom>
          <a:solidFill>
            <a:srgbClr val="181B23"/>
          </a:solidFill>
          <a:ln w="15875">
            <a:solidFill>
              <a:srgbClr val="FF2D75"/>
            </a:solidFill>
            <a:prstDash val="solid"/>
          </a:ln>
        </p:spPr>
      </p:sp>
      <p:sp>
        <p:nvSpPr>
          <p:cNvPr id="40" name="Text 37"/>
          <p:cNvSpPr txBox="1"/>
          <p:nvPr/>
        </p:nvSpPr>
        <p:spPr>
          <a:xfrm>
            <a:off x="9155201"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41" name="Text 38"/>
          <p:cNvSpPr txBox="1"/>
          <p:nvPr/>
        </p:nvSpPr>
        <p:spPr>
          <a:xfrm>
            <a:off x="9658121"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Studio</a:t>
            </a:r>
            <a:endParaRPr lang="en-US" sz="1500" dirty="0"/>
          </a:p>
        </p:txBody>
      </p:sp>
      <p:sp>
        <p:nvSpPr>
          <p:cNvPr id="42" name="Text 39"/>
          <p:cNvSpPr txBox="1"/>
          <p:nvPr/>
        </p:nvSpPr>
        <p:spPr>
          <a:xfrm>
            <a:off x="9155201"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Live editor and auto-edit: video in, fully edited out – no upload.</a:t>
            </a:r>
            <a:endParaRPr lang="en-US" sz="1150" dirty="0"/>
          </a:p>
        </p:txBody>
      </p:sp>
      <p:sp>
        <p:nvSpPr>
          <p:cNvPr id="43" name="Shape 40"/>
          <p:cNvSpPr/>
          <p:nvPr/>
        </p:nvSpPr>
        <p:spPr>
          <a:xfrm>
            <a:off x="548640" y="4663440"/>
            <a:ext cx="5478628" cy="1097280"/>
          </a:xfrm>
          <a:prstGeom prst="roundRect">
            <a:avLst>
              <a:gd name="adj" fmla="val 10000"/>
            </a:avLst>
          </a:prstGeom>
          <a:solidFill>
            <a:srgbClr val="1F2330"/>
          </a:solidFill>
          <a:ln w="12700">
            <a:solidFill>
              <a:srgbClr val="1F2330"/>
            </a:solidFill>
            <a:prstDash val="solid"/>
          </a:ln>
        </p:spPr>
      </p:sp>
      <p:sp>
        <p:nvSpPr>
          <p:cNvPr id="44" name="Text 41"/>
          <p:cNvSpPr txBox="1"/>
          <p:nvPr/>
        </p:nvSpPr>
        <p:spPr>
          <a:xfrm>
            <a:off x="777240"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9AA3B5"/>
                </a:solidFill>
                <a:latin typeface="Arial" pitchFamily="34" charset="0"/>
                <a:ea typeface="Arial" pitchFamily="34" charset="-122"/>
                <a:cs typeface="Arial" pitchFamily="34" charset="-120"/>
              </a:rPr>
              <a:t>TODAY</a:t>
            </a:r>
            <a:endParaRPr lang="en-US" sz="1100" dirty="0"/>
          </a:p>
        </p:txBody>
      </p:sp>
      <p:sp>
        <p:nvSpPr>
          <p:cNvPr id="45" name="Text 42"/>
          <p:cNvSpPr txBox="1"/>
          <p:nvPr/>
        </p:nvSpPr>
        <p:spPr>
          <a:xfrm>
            <a:off x="777240"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Voice becomes a meme, sound or scene in under a second – in use in the founder's own streams.</a:t>
            </a:r>
            <a:endParaRPr lang="en-US" sz="1200" dirty="0"/>
          </a:p>
        </p:txBody>
      </p:sp>
      <p:sp>
        <p:nvSpPr>
          <p:cNvPr id="46" name="Shape 43"/>
          <p:cNvSpPr/>
          <p:nvPr/>
        </p:nvSpPr>
        <p:spPr>
          <a:xfrm>
            <a:off x="6164428" y="4663440"/>
            <a:ext cx="5478628" cy="1097280"/>
          </a:xfrm>
          <a:prstGeom prst="roundRect">
            <a:avLst>
              <a:gd name="adj" fmla="val 10000"/>
            </a:avLst>
          </a:prstGeom>
          <a:solidFill>
            <a:srgbClr val="1F2330"/>
          </a:solidFill>
          <a:ln w="12700">
            <a:solidFill>
              <a:srgbClr val="1F2330"/>
            </a:solidFill>
            <a:prstDash val="solid"/>
          </a:ln>
        </p:spPr>
      </p:sp>
      <p:sp>
        <p:nvSpPr>
          <p:cNvPr id="47" name="Text 44"/>
          <p:cNvSpPr txBox="1"/>
          <p:nvPr/>
        </p:nvSpPr>
        <p:spPr>
          <a:xfrm>
            <a:off x="6393028"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FFD166"/>
                </a:solidFill>
                <a:latin typeface="Arial" pitchFamily="34" charset="0"/>
                <a:ea typeface="Arial" pitchFamily="34" charset="-122"/>
                <a:cs typeface="Arial" pitchFamily="34" charset="-120"/>
              </a:rPr>
              <a:t>TOMORROW</a:t>
            </a:r>
            <a:endParaRPr lang="en-US" sz="1100" dirty="0"/>
          </a:p>
        </p:txBody>
      </p:sp>
      <p:sp>
        <p:nvSpPr>
          <p:cNvPr id="48" name="Text 45"/>
          <p:cNvSpPr txBox="1"/>
          <p:nvPr/>
        </p:nvSpPr>
        <p:spPr>
          <a:xfrm>
            <a:off x="6393028"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Voice becomes a film, a word picture with pronunciation or a finished clip – on stream, in school, on stage, in your glasses.</a:t>
            </a:r>
            <a:endParaRPr lang="en-US" sz="1200" dirty="0"/>
          </a:p>
        </p:txBody>
      </p:sp>
      <p:sp>
        <p:nvSpPr>
          <p:cNvPr id="49" name="Text 46"/>
          <p:cNvSpPr txBox="1"/>
          <p:nvPr/>
        </p:nvSpPr>
        <p:spPr>
          <a:xfrm>
            <a:off x="548640" y="5897880"/>
            <a:ext cx="9814255" cy="411480"/>
          </a:xfrm>
          <a:prstGeom prst="rect">
            <a:avLst/>
          </a:prstGeom>
          <a:noFill/>
          <a:ln/>
        </p:spPr>
        <p:txBody>
          <a:bodyPr wrap="square" lIns="0" tIns="0" rIns="0" bIns="0" rtlCol="0" anchor="t">
            <a:normAutofit/>
          </a:bodyPr>
          <a:lstStyle/>
          <a:p>
            <a:pPr indent="0" marL="0">
              <a:buNone/>
            </a:pPr>
            <a:r>
              <a:rPr lang="en-US" sz="1400" b="1" i="1" dirty="0">
                <a:solidFill>
                  <a:srgbClr val="FFD166"/>
                </a:solidFill>
                <a:latin typeface="Arial" pitchFamily="34" charset="0"/>
                <a:ea typeface="Arial" pitchFamily="34" charset="-122"/>
                <a:cs typeface="Arial" pitchFamily="34" charset="-120"/>
              </a:rPr>
              <a:t>Draw, don't generate – on the compute budget of a caption, not a data center.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LINE A · STORY FILM</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Generative Scene Engine: live video from words</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13</a:t>
            </a:r>
            <a:endParaRPr lang="en-US" sz="900" dirty="0"/>
          </a:p>
        </p:txBody>
      </p:sp>
      <p:sp>
        <p:nvSpPr>
          <p:cNvPr id="8" name="Szene-Himmel"/>
          <p:cNvSpPr/>
          <p:nvPr/>
        </p:nvSpPr>
        <p:spPr>
          <a:xfrm>
            <a:off x="548640" y="1298448"/>
            <a:ext cx="5486400" cy="3017520"/>
          </a:xfrm>
          <a:prstGeom prst="rect">
            <a:avLst/>
          </a:prstGeom>
          <a:solidFill>
            <a:srgbClr val="121838"/>
          </a:solidFill>
          <a:ln w="15875">
            <a:solidFill>
              <a:srgbClr val="2DFFB5"/>
            </a:solidFill>
            <a:prstDash val="solid"/>
          </a:ln>
        </p:spPr>
      </p:sp>
      <p:sp>
        <p:nvSpPr>
          <p:cNvPr id="9" name="Shape 6"/>
          <p:cNvSpPr/>
          <p:nvPr/>
        </p:nvSpPr>
        <p:spPr>
          <a:xfrm>
            <a:off x="548640" y="2958084"/>
            <a:ext cx="5486400" cy="1357884"/>
          </a:xfrm>
          <a:prstGeom prst="rect">
            <a:avLst/>
          </a:prstGeom>
          <a:solidFill>
            <a:srgbClr val="1A2348">
              <a:alpha val="70000"/>
            </a:srgbClr>
          </a:solidFill>
          <a:ln/>
        </p:spPr>
      </p:sp>
      <p:sp>
        <p:nvSpPr>
          <p:cNvPr id="10" name="Shape 7"/>
          <p:cNvSpPr/>
          <p:nvPr/>
        </p:nvSpPr>
        <p:spPr>
          <a:xfrm>
            <a:off x="4937760" y="1847088"/>
            <a:ext cx="566928" cy="566928"/>
          </a:xfrm>
          <a:prstGeom prst="ellipse">
            <a:avLst/>
          </a:prstGeom>
          <a:solidFill>
            <a:srgbClr val="F4F1DE"/>
          </a:solidFill>
          <a:ln/>
        </p:spPr>
      </p:sp>
      <p:sp>
        <p:nvSpPr>
          <p:cNvPr id="11" name="Shape 8"/>
          <p:cNvSpPr/>
          <p:nvPr/>
        </p:nvSpPr>
        <p:spPr>
          <a:xfrm>
            <a:off x="5074920" y="1773936"/>
            <a:ext cx="502920" cy="502920"/>
          </a:xfrm>
          <a:prstGeom prst="ellipse">
            <a:avLst/>
          </a:prstGeom>
          <a:solidFill>
            <a:srgbClr val="121838"/>
          </a:solidFill>
          <a:ln/>
        </p:spPr>
      </p:sp>
      <p:sp>
        <p:nvSpPr>
          <p:cNvPr id="12" name="Shape 9"/>
          <p:cNvSpPr/>
          <p:nvPr/>
        </p:nvSpPr>
        <p:spPr>
          <a:xfrm>
            <a:off x="3557402" y="1963237"/>
            <a:ext cx="45369" cy="45369"/>
          </a:xfrm>
          <a:prstGeom prst="ellipse">
            <a:avLst/>
          </a:prstGeom>
          <a:solidFill>
            <a:srgbClr val="FFFFFF">
              <a:alpha val="68000"/>
            </a:srgbClr>
          </a:solidFill>
          <a:ln/>
        </p:spPr>
      </p:sp>
      <p:sp>
        <p:nvSpPr>
          <p:cNvPr id="13" name="Shape 10"/>
          <p:cNvSpPr/>
          <p:nvPr/>
        </p:nvSpPr>
        <p:spPr>
          <a:xfrm>
            <a:off x="3278804" y="1926105"/>
            <a:ext cx="43643" cy="43643"/>
          </a:xfrm>
          <a:prstGeom prst="ellipse">
            <a:avLst/>
          </a:prstGeom>
          <a:solidFill>
            <a:srgbClr val="FFFFFF">
              <a:alpha val="37000"/>
            </a:srgbClr>
          </a:solidFill>
          <a:ln/>
        </p:spPr>
      </p:sp>
      <p:sp>
        <p:nvSpPr>
          <p:cNvPr id="14" name="Shape 11"/>
          <p:cNvSpPr/>
          <p:nvPr/>
        </p:nvSpPr>
        <p:spPr>
          <a:xfrm>
            <a:off x="2789481" y="2133188"/>
            <a:ext cx="48991" cy="48991"/>
          </a:xfrm>
          <a:prstGeom prst="ellipse">
            <a:avLst/>
          </a:prstGeom>
          <a:solidFill>
            <a:srgbClr val="FFFFFF">
              <a:alpha val="41000"/>
            </a:srgbClr>
          </a:solidFill>
          <a:ln/>
        </p:spPr>
      </p:sp>
      <p:sp>
        <p:nvSpPr>
          <p:cNvPr id="15" name="Shape 12"/>
          <p:cNvSpPr/>
          <p:nvPr/>
        </p:nvSpPr>
        <p:spPr>
          <a:xfrm>
            <a:off x="1077948" y="2348551"/>
            <a:ext cx="51479" cy="51479"/>
          </a:xfrm>
          <a:prstGeom prst="ellipse">
            <a:avLst/>
          </a:prstGeom>
          <a:solidFill>
            <a:srgbClr val="FFFFFF">
              <a:alpha val="69000"/>
            </a:srgbClr>
          </a:solidFill>
          <a:ln/>
        </p:spPr>
      </p:sp>
      <p:sp>
        <p:nvSpPr>
          <p:cNvPr id="16" name="Shape 13"/>
          <p:cNvSpPr/>
          <p:nvPr/>
        </p:nvSpPr>
        <p:spPr>
          <a:xfrm>
            <a:off x="1494746" y="2410760"/>
            <a:ext cx="52010" cy="52010"/>
          </a:xfrm>
          <a:prstGeom prst="ellipse">
            <a:avLst/>
          </a:prstGeom>
          <a:solidFill>
            <a:srgbClr val="FFFFFF">
              <a:alpha val="56000"/>
            </a:srgbClr>
          </a:solidFill>
          <a:ln/>
        </p:spPr>
      </p:sp>
      <p:sp>
        <p:nvSpPr>
          <p:cNvPr id="17" name="Shape 14"/>
          <p:cNvSpPr/>
          <p:nvPr/>
        </p:nvSpPr>
        <p:spPr>
          <a:xfrm>
            <a:off x="942205" y="2791693"/>
            <a:ext cx="33877" cy="33877"/>
          </a:xfrm>
          <a:prstGeom prst="ellipse">
            <a:avLst/>
          </a:prstGeom>
          <a:solidFill>
            <a:srgbClr val="FFFFFF">
              <a:alpha val="32000"/>
            </a:srgbClr>
          </a:solidFill>
          <a:ln/>
        </p:spPr>
      </p:sp>
      <p:sp>
        <p:nvSpPr>
          <p:cNvPr id="18" name="Shape 15"/>
          <p:cNvSpPr/>
          <p:nvPr/>
        </p:nvSpPr>
        <p:spPr>
          <a:xfrm>
            <a:off x="2960521" y="2808371"/>
            <a:ext cx="31849" cy="31849"/>
          </a:xfrm>
          <a:prstGeom prst="ellipse">
            <a:avLst/>
          </a:prstGeom>
          <a:solidFill>
            <a:srgbClr val="FFFFFF">
              <a:alpha val="71000"/>
            </a:srgbClr>
          </a:solidFill>
          <a:ln/>
        </p:spPr>
      </p:sp>
      <p:sp>
        <p:nvSpPr>
          <p:cNvPr id="19" name="Shape 16"/>
          <p:cNvSpPr/>
          <p:nvPr/>
        </p:nvSpPr>
        <p:spPr>
          <a:xfrm>
            <a:off x="3503754" y="2522882"/>
            <a:ext cx="42766" cy="42766"/>
          </a:xfrm>
          <a:prstGeom prst="ellipse">
            <a:avLst/>
          </a:prstGeom>
          <a:solidFill>
            <a:srgbClr val="FFFFFF">
              <a:alpha val="66000"/>
            </a:srgbClr>
          </a:solidFill>
          <a:ln/>
        </p:spPr>
      </p:sp>
      <p:sp>
        <p:nvSpPr>
          <p:cNvPr id="20" name="Shape 17"/>
          <p:cNvSpPr/>
          <p:nvPr/>
        </p:nvSpPr>
        <p:spPr>
          <a:xfrm>
            <a:off x="5732796" y="2295344"/>
            <a:ext cx="33664" cy="33664"/>
          </a:xfrm>
          <a:prstGeom prst="ellipse">
            <a:avLst/>
          </a:prstGeom>
          <a:solidFill>
            <a:srgbClr val="FFFFFF">
              <a:alpha val="69000"/>
            </a:srgbClr>
          </a:solidFill>
          <a:ln/>
        </p:spPr>
      </p:sp>
      <p:sp>
        <p:nvSpPr>
          <p:cNvPr id="21" name="Shape 18"/>
          <p:cNvSpPr/>
          <p:nvPr/>
        </p:nvSpPr>
        <p:spPr>
          <a:xfrm>
            <a:off x="2377600" y="2001577"/>
            <a:ext cx="47441" cy="47441"/>
          </a:xfrm>
          <a:prstGeom prst="ellipse">
            <a:avLst/>
          </a:prstGeom>
          <a:solidFill>
            <a:srgbClr val="FFFFFF">
              <a:alpha val="42000"/>
            </a:srgbClr>
          </a:solidFill>
          <a:ln/>
        </p:spPr>
      </p:sp>
      <p:sp>
        <p:nvSpPr>
          <p:cNvPr id="22" name="Shape 19"/>
          <p:cNvSpPr/>
          <p:nvPr/>
        </p:nvSpPr>
        <p:spPr>
          <a:xfrm>
            <a:off x="2478309" y="1927191"/>
            <a:ext cx="40296" cy="40296"/>
          </a:xfrm>
          <a:prstGeom prst="ellipse">
            <a:avLst/>
          </a:prstGeom>
          <a:solidFill>
            <a:srgbClr val="FFFFFF">
              <a:alpha val="34000"/>
            </a:srgbClr>
          </a:solidFill>
          <a:ln/>
        </p:spPr>
      </p:sp>
      <p:sp>
        <p:nvSpPr>
          <p:cNvPr id="23" name="Shape 20"/>
          <p:cNvSpPr/>
          <p:nvPr/>
        </p:nvSpPr>
        <p:spPr>
          <a:xfrm>
            <a:off x="5213093" y="2320542"/>
            <a:ext cx="36161" cy="36161"/>
          </a:xfrm>
          <a:prstGeom prst="ellipse">
            <a:avLst/>
          </a:prstGeom>
          <a:solidFill>
            <a:srgbClr val="FFFFFF">
              <a:alpha val="69000"/>
            </a:srgbClr>
          </a:solidFill>
          <a:ln/>
        </p:spPr>
      </p:sp>
      <p:sp>
        <p:nvSpPr>
          <p:cNvPr id="24" name="Shape 21"/>
          <p:cNvSpPr/>
          <p:nvPr/>
        </p:nvSpPr>
        <p:spPr>
          <a:xfrm>
            <a:off x="2742946" y="2610411"/>
            <a:ext cx="49486" cy="49486"/>
          </a:xfrm>
          <a:prstGeom prst="ellipse">
            <a:avLst/>
          </a:prstGeom>
          <a:solidFill>
            <a:srgbClr val="FFFFFF">
              <a:alpha val="48000"/>
            </a:srgbClr>
          </a:solidFill>
          <a:ln/>
        </p:spPr>
      </p:sp>
      <p:sp>
        <p:nvSpPr>
          <p:cNvPr id="25" name="Shape 22"/>
          <p:cNvSpPr/>
          <p:nvPr/>
        </p:nvSpPr>
        <p:spPr>
          <a:xfrm>
            <a:off x="1832171" y="2300087"/>
            <a:ext cx="32407" cy="32407"/>
          </a:xfrm>
          <a:prstGeom prst="ellipse">
            <a:avLst/>
          </a:prstGeom>
          <a:solidFill>
            <a:srgbClr val="FFFFFF">
              <a:alpha val="76000"/>
            </a:srgbClr>
          </a:solidFill>
          <a:ln/>
        </p:spPr>
      </p:sp>
      <p:sp>
        <p:nvSpPr>
          <p:cNvPr id="26" name="Shape 23"/>
          <p:cNvSpPr/>
          <p:nvPr/>
        </p:nvSpPr>
        <p:spPr>
          <a:xfrm>
            <a:off x="2796857" y="2532006"/>
            <a:ext cx="29175" cy="29175"/>
          </a:xfrm>
          <a:prstGeom prst="ellipse">
            <a:avLst/>
          </a:prstGeom>
          <a:solidFill>
            <a:srgbClr val="FFFFFF">
              <a:alpha val="48000"/>
            </a:srgbClr>
          </a:solidFill>
          <a:ln/>
        </p:spPr>
      </p:sp>
      <p:sp>
        <p:nvSpPr>
          <p:cNvPr id="27" name="Shape 24"/>
          <p:cNvSpPr/>
          <p:nvPr/>
        </p:nvSpPr>
        <p:spPr>
          <a:xfrm>
            <a:off x="2349679" y="2287910"/>
            <a:ext cx="62369" cy="62369"/>
          </a:xfrm>
          <a:prstGeom prst="ellipse">
            <a:avLst/>
          </a:prstGeom>
          <a:solidFill>
            <a:srgbClr val="FFFFFF">
              <a:alpha val="56000"/>
            </a:srgbClr>
          </a:solidFill>
          <a:ln/>
        </p:spPr>
      </p:sp>
      <p:sp>
        <p:nvSpPr>
          <p:cNvPr id="28" name="Shape 25"/>
          <p:cNvSpPr/>
          <p:nvPr/>
        </p:nvSpPr>
        <p:spPr>
          <a:xfrm>
            <a:off x="4979099" y="2300449"/>
            <a:ext cx="43483" cy="43483"/>
          </a:xfrm>
          <a:prstGeom prst="ellipse">
            <a:avLst/>
          </a:prstGeom>
          <a:solidFill>
            <a:srgbClr val="FFFFFF">
              <a:alpha val="59000"/>
            </a:srgbClr>
          </a:solidFill>
          <a:ln/>
        </p:spPr>
      </p:sp>
      <p:sp>
        <p:nvSpPr>
          <p:cNvPr id="29" name="Shape 26"/>
          <p:cNvSpPr/>
          <p:nvPr/>
        </p:nvSpPr>
        <p:spPr>
          <a:xfrm>
            <a:off x="1897847" y="2594457"/>
            <a:ext cx="37090" cy="37090"/>
          </a:xfrm>
          <a:prstGeom prst="ellipse">
            <a:avLst/>
          </a:prstGeom>
          <a:solidFill>
            <a:srgbClr val="FFFFFF">
              <a:alpha val="74000"/>
            </a:srgbClr>
          </a:solidFill>
          <a:ln/>
        </p:spPr>
      </p:sp>
      <p:sp>
        <p:nvSpPr>
          <p:cNvPr id="30" name="Shape 27"/>
          <p:cNvSpPr/>
          <p:nvPr/>
        </p:nvSpPr>
        <p:spPr>
          <a:xfrm>
            <a:off x="4611558" y="2710477"/>
            <a:ext cx="37320" cy="37320"/>
          </a:xfrm>
          <a:prstGeom prst="ellipse">
            <a:avLst/>
          </a:prstGeom>
          <a:solidFill>
            <a:srgbClr val="FFFFFF">
              <a:alpha val="32000"/>
            </a:srgbClr>
          </a:solidFill>
          <a:ln/>
        </p:spPr>
      </p:sp>
      <p:sp>
        <p:nvSpPr>
          <p:cNvPr id="31" name="Shape 28"/>
          <p:cNvSpPr/>
          <p:nvPr/>
        </p:nvSpPr>
        <p:spPr>
          <a:xfrm>
            <a:off x="5091574" y="2598838"/>
            <a:ext cx="61333" cy="61333"/>
          </a:xfrm>
          <a:prstGeom prst="ellipse">
            <a:avLst/>
          </a:prstGeom>
          <a:solidFill>
            <a:srgbClr val="FFFFFF">
              <a:alpha val="48000"/>
            </a:srgbClr>
          </a:solidFill>
          <a:ln/>
        </p:spPr>
      </p:sp>
      <p:sp>
        <p:nvSpPr>
          <p:cNvPr id="32" name="Shape 29"/>
          <p:cNvSpPr/>
          <p:nvPr/>
        </p:nvSpPr>
        <p:spPr>
          <a:xfrm>
            <a:off x="809184" y="2172615"/>
            <a:ext cx="47715" cy="47715"/>
          </a:xfrm>
          <a:prstGeom prst="ellipse">
            <a:avLst/>
          </a:prstGeom>
          <a:solidFill>
            <a:srgbClr val="FFFFFF">
              <a:alpha val="63000"/>
            </a:srgbClr>
          </a:solidFill>
          <a:ln/>
        </p:spPr>
      </p:sp>
      <p:sp>
        <p:nvSpPr>
          <p:cNvPr id="33" name="Shape 30"/>
          <p:cNvSpPr/>
          <p:nvPr/>
        </p:nvSpPr>
        <p:spPr>
          <a:xfrm>
            <a:off x="2701064" y="2536990"/>
            <a:ext cx="35302" cy="35302"/>
          </a:xfrm>
          <a:prstGeom prst="ellipse">
            <a:avLst/>
          </a:prstGeom>
          <a:solidFill>
            <a:srgbClr val="FFFFFF">
              <a:alpha val="44000"/>
            </a:srgbClr>
          </a:solidFill>
          <a:ln/>
        </p:spPr>
      </p:sp>
      <p:sp>
        <p:nvSpPr>
          <p:cNvPr id="34" name="Shape 31"/>
          <p:cNvSpPr/>
          <p:nvPr/>
        </p:nvSpPr>
        <p:spPr>
          <a:xfrm>
            <a:off x="5583356" y="1854133"/>
            <a:ext cx="37187" cy="37187"/>
          </a:xfrm>
          <a:prstGeom prst="ellipse">
            <a:avLst/>
          </a:prstGeom>
          <a:solidFill>
            <a:srgbClr val="FFFFFF">
              <a:alpha val="63000"/>
            </a:srgbClr>
          </a:solidFill>
          <a:ln/>
        </p:spPr>
      </p:sp>
      <p:sp>
        <p:nvSpPr>
          <p:cNvPr id="35" name="Shape 32"/>
          <p:cNvSpPr/>
          <p:nvPr/>
        </p:nvSpPr>
        <p:spPr>
          <a:xfrm>
            <a:off x="2944628" y="1937039"/>
            <a:ext cx="48857" cy="48857"/>
          </a:xfrm>
          <a:prstGeom prst="ellipse">
            <a:avLst/>
          </a:prstGeom>
          <a:solidFill>
            <a:srgbClr val="FFFFFF">
              <a:alpha val="31000"/>
            </a:srgbClr>
          </a:solidFill>
          <a:ln/>
        </p:spPr>
      </p:sp>
      <p:sp>
        <p:nvSpPr>
          <p:cNvPr id="36" name="Shape 33"/>
          <p:cNvSpPr/>
          <p:nvPr/>
        </p:nvSpPr>
        <p:spPr>
          <a:xfrm>
            <a:off x="5152597" y="2438010"/>
            <a:ext cx="44120" cy="44120"/>
          </a:xfrm>
          <a:prstGeom prst="ellipse">
            <a:avLst/>
          </a:prstGeom>
          <a:solidFill>
            <a:srgbClr val="FFFFFF">
              <a:alpha val="57000"/>
            </a:srgbClr>
          </a:solidFill>
          <a:ln/>
        </p:spPr>
      </p:sp>
      <p:sp>
        <p:nvSpPr>
          <p:cNvPr id="37" name="Shape 34"/>
          <p:cNvSpPr/>
          <p:nvPr/>
        </p:nvSpPr>
        <p:spPr>
          <a:xfrm>
            <a:off x="4747564" y="2748576"/>
            <a:ext cx="32008" cy="32008"/>
          </a:xfrm>
          <a:prstGeom prst="ellipse">
            <a:avLst/>
          </a:prstGeom>
          <a:solidFill>
            <a:srgbClr val="FFFFFF">
              <a:alpha val="67000"/>
            </a:srgbClr>
          </a:solidFill>
          <a:ln/>
        </p:spPr>
      </p:sp>
      <p:sp>
        <p:nvSpPr>
          <p:cNvPr id="38" name="Shape 35"/>
          <p:cNvSpPr/>
          <p:nvPr/>
        </p:nvSpPr>
        <p:spPr>
          <a:xfrm>
            <a:off x="731520" y="2532888"/>
            <a:ext cx="685800" cy="1371600"/>
          </a:xfrm>
          <a:prstGeom prst="triangle">
            <a:avLst/>
          </a:prstGeom>
          <a:solidFill>
            <a:srgbClr val="0E4A3A"/>
          </a:solidFill>
          <a:ln w="9525">
            <a:solidFill>
              <a:srgbClr val="1F7A5C"/>
            </a:solidFill>
            <a:prstDash val="solid"/>
          </a:ln>
        </p:spPr>
      </p:sp>
      <p:sp>
        <p:nvSpPr>
          <p:cNvPr id="39" name="Shape 36"/>
          <p:cNvSpPr/>
          <p:nvPr/>
        </p:nvSpPr>
        <p:spPr>
          <a:xfrm>
            <a:off x="1371600" y="2167128"/>
            <a:ext cx="685800" cy="1737360"/>
          </a:xfrm>
          <a:prstGeom prst="triangle">
            <a:avLst/>
          </a:prstGeom>
          <a:solidFill>
            <a:srgbClr val="0E4A3A"/>
          </a:solidFill>
          <a:ln w="9525">
            <a:solidFill>
              <a:srgbClr val="1F7A5C"/>
            </a:solidFill>
            <a:prstDash val="solid"/>
          </a:ln>
        </p:spPr>
      </p:sp>
      <p:sp>
        <p:nvSpPr>
          <p:cNvPr id="40" name="Shape 37"/>
          <p:cNvSpPr/>
          <p:nvPr/>
        </p:nvSpPr>
        <p:spPr>
          <a:xfrm>
            <a:off x="2011680" y="2624328"/>
            <a:ext cx="685800" cy="1280160"/>
          </a:xfrm>
          <a:prstGeom prst="triangle">
            <a:avLst/>
          </a:prstGeom>
          <a:solidFill>
            <a:srgbClr val="0E4A3A"/>
          </a:solidFill>
          <a:ln w="9525">
            <a:solidFill>
              <a:srgbClr val="1F7A5C"/>
            </a:solidFill>
            <a:prstDash val="solid"/>
          </a:ln>
        </p:spPr>
      </p:sp>
      <p:sp>
        <p:nvSpPr>
          <p:cNvPr id="41" name="Shape 38"/>
          <p:cNvSpPr/>
          <p:nvPr/>
        </p:nvSpPr>
        <p:spPr>
          <a:xfrm>
            <a:off x="4114800" y="2441448"/>
            <a:ext cx="685800" cy="1463040"/>
          </a:xfrm>
          <a:prstGeom prst="triangle">
            <a:avLst/>
          </a:prstGeom>
          <a:solidFill>
            <a:srgbClr val="0E4A3A"/>
          </a:solidFill>
          <a:ln w="9525">
            <a:solidFill>
              <a:srgbClr val="1F7A5C"/>
            </a:solidFill>
            <a:prstDash val="solid"/>
          </a:ln>
        </p:spPr>
      </p:sp>
      <p:sp>
        <p:nvSpPr>
          <p:cNvPr id="42" name="Shape 39"/>
          <p:cNvSpPr/>
          <p:nvPr/>
        </p:nvSpPr>
        <p:spPr>
          <a:xfrm>
            <a:off x="4754880" y="2075688"/>
            <a:ext cx="685800" cy="1828800"/>
          </a:xfrm>
          <a:prstGeom prst="triangle">
            <a:avLst/>
          </a:prstGeom>
          <a:solidFill>
            <a:srgbClr val="0E4A3A"/>
          </a:solidFill>
          <a:ln w="9525">
            <a:solidFill>
              <a:srgbClr val="1F7A5C"/>
            </a:solidFill>
            <a:prstDash val="solid"/>
          </a:ln>
        </p:spPr>
      </p:sp>
      <p:sp>
        <p:nvSpPr>
          <p:cNvPr id="43" name="Shape 40"/>
          <p:cNvSpPr/>
          <p:nvPr/>
        </p:nvSpPr>
        <p:spPr>
          <a:xfrm>
            <a:off x="5349240" y="2532888"/>
            <a:ext cx="685800" cy="1371600"/>
          </a:xfrm>
          <a:prstGeom prst="triangle">
            <a:avLst/>
          </a:prstGeom>
          <a:solidFill>
            <a:srgbClr val="0E4A3A"/>
          </a:solidFill>
          <a:ln w="9525">
            <a:solidFill>
              <a:srgbClr val="1F7A5C"/>
            </a:solidFill>
            <a:prstDash val="solid"/>
          </a:ln>
        </p:spPr>
      </p:sp>
      <p:sp>
        <p:nvSpPr>
          <p:cNvPr id="44" name="Shape 41"/>
          <p:cNvSpPr/>
          <p:nvPr/>
        </p:nvSpPr>
        <p:spPr>
          <a:xfrm>
            <a:off x="548640" y="3877056"/>
            <a:ext cx="5486400" cy="438912"/>
          </a:xfrm>
          <a:prstGeom prst="rect">
            <a:avLst/>
          </a:prstGeom>
          <a:solidFill>
            <a:srgbClr val="0B2A22"/>
          </a:solidFill>
          <a:ln/>
        </p:spPr>
      </p:sp>
      <p:sp>
        <p:nvSpPr>
          <p:cNvPr id="45" name="Shape 42"/>
          <p:cNvSpPr/>
          <p:nvPr/>
        </p:nvSpPr>
        <p:spPr>
          <a:xfrm>
            <a:off x="765023" y="2097940"/>
            <a:ext cx="73152" cy="237744"/>
          </a:xfrm>
          <a:prstGeom prst="line">
            <a:avLst/>
          </a:prstGeom>
          <a:noFill/>
          <a:ln w="12700">
            <a:solidFill>
              <a:srgbClr val="5AD1FF">
                <a:alpha val="65000"/>
              </a:srgbClr>
            </a:solidFill>
            <a:prstDash val="solid"/>
          </a:ln>
        </p:spPr>
      </p:sp>
      <p:sp>
        <p:nvSpPr>
          <p:cNvPr id="46" name="Shape 43"/>
          <p:cNvSpPr/>
          <p:nvPr/>
        </p:nvSpPr>
        <p:spPr>
          <a:xfrm>
            <a:off x="4260747" y="3141149"/>
            <a:ext cx="73152" cy="237744"/>
          </a:xfrm>
          <a:prstGeom prst="line">
            <a:avLst/>
          </a:prstGeom>
          <a:noFill/>
          <a:ln w="12700">
            <a:solidFill>
              <a:srgbClr val="5AD1FF">
                <a:alpha val="65000"/>
              </a:srgbClr>
            </a:solidFill>
            <a:prstDash val="solid"/>
          </a:ln>
        </p:spPr>
      </p:sp>
      <p:sp>
        <p:nvSpPr>
          <p:cNvPr id="47" name="Shape 44"/>
          <p:cNvSpPr/>
          <p:nvPr/>
        </p:nvSpPr>
        <p:spPr>
          <a:xfrm>
            <a:off x="4021353" y="3471182"/>
            <a:ext cx="73152" cy="237744"/>
          </a:xfrm>
          <a:prstGeom prst="line">
            <a:avLst/>
          </a:prstGeom>
          <a:noFill/>
          <a:ln w="12700">
            <a:solidFill>
              <a:srgbClr val="5AD1FF">
                <a:alpha val="65000"/>
              </a:srgbClr>
            </a:solidFill>
            <a:prstDash val="solid"/>
          </a:ln>
        </p:spPr>
      </p:sp>
      <p:sp>
        <p:nvSpPr>
          <p:cNvPr id="48" name="Shape 45"/>
          <p:cNvSpPr/>
          <p:nvPr/>
        </p:nvSpPr>
        <p:spPr>
          <a:xfrm>
            <a:off x="1816940" y="3396226"/>
            <a:ext cx="73152" cy="237744"/>
          </a:xfrm>
          <a:prstGeom prst="line">
            <a:avLst/>
          </a:prstGeom>
          <a:noFill/>
          <a:ln w="12700">
            <a:solidFill>
              <a:srgbClr val="5AD1FF">
                <a:alpha val="65000"/>
              </a:srgbClr>
            </a:solidFill>
            <a:prstDash val="solid"/>
          </a:ln>
        </p:spPr>
      </p:sp>
      <p:sp>
        <p:nvSpPr>
          <p:cNvPr id="49" name="Shape 46"/>
          <p:cNvSpPr/>
          <p:nvPr/>
        </p:nvSpPr>
        <p:spPr>
          <a:xfrm>
            <a:off x="1503793" y="1873188"/>
            <a:ext cx="73152" cy="237744"/>
          </a:xfrm>
          <a:prstGeom prst="line">
            <a:avLst/>
          </a:prstGeom>
          <a:noFill/>
          <a:ln w="12700">
            <a:solidFill>
              <a:srgbClr val="5AD1FF">
                <a:alpha val="65000"/>
              </a:srgbClr>
            </a:solidFill>
            <a:prstDash val="solid"/>
          </a:ln>
        </p:spPr>
      </p:sp>
      <p:sp>
        <p:nvSpPr>
          <p:cNvPr id="50" name="Shape 47"/>
          <p:cNvSpPr/>
          <p:nvPr/>
        </p:nvSpPr>
        <p:spPr>
          <a:xfrm>
            <a:off x="1058942" y="1841694"/>
            <a:ext cx="73152" cy="237744"/>
          </a:xfrm>
          <a:prstGeom prst="line">
            <a:avLst/>
          </a:prstGeom>
          <a:noFill/>
          <a:ln w="12700">
            <a:solidFill>
              <a:srgbClr val="5AD1FF">
                <a:alpha val="65000"/>
              </a:srgbClr>
            </a:solidFill>
            <a:prstDash val="solid"/>
          </a:ln>
        </p:spPr>
      </p:sp>
      <p:sp>
        <p:nvSpPr>
          <p:cNvPr id="51" name="Shape 48"/>
          <p:cNvSpPr/>
          <p:nvPr/>
        </p:nvSpPr>
        <p:spPr>
          <a:xfrm>
            <a:off x="3390405" y="3396571"/>
            <a:ext cx="73152" cy="237744"/>
          </a:xfrm>
          <a:prstGeom prst="line">
            <a:avLst/>
          </a:prstGeom>
          <a:noFill/>
          <a:ln w="12700">
            <a:solidFill>
              <a:srgbClr val="5AD1FF">
                <a:alpha val="65000"/>
              </a:srgbClr>
            </a:solidFill>
            <a:prstDash val="solid"/>
          </a:ln>
        </p:spPr>
      </p:sp>
      <p:sp>
        <p:nvSpPr>
          <p:cNvPr id="52" name="Shape 49"/>
          <p:cNvSpPr/>
          <p:nvPr/>
        </p:nvSpPr>
        <p:spPr>
          <a:xfrm>
            <a:off x="4957986" y="2080967"/>
            <a:ext cx="73152" cy="237744"/>
          </a:xfrm>
          <a:prstGeom prst="line">
            <a:avLst/>
          </a:prstGeom>
          <a:noFill/>
          <a:ln w="12700">
            <a:solidFill>
              <a:srgbClr val="5AD1FF">
                <a:alpha val="65000"/>
              </a:srgbClr>
            </a:solidFill>
            <a:prstDash val="solid"/>
          </a:ln>
        </p:spPr>
      </p:sp>
      <p:sp>
        <p:nvSpPr>
          <p:cNvPr id="53" name="Shape 50"/>
          <p:cNvSpPr/>
          <p:nvPr/>
        </p:nvSpPr>
        <p:spPr>
          <a:xfrm>
            <a:off x="3169757" y="1901306"/>
            <a:ext cx="73152" cy="237744"/>
          </a:xfrm>
          <a:prstGeom prst="line">
            <a:avLst/>
          </a:prstGeom>
          <a:noFill/>
          <a:ln w="12700">
            <a:solidFill>
              <a:srgbClr val="5AD1FF">
                <a:alpha val="65000"/>
              </a:srgbClr>
            </a:solidFill>
            <a:prstDash val="solid"/>
          </a:ln>
        </p:spPr>
      </p:sp>
      <p:sp>
        <p:nvSpPr>
          <p:cNvPr id="54" name="Shape 51"/>
          <p:cNvSpPr/>
          <p:nvPr/>
        </p:nvSpPr>
        <p:spPr>
          <a:xfrm>
            <a:off x="2071655" y="2739057"/>
            <a:ext cx="73152" cy="237744"/>
          </a:xfrm>
          <a:prstGeom prst="line">
            <a:avLst/>
          </a:prstGeom>
          <a:noFill/>
          <a:ln w="12700">
            <a:solidFill>
              <a:srgbClr val="5AD1FF">
                <a:alpha val="65000"/>
              </a:srgbClr>
            </a:solidFill>
            <a:prstDash val="solid"/>
          </a:ln>
        </p:spPr>
      </p:sp>
      <p:sp>
        <p:nvSpPr>
          <p:cNvPr id="55" name="Shape 52"/>
          <p:cNvSpPr/>
          <p:nvPr/>
        </p:nvSpPr>
        <p:spPr>
          <a:xfrm>
            <a:off x="968286" y="2484326"/>
            <a:ext cx="73152" cy="237744"/>
          </a:xfrm>
          <a:prstGeom prst="line">
            <a:avLst/>
          </a:prstGeom>
          <a:noFill/>
          <a:ln w="12700">
            <a:solidFill>
              <a:srgbClr val="5AD1FF">
                <a:alpha val="65000"/>
              </a:srgbClr>
            </a:solidFill>
            <a:prstDash val="solid"/>
          </a:ln>
        </p:spPr>
      </p:sp>
      <p:sp>
        <p:nvSpPr>
          <p:cNvPr id="56" name="Shape 53"/>
          <p:cNvSpPr/>
          <p:nvPr/>
        </p:nvSpPr>
        <p:spPr>
          <a:xfrm>
            <a:off x="1819399" y="2369859"/>
            <a:ext cx="73152" cy="237744"/>
          </a:xfrm>
          <a:prstGeom prst="line">
            <a:avLst/>
          </a:prstGeom>
          <a:noFill/>
          <a:ln w="12700">
            <a:solidFill>
              <a:srgbClr val="5AD1FF">
                <a:alpha val="65000"/>
              </a:srgbClr>
            </a:solidFill>
            <a:prstDash val="solid"/>
          </a:ln>
        </p:spPr>
      </p:sp>
      <p:sp>
        <p:nvSpPr>
          <p:cNvPr id="57" name="Shape 54"/>
          <p:cNvSpPr/>
          <p:nvPr/>
        </p:nvSpPr>
        <p:spPr>
          <a:xfrm>
            <a:off x="4688213" y="2063763"/>
            <a:ext cx="73152" cy="237744"/>
          </a:xfrm>
          <a:prstGeom prst="line">
            <a:avLst/>
          </a:prstGeom>
          <a:noFill/>
          <a:ln w="12700">
            <a:solidFill>
              <a:srgbClr val="5AD1FF">
                <a:alpha val="65000"/>
              </a:srgbClr>
            </a:solidFill>
            <a:prstDash val="solid"/>
          </a:ln>
        </p:spPr>
      </p:sp>
      <p:sp>
        <p:nvSpPr>
          <p:cNvPr id="58" name="Shape 55"/>
          <p:cNvSpPr/>
          <p:nvPr/>
        </p:nvSpPr>
        <p:spPr>
          <a:xfrm>
            <a:off x="1482852" y="1803105"/>
            <a:ext cx="73152" cy="237744"/>
          </a:xfrm>
          <a:prstGeom prst="line">
            <a:avLst/>
          </a:prstGeom>
          <a:noFill/>
          <a:ln w="12700">
            <a:solidFill>
              <a:srgbClr val="5AD1FF">
                <a:alpha val="65000"/>
              </a:srgbClr>
            </a:solidFill>
            <a:prstDash val="solid"/>
          </a:ln>
        </p:spPr>
      </p:sp>
      <p:sp>
        <p:nvSpPr>
          <p:cNvPr id="59" name="Shape 56"/>
          <p:cNvSpPr/>
          <p:nvPr/>
        </p:nvSpPr>
        <p:spPr>
          <a:xfrm>
            <a:off x="3835387" y="1967191"/>
            <a:ext cx="73152" cy="237744"/>
          </a:xfrm>
          <a:prstGeom prst="line">
            <a:avLst/>
          </a:prstGeom>
          <a:noFill/>
          <a:ln w="12700">
            <a:solidFill>
              <a:srgbClr val="5AD1FF">
                <a:alpha val="65000"/>
              </a:srgbClr>
            </a:solidFill>
            <a:prstDash val="solid"/>
          </a:ln>
        </p:spPr>
      </p:sp>
      <p:sp>
        <p:nvSpPr>
          <p:cNvPr id="60" name="Shape 57"/>
          <p:cNvSpPr/>
          <p:nvPr/>
        </p:nvSpPr>
        <p:spPr>
          <a:xfrm>
            <a:off x="2705677" y="2010769"/>
            <a:ext cx="73152" cy="237744"/>
          </a:xfrm>
          <a:prstGeom prst="line">
            <a:avLst/>
          </a:prstGeom>
          <a:noFill/>
          <a:ln w="12700">
            <a:solidFill>
              <a:srgbClr val="5AD1FF">
                <a:alpha val="65000"/>
              </a:srgbClr>
            </a:solidFill>
            <a:prstDash val="solid"/>
          </a:ln>
        </p:spPr>
      </p:sp>
      <p:sp>
        <p:nvSpPr>
          <p:cNvPr id="61" name="Shape 58"/>
          <p:cNvSpPr/>
          <p:nvPr/>
        </p:nvSpPr>
        <p:spPr>
          <a:xfrm>
            <a:off x="3087925" y="2597624"/>
            <a:ext cx="73152" cy="237744"/>
          </a:xfrm>
          <a:prstGeom prst="line">
            <a:avLst/>
          </a:prstGeom>
          <a:noFill/>
          <a:ln w="12700">
            <a:solidFill>
              <a:srgbClr val="5AD1FF">
                <a:alpha val="65000"/>
              </a:srgbClr>
            </a:solidFill>
            <a:prstDash val="solid"/>
          </a:ln>
        </p:spPr>
      </p:sp>
      <p:sp>
        <p:nvSpPr>
          <p:cNvPr id="62" name="Shape 59"/>
          <p:cNvSpPr/>
          <p:nvPr/>
        </p:nvSpPr>
        <p:spPr>
          <a:xfrm>
            <a:off x="683323" y="3253624"/>
            <a:ext cx="73152" cy="237744"/>
          </a:xfrm>
          <a:prstGeom prst="line">
            <a:avLst/>
          </a:prstGeom>
          <a:noFill/>
          <a:ln w="12700">
            <a:solidFill>
              <a:srgbClr val="5AD1FF">
                <a:alpha val="65000"/>
              </a:srgbClr>
            </a:solidFill>
            <a:prstDash val="solid"/>
          </a:ln>
        </p:spPr>
      </p:sp>
      <p:sp>
        <p:nvSpPr>
          <p:cNvPr id="63" name="Shape 60"/>
          <p:cNvSpPr/>
          <p:nvPr/>
        </p:nvSpPr>
        <p:spPr>
          <a:xfrm>
            <a:off x="2951568" y="3220154"/>
            <a:ext cx="73152" cy="237744"/>
          </a:xfrm>
          <a:prstGeom prst="line">
            <a:avLst/>
          </a:prstGeom>
          <a:noFill/>
          <a:ln w="12700">
            <a:solidFill>
              <a:srgbClr val="5AD1FF">
                <a:alpha val="65000"/>
              </a:srgbClr>
            </a:solidFill>
            <a:prstDash val="solid"/>
          </a:ln>
        </p:spPr>
      </p:sp>
      <p:sp>
        <p:nvSpPr>
          <p:cNvPr id="64" name="Shape 61"/>
          <p:cNvSpPr/>
          <p:nvPr/>
        </p:nvSpPr>
        <p:spPr>
          <a:xfrm>
            <a:off x="2369745" y="3587723"/>
            <a:ext cx="73152" cy="237744"/>
          </a:xfrm>
          <a:prstGeom prst="line">
            <a:avLst/>
          </a:prstGeom>
          <a:noFill/>
          <a:ln w="12700">
            <a:solidFill>
              <a:srgbClr val="5AD1FF">
                <a:alpha val="65000"/>
              </a:srgbClr>
            </a:solidFill>
            <a:prstDash val="solid"/>
          </a:ln>
        </p:spPr>
      </p:sp>
      <p:sp>
        <p:nvSpPr>
          <p:cNvPr id="65" name="Shape 62"/>
          <p:cNvSpPr/>
          <p:nvPr/>
        </p:nvSpPr>
        <p:spPr>
          <a:xfrm>
            <a:off x="4311365" y="3028756"/>
            <a:ext cx="73152" cy="237744"/>
          </a:xfrm>
          <a:prstGeom prst="line">
            <a:avLst/>
          </a:prstGeom>
          <a:noFill/>
          <a:ln w="12700">
            <a:solidFill>
              <a:srgbClr val="5AD1FF">
                <a:alpha val="65000"/>
              </a:srgbClr>
            </a:solidFill>
            <a:prstDash val="solid"/>
          </a:ln>
        </p:spPr>
      </p:sp>
      <p:sp>
        <p:nvSpPr>
          <p:cNvPr id="66" name="Shape 63"/>
          <p:cNvSpPr/>
          <p:nvPr/>
        </p:nvSpPr>
        <p:spPr>
          <a:xfrm>
            <a:off x="2012125" y="2491520"/>
            <a:ext cx="73152" cy="237744"/>
          </a:xfrm>
          <a:prstGeom prst="line">
            <a:avLst/>
          </a:prstGeom>
          <a:noFill/>
          <a:ln w="12700">
            <a:solidFill>
              <a:srgbClr val="5AD1FF">
                <a:alpha val="65000"/>
              </a:srgbClr>
            </a:solidFill>
            <a:prstDash val="solid"/>
          </a:ln>
        </p:spPr>
      </p:sp>
      <p:sp>
        <p:nvSpPr>
          <p:cNvPr id="67" name="Shape 64"/>
          <p:cNvSpPr/>
          <p:nvPr/>
        </p:nvSpPr>
        <p:spPr>
          <a:xfrm>
            <a:off x="1035191" y="3493242"/>
            <a:ext cx="73152" cy="237744"/>
          </a:xfrm>
          <a:prstGeom prst="line">
            <a:avLst/>
          </a:prstGeom>
          <a:noFill/>
          <a:ln w="12700">
            <a:solidFill>
              <a:srgbClr val="5AD1FF">
                <a:alpha val="65000"/>
              </a:srgbClr>
            </a:solidFill>
            <a:prstDash val="solid"/>
          </a:ln>
        </p:spPr>
      </p:sp>
      <p:sp>
        <p:nvSpPr>
          <p:cNvPr id="68" name="Shape 65"/>
          <p:cNvSpPr/>
          <p:nvPr/>
        </p:nvSpPr>
        <p:spPr>
          <a:xfrm>
            <a:off x="1064473" y="1932668"/>
            <a:ext cx="73152" cy="237744"/>
          </a:xfrm>
          <a:prstGeom prst="line">
            <a:avLst/>
          </a:prstGeom>
          <a:noFill/>
          <a:ln w="12700">
            <a:solidFill>
              <a:srgbClr val="5AD1FF">
                <a:alpha val="65000"/>
              </a:srgbClr>
            </a:solidFill>
            <a:prstDash val="solid"/>
          </a:ln>
        </p:spPr>
      </p:sp>
      <p:sp>
        <p:nvSpPr>
          <p:cNvPr id="69" name="Shape 66"/>
          <p:cNvSpPr/>
          <p:nvPr/>
        </p:nvSpPr>
        <p:spPr>
          <a:xfrm>
            <a:off x="1594229" y="2385186"/>
            <a:ext cx="73152" cy="237744"/>
          </a:xfrm>
          <a:prstGeom prst="line">
            <a:avLst/>
          </a:prstGeom>
          <a:noFill/>
          <a:ln w="12700">
            <a:solidFill>
              <a:srgbClr val="5AD1FF">
                <a:alpha val="65000"/>
              </a:srgbClr>
            </a:solidFill>
            <a:prstDash val="solid"/>
          </a:ln>
        </p:spPr>
      </p:sp>
      <p:sp>
        <p:nvSpPr>
          <p:cNvPr id="70" name="Shape 67"/>
          <p:cNvSpPr/>
          <p:nvPr/>
        </p:nvSpPr>
        <p:spPr>
          <a:xfrm>
            <a:off x="791144" y="2954261"/>
            <a:ext cx="73152" cy="237744"/>
          </a:xfrm>
          <a:prstGeom prst="line">
            <a:avLst/>
          </a:prstGeom>
          <a:noFill/>
          <a:ln w="12700">
            <a:solidFill>
              <a:srgbClr val="5AD1FF">
                <a:alpha val="65000"/>
              </a:srgbClr>
            </a:solidFill>
            <a:prstDash val="solid"/>
          </a:ln>
        </p:spPr>
      </p:sp>
      <p:sp>
        <p:nvSpPr>
          <p:cNvPr id="71" name="Shape 68"/>
          <p:cNvSpPr/>
          <p:nvPr/>
        </p:nvSpPr>
        <p:spPr>
          <a:xfrm>
            <a:off x="2890808" y="2525681"/>
            <a:ext cx="73152" cy="237744"/>
          </a:xfrm>
          <a:prstGeom prst="line">
            <a:avLst/>
          </a:prstGeom>
          <a:noFill/>
          <a:ln w="12700">
            <a:solidFill>
              <a:srgbClr val="5AD1FF">
                <a:alpha val="65000"/>
              </a:srgbClr>
            </a:solidFill>
            <a:prstDash val="solid"/>
          </a:ln>
        </p:spPr>
      </p:sp>
      <p:sp>
        <p:nvSpPr>
          <p:cNvPr id="72" name="Shape 69"/>
          <p:cNvSpPr/>
          <p:nvPr/>
        </p:nvSpPr>
        <p:spPr>
          <a:xfrm>
            <a:off x="3404760" y="3541232"/>
            <a:ext cx="73152" cy="237744"/>
          </a:xfrm>
          <a:prstGeom prst="line">
            <a:avLst/>
          </a:prstGeom>
          <a:noFill/>
          <a:ln w="12700">
            <a:solidFill>
              <a:srgbClr val="5AD1FF">
                <a:alpha val="65000"/>
              </a:srgbClr>
            </a:solidFill>
            <a:prstDash val="solid"/>
          </a:ln>
        </p:spPr>
      </p:sp>
      <p:sp>
        <p:nvSpPr>
          <p:cNvPr id="73" name="Shape 70"/>
          <p:cNvSpPr/>
          <p:nvPr/>
        </p:nvSpPr>
        <p:spPr>
          <a:xfrm>
            <a:off x="3344484" y="2610860"/>
            <a:ext cx="73152" cy="237744"/>
          </a:xfrm>
          <a:prstGeom prst="line">
            <a:avLst/>
          </a:prstGeom>
          <a:noFill/>
          <a:ln w="12700">
            <a:solidFill>
              <a:srgbClr val="5AD1FF">
                <a:alpha val="65000"/>
              </a:srgbClr>
            </a:solidFill>
            <a:prstDash val="solid"/>
          </a:ln>
        </p:spPr>
      </p:sp>
      <p:sp>
        <p:nvSpPr>
          <p:cNvPr id="74" name="Shape 71"/>
          <p:cNvSpPr/>
          <p:nvPr/>
        </p:nvSpPr>
        <p:spPr>
          <a:xfrm>
            <a:off x="1255970" y="3527633"/>
            <a:ext cx="73152" cy="237744"/>
          </a:xfrm>
          <a:prstGeom prst="line">
            <a:avLst/>
          </a:prstGeom>
          <a:noFill/>
          <a:ln w="12700">
            <a:solidFill>
              <a:srgbClr val="5AD1FF">
                <a:alpha val="65000"/>
              </a:srgbClr>
            </a:solidFill>
            <a:prstDash val="solid"/>
          </a:ln>
        </p:spPr>
      </p:sp>
      <p:sp>
        <p:nvSpPr>
          <p:cNvPr id="75" name="Shape 72"/>
          <p:cNvSpPr/>
          <p:nvPr/>
        </p:nvSpPr>
        <p:spPr>
          <a:xfrm>
            <a:off x="4029958" y="2759257"/>
            <a:ext cx="73152" cy="237744"/>
          </a:xfrm>
          <a:prstGeom prst="line">
            <a:avLst/>
          </a:prstGeom>
          <a:noFill/>
          <a:ln w="12700">
            <a:solidFill>
              <a:srgbClr val="5AD1FF">
                <a:alpha val="65000"/>
              </a:srgbClr>
            </a:solidFill>
            <a:prstDash val="solid"/>
          </a:ln>
        </p:spPr>
      </p:sp>
      <p:sp>
        <p:nvSpPr>
          <p:cNvPr id="76" name="Shape 73"/>
          <p:cNvSpPr/>
          <p:nvPr/>
        </p:nvSpPr>
        <p:spPr>
          <a:xfrm>
            <a:off x="5281450" y="3103119"/>
            <a:ext cx="73152" cy="237744"/>
          </a:xfrm>
          <a:prstGeom prst="line">
            <a:avLst/>
          </a:prstGeom>
          <a:noFill/>
          <a:ln w="12700">
            <a:solidFill>
              <a:srgbClr val="5AD1FF">
                <a:alpha val="65000"/>
              </a:srgbClr>
            </a:solidFill>
            <a:prstDash val="solid"/>
          </a:ln>
        </p:spPr>
      </p:sp>
      <p:sp>
        <p:nvSpPr>
          <p:cNvPr id="77" name="Shape 74"/>
          <p:cNvSpPr/>
          <p:nvPr/>
        </p:nvSpPr>
        <p:spPr>
          <a:xfrm>
            <a:off x="2987479" y="3658366"/>
            <a:ext cx="73152" cy="237744"/>
          </a:xfrm>
          <a:prstGeom prst="line">
            <a:avLst/>
          </a:prstGeom>
          <a:noFill/>
          <a:ln w="12700">
            <a:solidFill>
              <a:srgbClr val="5AD1FF">
                <a:alpha val="65000"/>
              </a:srgbClr>
            </a:solidFill>
            <a:prstDash val="solid"/>
          </a:ln>
        </p:spPr>
      </p:sp>
      <p:sp>
        <p:nvSpPr>
          <p:cNvPr id="78" name="Shape 75"/>
          <p:cNvSpPr/>
          <p:nvPr/>
        </p:nvSpPr>
        <p:spPr>
          <a:xfrm>
            <a:off x="5176702" y="2599583"/>
            <a:ext cx="73152" cy="237744"/>
          </a:xfrm>
          <a:prstGeom prst="line">
            <a:avLst/>
          </a:prstGeom>
          <a:noFill/>
          <a:ln w="12700">
            <a:solidFill>
              <a:srgbClr val="5AD1FF">
                <a:alpha val="65000"/>
              </a:srgbClr>
            </a:solidFill>
            <a:prstDash val="solid"/>
          </a:ln>
        </p:spPr>
      </p:sp>
      <p:sp>
        <p:nvSpPr>
          <p:cNvPr id="79" name="Text 76"/>
          <p:cNvSpPr txBox="1"/>
          <p:nvPr/>
        </p:nvSpPr>
        <p:spPr>
          <a:xfrm>
            <a:off x="2423160" y="3172968"/>
            <a:ext cx="731520" cy="731520"/>
          </a:xfrm>
          <a:prstGeom prst="rect">
            <a:avLst/>
          </a:prstGeom>
          <a:noFill/>
          <a:ln/>
        </p:spPr>
        <p:txBody>
          <a:bodyPr wrap="square" lIns="0" tIns="0" rIns="0" bIns="0" rtlCol="0" anchor="t"/>
          <a:lstStyle/>
          <a:p>
            <a:pPr algn="ctr" indent="0" marL="0">
              <a:buNone/>
            </a:pPr>
            <a:r>
              <a:rPr lang="en-US" sz="4000" dirty="0">
                <a:solidFill>
                  <a:srgbClr val="FFFFFF"/>
                </a:solidFill>
                <a:latin typeface="Arial" pitchFamily="34" charset="0"/>
                <a:ea typeface="Arial" pitchFamily="34" charset="-122"/>
                <a:cs typeface="Arial" pitchFamily="34" charset="-120"/>
              </a:rPr>
              <a:t>👧</a:t>
            </a:r>
            <a:endParaRPr lang="en-US" sz="4000" dirty="0"/>
          </a:p>
        </p:txBody>
      </p:sp>
      <p:sp>
        <p:nvSpPr>
          <p:cNvPr id="80" name="Text 77"/>
          <p:cNvSpPr txBox="1"/>
          <p:nvPr/>
        </p:nvSpPr>
        <p:spPr>
          <a:xfrm>
            <a:off x="3291840" y="2395728"/>
            <a:ext cx="1280160" cy="1188720"/>
          </a:xfrm>
          <a:prstGeom prst="rect">
            <a:avLst/>
          </a:prstGeom>
          <a:noFill/>
          <a:ln/>
        </p:spPr>
        <p:txBody>
          <a:bodyPr wrap="square" lIns="0" tIns="0" rIns="0" bIns="0" rtlCol="0" anchor="t"/>
          <a:lstStyle/>
          <a:p>
            <a:pPr algn="ctr" indent="0" marL="0">
              <a:buNone/>
            </a:pPr>
            <a:r>
              <a:rPr lang="en-US" sz="6600" dirty="0">
                <a:solidFill>
                  <a:srgbClr val="FFFFFF"/>
                </a:solidFill>
                <a:latin typeface="Arial" pitchFamily="34" charset="0"/>
                <a:ea typeface="Arial" pitchFamily="34" charset="-122"/>
                <a:cs typeface="Arial" pitchFamily="34" charset="-120"/>
              </a:rPr>
              <a:t>🐉</a:t>
            </a:r>
            <a:endParaRPr lang="en-US" sz="6600" dirty="0"/>
          </a:p>
        </p:txBody>
      </p:sp>
      <p:sp>
        <p:nvSpPr>
          <p:cNvPr id="81" name="Shape 78"/>
          <p:cNvSpPr/>
          <p:nvPr/>
        </p:nvSpPr>
        <p:spPr>
          <a:xfrm>
            <a:off x="548640" y="1298448"/>
            <a:ext cx="5486400" cy="438912"/>
          </a:xfrm>
          <a:prstGeom prst="rect">
            <a:avLst/>
          </a:prstGeom>
          <a:solidFill>
            <a:srgbClr val="000000">
              <a:alpha val="55000"/>
            </a:srgbClr>
          </a:solidFill>
          <a:ln/>
        </p:spPr>
      </p:sp>
      <p:sp>
        <p:nvSpPr>
          <p:cNvPr id="82" name="Text 79"/>
          <p:cNvSpPr txBox="1"/>
          <p:nvPr/>
        </p:nvSpPr>
        <p:spPr>
          <a:xfrm>
            <a:off x="713232" y="1335024"/>
            <a:ext cx="5157216" cy="365760"/>
          </a:xfrm>
          <a:prstGeom prst="rect">
            <a:avLst/>
          </a:prstGeom>
          <a:noFill/>
          <a:ln/>
        </p:spPr>
        <p:txBody>
          <a:bodyPr wrap="square" lIns="0" tIns="0" rIns="0" bIns="0" rtlCol="0" anchor="ctr">
            <a:normAutofit/>
          </a:bodyPr>
          <a:lstStyle/>
          <a:p>
            <a:pPr indent="0" marL="0">
              <a:buNone/>
            </a:pPr>
            <a:r>
              <a:rPr lang="en-US" sz="1150" i="1" dirty="0">
                <a:solidFill>
                  <a:srgbClr val="FFFFFF"/>
                </a:solidFill>
                <a:latin typeface="Arial" pitchFamily="34" charset="0"/>
                <a:ea typeface="Arial" pitchFamily="34" charset="-122"/>
                <a:cs typeface="Arial" pitchFamily="34" charset="-120"/>
              </a:rPr>
              <a:t>“It was night … a girl walked into the forest … it started to rain … suddenly, a dragon!”</a:t>
            </a:r>
            <a:endParaRPr lang="en-US" sz="1150" dirty="0"/>
          </a:p>
        </p:txBody>
      </p:sp>
      <p:sp>
        <p:nvSpPr>
          <p:cNvPr id="83" name="Shape 80"/>
          <p:cNvSpPr/>
          <p:nvPr/>
        </p:nvSpPr>
        <p:spPr>
          <a:xfrm>
            <a:off x="713232" y="3931920"/>
            <a:ext cx="1463040" cy="292608"/>
          </a:xfrm>
          <a:prstGeom prst="roundRect">
            <a:avLst>
              <a:gd name="adj" fmla="val 50000"/>
            </a:avLst>
          </a:prstGeom>
          <a:solidFill>
            <a:srgbClr val="1F2330"/>
          </a:solidFill>
          <a:ln w="12700">
            <a:solidFill>
              <a:srgbClr val="5AD1FF"/>
            </a:solidFill>
            <a:prstDash val="solid"/>
          </a:ln>
        </p:spPr>
      </p:sp>
      <p:sp>
        <p:nvSpPr>
          <p:cNvPr id="84" name="Text 81"/>
          <p:cNvSpPr txBox="1"/>
          <p:nvPr/>
        </p:nvSpPr>
        <p:spPr>
          <a:xfrm>
            <a:off x="713232" y="3931920"/>
            <a:ext cx="1463040" cy="292608"/>
          </a:xfrm>
          <a:prstGeom prst="rect">
            <a:avLst/>
          </a:prstGeom>
          <a:noFill/>
          <a:ln/>
        </p:spPr>
        <p:txBody>
          <a:bodyPr wrap="square" lIns="0" tIns="0" rIns="0" bIns="0" rtlCol="0" anchor="ctr">
            <a:normAutofit/>
          </a:bodyPr>
          <a:lstStyle/>
          <a:p>
            <a:pPr algn="ctr" indent="0" marL="0">
              <a:buNone/>
            </a:pPr>
            <a:r>
              <a:rPr lang="en-US" sz="1000" b="1" dirty="0">
                <a:solidFill>
                  <a:srgbClr val="5AD1FF"/>
                </a:solidFill>
                <a:latin typeface="Arial" pitchFamily="34" charset="0"/>
                <a:ea typeface="Arial" pitchFamily="34" charset="-122"/>
                <a:cs typeface="Arial" pitchFamily="34" charset="-120"/>
              </a:rPr>
              <a:t>🌧 Ambience: rain</a:t>
            </a:r>
            <a:endParaRPr lang="en-US" sz="1000" dirty="0"/>
          </a:p>
        </p:txBody>
      </p:sp>
      <p:sp>
        <p:nvSpPr>
          <p:cNvPr id="85" name="Shape 82"/>
          <p:cNvSpPr/>
          <p:nvPr/>
        </p:nvSpPr>
        <p:spPr>
          <a:xfrm>
            <a:off x="548640" y="4425696"/>
            <a:ext cx="5486400" cy="457200"/>
          </a:xfrm>
          <a:prstGeom prst="roundRect">
            <a:avLst>
              <a:gd name="adj" fmla="val 24000"/>
            </a:avLst>
          </a:prstGeom>
          <a:solidFill>
            <a:srgbClr val="1F2330"/>
          </a:solidFill>
          <a:ln w="12700">
            <a:solidFill>
              <a:srgbClr val="1F2330"/>
            </a:solidFill>
            <a:prstDash val="solid"/>
          </a:ln>
        </p:spPr>
      </p:sp>
      <p:sp>
        <p:nvSpPr>
          <p:cNvPr id="86" name="Text 83"/>
          <p:cNvSpPr txBox="1"/>
          <p:nvPr/>
        </p:nvSpPr>
        <p:spPr>
          <a:xfrm>
            <a:off x="713232" y="4453128"/>
            <a:ext cx="5157216" cy="402336"/>
          </a:xfrm>
          <a:prstGeom prst="rect">
            <a:avLst/>
          </a:prstGeom>
          <a:noFill/>
          <a:ln/>
        </p:spPr>
        <p:txBody>
          <a:bodyPr wrap="square" lIns="0" tIns="0" rIns="0" bIns="0" rtlCol="0" anchor="ctr">
            <a:normAutofit/>
          </a:bodyPr>
          <a:lstStyle/>
          <a:p>
            <a:pPr indent="0" marL="0">
              <a:buNone/>
            </a:pPr>
            <a:r>
              <a:rPr lang="en-US" sz="1000" dirty="0">
                <a:solidFill>
                  <a:srgbClr val="2DFFB5"/>
                </a:solidFill>
                <a:latin typeface="Courier New" pitchFamily="34" charset="0"/>
                <a:ea typeface="Courier New" pitchFamily="34" charset="-122"/>
                <a:cs typeface="Courier New" pitchFamily="34" charset="-120"/>
              </a:rPr>
              <a:t>{place: "forest", time: "night", weather: "rain", characters: [👧, 🐉], mood: "tense"}</a:t>
            </a:r>
            <a:endParaRPr lang="en-US" sz="1000" dirty="0"/>
          </a:p>
        </p:txBody>
      </p:sp>
      <p:sp>
        <p:nvSpPr>
          <p:cNvPr id="87" name="Text 84"/>
          <p:cNvSpPr txBox="1"/>
          <p:nvPr/>
        </p:nvSpPr>
        <p:spPr>
          <a:xfrm>
            <a:off x="548640" y="4965192"/>
            <a:ext cx="5486400" cy="27432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Arial" pitchFamily="34" charset="0"/>
                <a:ea typeface="Arial" pitchFamily="34" charset="-122"/>
                <a:cs typeface="Arial" pitchFamily="34" charset="-120"/>
              </a:rPr>
              <a:t>Cost per hour of companion video</a:t>
            </a:r>
            <a:endParaRPr lang="en-US" sz="1100" dirty="0"/>
          </a:p>
        </p:txBody>
      </p:sp>
      <p:sp>
        <p:nvSpPr>
          <p:cNvPr id="88" name="Text 85"/>
          <p:cNvSpPr txBox="1"/>
          <p:nvPr/>
        </p:nvSpPr>
        <p:spPr>
          <a:xfrm>
            <a:off x="548640" y="5285232"/>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Video AI</a:t>
            </a:r>
            <a:endParaRPr lang="en-US" sz="950" dirty="0"/>
          </a:p>
        </p:txBody>
      </p:sp>
      <p:sp>
        <p:nvSpPr>
          <p:cNvPr id="89" name="Shape 86"/>
          <p:cNvSpPr/>
          <p:nvPr/>
        </p:nvSpPr>
        <p:spPr>
          <a:xfrm>
            <a:off x="2468880" y="5312664"/>
            <a:ext cx="1885193" cy="164592"/>
          </a:xfrm>
          <a:prstGeom prst="rect">
            <a:avLst/>
          </a:prstGeom>
          <a:solidFill>
            <a:srgbClr val="FF2D75"/>
          </a:solidFill>
          <a:ln/>
        </p:spPr>
      </p:sp>
      <p:sp>
        <p:nvSpPr>
          <p:cNvPr id="90" name="Shape 87"/>
          <p:cNvSpPr/>
          <p:nvPr/>
        </p:nvSpPr>
        <p:spPr>
          <a:xfrm>
            <a:off x="4354073" y="5312664"/>
            <a:ext cx="681098" cy="164592"/>
          </a:xfrm>
          <a:prstGeom prst="rect">
            <a:avLst/>
          </a:prstGeom>
          <a:solidFill>
            <a:srgbClr val="FF2D75">
              <a:alpha val="45000"/>
            </a:srgbClr>
          </a:solidFill>
          <a:ln/>
        </p:spPr>
      </p:sp>
      <p:sp>
        <p:nvSpPr>
          <p:cNvPr id="91" name="Text 88"/>
          <p:cNvSpPr txBox="1"/>
          <p:nvPr/>
        </p:nvSpPr>
        <p:spPr>
          <a:xfrm>
            <a:off x="5108323" y="5285232"/>
            <a:ext cx="1463040" cy="219456"/>
          </a:xfrm>
          <a:prstGeom prst="rect">
            <a:avLst/>
          </a:prstGeom>
          <a:noFill/>
          <a:ln/>
        </p:spPr>
        <p:txBody>
          <a:bodyPr wrap="square" lIns="0" tIns="0" rIns="0" bIns="0" rtlCol="0" anchor="ctr">
            <a:normAutofit/>
          </a:bodyPr>
          <a:lstStyle/>
          <a:p>
            <a:pPr indent="0" marL="0">
              <a:buNone/>
            </a:pPr>
            <a:r>
              <a:rPr lang="en-US" sz="950" b="1" dirty="0">
                <a:solidFill>
                  <a:srgbClr val="FF2D75"/>
                </a:solidFill>
                <a:latin typeface="Arial" pitchFamily="34" charset="0"/>
                <a:ea typeface="Arial" pitchFamily="34" charset="-122"/>
                <a:cs typeface="Arial" pitchFamily="34" charset="-120"/>
              </a:rPr>
              <a:t>$180–2,700</a:t>
            </a:r>
            <a:endParaRPr lang="en-US" sz="950" dirty="0"/>
          </a:p>
        </p:txBody>
      </p:sp>
      <p:sp>
        <p:nvSpPr>
          <p:cNvPr id="92" name="Text 89"/>
          <p:cNvSpPr txBox="1"/>
          <p:nvPr/>
        </p:nvSpPr>
        <p:spPr>
          <a:xfrm>
            <a:off x="548640" y="5532120"/>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with text AI</a:t>
            </a:r>
            <a:endParaRPr lang="en-US" sz="950" dirty="0"/>
          </a:p>
        </p:txBody>
      </p:sp>
      <p:sp>
        <p:nvSpPr>
          <p:cNvPr id="93" name="Shape 90"/>
          <p:cNvSpPr/>
          <p:nvPr/>
        </p:nvSpPr>
        <p:spPr>
          <a:xfrm>
            <a:off x="2468880" y="5559552"/>
            <a:ext cx="230455" cy="164592"/>
          </a:xfrm>
          <a:prstGeom prst="rect">
            <a:avLst/>
          </a:prstGeom>
          <a:solidFill>
            <a:srgbClr val="FFD166"/>
          </a:solidFill>
          <a:ln/>
        </p:spPr>
      </p:sp>
      <p:sp>
        <p:nvSpPr>
          <p:cNvPr id="94" name="Shape 91"/>
          <p:cNvSpPr/>
          <p:nvPr/>
        </p:nvSpPr>
        <p:spPr>
          <a:xfrm>
            <a:off x="2699335" y="5559552"/>
            <a:ext cx="276310" cy="164592"/>
          </a:xfrm>
          <a:prstGeom prst="rect">
            <a:avLst/>
          </a:prstGeom>
          <a:solidFill>
            <a:srgbClr val="FFD166">
              <a:alpha val="45000"/>
            </a:srgbClr>
          </a:solidFill>
          <a:ln/>
        </p:spPr>
      </p:sp>
      <p:sp>
        <p:nvSpPr>
          <p:cNvPr id="95" name="Text 92"/>
          <p:cNvSpPr txBox="1"/>
          <p:nvPr/>
        </p:nvSpPr>
        <p:spPr>
          <a:xfrm>
            <a:off x="3048797" y="5532120"/>
            <a:ext cx="1463040" cy="219456"/>
          </a:xfrm>
          <a:prstGeom prst="rect">
            <a:avLst/>
          </a:prstGeom>
          <a:noFill/>
          <a:ln/>
        </p:spPr>
        <p:txBody>
          <a:bodyPr wrap="square" lIns="0" tIns="0" rIns="0" bIns="0" rtlCol="0" anchor="ctr">
            <a:normAutofit/>
          </a:bodyPr>
          <a:lstStyle/>
          <a:p>
            <a:pPr indent="0" marL="0">
              <a:buNone/>
            </a:pPr>
            <a:r>
              <a:rPr lang="en-US" sz="950" b="1" dirty="0">
                <a:solidFill>
                  <a:srgbClr val="FFD166"/>
                </a:solidFill>
                <a:latin typeface="Arial" pitchFamily="34" charset="0"/>
                <a:ea typeface="Arial" pitchFamily="34" charset="-122"/>
                <a:cs typeface="Arial" pitchFamily="34" charset="-120"/>
              </a:rPr>
              <a:t>$0.25–0.75</a:t>
            </a:r>
            <a:endParaRPr lang="en-US" sz="950" dirty="0"/>
          </a:p>
        </p:txBody>
      </p:sp>
      <p:sp>
        <p:nvSpPr>
          <p:cNvPr id="96" name="Text 93"/>
          <p:cNvSpPr txBox="1"/>
          <p:nvPr/>
        </p:nvSpPr>
        <p:spPr>
          <a:xfrm>
            <a:off x="548640" y="5779008"/>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without AI</a:t>
            </a:r>
            <a:endParaRPr lang="en-US" sz="950" dirty="0"/>
          </a:p>
        </p:txBody>
      </p:sp>
      <p:sp>
        <p:nvSpPr>
          <p:cNvPr id="97" name="Shape 94"/>
          <p:cNvSpPr/>
          <p:nvPr/>
        </p:nvSpPr>
        <p:spPr>
          <a:xfrm>
            <a:off x="2468880" y="5806440"/>
            <a:ext cx="54864" cy="164592"/>
          </a:xfrm>
          <a:prstGeom prst="rect">
            <a:avLst/>
          </a:prstGeom>
          <a:solidFill>
            <a:srgbClr val="2DFFB5"/>
          </a:solidFill>
          <a:ln/>
        </p:spPr>
      </p:sp>
      <p:sp>
        <p:nvSpPr>
          <p:cNvPr id="98" name="Text 95"/>
          <p:cNvSpPr txBox="1"/>
          <p:nvPr/>
        </p:nvSpPr>
        <p:spPr>
          <a:xfrm>
            <a:off x="2596896" y="5779008"/>
            <a:ext cx="1463040" cy="219456"/>
          </a:xfrm>
          <a:prstGeom prst="rect">
            <a:avLst/>
          </a:prstGeom>
          <a:noFill/>
          <a:ln/>
        </p:spPr>
        <p:txBody>
          <a:bodyPr wrap="square" lIns="0" tIns="0" rIns="0" bIns="0" rtlCol="0" anchor="ctr">
            <a:normAutofit/>
          </a:bodyPr>
          <a:lstStyle/>
          <a:p>
            <a:pPr indent="0" marL="0">
              <a:buNone/>
            </a:pPr>
            <a:r>
              <a:rPr lang="en-US" sz="950" b="1" dirty="0">
                <a:solidFill>
                  <a:srgbClr val="2DFFB5"/>
                </a:solidFill>
                <a:latin typeface="Arial" pitchFamily="34" charset="0"/>
                <a:ea typeface="Arial" pitchFamily="34" charset="-122"/>
                <a:cs typeface="Arial" pitchFamily="34" charset="-120"/>
              </a:rPr>
              <a:t>€0</a:t>
            </a:r>
            <a:endParaRPr lang="en-US" sz="950" dirty="0"/>
          </a:p>
        </p:txBody>
      </p:sp>
      <p:sp>
        <p:nvSpPr>
          <p:cNvPr id="99" name="Text 96"/>
          <p:cNvSpPr txBox="1"/>
          <p:nvPr/>
        </p:nvSpPr>
        <p:spPr>
          <a:xfrm>
            <a:off x="548640" y="6044184"/>
            <a:ext cx="5486400" cy="36576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log scale · video AI at list price $0.05–0.75/s [Source 24, 25] · LiveFX AI cost: project measurement</a:t>
            </a:r>
            <a:endParaRPr lang="en-US" sz="1000" dirty="0"/>
          </a:p>
        </p:txBody>
      </p:sp>
      <p:sp>
        <p:nvSpPr>
          <p:cNvPr id="100" name="Text 97"/>
          <p:cNvSpPr txBox="1"/>
          <p:nvPr/>
        </p:nvSpPr>
        <p:spPr>
          <a:xfrm>
            <a:off x="6355080" y="1325880"/>
            <a:ext cx="5287975" cy="27432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Every sentence changes the world state:</a:t>
            </a:r>
            <a:endParaRPr lang="en-US" sz="1100" dirty="0"/>
          </a:p>
        </p:txBody>
      </p:sp>
      <p:sp>
        <p:nvSpPr>
          <p:cNvPr id="101" name="Shape 98"/>
          <p:cNvSpPr/>
          <p:nvPr/>
        </p:nvSpPr>
        <p:spPr>
          <a:xfrm>
            <a:off x="6355080" y="1645920"/>
            <a:ext cx="777240" cy="292608"/>
          </a:xfrm>
          <a:prstGeom prst="roundRect">
            <a:avLst>
              <a:gd name="adj" fmla="val 50000"/>
            </a:avLst>
          </a:prstGeom>
          <a:solidFill>
            <a:srgbClr val="1F2330"/>
          </a:solidFill>
          <a:ln w="12700">
            <a:solidFill>
              <a:srgbClr val="2DFFB5"/>
            </a:solidFill>
            <a:prstDash val="solid"/>
          </a:ln>
        </p:spPr>
      </p:sp>
      <p:sp>
        <p:nvSpPr>
          <p:cNvPr id="102" name="Text 99"/>
          <p:cNvSpPr txBox="1"/>
          <p:nvPr/>
        </p:nvSpPr>
        <p:spPr>
          <a:xfrm>
            <a:off x="635508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Place</a:t>
            </a:r>
            <a:endParaRPr lang="en-US" sz="950" dirty="0"/>
          </a:p>
        </p:txBody>
      </p:sp>
      <p:sp>
        <p:nvSpPr>
          <p:cNvPr id="103" name="Shape 100"/>
          <p:cNvSpPr/>
          <p:nvPr/>
        </p:nvSpPr>
        <p:spPr>
          <a:xfrm>
            <a:off x="7223760" y="1645920"/>
            <a:ext cx="685800" cy="292608"/>
          </a:xfrm>
          <a:prstGeom prst="roundRect">
            <a:avLst>
              <a:gd name="adj" fmla="val 50000"/>
            </a:avLst>
          </a:prstGeom>
          <a:solidFill>
            <a:srgbClr val="1F2330"/>
          </a:solidFill>
          <a:ln w="12700">
            <a:solidFill>
              <a:srgbClr val="2DFFB5"/>
            </a:solidFill>
            <a:prstDash val="solid"/>
          </a:ln>
        </p:spPr>
      </p:sp>
      <p:sp>
        <p:nvSpPr>
          <p:cNvPr id="104" name="Text 101"/>
          <p:cNvSpPr txBox="1"/>
          <p:nvPr/>
        </p:nvSpPr>
        <p:spPr>
          <a:xfrm>
            <a:off x="722376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Time</a:t>
            </a:r>
            <a:endParaRPr lang="en-US" sz="950" dirty="0"/>
          </a:p>
        </p:txBody>
      </p:sp>
      <p:sp>
        <p:nvSpPr>
          <p:cNvPr id="105" name="Shape 102"/>
          <p:cNvSpPr/>
          <p:nvPr/>
        </p:nvSpPr>
        <p:spPr>
          <a:xfrm>
            <a:off x="8001000" y="1645920"/>
            <a:ext cx="960120" cy="292608"/>
          </a:xfrm>
          <a:prstGeom prst="roundRect">
            <a:avLst>
              <a:gd name="adj" fmla="val 50000"/>
            </a:avLst>
          </a:prstGeom>
          <a:solidFill>
            <a:srgbClr val="1F2330"/>
          </a:solidFill>
          <a:ln w="12700">
            <a:solidFill>
              <a:srgbClr val="2DFFB5"/>
            </a:solidFill>
            <a:prstDash val="solid"/>
          </a:ln>
        </p:spPr>
      </p:sp>
      <p:sp>
        <p:nvSpPr>
          <p:cNvPr id="106" name="Text 103"/>
          <p:cNvSpPr txBox="1"/>
          <p:nvPr/>
        </p:nvSpPr>
        <p:spPr>
          <a:xfrm>
            <a:off x="8001000" y="1645920"/>
            <a:ext cx="96012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Weather</a:t>
            </a:r>
            <a:endParaRPr lang="en-US" sz="950" dirty="0"/>
          </a:p>
        </p:txBody>
      </p:sp>
      <p:sp>
        <p:nvSpPr>
          <p:cNvPr id="107" name="Shape 104"/>
          <p:cNvSpPr/>
          <p:nvPr/>
        </p:nvSpPr>
        <p:spPr>
          <a:xfrm>
            <a:off x="9052560" y="1645920"/>
            <a:ext cx="1143000" cy="292608"/>
          </a:xfrm>
          <a:prstGeom prst="roundRect">
            <a:avLst>
              <a:gd name="adj" fmla="val 50000"/>
            </a:avLst>
          </a:prstGeom>
          <a:solidFill>
            <a:srgbClr val="1F2330"/>
          </a:solidFill>
          <a:ln w="12700">
            <a:solidFill>
              <a:srgbClr val="2DFFB5"/>
            </a:solidFill>
            <a:prstDash val="solid"/>
          </a:ln>
        </p:spPr>
      </p:sp>
      <p:sp>
        <p:nvSpPr>
          <p:cNvPr id="108" name="Text 105"/>
          <p:cNvSpPr txBox="1"/>
          <p:nvPr/>
        </p:nvSpPr>
        <p:spPr>
          <a:xfrm>
            <a:off x="9052560" y="1645920"/>
            <a:ext cx="11430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Character</a:t>
            </a:r>
            <a:endParaRPr lang="en-US" sz="950" dirty="0"/>
          </a:p>
        </p:txBody>
      </p:sp>
      <p:sp>
        <p:nvSpPr>
          <p:cNvPr id="109" name="Shape 106"/>
          <p:cNvSpPr/>
          <p:nvPr/>
        </p:nvSpPr>
        <p:spPr>
          <a:xfrm>
            <a:off x="10287000" y="1645920"/>
            <a:ext cx="868680" cy="292608"/>
          </a:xfrm>
          <a:prstGeom prst="roundRect">
            <a:avLst>
              <a:gd name="adj" fmla="val 50000"/>
            </a:avLst>
          </a:prstGeom>
          <a:solidFill>
            <a:srgbClr val="1F2330"/>
          </a:solidFill>
          <a:ln w="12700">
            <a:solidFill>
              <a:srgbClr val="2DFFB5"/>
            </a:solidFill>
            <a:prstDash val="solid"/>
          </a:ln>
        </p:spPr>
      </p:sp>
      <p:sp>
        <p:nvSpPr>
          <p:cNvPr id="110" name="Text 107"/>
          <p:cNvSpPr txBox="1"/>
          <p:nvPr/>
        </p:nvSpPr>
        <p:spPr>
          <a:xfrm>
            <a:off x="10287000" y="1645920"/>
            <a:ext cx="86868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Object</a:t>
            </a:r>
            <a:endParaRPr lang="en-US" sz="950" dirty="0"/>
          </a:p>
        </p:txBody>
      </p:sp>
      <p:sp>
        <p:nvSpPr>
          <p:cNvPr id="111" name="Shape 108"/>
          <p:cNvSpPr/>
          <p:nvPr/>
        </p:nvSpPr>
        <p:spPr>
          <a:xfrm>
            <a:off x="6355080" y="2011680"/>
            <a:ext cx="868680" cy="292608"/>
          </a:xfrm>
          <a:prstGeom prst="roundRect">
            <a:avLst>
              <a:gd name="adj" fmla="val 50000"/>
            </a:avLst>
          </a:prstGeom>
          <a:solidFill>
            <a:srgbClr val="1F2330"/>
          </a:solidFill>
          <a:ln w="12700">
            <a:solidFill>
              <a:srgbClr val="2DFFB5"/>
            </a:solidFill>
            <a:prstDash val="solid"/>
          </a:ln>
        </p:spPr>
      </p:sp>
      <p:sp>
        <p:nvSpPr>
          <p:cNvPr id="112" name="Text 109"/>
          <p:cNvSpPr txBox="1"/>
          <p:nvPr/>
        </p:nvSpPr>
        <p:spPr>
          <a:xfrm>
            <a:off x="6355080" y="2011680"/>
            <a:ext cx="86868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Action</a:t>
            </a:r>
            <a:endParaRPr lang="en-US" sz="950" dirty="0"/>
          </a:p>
        </p:txBody>
      </p:sp>
      <p:sp>
        <p:nvSpPr>
          <p:cNvPr id="113" name="Shape 110"/>
          <p:cNvSpPr/>
          <p:nvPr/>
        </p:nvSpPr>
        <p:spPr>
          <a:xfrm>
            <a:off x="7315200" y="2011680"/>
            <a:ext cx="685800" cy="292608"/>
          </a:xfrm>
          <a:prstGeom prst="roundRect">
            <a:avLst>
              <a:gd name="adj" fmla="val 50000"/>
            </a:avLst>
          </a:prstGeom>
          <a:solidFill>
            <a:srgbClr val="1F2330"/>
          </a:solidFill>
          <a:ln w="12700">
            <a:solidFill>
              <a:srgbClr val="2DFFB5"/>
            </a:solidFill>
            <a:prstDash val="solid"/>
          </a:ln>
        </p:spPr>
      </p:sp>
      <p:sp>
        <p:nvSpPr>
          <p:cNvPr id="114" name="Text 111"/>
          <p:cNvSpPr txBox="1"/>
          <p:nvPr/>
        </p:nvSpPr>
        <p:spPr>
          <a:xfrm>
            <a:off x="7315200" y="201168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Mood</a:t>
            </a:r>
            <a:endParaRPr lang="en-US" sz="950" dirty="0"/>
          </a:p>
        </p:txBody>
      </p:sp>
      <p:sp>
        <p:nvSpPr>
          <p:cNvPr id="115" name="Text 112"/>
          <p:cNvSpPr txBox="1"/>
          <p:nvPr/>
        </p:nvSpPr>
        <p:spPr>
          <a:xfrm>
            <a:off x="6355080" y="2514600"/>
            <a:ext cx="5287975" cy="246888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The streamer reads aloud or tells a story – below, an animated film builds sentence by sentence: night, forest, rain, dragon.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Runs at 60 fps in the browser next to OBS, offline and deterministic: same timeline, same picture – every story instantly becomes a clip.</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240 to over 10,000 times cheaper than video AI – and the only way to do it live.</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For read-aloud, audiobook and podcast formats: German audiobooks €374M, +13% [Source 19]; YouTube &gt; 1B podcast viewers a month [Source 21].</a:t>
            </a:r>
            <a:endParaRPr lang="en-US" sz="1400" dirty="0"/>
          </a:p>
        </p:txBody>
      </p:sp>
      <p:sp>
        <p:nvSpPr>
          <p:cNvPr id="116" name="Shape 113"/>
          <p:cNvSpPr/>
          <p:nvPr/>
        </p:nvSpPr>
        <p:spPr>
          <a:xfrm>
            <a:off x="6355080" y="5120640"/>
            <a:ext cx="5287975" cy="1143000"/>
          </a:xfrm>
          <a:prstGeom prst="roundRect">
            <a:avLst>
              <a:gd name="adj" fmla="val 9600"/>
            </a:avLst>
          </a:prstGeom>
          <a:solidFill>
            <a:srgbClr val="1F2330"/>
          </a:solidFill>
          <a:ln w="12700">
            <a:solidFill>
              <a:srgbClr val="1F2330"/>
            </a:solidFill>
            <a:prstDash val="solid"/>
          </a:ln>
        </p:spPr>
      </p:sp>
      <p:sp>
        <p:nvSpPr>
          <p:cNvPr id="117" name="Text 114"/>
          <p:cNvSpPr txBox="1"/>
          <p:nvPr/>
        </p:nvSpPr>
        <p:spPr>
          <a:xfrm>
            <a:off x="6556248" y="5193792"/>
            <a:ext cx="4885639" cy="27432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Picture book on purpose, not photorealism</a:t>
            </a:r>
            <a:endParaRPr lang="en-US" sz="1100" dirty="0"/>
          </a:p>
        </p:txBody>
      </p:sp>
      <p:sp>
        <p:nvSpPr>
          <p:cNvPr id="118" name="Text 115"/>
          <p:cNvSpPr txBox="1"/>
          <p:nvPr/>
        </p:nvSpPr>
        <p:spPr>
          <a:xfrm>
            <a:off x="6556248" y="5468112"/>
            <a:ext cx="4885639" cy="749808"/>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A stylized world of emoji/SVG and particles – which is exactly why it's live, cheap and child-friendly. Optional AI only picks the scene; it never generates images.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LINE B · WORTBILD</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000" b="1" dirty="0">
                <a:solidFill>
                  <a:srgbClr val="FFFFFF"/>
                </a:solidFill>
                <a:latin typeface="Arial" pitchFamily="34" charset="0"/>
                <a:ea typeface="Arial" pitchFamily="34" charset="-122"/>
                <a:cs typeface="Arial" pitchFamily="34" charset="-120"/>
              </a:rPr>
              <a:t>Language learning &amp; education: every word a picture</a:t>
            </a:r>
            <a:endParaRPr lang="en-US" sz="30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14</a:t>
            </a:r>
            <a:endParaRPr lang="en-US" sz="900" dirty="0"/>
          </a:p>
        </p:txBody>
      </p:sp>
      <p:sp>
        <p:nvSpPr>
          <p:cNvPr id="8" name="WortBild-Karte"/>
          <p:cNvSpPr/>
          <p:nvPr/>
        </p:nvSpPr>
        <p:spPr>
          <a:xfrm>
            <a:off x="548640" y="1325880"/>
            <a:ext cx="4846320" cy="3520440"/>
          </a:xfrm>
          <a:prstGeom prst="roundRect">
            <a:avLst>
              <a:gd name="adj" fmla="val 5714"/>
            </a:avLst>
          </a:prstGeom>
          <a:solidFill>
            <a:srgbClr val="FFFFFF"/>
          </a:solidFill>
          <a:ln w="31750">
            <a:solidFill>
              <a:srgbClr val="FFD166"/>
            </a:solidFill>
            <a:prstDash val="solid"/>
          </a:ln>
        </p:spPr>
      </p:sp>
      <p:sp>
        <p:nvSpPr>
          <p:cNvPr id="9" name="Text 6"/>
          <p:cNvSpPr txBox="1"/>
          <p:nvPr/>
        </p:nvSpPr>
        <p:spPr>
          <a:xfrm>
            <a:off x="548640" y="1435608"/>
            <a:ext cx="4846320" cy="1143000"/>
          </a:xfrm>
          <a:prstGeom prst="rect">
            <a:avLst/>
          </a:prstGeom>
          <a:noFill/>
          <a:ln/>
        </p:spPr>
        <p:txBody>
          <a:bodyPr wrap="square" lIns="0" tIns="0" rIns="0" bIns="0" rtlCol="0" anchor="t"/>
          <a:lstStyle/>
          <a:p>
            <a:pPr algn="ctr" indent="0" marL="0">
              <a:buNone/>
            </a:pPr>
            <a:r>
              <a:rPr lang="en-US" sz="7200" dirty="0">
                <a:solidFill>
                  <a:srgbClr val="FFFFFF"/>
                </a:solidFill>
                <a:latin typeface="Arial" pitchFamily="34" charset="0"/>
                <a:ea typeface="Arial" pitchFamily="34" charset="-122"/>
                <a:cs typeface="Arial" pitchFamily="34" charset="-120"/>
              </a:rPr>
              <a:t>🍎</a:t>
            </a:r>
            <a:endParaRPr lang="en-US" sz="7200" dirty="0"/>
          </a:p>
        </p:txBody>
      </p:sp>
      <p:sp>
        <p:nvSpPr>
          <p:cNvPr id="10" name="Text 7"/>
          <p:cNvSpPr txBox="1"/>
          <p:nvPr/>
        </p:nvSpPr>
        <p:spPr>
          <a:xfrm>
            <a:off x="731520" y="2587752"/>
            <a:ext cx="4480560" cy="777240"/>
          </a:xfrm>
          <a:prstGeom prst="rect">
            <a:avLst/>
          </a:prstGeom>
          <a:noFill/>
          <a:ln/>
        </p:spPr>
        <p:txBody>
          <a:bodyPr wrap="square" lIns="0" tIns="0" rIns="0" bIns="0" rtlCol="0" anchor="ctr">
            <a:normAutofit/>
          </a:bodyPr>
          <a:lstStyle/>
          <a:p>
            <a:pPr algn="ctr" indent="0" marL="0">
              <a:buNone/>
            </a:pPr>
            <a:r>
              <a:rPr lang="en-US" sz="5000" b="1" dirty="0">
                <a:solidFill>
                  <a:srgbClr val="1B1E27"/>
                </a:solidFill>
                <a:latin typeface="Arial" pitchFamily="34" charset="0"/>
                <a:ea typeface="Arial" pitchFamily="34" charset="-122"/>
                <a:cs typeface="Arial" pitchFamily="34" charset="-120"/>
              </a:rPr>
              <a:t>elma</a:t>
            </a:r>
            <a:endParaRPr lang="en-US" sz="5000" dirty="0"/>
          </a:p>
        </p:txBody>
      </p:sp>
      <p:sp>
        <p:nvSpPr>
          <p:cNvPr id="11" name="Text 8"/>
          <p:cNvSpPr txBox="1"/>
          <p:nvPr/>
        </p:nvSpPr>
        <p:spPr>
          <a:xfrm>
            <a:off x="731520" y="3337560"/>
            <a:ext cx="4480560" cy="347472"/>
          </a:xfrm>
          <a:prstGeom prst="rect">
            <a:avLst/>
          </a:prstGeom>
          <a:noFill/>
          <a:ln/>
        </p:spPr>
        <p:txBody>
          <a:bodyPr wrap="square" lIns="0" tIns="0" rIns="0" bIns="0" rtlCol="0" anchor="t">
            <a:normAutofit/>
          </a:bodyPr>
          <a:lstStyle/>
          <a:p>
            <a:pPr algn="ctr" indent="0" marL="0">
              <a:buNone/>
            </a:pPr>
            <a:r>
              <a:rPr lang="en-US" sz="1600" dirty="0">
                <a:solidFill>
                  <a:srgbClr val="6B7280"/>
                </a:solidFill>
                <a:latin typeface="Arial" pitchFamily="34" charset="0"/>
                <a:ea typeface="Arial" pitchFamily="34" charset="-122"/>
                <a:cs typeface="Arial" pitchFamily="34" charset="-120"/>
              </a:rPr>
              <a:t>el · ma</a:t>
            </a:r>
            <a:endParaRPr lang="en-US" sz="1600" dirty="0"/>
          </a:p>
        </p:txBody>
      </p:sp>
      <p:sp>
        <p:nvSpPr>
          <p:cNvPr id="12" name="Text 9"/>
          <p:cNvSpPr txBox="1"/>
          <p:nvPr/>
        </p:nvSpPr>
        <p:spPr>
          <a:xfrm>
            <a:off x="731520" y="3721608"/>
            <a:ext cx="4480560" cy="411480"/>
          </a:xfrm>
          <a:prstGeom prst="rect">
            <a:avLst/>
          </a:prstGeom>
          <a:noFill/>
          <a:ln/>
        </p:spPr>
        <p:txBody>
          <a:bodyPr wrap="square" lIns="0" tIns="0" rIns="0" bIns="0" rtlCol="0" anchor="ctr"/>
          <a:lstStyle/>
          <a:p>
            <a:pPr algn="ctr" indent="0" marL="0">
              <a:buNone/>
            </a:pPr>
            <a:r>
              <a:rPr lang="en-US" sz="2000" b="1" dirty="0">
                <a:solidFill>
                  <a:srgbClr val="1D4ED8"/>
                </a:solidFill>
                <a:latin typeface="Arial" pitchFamily="34" charset="0"/>
                <a:ea typeface="Arial" pitchFamily="34" charset="-122"/>
                <a:cs typeface="Arial" pitchFamily="34" charset="-120"/>
              </a:rPr>
              <a:t>apple</a:t>
            </a:r>
            <a:pPr algn="ctr" indent="0" marL="0">
              <a:buNone/>
            </a:pPr>
            <a:r>
              <a:rPr lang="en-US" sz="2000" dirty="0">
                <a:solidFill>
                  <a:srgbClr val="9AA3B5"/>
                </a:solidFill>
                <a:latin typeface="Arial" pitchFamily="34" charset="0"/>
                <a:ea typeface="Arial" pitchFamily="34" charset="-122"/>
                <a:cs typeface="Arial" pitchFamily="34" charset="-120"/>
              </a:rPr>
              <a:t>  ·  </a:t>
            </a:r>
            <a:pPr algn="ctr" indent="0" marL="0">
              <a:buNone/>
            </a:pPr>
            <a:r>
              <a:rPr lang="en-US" sz="2000" dirty="0">
                <a:solidFill>
                  <a:srgbClr val="1B1E27"/>
                </a:solidFill>
                <a:latin typeface="Arial" pitchFamily="34" charset="0"/>
                <a:ea typeface="Arial" pitchFamily="34" charset="-122"/>
                <a:cs typeface="Arial" pitchFamily="34" charset="-120"/>
              </a:rPr>
              <a:t>der Apfel</a:t>
            </a:r>
            <a:endParaRPr lang="en-US" sz="2000" dirty="0"/>
          </a:p>
        </p:txBody>
      </p:sp>
      <p:sp>
        <p:nvSpPr>
          <p:cNvPr id="13" name="Shape 10"/>
          <p:cNvSpPr/>
          <p:nvPr/>
        </p:nvSpPr>
        <p:spPr>
          <a:xfrm>
            <a:off x="2011680" y="4206240"/>
            <a:ext cx="457200" cy="457200"/>
          </a:xfrm>
          <a:prstGeom prst="ellipse">
            <a:avLst/>
          </a:prstGeom>
          <a:solidFill>
            <a:srgbClr val="FFD166"/>
          </a:solidFill>
          <a:ln w="12700">
            <a:solidFill>
              <a:srgbClr val="FFD166"/>
            </a:solidFill>
            <a:prstDash val="solid"/>
          </a:ln>
        </p:spPr>
      </p:sp>
      <p:sp>
        <p:nvSpPr>
          <p:cNvPr id="14" name="Text 11"/>
          <p:cNvSpPr txBox="1"/>
          <p:nvPr/>
        </p:nvSpPr>
        <p:spPr>
          <a:xfrm>
            <a:off x="2011680" y="42062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5" name="Text 12"/>
          <p:cNvSpPr txBox="1"/>
          <p:nvPr/>
        </p:nvSpPr>
        <p:spPr>
          <a:xfrm>
            <a:off x="2560320" y="4206240"/>
            <a:ext cx="2011680" cy="457200"/>
          </a:xfrm>
          <a:prstGeom prst="rect">
            <a:avLst/>
          </a:prstGeom>
          <a:noFill/>
          <a:ln/>
        </p:spPr>
        <p:txBody>
          <a:bodyPr wrap="square" lIns="0" tIns="0" rIns="0" bIns="0" rtlCol="0" anchor="ctr">
            <a:normAutofit/>
          </a:bodyPr>
          <a:lstStyle/>
          <a:p>
            <a:pPr indent="0" marL="0">
              <a:buNone/>
            </a:pPr>
            <a:r>
              <a:rPr lang="en-US" sz="1400" b="1" dirty="0">
                <a:solidFill>
                  <a:srgbClr val="7A5B00"/>
                </a:solidFill>
                <a:latin typeface="Arial" pitchFamily="34" charset="0"/>
                <a:ea typeface="Arial" pitchFamily="34" charset="-122"/>
                <a:cs typeface="Arial" pitchFamily="34" charset="-120"/>
              </a:rPr>
              <a:t>“elma” – tr-TR</a:t>
            </a:r>
            <a:endParaRPr lang="en-US" sz="1400" dirty="0"/>
          </a:p>
        </p:txBody>
      </p:sp>
      <p:sp>
        <p:nvSpPr>
          <p:cNvPr id="16" name="Shape 13"/>
          <p:cNvSpPr/>
          <p:nvPr/>
        </p:nvSpPr>
        <p:spPr>
          <a:xfrm>
            <a:off x="1417320" y="4983480"/>
            <a:ext cx="960120" cy="310896"/>
          </a:xfrm>
          <a:prstGeom prst="roundRect">
            <a:avLst>
              <a:gd name="adj" fmla="val 50000"/>
            </a:avLst>
          </a:prstGeom>
          <a:solidFill>
            <a:srgbClr val="1F2330"/>
          </a:solidFill>
          <a:ln w="12700">
            <a:solidFill>
              <a:srgbClr val="FFD166"/>
            </a:solidFill>
            <a:prstDash val="solid"/>
          </a:ln>
        </p:spPr>
      </p:sp>
      <p:sp>
        <p:nvSpPr>
          <p:cNvPr id="17" name="Text 14"/>
          <p:cNvSpPr txBox="1"/>
          <p:nvPr/>
        </p:nvSpPr>
        <p:spPr>
          <a:xfrm>
            <a:off x="141732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DE</a:t>
            </a:r>
            <a:endParaRPr lang="en-US" sz="1050" dirty="0"/>
          </a:p>
        </p:txBody>
      </p:sp>
      <p:sp>
        <p:nvSpPr>
          <p:cNvPr id="18" name="Shape 15"/>
          <p:cNvSpPr/>
          <p:nvPr/>
        </p:nvSpPr>
        <p:spPr>
          <a:xfrm>
            <a:off x="2514600" y="4983480"/>
            <a:ext cx="960120" cy="310896"/>
          </a:xfrm>
          <a:prstGeom prst="roundRect">
            <a:avLst>
              <a:gd name="adj" fmla="val 50000"/>
            </a:avLst>
          </a:prstGeom>
          <a:solidFill>
            <a:srgbClr val="1F2330"/>
          </a:solidFill>
          <a:ln w="12700">
            <a:solidFill>
              <a:srgbClr val="FFD166"/>
            </a:solidFill>
            <a:prstDash val="solid"/>
          </a:ln>
        </p:spPr>
      </p:sp>
      <p:sp>
        <p:nvSpPr>
          <p:cNvPr id="19" name="Text 16"/>
          <p:cNvSpPr txBox="1"/>
          <p:nvPr/>
        </p:nvSpPr>
        <p:spPr>
          <a:xfrm>
            <a:off x="251460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TR</a:t>
            </a:r>
            <a:endParaRPr lang="en-US" sz="1050" dirty="0"/>
          </a:p>
        </p:txBody>
      </p:sp>
      <p:sp>
        <p:nvSpPr>
          <p:cNvPr id="20" name="Shape 17"/>
          <p:cNvSpPr/>
          <p:nvPr/>
        </p:nvSpPr>
        <p:spPr>
          <a:xfrm>
            <a:off x="3611880" y="4983480"/>
            <a:ext cx="960120" cy="310896"/>
          </a:xfrm>
          <a:prstGeom prst="roundRect">
            <a:avLst>
              <a:gd name="adj" fmla="val 50000"/>
            </a:avLst>
          </a:prstGeom>
          <a:solidFill>
            <a:srgbClr val="1F2330"/>
          </a:solidFill>
          <a:ln w="12700">
            <a:solidFill>
              <a:srgbClr val="FFD166"/>
            </a:solidFill>
            <a:prstDash val="solid"/>
          </a:ln>
        </p:spPr>
      </p:sp>
      <p:sp>
        <p:nvSpPr>
          <p:cNvPr id="21" name="Text 18"/>
          <p:cNvSpPr txBox="1"/>
          <p:nvPr/>
        </p:nvSpPr>
        <p:spPr>
          <a:xfrm>
            <a:off x="361188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EN</a:t>
            </a:r>
            <a:endParaRPr lang="en-US" sz="1050" dirty="0"/>
          </a:p>
        </p:txBody>
      </p:sp>
      <p:sp>
        <p:nvSpPr>
          <p:cNvPr id="22" name="Text 19"/>
          <p:cNvSpPr txBox="1"/>
          <p:nvPr/>
        </p:nvSpPr>
        <p:spPr>
          <a:xfrm>
            <a:off x="548640" y="5413248"/>
            <a:ext cx="4846320" cy="256032"/>
          </a:xfrm>
          <a:prstGeom prst="rect">
            <a:avLst/>
          </a:prstGeom>
          <a:noFill/>
          <a:ln/>
        </p:spPr>
        <p:txBody>
          <a:bodyPr wrap="square" lIns="0" tIns="0" rIns="0" bIns="0" rtlCol="0" anchor="t">
            <a:normAutofit/>
          </a:bodyPr>
          <a:lstStyle/>
          <a:p>
            <a:pPr indent="0" marL="0">
              <a:buNone/>
            </a:pPr>
            <a:r>
              <a:rPr lang="en-US" sz="1050" b="1" dirty="0">
                <a:solidFill>
                  <a:srgbClr val="9AA3B5"/>
                </a:solidFill>
                <a:latin typeface="Arial" pitchFamily="34" charset="0"/>
                <a:ea typeface="Arial" pitchFamily="34" charset="-122"/>
                <a:cs typeface="Arial" pitchFamily="34" charset="-120"/>
              </a:rPr>
              <a:t>Three modes</a:t>
            </a:r>
            <a:endParaRPr lang="en-US" sz="1050" dirty="0"/>
          </a:p>
        </p:txBody>
      </p:sp>
      <p:sp>
        <p:nvSpPr>
          <p:cNvPr id="23" name="Shape 20"/>
          <p:cNvSpPr/>
          <p:nvPr/>
        </p:nvSpPr>
        <p:spPr>
          <a:xfrm>
            <a:off x="548640" y="5705856"/>
            <a:ext cx="1554480" cy="384048"/>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54864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D166"/>
                </a:solidFill>
                <a:latin typeface="Arial" pitchFamily="34" charset="0"/>
                <a:ea typeface="Arial" pitchFamily="34" charset="-122"/>
                <a:cs typeface="Arial" pitchFamily="34" charset="-120"/>
              </a:rPr>
              <a:t>Translate</a:t>
            </a:r>
            <a:endParaRPr lang="en-US" sz="1100" dirty="0"/>
          </a:p>
        </p:txBody>
      </p:sp>
      <p:sp>
        <p:nvSpPr>
          <p:cNvPr id="25" name="Shape 22"/>
          <p:cNvSpPr/>
          <p:nvPr/>
        </p:nvSpPr>
        <p:spPr>
          <a:xfrm>
            <a:off x="2194560" y="5705856"/>
            <a:ext cx="1554480" cy="384048"/>
          </a:xfrm>
          <a:prstGeom prst="roundRect">
            <a:avLst>
              <a:gd name="adj" fmla="val 50000"/>
            </a:avLst>
          </a:prstGeom>
          <a:solidFill>
            <a:srgbClr val="1F2330"/>
          </a:solidFill>
          <a:ln w="12700">
            <a:solidFill>
              <a:srgbClr val="2DFFB5"/>
            </a:solidFill>
            <a:prstDash val="solid"/>
          </a:ln>
        </p:spPr>
      </p:sp>
      <p:sp>
        <p:nvSpPr>
          <p:cNvPr id="26" name="Text 23"/>
          <p:cNvSpPr txBox="1"/>
          <p:nvPr/>
        </p:nvSpPr>
        <p:spPr>
          <a:xfrm>
            <a:off x="219456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2DFFB5"/>
                </a:solidFill>
                <a:latin typeface="Arial" pitchFamily="34" charset="0"/>
                <a:ea typeface="Arial" pitchFamily="34" charset="-122"/>
                <a:cs typeface="Arial" pitchFamily="34" charset="-120"/>
              </a:rPr>
              <a:t>Reading aid</a:t>
            </a:r>
            <a:endParaRPr lang="en-US" sz="1100" dirty="0"/>
          </a:p>
        </p:txBody>
      </p:sp>
      <p:sp>
        <p:nvSpPr>
          <p:cNvPr id="27" name="Shape 24"/>
          <p:cNvSpPr/>
          <p:nvPr/>
        </p:nvSpPr>
        <p:spPr>
          <a:xfrm>
            <a:off x="3840480" y="5705856"/>
            <a:ext cx="1554480" cy="384048"/>
          </a:xfrm>
          <a:prstGeom prst="roundRect">
            <a:avLst>
              <a:gd name="adj" fmla="val 50000"/>
            </a:avLst>
          </a:prstGeom>
          <a:solidFill>
            <a:srgbClr val="1F2330"/>
          </a:solidFill>
          <a:ln w="12700">
            <a:solidFill>
              <a:srgbClr val="FF2D75"/>
            </a:solidFill>
            <a:prstDash val="solid"/>
          </a:ln>
        </p:spPr>
      </p:sp>
      <p:sp>
        <p:nvSpPr>
          <p:cNvPr id="28" name="Text 25"/>
          <p:cNvSpPr txBox="1"/>
          <p:nvPr/>
        </p:nvSpPr>
        <p:spPr>
          <a:xfrm>
            <a:off x="384048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2D75"/>
                </a:solidFill>
                <a:latin typeface="Arial" pitchFamily="34" charset="0"/>
                <a:ea typeface="Arial" pitchFamily="34" charset="-122"/>
                <a:cs typeface="Arial" pitchFamily="34" charset="-120"/>
              </a:rPr>
              <a:t>Repeat after me</a:t>
            </a:r>
            <a:endParaRPr lang="en-US" sz="1100" dirty="0"/>
          </a:p>
        </p:txBody>
      </p:sp>
      <p:sp>
        <p:nvSpPr>
          <p:cNvPr id="29" name="Text 26"/>
          <p:cNvSpPr txBox="1"/>
          <p:nvPr/>
        </p:nvSpPr>
        <p:spPr>
          <a:xfrm>
            <a:off x="5806440" y="1325880"/>
            <a:ext cx="5836615" cy="233172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A child says “apple” – instantly: 🍎, “elma” in the target language, “der Apfel” with a color-coded article, and the pronunciation. No click.</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Reading aid in your own language: for pre-readers, German as a second language, integration courses and neurodivergent learners.</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Local, no account, offline – school-grade privacy as a selling point. Pronunciation via the device's system voices [Source 29].</a:t>
            </a:r>
            <a:endParaRPr lang="en-US" sz="1400" dirty="0"/>
          </a:p>
        </p:txBody>
      </p:sp>
      <p:sp>
        <p:nvSpPr>
          <p:cNvPr id="30" name="Shape 27"/>
          <p:cNvSpPr/>
          <p:nvPr/>
        </p:nvSpPr>
        <p:spPr>
          <a:xfrm>
            <a:off x="5806440" y="3794760"/>
            <a:ext cx="1854098" cy="1417320"/>
          </a:xfrm>
          <a:prstGeom prst="roundRect">
            <a:avLst>
              <a:gd name="adj" fmla="val 7742"/>
            </a:avLst>
          </a:prstGeom>
          <a:solidFill>
            <a:srgbClr val="181B23"/>
          </a:solidFill>
          <a:ln w="12700">
            <a:solidFill>
              <a:srgbClr val="181B23"/>
            </a:solidFill>
            <a:prstDash val="solid"/>
          </a:ln>
        </p:spPr>
      </p:sp>
      <p:sp>
        <p:nvSpPr>
          <p:cNvPr id="31" name="Text 28"/>
          <p:cNvSpPr txBox="1"/>
          <p:nvPr/>
        </p:nvSpPr>
        <p:spPr>
          <a:xfrm>
            <a:off x="5971032"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FFD166"/>
                </a:solidFill>
                <a:latin typeface="Arial" pitchFamily="34" charset="0"/>
                <a:ea typeface="Arial" pitchFamily="34" charset="-122"/>
                <a:cs typeface="Arial" pitchFamily="34" charset="-120"/>
              </a:rPr>
              <a:t>12.7M</a:t>
            </a:r>
            <a:endParaRPr lang="en-US" sz="2400" dirty="0"/>
          </a:p>
        </p:txBody>
      </p:sp>
      <p:sp>
        <p:nvSpPr>
          <p:cNvPr id="32" name="Text 29"/>
          <p:cNvSpPr txBox="1"/>
          <p:nvPr/>
        </p:nvSpPr>
        <p:spPr>
          <a:xfrm>
            <a:off x="5971032"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paying Duolingo subscribers, Q2 2026 [Source 32]</a:t>
            </a:r>
            <a:endParaRPr lang="en-US" sz="1050" dirty="0"/>
          </a:p>
        </p:txBody>
      </p:sp>
      <p:sp>
        <p:nvSpPr>
          <p:cNvPr id="33" name="Shape 30"/>
          <p:cNvSpPr/>
          <p:nvPr/>
        </p:nvSpPr>
        <p:spPr>
          <a:xfrm>
            <a:off x="7797698" y="3794760"/>
            <a:ext cx="1854098" cy="1417320"/>
          </a:xfrm>
          <a:prstGeom prst="roundRect">
            <a:avLst>
              <a:gd name="adj" fmla="val 7742"/>
            </a:avLst>
          </a:prstGeom>
          <a:solidFill>
            <a:srgbClr val="181B23"/>
          </a:solidFill>
          <a:ln w="12700">
            <a:solidFill>
              <a:srgbClr val="181B23"/>
            </a:solidFill>
            <a:prstDash val="solid"/>
          </a:ln>
        </p:spPr>
      </p:sp>
      <p:sp>
        <p:nvSpPr>
          <p:cNvPr id="34" name="Text 31"/>
          <p:cNvSpPr txBox="1"/>
          <p:nvPr/>
        </p:nvSpPr>
        <p:spPr>
          <a:xfrm>
            <a:off x="7962290"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2DFFB5"/>
                </a:solidFill>
                <a:latin typeface="Arial" pitchFamily="34" charset="0"/>
                <a:ea typeface="Arial" pitchFamily="34" charset="-122"/>
                <a:cs typeface="Arial" pitchFamily="34" charset="-120"/>
              </a:rPr>
              <a:t>307,000</a:t>
            </a:r>
            <a:endParaRPr lang="en-US" sz="2400" dirty="0"/>
          </a:p>
        </p:txBody>
      </p:sp>
      <p:sp>
        <p:nvSpPr>
          <p:cNvPr id="35" name="Text 32"/>
          <p:cNvSpPr txBox="1"/>
          <p:nvPr/>
        </p:nvSpPr>
        <p:spPr>
          <a:xfrm>
            <a:off x="7962290"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new integration-course participants in Germany, 2025 [Source 36]</a:t>
            </a:r>
            <a:endParaRPr lang="en-US" sz="1050" dirty="0"/>
          </a:p>
        </p:txBody>
      </p:sp>
      <p:sp>
        <p:nvSpPr>
          <p:cNvPr id="36" name="Shape 33"/>
          <p:cNvSpPr/>
          <p:nvPr/>
        </p:nvSpPr>
        <p:spPr>
          <a:xfrm>
            <a:off x="9788957" y="3794760"/>
            <a:ext cx="1854098" cy="1417320"/>
          </a:xfrm>
          <a:prstGeom prst="roundRect">
            <a:avLst>
              <a:gd name="adj" fmla="val 7742"/>
            </a:avLst>
          </a:prstGeom>
          <a:solidFill>
            <a:srgbClr val="181B23"/>
          </a:solidFill>
          <a:ln w="12700">
            <a:solidFill>
              <a:srgbClr val="181B23"/>
            </a:solidFill>
            <a:prstDash val="solid"/>
          </a:ln>
        </p:spPr>
      </p:sp>
      <p:sp>
        <p:nvSpPr>
          <p:cNvPr id="37" name="Text 34"/>
          <p:cNvSpPr txBox="1"/>
          <p:nvPr/>
        </p:nvSpPr>
        <p:spPr>
          <a:xfrm>
            <a:off x="9953549"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5AD1FF"/>
                </a:solidFill>
                <a:latin typeface="Arial" pitchFamily="34" charset="0"/>
                <a:ea typeface="Arial" pitchFamily="34" charset="-122"/>
                <a:cs typeface="Arial" pitchFamily="34" charset="-120"/>
              </a:rPr>
              <a:t>€5B</a:t>
            </a:r>
            <a:endParaRPr lang="en-US" sz="2400" dirty="0"/>
          </a:p>
        </p:txBody>
      </p:sp>
      <p:sp>
        <p:nvSpPr>
          <p:cNvPr id="38" name="Text 35"/>
          <p:cNvSpPr txBox="1"/>
          <p:nvPr/>
        </p:nvSpPr>
        <p:spPr>
          <a:xfrm>
            <a:off x="9953549"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DigitalPakt 2.0 over five years, launched 9/1/2026 [Source 40]</a:t>
            </a:r>
            <a:endParaRPr lang="en-US" sz="1050" dirty="0"/>
          </a:p>
        </p:txBody>
      </p:sp>
      <p:sp>
        <p:nvSpPr>
          <p:cNvPr id="39" name="Shape 36"/>
          <p:cNvSpPr/>
          <p:nvPr/>
        </p:nvSpPr>
        <p:spPr>
          <a:xfrm>
            <a:off x="5806440" y="5349240"/>
            <a:ext cx="5836615" cy="868680"/>
          </a:xfrm>
          <a:prstGeom prst="roundRect">
            <a:avLst>
              <a:gd name="adj" fmla="val 12632"/>
            </a:avLst>
          </a:prstGeom>
          <a:solidFill>
            <a:srgbClr val="1F2330"/>
          </a:solidFill>
          <a:ln w="12700">
            <a:solidFill>
              <a:srgbClr val="1F2330"/>
            </a:solidFill>
            <a:prstDash val="solid"/>
          </a:ln>
        </p:spPr>
      </p:sp>
      <p:sp>
        <p:nvSpPr>
          <p:cNvPr id="40" name="Text 37"/>
          <p:cNvSpPr txBox="1"/>
          <p:nvPr/>
        </p:nvSpPr>
        <p:spPr>
          <a:xfrm>
            <a:off x="6007608" y="5394960"/>
            <a:ext cx="5434279" cy="777240"/>
          </a:xfrm>
          <a:prstGeom prst="rect">
            <a:avLst/>
          </a:prstGeom>
          <a:noFill/>
          <a:ln/>
        </p:spPr>
        <p:txBody>
          <a:bodyPr wrap="square" lIns="0" tIns="0" rIns="0" bIns="0" rtlCol="0" anchor="ctr">
            <a:normAutofit/>
          </a:bodyPr>
          <a:lstStyle/>
          <a:p>
            <a:pPr indent="0" marL="0">
              <a:buNone/>
            </a:pPr>
            <a:r>
              <a:rPr lang="en-US" sz="1200" dirty="0">
                <a:solidFill>
                  <a:srgbClr val="FFFFFF"/>
                </a:solidFill>
                <a:latin typeface="Arial" pitchFamily="34" charset="0"/>
                <a:ea typeface="Arial" pitchFamily="34" charset="-122"/>
                <a:cs typeface="Arial" pitchFamily="34" charset="-120"/>
              </a:rPr>
              <a:t>Revenue (estimate): WortBild Family €4.99/month · school license €300–800/year · course license €49 per teacher per year · publisher edition for bilingual books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LINES D + C · STUDIO AND SPACES</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Auto-edit, editor, VR/AR – and a bigger market</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15</a:t>
            </a:r>
            <a:endParaRPr lang="en-US" sz="900" dirty="0"/>
          </a:p>
        </p:txBody>
      </p:sp>
      <p:sp>
        <p:nvSpPr>
          <p:cNvPr id="8" name="Text 5"/>
          <p:cNvSpPr txBox="1"/>
          <p:nvPr/>
        </p:nvSpPr>
        <p:spPr>
          <a:xfrm>
            <a:off x="548640" y="1298448"/>
            <a:ext cx="6446520" cy="310896"/>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LiveFX Studio: live editing and auto-edit</a:t>
            </a:r>
            <a:endParaRPr lang="en-US" sz="1400" dirty="0"/>
          </a:p>
        </p:txBody>
      </p:sp>
      <p:sp>
        <p:nvSpPr>
          <p:cNvPr id="9" name="Shape 6"/>
          <p:cNvSpPr/>
          <p:nvPr/>
        </p:nvSpPr>
        <p:spPr>
          <a:xfrm>
            <a:off x="548640" y="1645920"/>
            <a:ext cx="3154680" cy="1325880"/>
          </a:xfrm>
          <a:prstGeom prst="roundRect">
            <a:avLst>
              <a:gd name="adj" fmla="val 8276"/>
            </a:avLst>
          </a:prstGeom>
          <a:solidFill>
            <a:srgbClr val="181B23"/>
          </a:solidFill>
          <a:ln w="12700">
            <a:solidFill>
              <a:srgbClr val="181B23"/>
            </a:solidFill>
            <a:prstDash val="solid"/>
          </a:ln>
        </p:spPr>
      </p:sp>
      <p:sp>
        <p:nvSpPr>
          <p:cNvPr id="10" name="Text 7"/>
          <p:cNvSpPr txBox="1"/>
          <p:nvPr/>
        </p:nvSpPr>
        <p:spPr>
          <a:xfrm>
            <a:off x="73152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Live → highlights</a:t>
            </a:r>
            <a:endParaRPr lang="en-US" sz="1300" dirty="0"/>
          </a:p>
        </p:txBody>
      </p:sp>
      <p:sp>
        <p:nvSpPr>
          <p:cNvPr id="11" name="Text 8"/>
          <p:cNvSpPr txBox="1"/>
          <p:nvPr/>
        </p:nvSpPr>
        <p:spPr>
          <a:xfrm>
            <a:off x="73152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After the stream, 3–5 clips in 9:16 – where memes, gifts and chat were densest. No upload.</a:t>
            </a:r>
            <a:endParaRPr lang="en-US" sz="1100" dirty="0"/>
          </a:p>
        </p:txBody>
      </p:sp>
      <p:sp>
        <p:nvSpPr>
          <p:cNvPr id="12" name="Shape 9"/>
          <p:cNvSpPr/>
          <p:nvPr/>
        </p:nvSpPr>
        <p:spPr>
          <a:xfrm>
            <a:off x="3840480" y="1645920"/>
            <a:ext cx="3154680" cy="1325880"/>
          </a:xfrm>
          <a:prstGeom prst="roundRect">
            <a:avLst>
              <a:gd name="adj" fmla="val 8276"/>
            </a:avLst>
          </a:prstGeom>
          <a:solidFill>
            <a:srgbClr val="181B23"/>
          </a:solidFill>
          <a:ln w="12700">
            <a:solidFill>
              <a:srgbClr val="181B23"/>
            </a:solidFill>
            <a:prstDash val="solid"/>
          </a:ln>
        </p:spPr>
      </p:sp>
      <p:sp>
        <p:nvSpPr>
          <p:cNvPr id="13" name="Text 10"/>
          <p:cNvSpPr txBox="1"/>
          <p:nvPr/>
        </p:nvSpPr>
        <p:spPr>
          <a:xfrm>
            <a:off x="402336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File in → finished out</a:t>
            </a:r>
            <a:endParaRPr lang="en-US" sz="1300" dirty="0"/>
          </a:p>
        </p:txBody>
      </p:sp>
      <p:sp>
        <p:nvSpPr>
          <p:cNvPr id="14" name="Text 11"/>
          <p:cNvSpPr txBox="1"/>
          <p:nvPr/>
        </p:nvSpPr>
        <p:spPr>
          <a:xfrm>
            <a:off x="402336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Drop a video → local transcript → effects, scenes, cuts as chips → MP4 via hardware encoder [Source 57, 59].</a:t>
            </a:r>
            <a:endParaRPr lang="en-US" sz="1100" dirty="0"/>
          </a:p>
        </p:txBody>
      </p:sp>
      <p:sp>
        <p:nvSpPr>
          <p:cNvPr id="15" name="Shape 12"/>
          <p:cNvSpPr/>
          <p:nvPr/>
        </p:nvSpPr>
        <p:spPr>
          <a:xfrm>
            <a:off x="548640" y="3108960"/>
            <a:ext cx="6446520" cy="868680"/>
          </a:xfrm>
          <a:prstGeom prst="roundRect">
            <a:avLst>
              <a:gd name="adj" fmla="val 12632"/>
            </a:avLst>
          </a:prstGeom>
          <a:solidFill>
            <a:srgbClr val="1F2330"/>
          </a:solidFill>
          <a:ln w="12700">
            <a:solidFill>
              <a:srgbClr val="1F2330"/>
            </a:solidFill>
            <a:prstDash val="solid"/>
          </a:ln>
        </p:spPr>
      </p:sp>
      <p:sp>
        <p:nvSpPr>
          <p:cNvPr id="16" name="Text 13"/>
          <p:cNvSpPr txBox="1"/>
          <p:nvPr/>
        </p:nvSpPr>
        <p:spPr>
          <a:xfrm>
            <a:off x="685800" y="3200400"/>
            <a:ext cx="1325880" cy="685800"/>
          </a:xfrm>
          <a:prstGeom prst="rect">
            <a:avLst/>
          </a:prstGeom>
          <a:noFill/>
          <a:ln/>
        </p:spPr>
        <p:txBody>
          <a:bodyPr wrap="square" lIns="0" tIns="0" rIns="0" bIns="0" rtlCol="0" anchor="ctr">
            <a:normAutofit/>
          </a:bodyPr>
          <a:lstStyle/>
          <a:p>
            <a:pPr algn="ctr" indent="0" marL="0">
              <a:buNone/>
            </a:pPr>
            <a:r>
              <a:rPr lang="en-US" sz="1000" dirty="0">
                <a:solidFill>
                  <a:srgbClr val="FFFFFF"/>
                </a:solidFill>
                <a:latin typeface="Arial" pitchFamily="34" charset="0"/>
                <a:ea typeface="Arial" pitchFamily="34" charset="-122"/>
                <a:cs typeface="Arial" pitchFamily="34" charset="-120"/>
              </a:rPr>
              <a:t>🎞 Video.mp4</a:t>
            </a:r>
            <a:endParaRPr lang="en-US" sz="1000" dirty="0"/>
          </a:p>
          <a:p>
            <a:pPr algn="ctr" indent="0" marL="0">
              <a:buNone/>
            </a:pPr>
            <a:r>
              <a:rPr lang="en-US" sz="1000" dirty="0">
                <a:solidFill>
                  <a:srgbClr val="FFFFFF"/>
                </a:solidFill>
                <a:latin typeface="Arial" pitchFamily="34" charset="0"/>
                <a:ea typeface="Arial" pitchFamily="34" charset="-122"/>
                <a:cs typeface="Arial" pitchFamily="34" charset="-120"/>
              </a:rPr>
              <a:t>“Listening … (local)”</a:t>
            </a:r>
            <a:endParaRPr lang="en-US" sz="1000" dirty="0"/>
          </a:p>
        </p:txBody>
      </p:sp>
      <p:sp>
        <p:nvSpPr>
          <p:cNvPr id="17" name="Shape 14"/>
          <p:cNvSpPr/>
          <p:nvPr/>
        </p:nvSpPr>
        <p:spPr>
          <a:xfrm>
            <a:off x="2103120" y="3291840"/>
            <a:ext cx="4754880" cy="274320"/>
          </a:xfrm>
          <a:prstGeom prst="rect">
            <a:avLst/>
          </a:prstGeom>
          <a:solidFill>
            <a:srgbClr val="262B38"/>
          </a:solidFill>
          <a:ln/>
        </p:spPr>
      </p:sp>
      <p:sp>
        <p:nvSpPr>
          <p:cNvPr id="18" name="Shape 15"/>
          <p:cNvSpPr/>
          <p:nvPr/>
        </p:nvSpPr>
        <p:spPr>
          <a:xfrm>
            <a:off x="2198218" y="3310128"/>
            <a:ext cx="237744" cy="237744"/>
          </a:xfrm>
          <a:prstGeom prst="roundRect">
            <a:avLst>
              <a:gd name="adj" fmla="val 23077"/>
            </a:avLst>
          </a:prstGeom>
          <a:solidFill>
            <a:srgbClr val="8A93A6"/>
          </a:solidFill>
          <a:ln/>
        </p:spPr>
      </p:sp>
      <p:sp>
        <p:nvSpPr>
          <p:cNvPr id="19" name="Shape 16"/>
          <p:cNvSpPr/>
          <p:nvPr/>
        </p:nvSpPr>
        <p:spPr>
          <a:xfrm>
            <a:off x="2626157" y="3310128"/>
            <a:ext cx="237744" cy="237744"/>
          </a:xfrm>
          <a:prstGeom prst="roundRect">
            <a:avLst>
              <a:gd name="adj" fmla="val 23077"/>
            </a:avLst>
          </a:prstGeom>
          <a:solidFill>
            <a:srgbClr val="2DFFB5"/>
          </a:solidFill>
          <a:ln/>
        </p:spPr>
      </p:sp>
      <p:sp>
        <p:nvSpPr>
          <p:cNvPr id="20" name="Shape 17"/>
          <p:cNvSpPr/>
          <p:nvPr/>
        </p:nvSpPr>
        <p:spPr>
          <a:xfrm>
            <a:off x="3054096" y="3310128"/>
            <a:ext cx="190195" cy="237744"/>
          </a:xfrm>
          <a:prstGeom prst="roundRect">
            <a:avLst>
              <a:gd name="adj" fmla="val 28846"/>
            </a:avLst>
          </a:prstGeom>
          <a:solidFill>
            <a:srgbClr val="FFD166"/>
          </a:solidFill>
          <a:ln/>
        </p:spPr>
      </p:sp>
      <p:sp>
        <p:nvSpPr>
          <p:cNvPr id="21" name="Shape 18"/>
          <p:cNvSpPr/>
          <p:nvPr/>
        </p:nvSpPr>
        <p:spPr>
          <a:xfrm>
            <a:off x="3482035" y="3310128"/>
            <a:ext cx="95098" cy="237744"/>
          </a:xfrm>
          <a:prstGeom prst="roundRect">
            <a:avLst>
              <a:gd name="adj" fmla="val 57692"/>
            </a:avLst>
          </a:prstGeom>
          <a:solidFill>
            <a:srgbClr val="FF2D75"/>
          </a:solidFill>
          <a:ln/>
        </p:spPr>
      </p:sp>
      <p:sp>
        <p:nvSpPr>
          <p:cNvPr id="22" name="Shape 19"/>
          <p:cNvSpPr/>
          <p:nvPr/>
        </p:nvSpPr>
        <p:spPr>
          <a:xfrm>
            <a:off x="3814877" y="3310128"/>
            <a:ext cx="332842" cy="237744"/>
          </a:xfrm>
          <a:prstGeom prst="roundRect">
            <a:avLst>
              <a:gd name="adj" fmla="val 23077"/>
            </a:avLst>
          </a:prstGeom>
          <a:solidFill>
            <a:srgbClr val="8A93A6"/>
          </a:solidFill>
          <a:ln/>
        </p:spPr>
      </p:sp>
      <p:sp>
        <p:nvSpPr>
          <p:cNvPr id="23" name="Shape 20"/>
          <p:cNvSpPr/>
          <p:nvPr/>
        </p:nvSpPr>
        <p:spPr>
          <a:xfrm>
            <a:off x="4385462" y="3310128"/>
            <a:ext cx="332842" cy="237744"/>
          </a:xfrm>
          <a:prstGeom prst="roundRect">
            <a:avLst>
              <a:gd name="adj" fmla="val 23077"/>
            </a:avLst>
          </a:prstGeom>
          <a:solidFill>
            <a:srgbClr val="2DFFB5"/>
          </a:solidFill>
          <a:ln/>
        </p:spPr>
      </p:sp>
      <p:sp>
        <p:nvSpPr>
          <p:cNvPr id="24" name="Shape 21"/>
          <p:cNvSpPr/>
          <p:nvPr/>
        </p:nvSpPr>
        <p:spPr>
          <a:xfrm>
            <a:off x="4860950" y="3310128"/>
            <a:ext cx="142646" cy="237744"/>
          </a:xfrm>
          <a:prstGeom prst="roundRect">
            <a:avLst>
              <a:gd name="adj" fmla="val 38462"/>
            </a:avLst>
          </a:prstGeom>
          <a:solidFill>
            <a:srgbClr val="FF2D75"/>
          </a:solidFill>
          <a:ln/>
        </p:spPr>
      </p:sp>
      <p:sp>
        <p:nvSpPr>
          <p:cNvPr id="25" name="Shape 22"/>
          <p:cNvSpPr/>
          <p:nvPr/>
        </p:nvSpPr>
        <p:spPr>
          <a:xfrm>
            <a:off x="5241341" y="3310128"/>
            <a:ext cx="190195" cy="237744"/>
          </a:xfrm>
          <a:prstGeom prst="roundRect">
            <a:avLst>
              <a:gd name="adj" fmla="val 28846"/>
            </a:avLst>
          </a:prstGeom>
          <a:solidFill>
            <a:srgbClr val="FFD166"/>
          </a:solidFill>
          <a:ln/>
        </p:spPr>
      </p:sp>
      <p:sp>
        <p:nvSpPr>
          <p:cNvPr id="26" name="Shape 23"/>
          <p:cNvSpPr/>
          <p:nvPr/>
        </p:nvSpPr>
        <p:spPr>
          <a:xfrm>
            <a:off x="5621731" y="3310128"/>
            <a:ext cx="285293" cy="237744"/>
          </a:xfrm>
          <a:prstGeom prst="roundRect">
            <a:avLst>
              <a:gd name="adj" fmla="val 23077"/>
            </a:avLst>
          </a:prstGeom>
          <a:solidFill>
            <a:srgbClr val="8A93A6"/>
          </a:solidFill>
          <a:ln/>
        </p:spPr>
      </p:sp>
      <p:sp>
        <p:nvSpPr>
          <p:cNvPr id="27" name="Shape 24"/>
          <p:cNvSpPr/>
          <p:nvPr/>
        </p:nvSpPr>
        <p:spPr>
          <a:xfrm>
            <a:off x="6097219" y="3310128"/>
            <a:ext cx="285293" cy="237744"/>
          </a:xfrm>
          <a:prstGeom prst="roundRect">
            <a:avLst>
              <a:gd name="adj" fmla="val 23077"/>
            </a:avLst>
          </a:prstGeom>
          <a:solidFill>
            <a:srgbClr val="2DFFB5"/>
          </a:solidFill>
          <a:ln/>
        </p:spPr>
      </p:sp>
      <p:sp>
        <p:nvSpPr>
          <p:cNvPr id="28" name="Shape 25"/>
          <p:cNvSpPr/>
          <p:nvPr/>
        </p:nvSpPr>
        <p:spPr>
          <a:xfrm>
            <a:off x="6525158" y="3310128"/>
            <a:ext cx="142646" cy="237744"/>
          </a:xfrm>
          <a:prstGeom prst="roundRect">
            <a:avLst>
              <a:gd name="adj" fmla="val 38462"/>
            </a:avLst>
          </a:prstGeom>
          <a:solidFill>
            <a:srgbClr val="FF2D75"/>
          </a:solidFill>
          <a:ln/>
        </p:spPr>
      </p:sp>
      <p:sp>
        <p:nvSpPr>
          <p:cNvPr id="29" name="Shape 26"/>
          <p:cNvSpPr/>
          <p:nvPr/>
        </p:nvSpPr>
        <p:spPr>
          <a:xfrm>
            <a:off x="2103120" y="3712464"/>
            <a:ext cx="109728" cy="109728"/>
          </a:xfrm>
          <a:prstGeom prst="ellipse">
            <a:avLst/>
          </a:prstGeom>
          <a:solidFill>
            <a:srgbClr val="FF2D75"/>
          </a:solidFill>
          <a:ln w="12700">
            <a:solidFill>
              <a:srgbClr val="FF2D75"/>
            </a:solidFill>
            <a:prstDash val="solid"/>
          </a:ln>
        </p:spPr>
      </p:sp>
      <p:sp>
        <p:nvSpPr>
          <p:cNvPr id="30" name="Text 27"/>
          <p:cNvSpPr txBox="1"/>
          <p:nvPr/>
        </p:nvSpPr>
        <p:spPr>
          <a:xfrm>
            <a:off x="226771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Meme</a:t>
            </a:r>
            <a:endParaRPr lang="en-US" sz="950" dirty="0"/>
          </a:p>
        </p:txBody>
      </p:sp>
      <p:sp>
        <p:nvSpPr>
          <p:cNvPr id="31" name="Shape 28"/>
          <p:cNvSpPr/>
          <p:nvPr/>
        </p:nvSpPr>
        <p:spPr>
          <a:xfrm>
            <a:off x="3291840" y="3712464"/>
            <a:ext cx="109728" cy="109728"/>
          </a:xfrm>
          <a:prstGeom prst="ellipse">
            <a:avLst/>
          </a:prstGeom>
          <a:solidFill>
            <a:srgbClr val="2DFFB5"/>
          </a:solidFill>
          <a:ln w="12700">
            <a:solidFill>
              <a:srgbClr val="2DFFB5"/>
            </a:solidFill>
            <a:prstDash val="solid"/>
          </a:ln>
        </p:spPr>
      </p:sp>
      <p:sp>
        <p:nvSpPr>
          <p:cNvPr id="32" name="Text 29"/>
          <p:cNvSpPr txBox="1"/>
          <p:nvPr/>
        </p:nvSpPr>
        <p:spPr>
          <a:xfrm>
            <a:off x="345643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Scene</a:t>
            </a:r>
            <a:endParaRPr lang="en-US" sz="950" dirty="0"/>
          </a:p>
        </p:txBody>
      </p:sp>
      <p:sp>
        <p:nvSpPr>
          <p:cNvPr id="33" name="Shape 30"/>
          <p:cNvSpPr/>
          <p:nvPr/>
        </p:nvSpPr>
        <p:spPr>
          <a:xfrm>
            <a:off x="4480560" y="3712464"/>
            <a:ext cx="109728" cy="109728"/>
          </a:xfrm>
          <a:prstGeom prst="ellipse">
            <a:avLst/>
          </a:prstGeom>
          <a:solidFill>
            <a:srgbClr val="FFD166"/>
          </a:solidFill>
          <a:ln w="12700">
            <a:solidFill>
              <a:srgbClr val="FFD166"/>
            </a:solidFill>
            <a:prstDash val="solid"/>
          </a:ln>
        </p:spPr>
      </p:sp>
      <p:sp>
        <p:nvSpPr>
          <p:cNvPr id="34" name="Text 31"/>
          <p:cNvSpPr txBox="1"/>
          <p:nvPr/>
        </p:nvSpPr>
        <p:spPr>
          <a:xfrm>
            <a:off x="464515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Zoom</a:t>
            </a:r>
            <a:endParaRPr lang="en-US" sz="950" dirty="0"/>
          </a:p>
        </p:txBody>
      </p:sp>
      <p:sp>
        <p:nvSpPr>
          <p:cNvPr id="35" name="Shape 32"/>
          <p:cNvSpPr/>
          <p:nvPr/>
        </p:nvSpPr>
        <p:spPr>
          <a:xfrm>
            <a:off x="5669280" y="3712464"/>
            <a:ext cx="109728" cy="109728"/>
          </a:xfrm>
          <a:prstGeom prst="ellipse">
            <a:avLst/>
          </a:prstGeom>
          <a:solidFill>
            <a:srgbClr val="8A93A6"/>
          </a:solidFill>
          <a:ln w="12700">
            <a:solidFill>
              <a:srgbClr val="8A93A6"/>
            </a:solidFill>
            <a:prstDash val="solid"/>
          </a:ln>
        </p:spPr>
      </p:sp>
      <p:sp>
        <p:nvSpPr>
          <p:cNvPr id="36" name="Text 33"/>
          <p:cNvSpPr txBox="1"/>
          <p:nvPr/>
        </p:nvSpPr>
        <p:spPr>
          <a:xfrm>
            <a:off x="583387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Cut</a:t>
            </a:r>
            <a:endParaRPr lang="en-US" sz="950" dirty="0"/>
          </a:p>
        </p:txBody>
      </p:sp>
      <p:sp>
        <p:nvSpPr>
          <p:cNvPr id="37" name="Text 34"/>
          <p:cNvSpPr txBox="1"/>
          <p:nvPr/>
        </p:nvSpPr>
        <p:spPr>
          <a:xfrm>
            <a:off x="548640" y="4114800"/>
            <a:ext cx="6446520" cy="310896"/>
          </a:xfrm>
          <a:prstGeom prst="rect">
            <a:avLst/>
          </a:prstGeom>
          <a:noFill/>
          <a:ln/>
        </p:spPr>
        <p:txBody>
          <a:bodyPr wrap="square" lIns="0" tIns="0" rIns="0" bIns="0" rtlCol="0" anchor="t">
            <a:normAutofit/>
          </a:bodyPr>
          <a:lstStyle/>
          <a:p>
            <a:pPr indent="0" marL="0">
              <a:buNone/>
            </a:pPr>
            <a:r>
              <a:rPr lang="en-US" sz="1400" b="1" dirty="0">
                <a:solidFill>
                  <a:srgbClr val="5AD1FF"/>
                </a:solidFill>
                <a:latin typeface="Arial" pitchFamily="34" charset="0"/>
                <a:ea typeface="Arial" pitchFamily="34" charset="-122"/>
                <a:cs typeface="Arial" pitchFamily="34" charset="-120"/>
              </a:rPr>
              <a:t>LiveFX Spaces: one state, many screens</a:t>
            </a:r>
            <a:endParaRPr lang="en-US" sz="1400" dirty="0"/>
          </a:p>
        </p:txBody>
      </p:sp>
      <p:sp>
        <p:nvSpPr>
          <p:cNvPr id="38" name="Shape 35"/>
          <p:cNvSpPr/>
          <p:nvPr/>
        </p:nvSpPr>
        <p:spPr>
          <a:xfrm>
            <a:off x="548640" y="4480560"/>
            <a:ext cx="2057400" cy="658368"/>
          </a:xfrm>
          <a:prstGeom prst="roundRect">
            <a:avLst>
              <a:gd name="adj" fmla="val 16667"/>
            </a:avLst>
          </a:prstGeom>
          <a:solidFill>
            <a:srgbClr val="181B23"/>
          </a:solidFill>
          <a:ln w="12700">
            <a:solidFill>
              <a:srgbClr val="181B23"/>
            </a:solidFill>
            <a:prstDash val="solid"/>
          </a:ln>
        </p:spPr>
      </p:sp>
      <p:sp>
        <p:nvSpPr>
          <p:cNvPr id="39" name="Text 36"/>
          <p:cNvSpPr txBox="1"/>
          <p:nvPr/>
        </p:nvSpPr>
        <p:spPr>
          <a:xfrm>
            <a:off x="68580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Stage &amp; events</a:t>
            </a:r>
            <a:endParaRPr lang="en-US" sz="1150" dirty="0"/>
          </a:p>
        </p:txBody>
      </p:sp>
      <p:sp>
        <p:nvSpPr>
          <p:cNvPr id="40" name="Text 37"/>
          <p:cNvSpPr txBox="1"/>
          <p:nvPr/>
        </p:nvSpPr>
        <p:spPr>
          <a:xfrm>
            <a:off x="68580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works today</a:t>
            </a:r>
            <a:endParaRPr lang="en-US" sz="950" dirty="0"/>
          </a:p>
        </p:txBody>
      </p:sp>
      <p:sp>
        <p:nvSpPr>
          <p:cNvPr id="41" name="Shape 38"/>
          <p:cNvSpPr/>
          <p:nvPr/>
        </p:nvSpPr>
        <p:spPr>
          <a:xfrm>
            <a:off x="2743200" y="4480560"/>
            <a:ext cx="2057400" cy="658368"/>
          </a:xfrm>
          <a:prstGeom prst="roundRect">
            <a:avLst>
              <a:gd name="adj" fmla="val 16667"/>
            </a:avLst>
          </a:prstGeom>
          <a:solidFill>
            <a:srgbClr val="181B23"/>
          </a:solidFill>
          <a:ln w="12700">
            <a:solidFill>
              <a:srgbClr val="181B23"/>
            </a:solidFill>
            <a:prstDash val="solid"/>
          </a:ln>
        </p:spPr>
      </p:sp>
      <p:sp>
        <p:nvSpPr>
          <p:cNvPr id="42" name="Text 39"/>
          <p:cNvSpPr txBox="1"/>
          <p:nvPr/>
        </p:nvSpPr>
        <p:spPr>
          <a:xfrm>
            <a:off x="288036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Classroom</a:t>
            </a:r>
            <a:endParaRPr lang="en-US" sz="1150" dirty="0"/>
          </a:p>
        </p:txBody>
      </p:sp>
      <p:sp>
        <p:nvSpPr>
          <p:cNvPr id="43" name="Text 40"/>
          <p:cNvSpPr txBox="1"/>
          <p:nvPr/>
        </p:nvSpPr>
        <p:spPr>
          <a:xfrm>
            <a:off x="288036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works today</a:t>
            </a:r>
            <a:endParaRPr lang="en-US" sz="950" dirty="0"/>
          </a:p>
        </p:txBody>
      </p:sp>
      <p:sp>
        <p:nvSpPr>
          <p:cNvPr id="44" name="Shape 41"/>
          <p:cNvSpPr/>
          <p:nvPr/>
        </p:nvSpPr>
        <p:spPr>
          <a:xfrm>
            <a:off x="4937760" y="4480560"/>
            <a:ext cx="2057400" cy="658368"/>
          </a:xfrm>
          <a:prstGeom prst="roundRect">
            <a:avLst>
              <a:gd name="adj" fmla="val 16667"/>
            </a:avLst>
          </a:prstGeom>
          <a:solidFill>
            <a:srgbClr val="181B23"/>
          </a:solidFill>
          <a:ln w="12700">
            <a:solidFill>
              <a:srgbClr val="181B23"/>
            </a:solidFill>
            <a:prstDash val="solid"/>
          </a:ln>
        </p:spPr>
      </p:sp>
      <p:sp>
        <p:nvSpPr>
          <p:cNvPr id="45" name="Text 42"/>
          <p:cNvSpPr txBox="1"/>
          <p:nvPr/>
        </p:nvSpPr>
        <p:spPr>
          <a:xfrm>
            <a:off x="5074920" y="4535424"/>
            <a:ext cx="1783080" cy="292608"/>
          </a:xfrm>
          <a:prstGeom prst="rect">
            <a:avLst/>
          </a:prstGeom>
          <a:noFill/>
          <a:ln/>
        </p:spPr>
        <p:txBody>
          <a:bodyPr wrap="square" lIns="0" tIns="0" rIns="0" bIns="0" rtlCol="0" anchor="t">
            <a:normAutofit/>
          </a:bodyPr>
          <a:lstStyle/>
          <a:p>
            <a:pPr indent="0" marL="0">
              <a:buNone/>
            </a:pPr>
            <a:r>
              <a:rPr lang="en-US" sz="1050" b="1" dirty="0">
                <a:solidFill>
                  <a:srgbClr val="FFFFFF"/>
                </a:solidFill>
                <a:latin typeface="Arial" pitchFamily="34" charset="0"/>
                <a:ea typeface="Arial" pitchFamily="34" charset="-122"/>
                <a:cs typeface="Arial" pitchFamily="34" charset="-120"/>
              </a:rPr>
              <a:t>🎧 Audiobook with pictures</a:t>
            </a:r>
            <a:endParaRPr lang="en-US" sz="1050" dirty="0"/>
          </a:p>
        </p:txBody>
      </p:sp>
      <p:sp>
        <p:nvSpPr>
          <p:cNvPr id="46" name="Text 43"/>
          <p:cNvSpPr txBox="1"/>
          <p:nvPr/>
        </p:nvSpPr>
        <p:spPr>
          <a:xfrm>
            <a:off x="507492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follow-on round</a:t>
            </a:r>
            <a:endParaRPr lang="en-US" sz="950" dirty="0"/>
          </a:p>
        </p:txBody>
      </p:sp>
      <p:sp>
        <p:nvSpPr>
          <p:cNvPr id="47" name="Shape 44"/>
          <p:cNvSpPr/>
          <p:nvPr/>
        </p:nvSpPr>
        <p:spPr>
          <a:xfrm>
            <a:off x="548640" y="5257800"/>
            <a:ext cx="2057400" cy="658368"/>
          </a:xfrm>
          <a:prstGeom prst="roundRect">
            <a:avLst>
              <a:gd name="adj" fmla="val 16667"/>
            </a:avLst>
          </a:prstGeom>
          <a:solidFill>
            <a:srgbClr val="181B23"/>
          </a:solidFill>
          <a:ln w="12700">
            <a:solidFill>
              <a:srgbClr val="181B23"/>
            </a:solidFill>
            <a:prstDash val="solid"/>
          </a:ln>
        </p:spPr>
      </p:sp>
      <p:sp>
        <p:nvSpPr>
          <p:cNvPr id="48" name="Text 45"/>
          <p:cNvSpPr txBox="1"/>
          <p:nvPr/>
        </p:nvSpPr>
        <p:spPr>
          <a:xfrm>
            <a:off x="68580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AR on the phone</a:t>
            </a:r>
            <a:endParaRPr lang="en-US" sz="1150" dirty="0"/>
          </a:p>
        </p:txBody>
      </p:sp>
      <p:sp>
        <p:nvSpPr>
          <p:cNvPr id="49" name="Text 46"/>
          <p:cNvSpPr txBox="1"/>
          <p:nvPr/>
        </p:nvSpPr>
        <p:spPr>
          <a:xfrm>
            <a:off x="68580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follow-on round</a:t>
            </a:r>
            <a:endParaRPr lang="en-US" sz="950" dirty="0"/>
          </a:p>
        </p:txBody>
      </p:sp>
      <p:sp>
        <p:nvSpPr>
          <p:cNvPr id="50" name="Shape 47"/>
          <p:cNvSpPr/>
          <p:nvPr/>
        </p:nvSpPr>
        <p:spPr>
          <a:xfrm>
            <a:off x="2743200" y="5257800"/>
            <a:ext cx="2057400" cy="658368"/>
          </a:xfrm>
          <a:prstGeom prst="roundRect">
            <a:avLst>
              <a:gd name="adj" fmla="val 16667"/>
            </a:avLst>
          </a:prstGeom>
          <a:solidFill>
            <a:srgbClr val="181B23"/>
          </a:solidFill>
          <a:ln w="12700">
            <a:solidFill>
              <a:srgbClr val="181B23"/>
            </a:solidFill>
            <a:prstDash val="solid"/>
          </a:ln>
        </p:spPr>
      </p:sp>
      <p:sp>
        <p:nvSpPr>
          <p:cNvPr id="51" name="Text 48"/>
          <p:cNvSpPr txBox="1"/>
          <p:nvPr/>
        </p:nvSpPr>
        <p:spPr>
          <a:xfrm>
            <a:off x="288036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WebXR / VR</a:t>
            </a:r>
            <a:endParaRPr lang="en-US" sz="1150" dirty="0"/>
          </a:p>
        </p:txBody>
      </p:sp>
      <p:sp>
        <p:nvSpPr>
          <p:cNvPr id="52" name="Text 49"/>
          <p:cNvSpPr txBox="1"/>
          <p:nvPr/>
        </p:nvSpPr>
        <p:spPr>
          <a:xfrm>
            <a:off x="288036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Vision 2029</a:t>
            </a:r>
            <a:endParaRPr lang="en-US" sz="950" dirty="0"/>
          </a:p>
        </p:txBody>
      </p:sp>
      <p:sp>
        <p:nvSpPr>
          <p:cNvPr id="53" name="Shape 50"/>
          <p:cNvSpPr/>
          <p:nvPr/>
        </p:nvSpPr>
        <p:spPr>
          <a:xfrm>
            <a:off x="4937760" y="5257800"/>
            <a:ext cx="2057400" cy="658368"/>
          </a:xfrm>
          <a:prstGeom prst="roundRect">
            <a:avLst>
              <a:gd name="adj" fmla="val 16667"/>
            </a:avLst>
          </a:prstGeom>
          <a:solidFill>
            <a:srgbClr val="181B23"/>
          </a:solidFill>
          <a:ln w="12700">
            <a:solidFill>
              <a:srgbClr val="181B23"/>
            </a:solidFill>
            <a:prstDash val="solid"/>
          </a:ln>
        </p:spPr>
      </p:sp>
      <p:sp>
        <p:nvSpPr>
          <p:cNvPr id="54" name="Text 51"/>
          <p:cNvSpPr txBox="1"/>
          <p:nvPr/>
        </p:nvSpPr>
        <p:spPr>
          <a:xfrm>
            <a:off x="507492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Display glasses</a:t>
            </a:r>
            <a:endParaRPr lang="en-US" sz="1150" dirty="0"/>
          </a:p>
        </p:txBody>
      </p:sp>
      <p:sp>
        <p:nvSpPr>
          <p:cNvPr id="55" name="Text 52"/>
          <p:cNvSpPr txBox="1"/>
          <p:nvPr/>
        </p:nvSpPr>
        <p:spPr>
          <a:xfrm>
            <a:off x="507492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Vision 2029</a:t>
            </a:r>
            <a:endParaRPr lang="en-US" sz="950" dirty="0"/>
          </a:p>
        </p:txBody>
      </p:sp>
      <p:sp>
        <p:nvSpPr>
          <p:cNvPr id="56" name="Text 53"/>
          <p:cNvSpPr txBox="1"/>
          <p:nvPr/>
        </p:nvSpPr>
        <p:spPr>
          <a:xfrm>
            <a:off x="7269480" y="1298448"/>
            <a:ext cx="4373575" cy="310896"/>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Expanded market</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645920"/>
          <a:ext cx="4373575" cy="914400"/>
        </p:xfrm>
        <a:graphic>
          <a:graphicData uri="http://schemas.openxmlformats.org/drawingml/2006/table">
            <a:tbl>
              <a:tblPr/>
              <a:tblGrid>
                <a:gridCol w="2186788"/>
                <a:gridCol w="2186788"/>
              </a:tblGrid>
              <a:tr h="457200">
                <a:tc>
                  <a:txBody>
                    <a:bodyPr/>
                    <a:lstStyle/>
                    <a:p>
                      <a:pPr indent="0" marL="0">
                        <a:buNone/>
                      </a:pPr>
                      <a:r>
                        <a:rPr lang="en-US" sz="1050" b="1" dirty="0">
                          <a:solidFill>
                            <a:srgbClr val="FFD166"/>
                          </a:solidFill>
                          <a:latin typeface="Arial" pitchFamily="34" charset="0"/>
                          <a:ea typeface="Arial" pitchFamily="34" charset="-122"/>
                          <a:cs typeface="Arial" pitchFamily="34" charset="-120"/>
                        </a:rPr>
                        <a:t>Segment</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indent="0" marL="0">
                        <a:buNone/>
                      </a:pPr>
                      <a:r>
                        <a:rPr lang="en-US" sz="1050" b="1" dirty="0">
                          <a:solidFill>
                            <a:srgbClr val="FFD166"/>
                          </a:solidFill>
                          <a:latin typeface="Arial" pitchFamily="34" charset="0"/>
                          <a:ea typeface="Arial" pitchFamily="34" charset="-122"/>
                          <a:cs typeface="Arial" pitchFamily="34" charset="-120"/>
                        </a:rPr>
                        <a:t>Size</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Video editing software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$2.68B [Source 51]</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AI video (generation + editing)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$3.67B [Source 23]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Language-learning apps (in-app)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$1.54B [Source 33]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German audiobooks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€374M [Source 19]</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Smart glasses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13.6M units / $5.1B [Source 45]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Live streaming (core)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indent="0" marL="0">
                        <a:buNone/>
                      </a:pPr>
                      <a:r>
                        <a:rPr lang="en-US" sz="1050" b="1" dirty="0">
                          <a:solidFill>
                            <a:srgbClr val="FF2D75"/>
                          </a:solidFill>
                          <a:latin typeface="Arial" pitchFamily="34" charset="0"/>
                          <a:ea typeface="Arial" pitchFamily="34" charset="-122"/>
                          <a:cs typeface="Arial" pitchFamily="34" charset="-120"/>
                        </a:rPr>
                        <a:t>$97–157B [Source 1, 2]</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bl>
          </a:graphicData>
        </a:graphic>
      </p:graphicFrame>
      <p:sp>
        <p:nvSpPr>
          <p:cNvPr id="58" name="Text 54"/>
          <p:cNvSpPr txBox="1"/>
          <p:nvPr/>
        </p:nvSpPr>
        <p:spPr>
          <a:xfrm>
            <a:off x="7269480" y="4983480"/>
            <a:ext cx="4373575" cy="1234440"/>
          </a:xfrm>
          <a:prstGeom prst="rect">
            <a:avLst/>
          </a:prstGeom>
          <a:noFill/>
          <a:ln/>
        </p:spPr>
        <p:txBody>
          <a:bodyPr wrap="square" lIns="0" tIns="0" rIns="0" bIns="0" rtlCol="0" anchor="t">
            <a:normAutofit/>
          </a:bodyPr>
          <a:lstStyle/>
          <a:p>
            <a:pPr indent="0" marL="0">
              <a:buNone/>
            </a:pPr>
            <a:r>
              <a:rPr lang="en-US" sz="1050" i="1" dirty="0">
                <a:solidFill>
                  <a:srgbClr val="9AA3B5"/>
                </a:solidFill>
                <a:latin typeface="Arial" pitchFamily="34" charset="0"/>
                <a:ea typeface="Arial" pitchFamily="34" charset="-122"/>
                <a:cs typeface="Arial" pitchFamily="34" charset="-120"/>
              </a:rPr>
              <a:t>Price anchors: OpusClip $15–29, Descript $16–65 per month [Source 54, 55]. LiveFX Pro+ €14.99 (estimate) – no cloud costs, no minute caps. XR and glasses: a showcase, not a revenue line.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FOUNDER, INVENTOR, USER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Team</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16</a:t>
            </a:r>
            <a:endParaRPr lang="en-US" sz="900" dirty="0"/>
          </a:p>
        </p:txBody>
      </p:sp>
      <p:sp>
        <p:nvSpPr>
          <p:cNvPr id="6" name="Shape 3"/>
          <p:cNvSpPr/>
          <p:nvPr/>
        </p:nvSpPr>
        <p:spPr>
          <a:xfrm>
            <a:off x="548640" y="1371600"/>
            <a:ext cx="5120640" cy="3246120"/>
          </a:xfrm>
          <a:prstGeom prst="roundRect">
            <a:avLst>
              <a:gd name="adj" fmla="val 3380"/>
            </a:avLst>
          </a:prstGeom>
          <a:solidFill>
            <a:srgbClr val="1F2330"/>
          </a:solidFill>
          <a:ln w="12700">
            <a:solidFill>
              <a:srgbClr val="1F2330"/>
            </a:solidFill>
            <a:prstDash val="solid"/>
          </a:ln>
        </p:spPr>
      </p:sp>
      <p:sp>
        <p:nvSpPr>
          <p:cNvPr id="7" name="Shape 4"/>
          <p:cNvSpPr/>
          <p:nvPr/>
        </p:nvSpPr>
        <p:spPr>
          <a:xfrm>
            <a:off x="914400" y="1737360"/>
            <a:ext cx="1188720" cy="1188720"/>
          </a:xfrm>
          <a:prstGeom prst="ellipse">
            <a:avLst/>
          </a:prstGeom>
          <a:solidFill>
            <a:srgbClr val="FF2D75"/>
          </a:solidFill>
          <a:ln w="12700">
            <a:solidFill>
              <a:srgbClr val="FF2D75"/>
            </a:solidFill>
            <a:prstDash val="solid"/>
          </a:ln>
        </p:spPr>
      </p:sp>
      <p:sp>
        <p:nvSpPr>
          <p:cNvPr id="8" name="Text 5"/>
          <p:cNvSpPr txBox="1"/>
          <p:nvPr/>
        </p:nvSpPr>
        <p:spPr>
          <a:xfrm>
            <a:off x="914400" y="1737360"/>
            <a:ext cx="1188720" cy="118872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rial" pitchFamily="34" charset="0"/>
                <a:ea typeface="Arial" pitchFamily="34" charset="-122"/>
                <a:cs typeface="Arial" pitchFamily="34" charset="-120"/>
              </a:rPr>
              <a:t>TS</a:t>
            </a:r>
            <a:endParaRPr lang="en-US" sz="2000" dirty="0"/>
          </a:p>
        </p:txBody>
      </p:sp>
      <p:sp>
        <p:nvSpPr>
          <p:cNvPr id="9" name="Text 6"/>
          <p:cNvSpPr txBox="1"/>
          <p:nvPr/>
        </p:nvSpPr>
        <p:spPr>
          <a:xfrm>
            <a:off x="2331720" y="1828800"/>
            <a:ext cx="3108960" cy="457200"/>
          </a:xfrm>
          <a:prstGeom prst="rect">
            <a:avLst/>
          </a:prstGeom>
          <a:noFill/>
          <a:ln/>
        </p:spPr>
        <p:txBody>
          <a:bodyPr wrap="square" lIns="0" tIns="0" rIns="0" bIns="0" rtlCol="0" anchor="t">
            <a:normAutofit/>
          </a:bodyPr>
          <a:lstStyle/>
          <a:p>
            <a:pPr indent="0" marL="0">
              <a:buNone/>
            </a:pPr>
            <a:r>
              <a:rPr lang="en-US" sz="2200" b="1" dirty="0">
                <a:solidFill>
                  <a:srgbClr val="FFFFFF"/>
                </a:solidFill>
                <a:latin typeface="Arial" pitchFamily="34" charset="0"/>
                <a:ea typeface="Arial" pitchFamily="34" charset="-122"/>
                <a:cs typeface="Arial" pitchFamily="34" charset="-120"/>
              </a:rPr>
              <a:t>Tuncay Sancak</a:t>
            </a:r>
            <a:endParaRPr lang="en-US" sz="2200" dirty="0"/>
          </a:p>
        </p:txBody>
      </p:sp>
      <p:sp>
        <p:nvSpPr>
          <p:cNvPr id="10" name="Text 7"/>
          <p:cNvSpPr txBox="1"/>
          <p:nvPr/>
        </p:nvSpPr>
        <p:spPr>
          <a:xfrm>
            <a:off x="2331720" y="2286000"/>
            <a:ext cx="3154680" cy="685800"/>
          </a:xfrm>
          <a:prstGeom prst="rect">
            <a:avLst/>
          </a:prstGeom>
          <a:noFill/>
          <a:ln/>
        </p:spPr>
        <p:txBody>
          <a:bodyPr wrap="square" lIns="0" tIns="0" rIns="0" bIns="0" rtlCol="0" anchor="t">
            <a:normAutofit/>
          </a:bodyPr>
          <a:lstStyle/>
          <a:p>
            <a:pPr indent="0" marL="0">
              <a:buNone/>
            </a:pPr>
            <a:r>
              <a:rPr lang="en-US" sz="1200" dirty="0">
                <a:solidFill>
                  <a:srgbClr val="FF2D75"/>
                </a:solidFill>
                <a:latin typeface="Arial" pitchFamily="34" charset="0"/>
                <a:ea typeface="Arial" pitchFamily="34" charset="-122"/>
                <a:cs typeface="Arial" pitchFamily="34" charset="-120"/>
              </a:rPr>
              <a:t>Founder &amp; Inventor · Managing Director · German-Turkish author &amp; live streamer</a:t>
            </a:r>
            <a:endParaRPr lang="en-US" sz="1200" dirty="0"/>
          </a:p>
        </p:txBody>
      </p:sp>
      <p:sp>
        <p:nvSpPr>
          <p:cNvPr id="11" name="Text 8"/>
          <p:cNvSpPr txBox="1"/>
          <p:nvPr/>
        </p:nvSpPr>
        <p:spPr>
          <a:xfrm>
            <a:off x="914400" y="3108960"/>
            <a:ext cx="4480560" cy="141732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50" dirty="0">
                <a:solidFill>
                  <a:srgbClr val="FFFFFF"/>
                </a:solidFill>
                <a:latin typeface="Arial" pitchFamily="34" charset="0"/>
                <a:ea typeface="Arial" pitchFamily="34" charset="-122"/>
                <a:cs typeface="Arial" pitchFamily="34" charset="-120"/>
              </a:rPr>
              <a:t>Product, content, community – with his own streams as the test lab</a:t>
            </a:r>
            <a:endParaRPr lang="en-US" sz="1250" dirty="0"/>
          </a:p>
          <a:p>
            <a:pPr marL="203200" indent="-203200">
              <a:spcAft>
                <a:spcPts val="400"/>
              </a:spcAft>
              <a:buSzPct val="100000"/>
              <a:buChar char="•"/>
            </a:pPr>
            <a:r>
              <a:rPr lang="en-US" sz="1250" dirty="0">
                <a:solidFill>
                  <a:srgbClr val="FFFFFF"/>
                </a:solidFill>
                <a:latin typeface="Arial" pitchFamily="34" charset="0"/>
                <a:ea typeface="Arial" pitchFamily="34" charset="-122"/>
                <a:cs typeface="Arial" pitchFamily="34" charset="-120"/>
              </a:rPr>
              <a:t>Meme and story packs in TR / DE / EN, first-hand</a:t>
            </a:r>
            <a:endParaRPr lang="en-US" sz="1250" dirty="0"/>
          </a:p>
          <a:p>
            <a:pPr marL="203200" indent="-203200">
              <a:spcAft>
                <a:spcPts val="400"/>
              </a:spcAft>
              <a:buSzPct val="100000"/>
              <a:buChar char="•"/>
            </a:pPr>
            <a:r>
              <a:rPr lang="en-US" sz="1250" dirty="0">
                <a:solidFill>
                  <a:srgbClr val="FFFFFF"/>
                </a:solidFill>
                <a:latin typeface="Arial" pitchFamily="34" charset="0"/>
                <a:ea typeface="Arial" pitchFamily="34" charset="-122"/>
                <a:cs typeface="Arial" pitchFamily="34" charset="-120"/>
              </a:rPr>
              <a:t>Children's book series on neurodiversity – the bridge to WortBild and Story Film</a:t>
            </a:r>
            <a:endParaRPr lang="en-US" sz="1250" dirty="0"/>
          </a:p>
          <a:p>
            <a:pPr marL="203200" indent="-203200">
              <a:spcAft>
                <a:spcPts val="400"/>
              </a:spcAft>
              <a:buSzPct val="100000"/>
              <a:buChar char="•"/>
            </a:pPr>
            <a:r>
              <a:rPr lang="en-US" sz="1250" dirty="0">
                <a:solidFill>
                  <a:srgbClr val="FFFFFF"/>
                </a:solidFill>
                <a:latin typeface="Arial" pitchFamily="34" charset="0"/>
                <a:ea typeface="Arial" pitchFamily="34" charset="-122"/>
                <a:cs typeface="Arial" pitchFamily="34" charset="-120"/>
              </a:rPr>
              <a:t>Books: [Title] · Streams: [Platform / @handle] · [Email]</a:t>
            </a:r>
            <a:endParaRPr lang="en-US" sz="1250" dirty="0"/>
          </a:p>
        </p:txBody>
      </p:sp>
      <p:sp>
        <p:nvSpPr>
          <p:cNvPr id="12" name="Shape 9"/>
          <p:cNvSpPr/>
          <p:nvPr/>
        </p:nvSpPr>
        <p:spPr>
          <a:xfrm>
            <a:off x="548640" y="4754880"/>
            <a:ext cx="5120640" cy="1143000"/>
          </a:xfrm>
          <a:prstGeom prst="roundRect">
            <a:avLst>
              <a:gd name="adj" fmla="val 9600"/>
            </a:avLst>
          </a:prstGeom>
          <a:solidFill>
            <a:srgbClr val="1F2330"/>
          </a:solidFill>
          <a:ln w="12700">
            <a:solidFill>
              <a:srgbClr val="1F2330"/>
            </a:solidFill>
            <a:prstDash val="solid"/>
          </a:ln>
        </p:spPr>
      </p:sp>
      <p:sp>
        <p:nvSpPr>
          <p:cNvPr id="13" name="Shape 10"/>
          <p:cNvSpPr/>
          <p:nvPr/>
        </p:nvSpPr>
        <p:spPr>
          <a:xfrm>
            <a:off x="914400" y="4956048"/>
            <a:ext cx="731520" cy="731520"/>
          </a:xfrm>
          <a:prstGeom prst="ellipse">
            <a:avLst/>
          </a:prstGeom>
          <a:solidFill>
            <a:srgbClr val="181B23"/>
          </a:solidFill>
          <a:ln w="19050">
            <a:solidFill>
              <a:srgbClr val="FFD166"/>
            </a:solidFill>
            <a:prstDash val="solid"/>
          </a:ln>
        </p:spPr>
      </p:sp>
      <p:sp>
        <p:nvSpPr>
          <p:cNvPr id="14" name="Text 11"/>
          <p:cNvSpPr txBox="1"/>
          <p:nvPr/>
        </p:nvSpPr>
        <p:spPr>
          <a:xfrm>
            <a:off x="914400" y="4956048"/>
            <a:ext cx="731520" cy="731520"/>
          </a:xfrm>
          <a:prstGeom prst="rect">
            <a:avLst/>
          </a:prstGeom>
          <a:noFill/>
          <a:ln/>
        </p:spPr>
        <p:txBody>
          <a:bodyPr wrap="square" lIns="0" tIns="0" rIns="0" bIns="0" rtlCol="0" anchor="ctr">
            <a:normAutofit/>
          </a:bodyPr>
          <a:lstStyle/>
          <a:p>
            <a:pPr algn="ctr" indent="0" marL="0">
              <a:buNone/>
            </a:pPr>
            <a:r>
              <a:rPr lang="en-US" sz="1500" b="1" dirty="0">
                <a:solidFill>
                  <a:srgbClr val="FFD166"/>
                </a:solidFill>
                <a:latin typeface="Arial" pitchFamily="34" charset="0"/>
                <a:ea typeface="Arial" pitchFamily="34" charset="-122"/>
                <a:cs typeface="Arial" pitchFamily="34" charset="-120"/>
              </a:rPr>
              <a:t>GD</a:t>
            </a:r>
            <a:endParaRPr lang="en-US" sz="1500" dirty="0"/>
          </a:p>
        </p:txBody>
      </p:sp>
      <p:sp>
        <p:nvSpPr>
          <p:cNvPr id="15" name="Text 12"/>
          <p:cNvSpPr txBox="1"/>
          <p:nvPr/>
        </p:nvSpPr>
        <p:spPr>
          <a:xfrm>
            <a:off x="1874520" y="4882896"/>
            <a:ext cx="3611880" cy="347472"/>
          </a:xfrm>
          <a:prstGeom prst="rect">
            <a:avLst/>
          </a:prstGeom>
          <a:noFill/>
          <a:ln/>
        </p:spPr>
        <p:txBody>
          <a:bodyPr wrap="square" lIns="0" tIns="0" rIns="0" bIns="0" rtlCol="0" anchor="t">
            <a:normAutofit/>
          </a:bodyPr>
          <a:lstStyle/>
          <a:p>
            <a:pPr indent="0" marL="0">
              <a:buNone/>
            </a:pPr>
            <a:r>
              <a:rPr lang="en-US" sz="1700" b="1" dirty="0">
                <a:solidFill>
                  <a:srgbClr val="FFFFFF"/>
                </a:solidFill>
                <a:latin typeface="Arial" pitchFamily="34" charset="0"/>
                <a:ea typeface="Arial" pitchFamily="34" charset="-122"/>
                <a:cs typeface="Arial" pitchFamily="34" charset="-120"/>
              </a:rPr>
              <a:t>Gönül Demet</a:t>
            </a:r>
            <a:endParaRPr lang="en-US" sz="1700" dirty="0"/>
          </a:p>
        </p:txBody>
      </p:sp>
      <p:sp>
        <p:nvSpPr>
          <p:cNvPr id="16" name="Text 13"/>
          <p:cNvSpPr txBox="1"/>
          <p:nvPr/>
        </p:nvSpPr>
        <p:spPr>
          <a:xfrm>
            <a:off x="1874520" y="5230368"/>
            <a:ext cx="3611880" cy="256032"/>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Investor Relations</a:t>
            </a:r>
            <a:endParaRPr lang="en-US" sz="1150" dirty="0"/>
          </a:p>
        </p:txBody>
      </p:sp>
      <p:sp>
        <p:nvSpPr>
          <p:cNvPr id="17" name="Text 14"/>
          <p:cNvSpPr txBox="1"/>
          <p:nvPr/>
        </p:nvSpPr>
        <p:spPr>
          <a:xfrm>
            <a:off x="1874520" y="5504688"/>
            <a:ext cx="3611880" cy="32918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Contact for investors and the pre-seed round</a:t>
            </a:r>
            <a:endParaRPr lang="en-US" sz="1100" dirty="0"/>
          </a:p>
        </p:txBody>
      </p:sp>
      <p:sp>
        <p:nvSpPr>
          <p:cNvPr id="18" name="Shape 15"/>
          <p:cNvSpPr/>
          <p:nvPr/>
        </p:nvSpPr>
        <p:spPr>
          <a:xfrm>
            <a:off x="5943600" y="1371600"/>
            <a:ext cx="5696712" cy="1389888"/>
          </a:xfrm>
          <a:prstGeom prst="roundRect">
            <a:avLst>
              <a:gd name="adj" fmla="val 7895"/>
            </a:avLst>
          </a:prstGeom>
          <a:solidFill>
            <a:srgbClr val="181B23"/>
          </a:solidFill>
          <a:ln w="12700">
            <a:solidFill>
              <a:srgbClr val="181B23"/>
            </a:solidFill>
            <a:prstDash val="solid"/>
          </a:ln>
        </p:spPr>
      </p:sp>
      <p:sp>
        <p:nvSpPr>
          <p:cNvPr id="19" name="Shape 16"/>
          <p:cNvSpPr/>
          <p:nvPr/>
        </p:nvSpPr>
        <p:spPr>
          <a:xfrm>
            <a:off x="6172200" y="1746504"/>
            <a:ext cx="640080" cy="640080"/>
          </a:xfrm>
          <a:prstGeom prst="ellipse">
            <a:avLst/>
          </a:prstGeom>
          <a:solidFill>
            <a:srgbClr val="1F2330"/>
          </a:solidFill>
          <a:ln w="19050">
            <a:solidFill>
              <a:srgbClr val="2DFFB5"/>
            </a:solidFill>
            <a:prstDash val="dash"/>
          </a:ln>
        </p:spPr>
      </p:sp>
      <p:sp>
        <p:nvSpPr>
          <p:cNvPr id="20" name="Text 17"/>
          <p:cNvSpPr txBox="1"/>
          <p:nvPr/>
        </p:nvSpPr>
        <p:spPr>
          <a:xfrm>
            <a:off x="6172200" y="1746504"/>
            <a:ext cx="640080" cy="640080"/>
          </a:xfrm>
          <a:prstGeom prst="rect">
            <a:avLst/>
          </a:prstGeom>
          <a:noFill/>
          <a:ln/>
        </p:spPr>
        <p:txBody>
          <a:bodyPr wrap="square" lIns="0" tIns="0" rIns="0" bIns="0" rtlCol="0" anchor="ctr"/>
          <a:lstStyle/>
          <a:p>
            <a:pPr algn="ctr" indent="0" marL="0">
              <a:buNone/>
            </a:pPr>
            <a:r>
              <a:rPr lang="en-US" sz="2000" dirty="0">
                <a:solidFill>
                  <a:srgbClr val="2DFFB5"/>
                </a:solidFill>
                <a:latin typeface="Arial" pitchFamily="34" charset="0"/>
                <a:ea typeface="Arial" pitchFamily="34" charset="-122"/>
                <a:cs typeface="Arial" pitchFamily="34" charset="-120"/>
              </a:rPr>
              <a:t>+</a:t>
            </a:r>
            <a:endParaRPr lang="en-US" sz="2000" dirty="0"/>
          </a:p>
        </p:txBody>
      </p:sp>
      <p:sp>
        <p:nvSpPr>
          <p:cNvPr id="21" name="Text 18"/>
          <p:cNvSpPr txBox="1"/>
          <p:nvPr/>
        </p:nvSpPr>
        <p:spPr>
          <a:xfrm>
            <a:off x="7040880" y="1627632"/>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[Open position] – Mobile/web developer</a:t>
            </a:r>
            <a:endParaRPr lang="en-US" sz="1500" dirty="0"/>
          </a:p>
        </p:txBody>
      </p:sp>
      <p:sp>
        <p:nvSpPr>
          <p:cNvPr id="22" name="Text 19"/>
          <p:cNvSpPr txBox="1"/>
          <p:nvPr/>
        </p:nvSpPr>
        <p:spPr>
          <a:xfrm>
            <a:off x="7040880" y="2066544"/>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First hire from the pre-seed (month 3): iOS/Android, PWA, later SDK</a:t>
            </a:r>
            <a:endParaRPr lang="en-US" sz="1200" dirty="0"/>
          </a:p>
        </p:txBody>
      </p:sp>
      <p:sp>
        <p:nvSpPr>
          <p:cNvPr id="23" name="Shape 20"/>
          <p:cNvSpPr/>
          <p:nvPr/>
        </p:nvSpPr>
        <p:spPr>
          <a:xfrm>
            <a:off x="5943600" y="2907792"/>
            <a:ext cx="5696712" cy="1389888"/>
          </a:xfrm>
          <a:prstGeom prst="roundRect">
            <a:avLst>
              <a:gd name="adj" fmla="val 7895"/>
            </a:avLst>
          </a:prstGeom>
          <a:solidFill>
            <a:srgbClr val="181B23"/>
          </a:solidFill>
          <a:ln w="12700">
            <a:solidFill>
              <a:srgbClr val="181B23"/>
            </a:solidFill>
            <a:prstDash val="solid"/>
          </a:ln>
        </p:spPr>
      </p:sp>
      <p:sp>
        <p:nvSpPr>
          <p:cNvPr id="24" name="Shape 21"/>
          <p:cNvSpPr/>
          <p:nvPr/>
        </p:nvSpPr>
        <p:spPr>
          <a:xfrm>
            <a:off x="6172200" y="3282696"/>
            <a:ext cx="640080" cy="640080"/>
          </a:xfrm>
          <a:prstGeom prst="ellipse">
            <a:avLst/>
          </a:prstGeom>
          <a:solidFill>
            <a:srgbClr val="1F2330"/>
          </a:solidFill>
          <a:ln w="19050">
            <a:solidFill>
              <a:srgbClr val="FFD166"/>
            </a:solidFill>
            <a:prstDash val="dash"/>
          </a:ln>
        </p:spPr>
      </p:sp>
      <p:sp>
        <p:nvSpPr>
          <p:cNvPr id="25" name="Text 22"/>
          <p:cNvSpPr txBox="1"/>
          <p:nvPr/>
        </p:nvSpPr>
        <p:spPr>
          <a:xfrm>
            <a:off x="6172200" y="3282696"/>
            <a:ext cx="640080" cy="640080"/>
          </a:xfrm>
          <a:prstGeom prst="rect">
            <a:avLst/>
          </a:prstGeom>
          <a:noFill/>
          <a:ln/>
        </p:spPr>
        <p:txBody>
          <a:bodyPr wrap="square" lIns="0" tIns="0" rIns="0" bIns="0" rtlCol="0" anchor="ctr"/>
          <a:lstStyle/>
          <a:p>
            <a:pPr algn="ctr" indent="0" marL="0">
              <a:buNone/>
            </a:pPr>
            <a:r>
              <a:rPr lang="en-US" sz="2000" dirty="0">
                <a:solidFill>
                  <a:srgbClr val="FFD166"/>
                </a:solidFill>
                <a:latin typeface="Arial" pitchFamily="34" charset="0"/>
                <a:ea typeface="Arial" pitchFamily="34" charset="-122"/>
                <a:cs typeface="Arial" pitchFamily="34" charset="-120"/>
              </a:rPr>
              <a:t>+</a:t>
            </a:r>
            <a:endParaRPr lang="en-US" sz="2000" dirty="0"/>
          </a:p>
        </p:txBody>
      </p:sp>
      <p:sp>
        <p:nvSpPr>
          <p:cNvPr id="26" name="Text 23"/>
          <p:cNvSpPr txBox="1"/>
          <p:nvPr/>
        </p:nvSpPr>
        <p:spPr>
          <a:xfrm>
            <a:off x="7040880" y="3163824"/>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[Open position] – Creator partnerships</a:t>
            </a:r>
            <a:endParaRPr lang="en-US" sz="1500" dirty="0"/>
          </a:p>
        </p:txBody>
      </p:sp>
      <p:sp>
        <p:nvSpPr>
          <p:cNvPr id="27" name="Text 24"/>
          <p:cNvSpPr txBox="1"/>
          <p:nvPr/>
        </p:nvSpPr>
        <p:spPr>
          <a:xfrm>
            <a:off x="7040880" y="3602736"/>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Growth TR + DACH, creator program, education sales – with the seed round</a:t>
            </a:r>
            <a:endParaRPr lang="en-US" sz="1200" dirty="0"/>
          </a:p>
        </p:txBody>
      </p:sp>
      <p:sp>
        <p:nvSpPr>
          <p:cNvPr id="28" name="Shape 25"/>
          <p:cNvSpPr/>
          <p:nvPr/>
        </p:nvSpPr>
        <p:spPr>
          <a:xfrm>
            <a:off x="5943600" y="4443984"/>
            <a:ext cx="5696712" cy="1389888"/>
          </a:xfrm>
          <a:prstGeom prst="roundRect">
            <a:avLst>
              <a:gd name="adj" fmla="val 7895"/>
            </a:avLst>
          </a:prstGeom>
          <a:solidFill>
            <a:srgbClr val="181B23"/>
          </a:solidFill>
          <a:ln w="12700">
            <a:solidFill>
              <a:srgbClr val="181B23"/>
            </a:solidFill>
            <a:prstDash val="solid"/>
          </a:ln>
        </p:spPr>
      </p:sp>
      <p:sp>
        <p:nvSpPr>
          <p:cNvPr id="29" name="Shape 26"/>
          <p:cNvSpPr/>
          <p:nvPr/>
        </p:nvSpPr>
        <p:spPr>
          <a:xfrm>
            <a:off x="6172200" y="4818888"/>
            <a:ext cx="640080" cy="640080"/>
          </a:xfrm>
          <a:prstGeom prst="ellipse">
            <a:avLst/>
          </a:prstGeom>
          <a:solidFill>
            <a:srgbClr val="1F2330"/>
          </a:solidFill>
          <a:ln w="19050">
            <a:solidFill>
              <a:srgbClr val="9AA3B5"/>
            </a:solidFill>
            <a:prstDash val="dash"/>
          </a:ln>
        </p:spPr>
      </p:sp>
      <p:sp>
        <p:nvSpPr>
          <p:cNvPr id="30" name="Text 27"/>
          <p:cNvSpPr txBox="1"/>
          <p:nvPr/>
        </p:nvSpPr>
        <p:spPr>
          <a:xfrm>
            <a:off x="6172200" y="4818888"/>
            <a:ext cx="640080" cy="640080"/>
          </a:xfrm>
          <a:prstGeom prst="rect">
            <a:avLst/>
          </a:prstGeom>
          <a:noFill/>
          <a:ln/>
        </p:spPr>
        <p:txBody>
          <a:bodyPr wrap="square" lIns="0" tIns="0" rIns="0" bIns="0" rtlCol="0" anchor="ctr"/>
          <a:lstStyle/>
          <a:p>
            <a:pPr algn="ctr" indent="0" marL="0">
              <a:buNone/>
            </a:pPr>
            <a:r>
              <a:rPr lang="en-US" sz="2000" dirty="0">
                <a:solidFill>
                  <a:srgbClr val="9AA3B5"/>
                </a:solidFill>
                <a:latin typeface="Arial" pitchFamily="34" charset="0"/>
                <a:ea typeface="Arial" pitchFamily="34" charset="-122"/>
                <a:cs typeface="Arial" pitchFamily="34" charset="-120"/>
              </a:rPr>
              <a:t>★</a:t>
            </a:r>
            <a:endParaRPr lang="en-US" sz="2000" dirty="0"/>
          </a:p>
        </p:txBody>
      </p:sp>
      <p:sp>
        <p:nvSpPr>
          <p:cNvPr id="31" name="Text 28"/>
          <p:cNvSpPr txBox="1"/>
          <p:nvPr/>
        </p:nvSpPr>
        <p:spPr>
          <a:xfrm>
            <a:off x="7040880" y="4700016"/>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Advisory board / partners</a:t>
            </a:r>
            <a:endParaRPr lang="en-US" sz="1500" dirty="0"/>
          </a:p>
        </p:txBody>
      </p:sp>
      <p:sp>
        <p:nvSpPr>
          <p:cNvPr id="32" name="Text 29"/>
          <p:cNvSpPr txBox="1"/>
          <p:nvPr/>
        </p:nvSpPr>
        <p:spPr>
          <a:xfrm>
            <a:off x="7040880" y="5138928"/>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Wanted: creator management TR · former platform “Live” product lead · EdTech/didactics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FINANCIALS &amp; VALUATION · ESTIMATE</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€250k for 18 months – then the seed round</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17</a:t>
            </a:r>
            <a:endParaRPr lang="en-US" sz="900" dirty="0"/>
          </a:p>
        </p:txBody>
      </p:sp>
      <p:sp>
        <p:nvSpPr>
          <p:cNvPr id="6" name="Text 3"/>
          <p:cNvSpPr txBox="1"/>
          <p:nvPr/>
        </p:nvSpPr>
        <p:spPr>
          <a:xfrm>
            <a:off x="548640" y="1298448"/>
            <a:ext cx="6583680" cy="292608"/>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5-year P&amp;L, base scenario (€k)</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583680" cy="914400"/>
        </p:xfrm>
        <a:graphic>
          <a:graphicData uri="http://schemas.openxmlformats.org/drawingml/2006/table">
            <a:tbl>
              <a:tblPr/>
              <a:tblGrid>
                <a:gridCol w="1600200"/>
                <a:gridCol w="996696"/>
                <a:gridCol w="996696"/>
                <a:gridCol w="996696"/>
                <a:gridCol w="996696"/>
                <a:gridCol w="996696"/>
              </a:tblGrid>
              <a:tr h="365760">
                <a:tc>
                  <a:txBody>
                    <a:bodyPr/>
                    <a:lstStyle/>
                    <a:p>
                      <a:pPr algn="l" indent="0" marL="0">
                        <a:buNone/>
                      </a:pPr>
                      <a:r>
                        <a:rPr lang="en-US" sz="1200" b="1" dirty="0">
                          <a:solidFill>
                            <a:srgbClr val="FFD166"/>
                          </a:solidFill>
                          <a:latin typeface="Arial" pitchFamily="34" charset="0"/>
                          <a:ea typeface="Arial" pitchFamily="34" charset="-122"/>
                          <a:cs typeface="Arial" pitchFamily="34" charset="-120"/>
                        </a:rPr>
                        <a:t>€k</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2027</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2029</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2030</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algn="r" indent="0" marL="0">
                        <a:buNone/>
                      </a:pPr>
                      <a:r>
                        <a:rPr lang="en-US" sz="1200" b="1" dirty="0">
                          <a:solidFill>
                            <a:srgbClr val="FFD166"/>
                          </a:solidFill>
                          <a:latin typeface="Arial" pitchFamily="34" charset="0"/>
                          <a:ea typeface="Arial" pitchFamily="34" charset="-122"/>
                          <a:cs typeface="Arial" pitchFamily="34" charset="-120"/>
                        </a:rPr>
                        <a:t>2031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Revenue</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336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1,038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1,984</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3,152</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Costs</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166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295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710</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1,065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1,491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EBITDA</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−116</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+328</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+919</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algn="r" indent="0" marL="0">
                        <a:buNone/>
                      </a:pPr>
                      <a:r>
                        <a:rPr lang="en-US" sz="1200" b="1" dirty="0">
                          <a:solidFill>
                            <a:srgbClr val="FF2D75"/>
                          </a:solidFill>
                          <a:latin typeface="Arial" pitchFamily="34" charset="0"/>
                          <a:ea typeface="Arial" pitchFamily="34" charset="-122"/>
                          <a:cs typeface="Arial" pitchFamily="34" charset="-120"/>
                        </a:rPr>
                        <a:t>+1,661</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r h="365760">
                <a:tc>
                  <a:txBody>
                    <a:bodyPr/>
                    <a:lstStyle/>
                    <a:p>
                      <a:pPr algn="l" indent="0" marL="0">
                        <a:buNone/>
                      </a:pPr>
                      <a:r>
                        <a:rPr lang="en-US" sz="1200" b="1" dirty="0">
                          <a:solidFill>
                            <a:srgbClr val="9AA3B5"/>
                          </a:solidFill>
                          <a:latin typeface="Arial" pitchFamily="34" charset="0"/>
                          <a:ea typeface="Arial" pitchFamily="34" charset="-122"/>
                          <a:cs typeface="Arial" pitchFamily="34" charset="-120"/>
                        </a:rPr>
                        <a:t>Cash, year end</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175</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503</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1,422</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algn="r" indent="0" marL="0">
                        <a:buNone/>
                      </a:pPr>
                      <a:r>
                        <a:rPr lang="en-US" sz="1200" dirty="0">
                          <a:solidFill>
                            <a:srgbClr val="FFFFFF"/>
                          </a:solidFill>
                          <a:latin typeface="Arial" pitchFamily="34" charset="0"/>
                          <a:ea typeface="Arial" pitchFamily="34" charset="-122"/>
                          <a:cs typeface="Arial" pitchFamily="34" charset="-120"/>
                        </a:rPr>
                        <a:t>3,083</a:t>
                      </a:r>
                      <a:endParaRPr lang="en-US" sz="1200" dirty="0">
                        <a:latin typeface="Arial" charset="0"/>
                        <a:ea typeface="Arial" charset="0"/>
                        <a:cs typeface="Arial" charset="0"/>
                      </a:endParaRPr>
                    </a:p>
                  </a:txBody>
                  <a:tcPr marL="91440" marR="91440" marT="0" marB="0"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bl>
          </a:graphicData>
        </a:graphic>
      </p:graphicFrame>
      <p:sp>
        <p:nvSpPr>
          <p:cNvPr id="8" name="Text 4"/>
          <p:cNvSpPr txBox="1"/>
          <p:nvPr/>
        </p:nvSpPr>
        <p:spPr>
          <a:xfrm>
            <a:off x="548640" y="3529584"/>
            <a:ext cx="6583680" cy="384048"/>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Revenue 2031: conservative €602k · optimistic €7.44M. Years 4–5 extrapolated; no revenue yet.</a:t>
            </a:r>
            <a:endParaRPr lang="en-US" sz="1000" dirty="0"/>
          </a:p>
        </p:txBody>
      </p:sp>
      <p:sp>
        <p:nvSpPr>
          <p:cNvPr id="9" name="Shape 5"/>
          <p:cNvSpPr/>
          <p:nvPr/>
        </p:nvSpPr>
        <p:spPr>
          <a:xfrm>
            <a:off x="548640" y="4160520"/>
            <a:ext cx="2103120" cy="1417320"/>
          </a:xfrm>
          <a:prstGeom prst="roundRect">
            <a:avLst>
              <a:gd name="adj" fmla="val 7742"/>
            </a:avLst>
          </a:prstGeom>
          <a:solidFill>
            <a:srgbClr val="181B23"/>
          </a:solidFill>
          <a:ln w="12700">
            <a:solidFill>
              <a:srgbClr val="181B23"/>
            </a:solidFill>
            <a:prstDash val="solid"/>
          </a:ln>
        </p:spPr>
      </p:sp>
      <p:sp>
        <p:nvSpPr>
          <p:cNvPr id="10" name="Text 6"/>
          <p:cNvSpPr txBox="1"/>
          <p:nvPr/>
        </p:nvSpPr>
        <p:spPr>
          <a:xfrm>
            <a:off x="713232" y="4270248"/>
            <a:ext cx="1773936" cy="502920"/>
          </a:xfrm>
          <a:prstGeom prst="rect">
            <a:avLst/>
          </a:prstGeom>
          <a:noFill/>
          <a:ln/>
        </p:spPr>
        <p:txBody>
          <a:bodyPr wrap="square" lIns="0" tIns="0" rIns="0" bIns="0" rtlCol="0" anchor="t">
            <a:normAutofit/>
          </a:bodyPr>
          <a:lstStyle/>
          <a:p>
            <a:pPr indent="0" marL="0">
              <a:buNone/>
            </a:pPr>
            <a:r>
              <a:rPr lang="en-US" sz="2200" b="1" dirty="0">
                <a:solidFill>
                  <a:srgbClr val="2DFFB5"/>
                </a:solidFill>
                <a:latin typeface="Arial" pitchFamily="34" charset="0"/>
                <a:ea typeface="Arial" pitchFamily="34" charset="-122"/>
                <a:cs typeface="Arial" pitchFamily="34" charset="-120"/>
              </a:rPr>
              <a:t>18 months</a:t>
            </a:r>
            <a:endParaRPr lang="en-US" sz="2200" dirty="0"/>
          </a:p>
        </p:txBody>
      </p:sp>
      <p:sp>
        <p:nvSpPr>
          <p:cNvPr id="11" name="Text 7"/>
          <p:cNvSpPr txBox="1"/>
          <p:nvPr/>
        </p:nvSpPr>
        <p:spPr>
          <a:xfrm>
            <a:off x="71323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runway with no revenue at all – average burn €13,444 per month</a:t>
            </a:r>
            <a:endParaRPr lang="en-US" sz="1100" dirty="0"/>
          </a:p>
        </p:txBody>
      </p:sp>
      <p:sp>
        <p:nvSpPr>
          <p:cNvPr id="12" name="Shape 8"/>
          <p:cNvSpPr/>
          <p:nvPr/>
        </p:nvSpPr>
        <p:spPr>
          <a:xfrm>
            <a:off x="2788920" y="4160520"/>
            <a:ext cx="2103120" cy="1417320"/>
          </a:xfrm>
          <a:prstGeom prst="roundRect">
            <a:avLst>
              <a:gd name="adj" fmla="val 7742"/>
            </a:avLst>
          </a:prstGeom>
          <a:solidFill>
            <a:srgbClr val="181B23"/>
          </a:solidFill>
          <a:ln w="12700">
            <a:solidFill>
              <a:srgbClr val="181B23"/>
            </a:solidFill>
            <a:prstDash val="solid"/>
          </a:ln>
        </p:spPr>
      </p:sp>
      <p:sp>
        <p:nvSpPr>
          <p:cNvPr id="13" name="Text 9"/>
          <p:cNvSpPr txBox="1"/>
          <p:nvPr/>
        </p:nvSpPr>
        <p:spPr>
          <a:xfrm>
            <a:off x="2953512" y="4270248"/>
            <a:ext cx="1773936" cy="502920"/>
          </a:xfrm>
          <a:prstGeom prst="rect">
            <a:avLst/>
          </a:prstGeom>
          <a:noFill/>
          <a:ln/>
        </p:spPr>
        <p:txBody>
          <a:bodyPr wrap="square" lIns="0" tIns="0" rIns="0" bIns="0" rtlCol="0" anchor="t">
            <a:normAutofit/>
          </a:bodyPr>
          <a:lstStyle/>
          <a:p>
            <a:pPr indent="0" marL="0">
              <a:buNone/>
            </a:pPr>
            <a:r>
              <a:rPr lang="en-US" sz="1700" b="1" dirty="0">
                <a:solidFill>
                  <a:srgbClr val="5AD1FF"/>
                </a:solidFill>
                <a:latin typeface="Arial" pitchFamily="34" charset="0"/>
                <a:ea typeface="Arial" pitchFamily="34" charset="-122"/>
                <a:cs typeface="Arial" pitchFamily="34" charset="-120"/>
              </a:rPr>
              <a:t>€49k · €146k · €369k</a:t>
            </a:r>
            <a:endParaRPr lang="en-US" sz="1700" dirty="0"/>
          </a:p>
        </p:txBody>
      </p:sp>
      <p:sp>
        <p:nvSpPr>
          <p:cNvPr id="14" name="Text 10"/>
          <p:cNvSpPr txBox="1"/>
          <p:nvPr/>
        </p:nvSpPr>
        <p:spPr>
          <a:xfrm>
            <a:off x="295351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cash at month 18: conservative · base · optimistic</a:t>
            </a:r>
            <a:endParaRPr lang="en-US" sz="1100" dirty="0"/>
          </a:p>
        </p:txBody>
      </p:sp>
      <p:sp>
        <p:nvSpPr>
          <p:cNvPr id="15" name="Shape 11"/>
          <p:cNvSpPr/>
          <p:nvPr/>
        </p:nvSpPr>
        <p:spPr>
          <a:xfrm>
            <a:off x="5029200" y="4160520"/>
            <a:ext cx="2103120" cy="1417320"/>
          </a:xfrm>
          <a:prstGeom prst="roundRect">
            <a:avLst>
              <a:gd name="adj" fmla="val 7742"/>
            </a:avLst>
          </a:prstGeom>
          <a:solidFill>
            <a:srgbClr val="181B23"/>
          </a:solidFill>
          <a:ln w="12700">
            <a:solidFill>
              <a:srgbClr val="181B23"/>
            </a:solidFill>
            <a:prstDash val="solid"/>
          </a:ln>
        </p:spPr>
      </p:sp>
      <p:sp>
        <p:nvSpPr>
          <p:cNvPr id="16" name="Text 12"/>
          <p:cNvSpPr txBox="1"/>
          <p:nvPr/>
        </p:nvSpPr>
        <p:spPr>
          <a:xfrm>
            <a:off x="5193792" y="4270248"/>
            <a:ext cx="1773936" cy="502920"/>
          </a:xfrm>
          <a:prstGeom prst="rect">
            <a:avLst/>
          </a:prstGeom>
          <a:noFill/>
          <a:ln/>
        </p:spPr>
        <p:txBody>
          <a:bodyPr wrap="square" lIns="0" tIns="0" rIns="0" bIns="0" rtlCol="0" anchor="t">
            <a:normAutofit/>
          </a:bodyPr>
          <a:lstStyle/>
          <a:p>
            <a:pPr indent="0" marL="0">
              <a:buNone/>
            </a:pPr>
            <a:r>
              <a:rPr lang="en-US" sz="2200" b="1" dirty="0">
                <a:solidFill>
                  <a:srgbClr val="FF2D75"/>
                </a:solidFill>
                <a:latin typeface="Arial" pitchFamily="34" charset="0"/>
                <a:ea typeface="Arial" pitchFamily="34" charset="-122"/>
                <a:cs typeface="Arial" pitchFamily="34" charset="-120"/>
              </a:rPr>
              <a:t>~€350k</a:t>
            </a:r>
            <a:endParaRPr lang="en-US" sz="2200" dirty="0"/>
          </a:p>
        </p:txBody>
      </p:sp>
      <p:sp>
        <p:nvSpPr>
          <p:cNvPr id="17" name="Text 13"/>
          <p:cNvSpPr txBox="1"/>
          <p:nvPr/>
        </p:nvSpPr>
        <p:spPr>
          <a:xfrm>
            <a:off x="5193792" y="4818888"/>
            <a:ext cx="1773936" cy="69494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seed round after Gate 2 (months 15–18)</a:t>
            </a:r>
            <a:endParaRPr lang="en-US" sz="1100" dirty="0"/>
          </a:p>
        </p:txBody>
      </p:sp>
      <p:sp>
        <p:nvSpPr>
          <p:cNvPr id="18" name="Text 14"/>
          <p:cNvSpPr txBox="1"/>
          <p:nvPr/>
        </p:nvSpPr>
        <p:spPr>
          <a:xfrm>
            <a:off x="7406640" y="1298448"/>
            <a:ext cx="4236415" cy="292608"/>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Reference methods (pre-money)</a:t>
            </a:r>
            <a:endParaRPr lang="en-US" sz="1300" dirty="0"/>
          </a:p>
        </p:txBody>
      </p:sp>
      <p:sp>
        <p:nvSpPr>
          <p:cNvPr id="19" name="Text 15"/>
          <p:cNvSpPr txBox="1"/>
          <p:nvPr/>
        </p:nvSpPr>
        <p:spPr>
          <a:xfrm>
            <a:off x="7406640" y="1691640"/>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Berkus</a:t>
            </a:r>
            <a:endParaRPr lang="en-US" sz="1100" dirty="0"/>
          </a:p>
        </p:txBody>
      </p:sp>
      <p:sp>
        <p:nvSpPr>
          <p:cNvPr id="20" name="Shape 16"/>
          <p:cNvSpPr/>
          <p:nvPr/>
        </p:nvSpPr>
        <p:spPr>
          <a:xfrm>
            <a:off x="8641080" y="1737360"/>
            <a:ext cx="1671081" cy="201168"/>
          </a:xfrm>
          <a:prstGeom prst="rect">
            <a:avLst/>
          </a:prstGeom>
          <a:solidFill>
            <a:srgbClr val="2DFFB5"/>
          </a:solidFill>
          <a:ln/>
        </p:spPr>
      </p:sp>
      <p:sp>
        <p:nvSpPr>
          <p:cNvPr id="21" name="Text 17"/>
          <p:cNvSpPr txBox="1"/>
          <p:nvPr/>
        </p:nvSpPr>
        <p:spPr>
          <a:xfrm>
            <a:off x="10385313" y="1691640"/>
            <a:ext cx="822960" cy="292608"/>
          </a:xfrm>
          <a:prstGeom prst="rect">
            <a:avLst/>
          </a:prstGeom>
          <a:noFill/>
          <a:ln/>
        </p:spPr>
        <p:txBody>
          <a:bodyPr wrap="square" lIns="0" tIns="0" rIns="0" bIns="0" rtlCol="0" anchor="ctr">
            <a:normAutofit/>
          </a:bodyPr>
          <a:lstStyle/>
          <a:p>
            <a:pPr indent="0" marL="0">
              <a:buNone/>
            </a:pPr>
            <a:r>
              <a:rPr lang="en-US" sz="1100" b="1" dirty="0">
                <a:solidFill>
                  <a:srgbClr val="2DFFB5"/>
                </a:solidFill>
                <a:latin typeface="Arial" pitchFamily="34" charset="0"/>
                <a:ea typeface="Arial" pitchFamily="34" charset="-122"/>
                <a:cs typeface="Arial" pitchFamily="34" charset="-120"/>
              </a:rPr>
              <a:t>€2.35M</a:t>
            </a:r>
            <a:endParaRPr lang="en-US" sz="1100" dirty="0"/>
          </a:p>
        </p:txBody>
      </p:sp>
      <p:sp>
        <p:nvSpPr>
          <p:cNvPr id="22" name="Text 18"/>
          <p:cNvSpPr txBox="1"/>
          <p:nvPr/>
        </p:nvSpPr>
        <p:spPr>
          <a:xfrm>
            <a:off x="7406640" y="2075688"/>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Scorecard</a:t>
            </a:r>
            <a:endParaRPr lang="en-US" sz="1100" dirty="0"/>
          </a:p>
        </p:txBody>
      </p:sp>
      <p:sp>
        <p:nvSpPr>
          <p:cNvPr id="23" name="Shape 19"/>
          <p:cNvSpPr/>
          <p:nvPr/>
        </p:nvSpPr>
        <p:spPr>
          <a:xfrm>
            <a:off x="8641080" y="2121408"/>
            <a:ext cx="2097740" cy="201168"/>
          </a:xfrm>
          <a:prstGeom prst="rect">
            <a:avLst/>
          </a:prstGeom>
          <a:solidFill>
            <a:srgbClr val="5AD1FF"/>
          </a:solidFill>
          <a:ln/>
        </p:spPr>
      </p:sp>
      <p:sp>
        <p:nvSpPr>
          <p:cNvPr id="24" name="Text 20"/>
          <p:cNvSpPr txBox="1"/>
          <p:nvPr/>
        </p:nvSpPr>
        <p:spPr>
          <a:xfrm>
            <a:off x="10811972" y="2075688"/>
            <a:ext cx="822960" cy="292608"/>
          </a:xfrm>
          <a:prstGeom prst="rect">
            <a:avLst/>
          </a:prstGeom>
          <a:noFill/>
          <a:ln/>
        </p:spPr>
        <p:txBody>
          <a:bodyPr wrap="square" lIns="0" tIns="0" rIns="0" bIns="0" rtlCol="0" anchor="ctr">
            <a:normAutofit/>
          </a:bodyPr>
          <a:lstStyle/>
          <a:p>
            <a:pPr indent="0" marL="0">
              <a:buNone/>
            </a:pPr>
            <a:r>
              <a:rPr lang="en-US" sz="1100" b="1" dirty="0">
                <a:solidFill>
                  <a:srgbClr val="5AD1FF"/>
                </a:solidFill>
                <a:latin typeface="Arial" pitchFamily="34" charset="0"/>
                <a:ea typeface="Arial" pitchFamily="34" charset="-122"/>
                <a:cs typeface="Arial" pitchFamily="34" charset="-120"/>
              </a:rPr>
              <a:t>€2.95M</a:t>
            </a:r>
            <a:endParaRPr lang="en-US" sz="1100" dirty="0"/>
          </a:p>
        </p:txBody>
      </p:sp>
      <p:sp>
        <p:nvSpPr>
          <p:cNvPr id="25" name="Text 21"/>
          <p:cNvSpPr txBox="1"/>
          <p:nvPr/>
        </p:nvSpPr>
        <p:spPr>
          <a:xfrm>
            <a:off x="7406640" y="2459736"/>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VC method</a:t>
            </a:r>
            <a:endParaRPr lang="en-US" sz="1100" dirty="0"/>
          </a:p>
        </p:txBody>
      </p:sp>
      <p:sp>
        <p:nvSpPr>
          <p:cNvPr id="26" name="Shape 22"/>
          <p:cNvSpPr/>
          <p:nvPr/>
        </p:nvSpPr>
        <p:spPr>
          <a:xfrm>
            <a:off x="8641080" y="2505456"/>
            <a:ext cx="1727969" cy="201168"/>
          </a:xfrm>
          <a:prstGeom prst="rect">
            <a:avLst/>
          </a:prstGeom>
          <a:solidFill>
            <a:srgbClr val="9AA3B5"/>
          </a:solidFill>
          <a:ln/>
        </p:spPr>
      </p:sp>
      <p:sp>
        <p:nvSpPr>
          <p:cNvPr id="27" name="Text 23"/>
          <p:cNvSpPr txBox="1"/>
          <p:nvPr/>
        </p:nvSpPr>
        <p:spPr>
          <a:xfrm>
            <a:off x="10442201" y="2459736"/>
            <a:ext cx="822960" cy="292608"/>
          </a:xfrm>
          <a:prstGeom prst="rect">
            <a:avLst/>
          </a:prstGeom>
          <a:noFill/>
          <a:ln/>
        </p:spPr>
        <p:txBody>
          <a:bodyPr wrap="square" lIns="0" tIns="0" rIns="0" bIns="0" rtlCol="0" anchor="ctr">
            <a:normAutofit/>
          </a:bodyPr>
          <a:lstStyle/>
          <a:p>
            <a:pPr indent="0" marL="0">
              <a:buNone/>
            </a:pPr>
            <a:r>
              <a:rPr lang="en-US" sz="1100" b="1" dirty="0">
                <a:solidFill>
                  <a:srgbClr val="9AA3B5"/>
                </a:solidFill>
                <a:latin typeface="Arial" pitchFamily="34" charset="0"/>
                <a:ea typeface="Arial" pitchFamily="34" charset="-122"/>
                <a:cs typeface="Arial" pitchFamily="34" charset="-120"/>
              </a:rPr>
              <a:t>€2.43M</a:t>
            </a:r>
            <a:endParaRPr lang="en-US" sz="1100" dirty="0"/>
          </a:p>
        </p:txBody>
      </p:sp>
      <p:sp>
        <p:nvSpPr>
          <p:cNvPr id="28" name="Text 24"/>
          <p:cNvSpPr txBox="1"/>
          <p:nvPr/>
        </p:nvSpPr>
        <p:spPr>
          <a:xfrm>
            <a:off x="7406640" y="2843784"/>
            <a:ext cx="1143000" cy="292608"/>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Arial" pitchFamily="34" charset="0"/>
                <a:ea typeface="Arial" pitchFamily="34" charset="-122"/>
                <a:cs typeface="Arial" pitchFamily="34" charset="-120"/>
              </a:rPr>
              <a:t>Risk factor sum.</a:t>
            </a:r>
            <a:endParaRPr lang="en-US" sz="1100" dirty="0"/>
          </a:p>
        </p:txBody>
      </p:sp>
      <p:sp>
        <p:nvSpPr>
          <p:cNvPr id="29" name="Shape 25"/>
          <p:cNvSpPr/>
          <p:nvPr/>
        </p:nvSpPr>
        <p:spPr>
          <a:xfrm>
            <a:off x="8641080" y="2889504"/>
            <a:ext cx="2133295" cy="201168"/>
          </a:xfrm>
          <a:prstGeom prst="rect">
            <a:avLst/>
          </a:prstGeom>
          <a:solidFill>
            <a:srgbClr val="2DFFB5"/>
          </a:solidFill>
          <a:ln/>
        </p:spPr>
      </p:sp>
      <p:sp>
        <p:nvSpPr>
          <p:cNvPr id="30" name="Text 26"/>
          <p:cNvSpPr txBox="1"/>
          <p:nvPr/>
        </p:nvSpPr>
        <p:spPr>
          <a:xfrm>
            <a:off x="10847527" y="2843784"/>
            <a:ext cx="822960" cy="292608"/>
          </a:xfrm>
          <a:prstGeom prst="rect">
            <a:avLst/>
          </a:prstGeom>
          <a:noFill/>
          <a:ln/>
        </p:spPr>
        <p:txBody>
          <a:bodyPr wrap="square" lIns="0" tIns="0" rIns="0" bIns="0" rtlCol="0" anchor="ctr">
            <a:normAutofit/>
          </a:bodyPr>
          <a:lstStyle/>
          <a:p>
            <a:pPr indent="0" marL="0">
              <a:buNone/>
            </a:pPr>
            <a:r>
              <a:rPr lang="en-US" sz="1100" b="1" dirty="0">
                <a:solidFill>
                  <a:srgbClr val="2DFFB5"/>
                </a:solidFill>
                <a:latin typeface="Arial" pitchFamily="34" charset="0"/>
                <a:ea typeface="Arial" pitchFamily="34" charset="-122"/>
                <a:cs typeface="Arial" pitchFamily="34" charset="-120"/>
              </a:rPr>
              <a:t>€3.0M</a:t>
            </a:r>
            <a:endParaRPr lang="en-US" sz="1100" dirty="0"/>
          </a:p>
        </p:txBody>
      </p:sp>
      <p:sp>
        <p:nvSpPr>
          <p:cNvPr id="31" name="Shape 27"/>
          <p:cNvSpPr/>
          <p:nvPr/>
        </p:nvSpPr>
        <p:spPr>
          <a:xfrm>
            <a:off x="7406640" y="3337560"/>
            <a:ext cx="4236415" cy="1325880"/>
          </a:xfrm>
          <a:prstGeom prst="roundRect">
            <a:avLst>
              <a:gd name="adj" fmla="val 8276"/>
            </a:avLst>
          </a:prstGeom>
          <a:solidFill>
            <a:srgbClr val="1F2330"/>
          </a:solidFill>
          <a:ln w="15875">
            <a:solidFill>
              <a:srgbClr val="FF2D75"/>
            </a:solidFill>
            <a:prstDash val="solid"/>
          </a:ln>
        </p:spPr>
      </p:sp>
      <p:sp>
        <p:nvSpPr>
          <p:cNvPr id="32" name="Text 28"/>
          <p:cNvSpPr txBox="1"/>
          <p:nvPr/>
        </p:nvSpPr>
        <p:spPr>
          <a:xfrm>
            <a:off x="7607808" y="3429000"/>
            <a:ext cx="3834079" cy="274320"/>
          </a:xfrm>
          <a:prstGeom prst="rect">
            <a:avLst/>
          </a:prstGeom>
          <a:noFill/>
          <a:ln/>
        </p:spPr>
        <p:txBody>
          <a:bodyPr wrap="square" lIns="0" tIns="0" rIns="0" bIns="0" rtlCol="0" anchor="t">
            <a:normAutofit/>
          </a:bodyPr>
          <a:lstStyle/>
          <a:p>
            <a:pPr indent="0" marL="0">
              <a:buNone/>
            </a:pPr>
            <a:r>
              <a:rPr lang="en-US" sz="1100" b="1" dirty="0">
                <a:solidFill>
                  <a:srgbClr val="9AA3B5"/>
                </a:solidFill>
                <a:latin typeface="Arial" pitchFamily="34" charset="0"/>
                <a:ea typeface="Arial" pitchFamily="34" charset="-122"/>
                <a:cs typeface="Arial" pitchFamily="34" charset="-120"/>
              </a:rPr>
              <a:t>Founder offer · below every reference method</a:t>
            </a:r>
            <a:endParaRPr lang="en-US" sz="1100" dirty="0"/>
          </a:p>
        </p:txBody>
      </p:sp>
      <p:sp>
        <p:nvSpPr>
          <p:cNvPr id="33" name="Text 29"/>
          <p:cNvSpPr txBox="1"/>
          <p:nvPr/>
        </p:nvSpPr>
        <p:spPr>
          <a:xfrm>
            <a:off x="7607808" y="3685032"/>
            <a:ext cx="3834079" cy="548640"/>
          </a:xfrm>
          <a:prstGeom prst="rect">
            <a:avLst/>
          </a:prstGeom>
          <a:noFill/>
          <a:ln/>
        </p:spPr>
        <p:txBody>
          <a:bodyPr wrap="square" lIns="0" tIns="0" rIns="0" bIns="0" rtlCol="0" anchor="t">
            <a:normAutofit/>
          </a:bodyPr>
          <a:lstStyle/>
          <a:p>
            <a:pPr indent="0" marL="0">
              <a:buNone/>
            </a:pPr>
            <a:r>
              <a:rPr lang="en-US" sz="3200" b="1" dirty="0">
                <a:solidFill>
                  <a:srgbClr val="FF2D75"/>
                </a:solidFill>
                <a:latin typeface="Arial" pitchFamily="34" charset="0"/>
                <a:ea typeface="Arial" pitchFamily="34" charset="-122"/>
                <a:cs typeface="Arial" pitchFamily="34" charset="-120"/>
              </a:rPr>
              <a:t>€2.25M</a:t>
            </a:r>
            <a:endParaRPr lang="en-US" sz="3200" dirty="0"/>
          </a:p>
        </p:txBody>
      </p:sp>
      <p:sp>
        <p:nvSpPr>
          <p:cNvPr id="34" name="Text 30"/>
          <p:cNvSpPr txBox="1"/>
          <p:nvPr/>
        </p:nvSpPr>
        <p:spPr>
          <a:xfrm>
            <a:off x="7607808" y="4233672"/>
            <a:ext cx="3834079" cy="365760"/>
          </a:xfrm>
          <a:prstGeom prst="rect">
            <a:avLst/>
          </a:prstGeom>
          <a:noFill/>
          <a:ln/>
        </p:spPr>
        <p:txBody>
          <a:bodyPr wrap="square" lIns="0" tIns="0" rIns="0" bIns="0" rtlCol="0" anchor="t">
            <a:normAutofit/>
          </a:bodyPr>
          <a:lstStyle/>
          <a:p>
            <a:pPr indent="0" marL="0">
              <a:buNone/>
            </a:pPr>
            <a:r>
              <a:rPr lang="en-US" sz="1200" b="1" dirty="0">
                <a:solidFill>
                  <a:srgbClr val="FFFFFF"/>
                </a:solidFill>
                <a:latin typeface="Arial" pitchFamily="34" charset="0"/>
                <a:ea typeface="Arial" pitchFamily="34" charset="-122"/>
                <a:cs typeface="Arial" pitchFamily="34" charset="-120"/>
              </a:rPr>
              <a:t>pre-money · €250k for 10.0% · post-money €2.5M</a:t>
            </a:r>
            <a:endParaRPr lang="en-US" sz="1200" dirty="0"/>
          </a:p>
        </p:txBody>
      </p:sp>
      <p:sp>
        <p:nvSpPr>
          <p:cNvPr id="35" name="Shape 31"/>
          <p:cNvSpPr/>
          <p:nvPr/>
        </p:nvSpPr>
        <p:spPr>
          <a:xfrm>
            <a:off x="7406640" y="4800600"/>
            <a:ext cx="4236415" cy="777240"/>
          </a:xfrm>
          <a:prstGeom prst="roundRect">
            <a:avLst>
              <a:gd name="adj" fmla="val 14118"/>
            </a:avLst>
          </a:prstGeom>
          <a:solidFill>
            <a:srgbClr val="181B23"/>
          </a:solidFill>
          <a:ln w="12700">
            <a:solidFill>
              <a:srgbClr val="181B23"/>
            </a:solidFill>
            <a:prstDash val="solid"/>
          </a:ln>
        </p:spPr>
      </p:sp>
      <p:sp>
        <p:nvSpPr>
          <p:cNvPr id="36" name="Text 32"/>
          <p:cNvSpPr txBox="1"/>
          <p:nvPr/>
        </p:nvSpPr>
        <p:spPr>
          <a:xfrm>
            <a:off x="7607808" y="4892040"/>
            <a:ext cx="3834079" cy="274320"/>
          </a:xfrm>
          <a:prstGeom prst="rect">
            <a:avLst/>
          </a:prstGeom>
          <a:noFill/>
          <a:ln/>
        </p:spPr>
        <p:txBody>
          <a:bodyPr wrap="square" lIns="0" tIns="0" rIns="0" bIns="0" rtlCol="0" anchor="t">
            <a:normAutofit/>
          </a:bodyPr>
          <a:lstStyle/>
          <a:p>
            <a:pPr indent="0" marL="0">
              <a:buNone/>
            </a:pPr>
            <a:r>
              <a:rPr lang="en-US" sz="1200" b="1" dirty="0">
                <a:solidFill>
                  <a:srgbClr val="5AD1FF"/>
                </a:solidFill>
                <a:latin typeface="Arial" pitchFamily="34" charset="0"/>
                <a:ea typeface="Arial" pitchFamily="34" charset="-122"/>
                <a:cs typeface="Arial" pitchFamily="34" charset="-120"/>
              </a:rPr>
              <a:t>Alternative: SAFE / convertible loan</a:t>
            </a:r>
            <a:endParaRPr lang="en-US" sz="1200" dirty="0"/>
          </a:p>
        </p:txBody>
      </p:sp>
      <p:sp>
        <p:nvSpPr>
          <p:cNvPr id="37" name="Text 33"/>
          <p:cNvSpPr txBox="1"/>
          <p:nvPr/>
        </p:nvSpPr>
        <p:spPr>
          <a:xfrm>
            <a:off x="7607808" y="5184648"/>
            <a:ext cx="3834079" cy="320040"/>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Valuation cap €2.25M · 20% discount (15–20% negotiable) · no interest · converts in the seed round – max. 10%</a:t>
            </a:r>
            <a:endParaRPr lang="en-US" sz="1100" dirty="0"/>
          </a:p>
        </p:txBody>
      </p:sp>
      <p:sp>
        <p:nvSpPr>
          <p:cNvPr id="38" name="Text 34"/>
          <p:cNvSpPr txBox="1"/>
          <p:nvPr/>
        </p:nvSpPr>
        <p:spPr>
          <a:xfrm>
            <a:off x="548640" y="5760720"/>
            <a:ext cx="9997135" cy="457200"/>
          </a:xfrm>
          <a:prstGeom prst="rect">
            <a:avLst/>
          </a:prstGeom>
          <a:noFill/>
          <a:ln/>
        </p:spPr>
        <p:txBody>
          <a:bodyPr wrap="square" lIns="0" tIns="0" rIns="0" bIns="0" rtlCol="0" anchor="t">
            <a:normAutofit/>
          </a:bodyPr>
          <a:lstStyle/>
          <a:p>
            <a:pPr indent="0" marL="0">
              <a:buNone/>
            </a:pPr>
            <a:r>
              <a:rPr lang="en-US" sz="1000" i="1" dirty="0">
                <a:solidFill>
                  <a:srgbClr val="FFD166"/>
                </a:solidFill>
                <a:latin typeface="Arial" pitchFamily="34" charset="0"/>
                <a:ea typeface="Arial" pitchFamily="34" charset="-122"/>
                <a:cs typeface="Arial" pitchFamily="34" charset="-120"/>
              </a:rPr>
              <a:t>Negotiation basis – review with tax/legal advisor. All figures are estimates from LiveFX_Finanzmodell.xlsx (weighted reference value €2.71M).</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MILESTONES · 18 MONTHS</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Gates: what the €250k must prove</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18</a:t>
            </a:r>
            <a:endParaRPr lang="en-US" sz="900" dirty="0"/>
          </a:p>
        </p:txBody>
      </p:sp>
      <p:sp>
        <p:nvSpPr>
          <p:cNvPr id="6" name="Shape 3"/>
          <p:cNvSpPr/>
          <p:nvPr/>
        </p:nvSpPr>
        <p:spPr>
          <a:xfrm>
            <a:off x="822960" y="1618488"/>
            <a:ext cx="10545775" cy="0"/>
          </a:xfrm>
          <a:prstGeom prst="line">
            <a:avLst/>
          </a:prstGeom>
          <a:noFill/>
          <a:ln w="25400">
            <a:solidFill>
              <a:srgbClr val="2A2F3C"/>
            </a:solidFill>
            <a:prstDash val="solid"/>
          </a:ln>
        </p:spPr>
      </p:sp>
      <p:sp>
        <p:nvSpPr>
          <p:cNvPr id="7" name="Shape 4"/>
          <p:cNvSpPr/>
          <p:nvPr/>
        </p:nvSpPr>
        <p:spPr>
          <a:xfrm>
            <a:off x="640080" y="1444752"/>
            <a:ext cx="2487854" cy="347472"/>
          </a:xfrm>
          <a:prstGeom prst="roundRect">
            <a:avLst>
              <a:gd name="adj" fmla="val 50000"/>
            </a:avLst>
          </a:prstGeom>
          <a:solidFill>
            <a:srgbClr val="1F2330"/>
          </a:solidFill>
          <a:ln w="12700">
            <a:solidFill>
              <a:srgbClr val="FF2D75"/>
            </a:solidFill>
            <a:prstDash val="solid"/>
          </a:ln>
        </p:spPr>
      </p:sp>
      <p:sp>
        <p:nvSpPr>
          <p:cNvPr id="8" name="Text 5"/>
          <p:cNvSpPr txBox="1"/>
          <p:nvPr/>
        </p:nvSpPr>
        <p:spPr>
          <a:xfrm>
            <a:off x="640080"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FF2D75"/>
                </a:solidFill>
                <a:latin typeface="Arial" pitchFamily="34" charset="0"/>
                <a:ea typeface="Arial" pitchFamily="34" charset="-122"/>
                <a:cs typeface="Arial" pitchFamily="34" charset="-120"/>
              </a:rPr>
              <a:t>G0  ·  Month 3</a:t>
            </a:r>
            <a:endParaRPr lang="en-US" sz="1200" dirty="0"/>
          </a:p>
        </p:txBody>
      </p:sp>
      <p:sp>
        <p:nvSpPr>
          <p:cNvPr id="9" name="Shape 6"/>
          <p:cNvSpPr/>
          <p:nvPr/>
        </p:nvSpPr>
        <p:spPr>
          <a:xfrm>
            <a:off x="548640" y="1938528"/>
            <a:ext cx="2670734" cy="3703320"/>
          </a:xfrm>
          <a:prstGeom prst="roundRect">
            <a:avLst>
              <a:gd name="adj" fmla="val 4109"/>
            </a:avLst>
          </a:prstGeom>
          <a:solidFill>
            <a:srgbClr val="181B23"/>
          </a:solidFill>
          <a:ln w="12700">
            <a:solidFill>
              <a:srgbClr val="181B23"/>
            </a:solidFill>
            <a:prstDash val="solid"/>
          </a:ln>
        </p:spPr>
      </p:sp>
      <p:sp>
        <p:nvSpPr>
          <p:cNvPr id="10" name="Text 7"/>
          <p:cNvSpPr txBox="1"/>
          <p:nvPr/>
        </p:nvSpPr>
        <p:spPr>
          <a:xfrm>
            <a:off x="749808"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Start</a:t>
            </a:r>
            <a:endParaRPr lang="en-US" sz="1500" dirty="0"/>
          </a:p>
        </p:txBody>
      </p:sp>
      <p:sp>
        <p:nvSpPr>
          <p:cNvPr id="11" name="Text 8"/>
          <p:cNvSpPr txBox="1"/>
          <p:nvPr/>
        </p:nvSpPr>
        <p:spPr>
          <a:xfrm>
            <a:off x="749808"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Pro subscription live (payment)</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Mobile/web developer on board</a:t>
            </a:r>
            <a:endParaRPr lang="en-US" sz="1150" dirty="0"/>
          </a:p>
        </p:txBody>
      </p:sp>
      <p:sp>
        <p:nvSpPr>
          <p:cNvPr id="12" name="Shape 9"/>
          <p:cNvSpPr/>
          <p:nvPr/>
        </p:nvSpPr>
        <p:spPr>
          <a:xfrm>
            <a:off x="749808" y="4846320"/>
            <a:ext cx="2268398" cy="0"/>
          </a:xfrm>
          <a:prstGeom prst="line">
            <a:avLst/>
          </a:prstGeom>
          <a:noFill/>
          <a:ln w="12700">
            <a:solidFill>
              <a:srgbClr val="2A2F3C"/>
            </a:solidFill>
            <a:prstDash val="solid"/>
          </a:ln>
        </p:spPr>
      </p:sp>
      <p:sp>
        <p:nvSpPr>
          <p:cNvPr id="13" name="Text 10"/>
          <p:cNvSpPr txBox="1"/>
          <p:nvPr/>
        </p:nvSpPr>
        <p:spPr>
          <a:xfrm>
            <a:off x="749808"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RELEASES</a:t>
            </a:r>
            <a:endParaRPr lang="en-US" sz="950" dirty="0"/>
          </a:p>
        </p:txBody>
      </p:sp>
      <p:sp>
        <p:nvSpPr>
          <p:cNvPr id="14" name="Text 11"/>
          <p:cNvSpPr txBox="1"/>
          <p:nvPr/>
        </p:nvSpPr>
        <p:spPr>
          <a:xfrm>
            <a:off x="749808"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FF2D75"/>
                </a:solidFill>
                <a:latin typeface="Arial" pitchFamily="34" charset="0"/>
                <a:ea typeface="Arial" pitchFamily="34" charset="-122"/>
                <a:cs typeface="Arial" pitchFamily="34" charset="-120"/>
              </a:rPr>
              <a:t>Go-to-market budget phase 2</a:t>
            </a:r>
            <a:endParaRPr lang="en-US" sz="1100" dirty="0"/>
          </a:p>
        </p:txBody>
      </p:sp>
      <p:sp>
        <p:nvSpPr>
          <p:cNvPr id="15" name="Shape 12"/>
          <p:cNvSpPr/>
          <p:nvPr/>
        </p:nvSpPr>
        <p:spPr>
          <a:xfrm>
            <a:off x="3447974" y="1444752"/>
            <a:ext cx="2487854" cy="347472"/>
          </a:xfrm>
          <a:prstGeom prst="roundRect">
            <a:avLst>
              <a:gd name="adj" fmla="val 50000"/>
            </a:avLst>
          </a:prstGeom>
          <a:solidFill>
            <a:srgbClr val="1F2330"/>
          </a:solidFill>
          <a:ln w="12700">
            <a:solidFill>
              <a:srgbClr val="2DFFB5"/>
            </a:solidFill>
            <a:prstDash val="solid"/>
          </a:ln>
        </p:spPr>
      </p:sp>
      <p:sp>
        <p:nvSpPr>
          <p:cNvPr id="16" name="Text 13"/>
          <p:cNvSpPr txBox="1"/>
          <p:nvPr/>
        </p:nvSpPr>
        <p:spPr>
          <a:xfrm>
            <a:off x="3447974"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2DFFB5"/>
                </a:solidFill>
                <a:latin typeface="Arial" pitchFamily="34" charset="0"/>
                <a:ea typeface="Arial" pitchFamily="34" charset="-122"/>
                <a:cs typeface="Arial" pitchFamily="34" charset="-120"/>
              </a:rPr>
              <a:t>G1  ·  Month 6</a:t>
            </a:r>
            <a:endParaRPr lang="en-US" sz="1200" dirty="0"/>
          </a:p>
        </p:txBody>
      </p:sp>
      <p:sp>
        <p:nvSpPr>
          <p:cNvPr id="17" name="Shape 14"/>
          <p:cNvSpPr/>
          <p:nvPr/>
        </p:nvSpPr>
        <p:spPr>
          <a:xfrm>
            <a:off x="3356534" y="1938528"/>
            <a:ext cx="2670734" cy="3703320"/>
          </a:xfrm>
          <a:prstGeom prst="roundRect">
            <a:avLst>
              <a:gd name="adj" fmla="val 4109"/>
            </a:avLst>
          </a:prstGeom>
          <a:solidFill>
            <a:srgbClr val="181B23"/>
          </a:solidFill>
          <a:ln w="12700">
            <a:solidFill>
              <a:srgbClr val="181B23"/>
            </a:solidFill>
            <a:prstDash val="solid"/>
          </a:ln>
        </p:spPr>
      </p:sp>
      <p:sp>
        <p:nvSpPr>
          <p:cNvPr id="18" name="Text 15"/>
          <p:cNvSpPr txBox="1"/>
          <p:nvPr/>
        </p:nvSpPr>
        <p:spPr>
          <a:xfrm>
            <a:off x="3557702"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Activation</a:t>
            </a:r>
            <a:endParaRPr lang="en-US" sz="1500" dirty="0"/>
          </a:p>
        </p:txBody>
      </p:sp>
      <p:sp>
        <p:nvSpPr>
          <p:cNvPr id="19" name="Text 16"/>
          <p:cNvSpPr txBox="1"/>
          <p:nvPr/>
        </p:nvSpPr>
        <p:spPr>
          <a:xfrm>
            <a:off x="3557702"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10,000 registered users (threshold 4,000)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400 paying Pro (threshold 120)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 beta creators TR/DE, 10–20 ambassadors</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WortBild with 300 words</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Week-4 retention ≥ 30%</a:t>
            </a:r>
            <a:endParaRPr lang="en-US" sz="1150" dirty="0"/>
          </a:p>
        </p:txBody>
      </p:sp>
      <p:sp>
        <p:nvSpPr>
          <p:cNvPr id="20" name="Shape 17"/>
          <p:cNvSpPr/>
          <p:nvPr/>
        </p:nvSpPr>
        <p:spPr>
          <a:xfrm>
            <a:off x="3557702" y="4846320"/>
            <a:ext cx="2268398" cy="0"/>
          </a:xfrm>
          <a:prstGeom prst="line">
            <a:avLst/>
          </a:prstGeom>
          <a:noFill/>
          <a:ln w="12700">
            <a:solidFill>
              <a:srgbClr val="2A2F3C"/>
            </a:solidFill>
            <a:prstDash val="solid"/>
          </a:ln>
        </p:spPr>
      </p:sp>
      <p:sp>
        <p:nvSpPr>
          <p:cNvPr id="21" name="Text 18"/>
          <p:cNvSpPr txBox="1"/>
          <p:nvPr/>
        </p:nvSpPr>
        <p:spPr>
          <a:xfrm>
            <a:off x="3557702"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RELEASES</a:t>
            </a:r>
            <a:endParaRPr lang="en-US" sz="950" dirty="0"/>
          </a:p>
        </p:txBody>
      </p:sp>
      <p:sp>
        <p:nvSpPr>
          <p:cNvPr id="22" name="Text 19"/>
          <p:cNvSpPr txBox="1"/>
          <p:nvPr/>
        </p:nvSpPr>
        <p:spPr>
          <a:xfrm>
            <a:off x="3557702"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Mobile app/PWA release</a:t>
            </a:r>
            <a:endParaRPr lang="en-US" sz="1100" dirty="0"/>
          </a:p>
        </p:txBody>
      </p:sp>
      <p:sp>
        <p:nvSpPr>
          <p:cNvPr id="23" name="Shape 20"/>
          <p:cNvSpPr/>
          <p:nvPr/>
        </p:nvSpPr>
        <p:spPr>
          <a:xfrm>
            <a:off x="6255868" y="1444752"/>
            <a:ext cx="2487854" cy="347472"/>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6255868"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FFD166"/>
                </a:solidFill>
                <a:latin typeface="Arial" pitchFamily="34" charset="0"/>
                <a:ea typeface="Arial" pitchFamily="34" charset="-122"/>
                <a:cs typeface="Arial" pitchFamily="34" charset="-120"/>
              </a:rPr>
              <a:t>G2a  ·  Month 12</a:t>
            </a:r>
            <a:endParaRPr lang="en-US" sz="1200" dirty="0"/>
          </a:p>
        </p:txBody>
      </p:sp>
      <p:sp>
        <p:nvSpPr>
          <p:cNvPr id="25" name="Shape 22"/>
          <p:cNvSpPr/>
          <p:nvPr/>
        </p:nvSpPr>
        <p:spPr>
          <a:xfrm>
            <a:off x="6164428" y="1938528"/>
            <a:ext cx="2670734" cy="3703320"/>
          </a:xfrm>
          <a:prstGeom prst="roundRect">
            <a:avLst>
              <a:gd name="adj" fmla="val 4109"/>
            </a:avLst>
          </a:prstGeom>
          <a:solidFill>
            <a:srgbClr val="181B23"/>
          </a:solidFill>
          <a:ln w="12700">
            <a:solidFill>
              <a:srgbClr val="181B23"/>
            </a:solidFill>
            <a:prstDash val="solid"/>
          </a:ln>
        </p:spPr>
      </p:sp>
      <p:sp>
        <p:nvSpPr>
          <p:cNvPr id="26" name="Text 23"/>
          <p:cNvSpPr txBox="1"/>
          <p:nvPr/>
        </p:nvSpPr>
        <p:spPr>
          <a:xfrm>
            <a:off x="6365596"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Traction</a:t>
            </a:r>
            <a:endParaRPr lang="en-US" sz="1500" dirty="0"/>
          </a:p>
        </p:txBody>
      </p:sp>
      <p:sp>
        <p:nvSpPr>
          <p:cNvPr id="27" name="Text 24"/>
          <p:cNvSpPr txBox="1"/>
          <p:nvPr/>
        </p:nvSpPr>
        <p:spPr>
          <a:xfrm>
            <a:off x="6365596"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20,000 users (threshold 8,000)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800 paying Pro (threshold 240)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MRR €8,073 (threshold €2,500)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1 platform or education pilot; WortBild in ≥ 3 courses/classes</a:t>
            </a:r>
            <a:endParaRPr lang="en-US" sz="1150" dirty="0"/>
          </a:p>
        </p:txBody>
      </p:sp>
      <p:sp>
        <p:nvSpPr>
          <p:cNvPr id="28" name="Shape 25"/>
          <p:cNvSpPr/>
          <p:nvPr/>
        </p:nvSpPr>
        <p:spPr>
          <a:xfrm>
            <a:off x="6365596" y="4846320"/>
            <a:ext cx="2268398" cy="0"/>
          </a:xfrm>
          <a:prstGeom prst="line">
            <a:avLst/>
          </a:prstGeom>
          <a:noFill/>
          <a:ln w="12700">
            <a:solidFill>
              <a:srgbClr val="2A2F3C"/>
            </a:solidFill>
            <a:prstDash val="solid"/>
          </a:ln>
        </p:spPr>
      </p:sp>
      <p:sp>
        <p:nvSpPr>
          <p:cNvPr id="29" name="Text 26"/>
          <p:cNvSpPr txBox="1"/>
          <p:nvPr/>
        </p:nvSpPr>
        <p:spPr>
          <a:xfrm>
            <a:off x="6365596"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RELEASES</a:t>
            </a:r>
            <a:endParaRPr lang="en-US" sz="950" dirty="0"/>
          </a:p>
        </p:txBody>
      </p:sp>
      <p:sp>
        <p:nvSpPr>
          <p:cNvPr id="30" name="Text 27"/>
          <p:cNvSpPr txBox="1"/>
          <p:nvPr/>
        </p:nvSpPr>
        <p:spPr>
          <a:xfrm>
            <a:off x="6365596"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DE/EN expansion, platform talks</a:t>
            </a:r>
            <a:endParaRPr lang="en-US" sz="1100" dirty="0"/>
          </a:p>
        </p:txBody>
      </p:sp>
      <p:sp>
        <p:nvSpPr>
          <p:cNvPr id="31" name="Shape 28"/>
          <p:cNvSpPr/>
          <p:nvPr/>
        </p:nvSpPr>
        <p:spPr>
          <a:xfrm>
            <a:off x="9063761" y="1444752"/>
            <a:ext cx="2487854" cy="347472"/>
          </a:xfrm>
          <a:prstGeom prst="roundRect">
            <a:avLst>
              <a:gd name="adj" fmla="val 50000"/>
            </a:avLst>
          </a:prstGeom>
          <a:solidFill>
            <a:srgbClr val="1F2330"/>
          </a:solidFill>
          <a:ln w="12700">
            <a:solidFill>
              <a:srgbClr val="5AD1FF"/>
            </a:solidFill>
            <a:prstDash val="solid"/>
          </a:ln>
        </p:spPr>
      </p:sp>
      <p:sp>
        <p:nvSpPr>
          <p:cNvPr id="32" name="Text 29"/>
          <p:cNvSpPr txBox="1"/>
          <p:nvPr/>
        </p:nvSpPr>
        <p:spPr>
          <a:xfrm>
            <a:off x="9063761" y="1444752"/>
            <a:ext cx="2487854" cy="347472"/>
          </a:xfrm>
          <a:prstGeom prst="rect">
            <a:avLst/>
          </a:prstGeom>
          <a:noFill/>
          <a:ln/>
        </p:spPr>
        <p:txBody>
          <a:bodyPr wrap="square" lIns="0" tIns="0" rIns="0" bIns="0" rtlCol="0" anchor="ctr">
            <a:normAutofit/>
          </a:bodyPr>
          <a:lstStyle/>
          <a:p>
            <a:pPr algn="ctr" indent="0" marL="0">
              <a:buNone/>
            </a:pPr>
            <a:r>
              <a:rPr lang="en-US" sz="1200" b="1" dirty="0">
                <a:solidFill>
                  <a:srgbClr val="5AD1FF"/>
                </a:solidFill>
                <a:latin typeface="Arial" pitchFamily="34" charset="0"/>
                <a:ea typeface="Arial" pitchFamily="34" charset="-122"/>
                <a:cs typeface="Arial" pitchFamily="34" charset="-120"/>
              </a:rPr>
              <a:t>G2  ·  Month 18</a:t>
            </a:r>
            <a:endParaRPr lang="en-US" sz="1200" dirty="0"/>
          </a:p>
        </p:txBody>
      </p:sp>
      <p:sp>
        <p:nvSpPr>
          <p:cNvPr id="33" name="Shape 30"/>
          <p:cNvSpPr/>
          <p:nvPr/>
        </p:nvSpPr>
        <p:spPr>
          <a:xfrm>
            <a:off x="8972321" y="1938528"/>
            <a:ext cx="2670734" cy="3703320"/>
          </a:xfrm>
          <a:prstGeom prst="roundRect">
            <a:avLst>
              <a:gd name="adj" fmla="val 4109"/>
            </a:avLst>
          </a:prstGeom>
          <a:solidFill>
            <a:srgbClr val="181B23"/>
          </a:solidFill>
          <a:ln w="12700">
            <a:solidFill>
              <a:srgbClr val="181B23"/>
            </a:solidFill>
            <a:prstDash val="solid"/>
          </a:ln>
        </p:spPr>
      </p:sp>
      <p:sp>
        <p:nvSpPr>
          <p:cNvPr id="34" name="Text 31"/>
          <p:cNvSpPr txBox="1"/>
          <p:nvPr/>
        </p:nvSpPr>
        <p:spPr>
          <a:xfrm>
            <a:off x="9173489" y="2048256"/>
            <a:ext cx="2268398" cy="365760"/>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Follow-on round</a:t>
            </a:r>
            <a:endParaRPr lang="en-US" sz="1500" dirty="0"/>
          </a:p>
        </p:txBody>
      </p:sp>
      <p:sp>
        <p:nvSpPr>
          <p:cNvPr id="35" name="Text 32"/>
          <p:cNvSpPr txBox="1"/>
          <p:nvPr/>
        </p:nvSpPr>
        <p:spPr>
          <a:xfrm>
            <a:off x="9173489" y="2468880"/>
            <a:ext cx="2268398" cy="2286000"/>
          </a:xfrm>
          <a:prstGeom prst="rect">
            <a:avLst/>
          </a:prstGeom>
          <a:noFill/>
          <a:ln/>
        </p:spPr>
        <p:txBody>
          <a:bodyPr wrap="square" lIns="0" tIns="0" rIns="0" bIns="0" rtlCol="0" anchor="t">
            <a:normAutofit/>
          </a:bodyPr>
          <a:lstStyle/>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50,000 users (threshold 19,000)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2,000 paying Pro (threshold 570)</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MRR €22,586 (threshold €6,495)</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Pro month-3 retention ≥ 75%; conversion ≥ 3% / 4%</a:t>
            </a:r>
            <a:endParaRPr lang="en-US" sz="1150" dirty="0"/>
          </a:p>
          <a:p>
            <a:pPr marL="203200" indent="-203200">
              <a:spcAft>
                <a:spcPts val="500"/>
              </a:spcAft>
              <a:buSzPct val="100000"/>
              <a:buChar char="•"/>
            </a:pPr>
            <a:r>
              <a:rPr lang="en-US" sz="1150" dirty="0">
                <a:solidFill>
                  <a:srgbClr val="FFFFFF"/>
                </a:solidFill>
                <a:latin typeface="Arial" pitchFamily="34" charset="0"/>
                <a:ea typeface="Arial" pitchFamily="34" charset="-122"/>
                <a:cs typeface="Arial" pitchFamily="34" charset="-120"/>
              </a:rPr>
              <a:t>≥ 5 paying schools or courses</a:t>
            </a:r>
            <a:endParaRPr lang="en-US" sz="1150" dirty="0"/>
          </a:p>
        </p:txBody>
      </p:sp>
      <p:sp>
        <p:nvSpPr>
          <p:cNvPr id="36" name="Shape 33"/>
          <p:cNvSpPr/>
          <p:nvPr/>
        </p:nvSpPr>
        <p:spPr>
          <a:xfrm>
            <a:off x="9173489" y="4846320"/>
            <a:ext cx="2268398" cy="0"/>
          </a:xfrm>
          <a:prstGeom prst="line">
            <a:avLst/>
          </a:prstGeom>
          <a:noFill/>
          <a:ln w="12700">
            <a:solidFill>
              <a:srgbClr val="2A2F3C"/>
            </a:solidFill>
            <a:prstDash val="solid"/>
          </a:ln>
        </p:spPr>
      </p:sp>
      <p:sp>
        <p:nvSpPr>
          <p:cNvPr id="37" name="Text 34"/>
          <p:cNvSpPr txBox="1"/>
          <p:nvPr/>
        </p:nvSpPr>
        <p:spPr>
          <a:xfrm>
            <a:off x="9173489" y="4910328"/>
            <a:ext cx="2268398" cy="219456"/>
          </a:xfrm>
          <a:prstGeom prst="rect">
            <a:avLst/>
          </a:prstGeom>
          <a:noFill/>
          <a:ln/>
        </p:spPr>
        <p:txBody>
          <a:bodyPr wrap="square" lIns="0" tIns="0" rIns="0" bIns="0" rtlCol="0" anchor="t">
            <a:normAutofit/>
          </a:bodyPr>
          <a:lstStyle/>
          <a:p>
            <a:pPr indent="0" marL="0">
              <a:buNone/>
            </a:pPr>
            <a:r>
              <a:rPr lang="en-US" sz="950" b="1" spc="100" kern="0" dirty="0">
                <a:solidFill>
                  <a:srgbClr val="9AA3B5"/>
                </a:solidFill>
                <a:latin typeface="Arial" pitchFamily="34" charset="0"/>
                <a:ea typeface="Arial" pitchFamily="34" charset="-122"/>
                <a:cs typeface="Arial" pitchFamily="34" charset="-120"/>
              </a:rPr>
              <a:t>RELEASES</a:t>
            </a:r>
            <a:endParaRPr lang="en-US" sz="950" dirty="0"/>
          </a:p>
        </p:txBody>
      </p:sp>
      <p:sp>
        <p:nvSpPr>
          <p:cNvPr id="38" name="Text 35"/>
          <p:cNvSpPr txBox="1"/>
          <p:nvPr/>
        </p:nvSpPr>
        <p:spPr>
          <a:xfrm>
            <a:off x="9173489" y="5148072"/>
            <a:ext cx="2268398" cy="457200"/>
          </a:xfrm>
          <a:prstGeom prst="rect">
            <a:avLst/>
          </a:prstGeom>
          <a:noFill/>
          <a:ln/>
        </p:spPr>
        <p:txBody>
          <a:bodyPr wrap="square" lIns="0" tIns="0" rIns="0" bIns="0" rtlCol="0" anchor="t">
            <a:normAutofit/>
          </a:bodyPr>
          <a:lstStyle/>
          <a:p>
            <a:pPr indent="0" marL="0">
              <a:buNone/>
            </a:pPr>
            <a:r>
              <a:rPr lang="en-US" sz="1100" b="1" dirty="0">
                <a:solidFill>
                  <a:srgbClr val="5AD1FF"/>
                </a:solidFill>
                <a:latin typeface="Arial" pitchFamily="34" charset="0"/>
                <a:ea typeface="Arial" pitchFamily="34" charset="-122"/>
                <a:cs typeface="Arial" pitchFamily="34" charset="-120"/>
              </a:rPr>
              <a:t>Seed round, build-out team from month 19, story engine/Studio</a:t>
            </a:r>
            <a:endParaRPr lang="en-US" sz="1100" dirty="0"/>
          </a:p>
        </p:txBody>
      </p:sp>
      <p:sp>
        <p:nvSpPr>
          <p:cNvPr id="39" name="Text 36"/>
          <p:cNvSpPr txBox="1"/>
          <p:nvPr/>
        </p:nvSpPr>
        <p:spPr>
          <a:xfrm>
            <a:off x="548640" y="5806440"/>
            <a:ext cx="9997135" cy="457200"/>
          </a:xfrm>
          <a:prstGeom prst="rect">
            <a:avLst/>
          </a:prstGeom>
          <a:noFill/>
          <a:ln/>
        </p:spPr>
        <p:txBody>
          <a:bodyPr wrap="square" lIns="0" tIns="0" rIns="0" bIns="0" rtlCol="0" anchor="t">
            <a:normAutofit/>
          </a:bodyPr>
          <a:lstStyle/>
          <a:p>
            <a:pPr indent="0" marL="0">
              <a:buNone/>
            </a:pPr>
            <a:r>
              <a:rPr lang="en-US" sz="1100" i="1" dirty="0">
                <a:solidFill>
                  <a:srgbClr val="9AA3B5"/>
                </a:solidFill>
                <a:latin typeface="Arial" pitchFamily="34" charset="0"/>
                <a:ea typeface="Arial" pitchFamily="34" charset="-122"/>
                <a:cs typeface="Arial" pitchFamily="34" charset="-120"/>
              </a:rPr>
              <a:t>All values are targets (not yet achieved): target = base scenario, threshold = conservative scenario. A gate is met when the threshold is reached. Proposal – to be agreed with investors.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en-16x9-6_9s.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Text 0"/>
          <p:cNvSpPr txBox="1"/>
          <p:nvPr/>
        </p:nvSpPr>
        <p:spPr>
          <a:xfrm>
            <a:off x="548640" y="5029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THE ASK</a:t>
            </a:r>
            <a:endParaRPr lang="en-US" sz="1100" dirty="0"/>
          </a:p>
        </p:txBody>
      </p:sp>
      <p:sp>
        <p:nvSpPr>
          <p:cNvPr id="4" name="Text 1"/>
          <p:cNvSpPr txBox="1"/>
          <p:nvPr/>
        </p:nvSpPr>
        <p:spPr>
          <a:xfrm>
            <a:off x="548640" y="841248"/>
            <a:ext cx="11094415" cy="82296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Let's make live streams listen.</a:t>
            </a:r>
            <a:endParaRPr lang="en-US" sz="3400" dirty="0"/>
          </a:p>
        </p:txBody>
      </p:sp>
      <p:sp>
        <p:nvSpPr>
          <p:cNvPr id="5" name="Shape 2"/>
          <p:cNvSpPr/>
          <p:nvPr/>
        </p:nvSpPr>
        <p:spPr>
          <a:xfrm>
            <a:off x="548640" y="1783080"/>
            <a:ext cx="2670734" cy="2103120"/>
          </a:xfrm>
          <a:prstGeom prst="roundRect">
            <a:avLst>
              <a:gd name="adj" fmla="val 5217"/>
            </a:avLst>
          </a:prstGeom>
          <a:solidFill>
            <a:srgbClr val="181B23"/>
          </a:solidFill>
          <a:ln w="12700">
            <a:solidFill>
              <a:srgbClr val="181B23"/>
            </a:solidFill>
            <a:prstDash val="solid"/>
          </a:ln>
        </p:spPr>
      </p:sp>
      <p:sp>
        <p:nvSpPr>
          <p:cNvPr id="6" name="Text 3"/>
          <p:cNvSpPr txBox="1"/>
          <p:nvPr/>
        </p:nvSpPr>
        <p:spPr>
          <a:xfrm>
            <a:off x="777240"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Platform pilot</a:t>
            </a:r>
            <a:endParaRPr lang="en-US" sz="1600" dirty="0"/>
          </a:p>
        </p:txBody>
      </p:sp>
      <p:sp>
        <p:nvSpPr>
          <p:cNvPr id="7" name="Text 4"/>
          <p:cNvSpPr txBox="1"/>
          <p:nvPr/>
        </p:nvSpPr>
        <p:spPr>
          <a:xfrm>
            <a:off x="777240"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LiveFX as a feature in TikTok LIVE Studio, Instagram Live Producer or YouTube Live. The browser source works today. 8 weeks, 20 creators, measured watch time, gifts and clips.</a:t>
            </a:r>
            <a:endParaRPr lang="en-US" sz="1250" dirty="0"/>
          </a:p>
        </p:txBody>
      </p:sp>
      <p:sp>
        <p:nvSpPr>
          <p:cNvPr id="8" name="Shape 5"/>
          <p:cNvSpPr/>
          <p:nvPr/>
        </p:nvSpPr>
        <p:spPr>
          <a:xfrm>
            <a:off x="3356534" y="1783080"/>
            <a:ext cx="2670734" cy="2103120"/>
          </a:xfrm>
          <a:prstGeom prst="roundRect">
            <a:avLst>
              <a:gd name="adj" fmla="val 5217"/>
            </a:avLst>
          </a:prstGeom>
          <a:solidFill>
            <a:srgbClr val="181B23"/>
          </a:solidFill>
          <a:ln w="12700">
            <a:solidFill>
              <a:srgbClr val="181B23"/>
            </a:solidFill>
            <a:prstDash val="solid"/>
          </a:ln>
        </p:spPr>
      </p:sp>
      <p:sp>
        <p:nvSpPr>
          <p:cNvPr id="9" name="Text 6"/>
          <p:cNvSpPr txBox="1"/>
          <p:nvPr/>
        </p:nvSpPr>
        <p:spPr>
          <a:xfrm>
            <a:off x="3585134" y="1929384"/>
            <a:ext cx="2213534" cy="457200"/>
          </a:xfrm>
          <a:prstGeom prst="rect">
            <a:avLst/>
          </a:prstGeom>
          <a:noFill/>
          <a:ln/>
        </p:spPr>
        <p:txBody>
          <a:bodyPr wrap="square" lIns="0" tIns="0" rIns="0" bIns="0" rtlCol="0" anchor="t">
            <a:normAutofit/>
          </a:bodyPr>
          <a:lstStyle/>
          <a:p>
            <a:pPr indent="0" marL="0">
              <a:buNone/>
            </a:pPr>
            <a:r>
              <a:rPr lang="en-US" sz="1550" b="1" dirty="0">
                <a:solidFill>
                  <a:srgbClr val="FFD166"/>
                </a:solidFill>
                <a:latin typeface="Arial" pitchFamily="34" charset="0"/>
                <a:ea typeface="Arial" pitchFamily="34" charset="-122"/>
                <a:cs typeface="Arial" pitchFamily="34" charset="-120"/>
              </a:rPr>
              <a:t>Education &amp; language pilot</a:t>
            </a:r>
            <a:endParaRPr lang="en-US" sz="1550" dirty="0"/>
          </a:p>
        </p:txBody>
      </p:sp>
      <p:sp>
        <p:nvSpPr>
          <p:cNvPr id="10" name="Text 7"/>
          <p:cNvSpPr txBox="1"/>
          <p:nvPr/>
        </p:nvSpPr>
        <p:spPr>
          <a:xfrm>
            <a:off x="3585134"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Education providers, integration courses, schools, language platforms and publishers: test WortBild and Story Film in [Number] courses/classes or with [Number] titles.</a:t>
            </a:r>
            <a:endParaRPr lang="en-US" sz="1250" dirty="0"/>
          </a:p>
        </p:txBody>
      </p:sp>
      <p:sp>
        <p:nvSpPr>
          <p:cNvPr id="11" name="Shape 8"/>
          <p:cNvSpPr/>
          <p:nvPr/>
        </p:nvSpPr>
        <p:spPr>
          <a:xfrm>
            <a:off x="6164428" y="1783080"/>
            <a:ext cx="2670734" cy="2103120"/>
          </a:xfrm>
          <a:prstGeom prst="roundRect">
            <a:avLst>
              <a:gd name="adj" fmla="val 5217"/>
            </a:avLst>
          </a:prstGeom>
          <a:solidFill>
            <a:srgbClr val="181B23"/>
          </a:solidFill>
          <a:ln w="12700">
            <a:solidFill>
              <a:srgbClr val="181B23"/>
            </a:solidFill>
            <a:prstDash val="solid"/>
          </a:ln>
        </p:spPr>
      </p:sp>
      <p:sp>
        <p:nvSpPr>
          <p:cNvPr id="12" name="Text 9"/>
          <p:cNvSpPr txBox="1"/>
          <p:nvPr/>
        </p:nvSpPr>
        <p:spPr>
          <a:xfrm>
            <a:off x="6393028"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Partners</a:t>
            </a:r>
            <a:endParaRPr lang="en-US" sz="1600" dirty="0"/>
          </a:p>
        </p:txBody>
      </p:sp>
      <p:sp>
        <p:nvSpPr>
          <p:cNvPr id="13" name="Text 10"/>
          <p:cNvSpPr txBox="1"/>
          <p:nvPr/>
        </p:nvSpPr>
        <p:spPr>
          <a:xfrm>
            <a:off x="6393028"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Streaming software (OBS plug-in, Streamlabs), creator agencies TR / DACH, audio and ASR vendors, editor vendors (Studio SDK).</a:t>
            </a:r>
            <a:endParaRPr lang="en-US" sz="1250" dirty="0"/>
          </a:p>
        </p:txBody>
      </p:sp>
      <p:sp>
        <p:nvSpPr>
          <p:cNvPr id="14" name="Shape 11"/>
          <p:cNvSpPr/>
          <p:nvPr/>
        </p:nvSpPr>
        <p:spPr>
          <a:xfrm>
            <a:off x="8972321" y="1783080"/>
            <a:ext cx="2670734" cy="2103120"/>
          </a:xfrm>
          <a:prstGeom prst="roundRect">
            <a:avLst>
              <a:gd name="adj" fmla="val 5217"/>
            </a:avLst>
          </a:prstGeom>
          <a:solidFill>
            <a:srgbClr val="181B23"/>
          </a:solidFill>
          <a:ln w="15875">
            <a:solidFill>
              <a:srgbClr val="5AD1FF"/>
            </a:solidFill>
            <a:prstDash val="solid"/>
          </a:ln>
        </p:spPr>
      </p:sp>
      <p:sp>
        <p:nvSpPr>
          <p:cNvPr id="15" name="Text 12"/>
          <p:cNvSpPr txBox="1"/>
          <p:nvPr/>
        </p:nvSpPr>
        <p:spPr>
          <a:xfrm>
            <a:off x="9200921"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5AD1FF"/>
                </a:solidFill>
                <a:latin typeface="Arial" pitchFamily="34" charset="0"/>
                <a:ea typeface="Arial" pitchFamily="34" charset="-122"/>
                <a:cs typeface="Arial" pitchFamily="34" charset="-120"/>
              </a:rPr>
              <a:t>Pre-seed: €250,000</a:t>
            </a:r>
            <a:endParaRPr lang="en-US" sz="1600" dirty="0"/>
          </a:p>
        </p:txBody>
      </p:sp>
      <p:sp>
        <p:nvSpPr>
          <p:cNvPr id="16" name="Text 13"/>
          <p:cNvSpPr txBox="1"/>
          <p:nvPr/>
        </p:nvSpPr>
        <p:spPr>
          <a:xfrm>
            <a:off x="9200921"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For 10% (pre-money €2.25M, post €2.5M) or a SAFE with a €2.25M cap. 18 months, lean: Pro subscription, mobile app/PWA, TR → DE/EN launch, WortBild.</a:t>
            </a:r>
            <a:endParaRPr lang="en-US" sz="1250" dirty="0"/>
          </a:p>
        </p:txBody>
      </p:sp>
      <p:sp>
        <p:nvSpPr>
          <p:cNvPr id="17" name="Shape 14"/>
          <p:cNvSpPr/>
          <p:nvPr/>
        </p:nvSpPr>
        <p:spPr>
          <a:xfrm>
            <a:off x="548640" y="4005072"/>
            <a:ext cx="11094415" cy="1207008"/>
          </a:xfrm>
          <a:prstGeom prst="roundRect">
            <a:avLst>
              <a:gd name="adj" fmla="val 9091"/>
            </a:avLst>
          </a:prstGeom>
          <a:solidFill>
            <a:srgbClr val="1F2330"/>
          </a:solidFill>
          <a:ln w="12700">
            <a:solidFill>
              <a:srgbClr val="1F2330"/>
            </a:solidFill>
            <a:prstDash val="solid"/>
          </a:ln>
        </p:spPr>
      </p:sp>
      <p:sp>
        <p:nvSpPr>
          <p:cNvPr id="18" name="Text 15"/>
          <p:cNvSpPr txBox="1"/>
          <p:nvPr/>
        </p:nvSpPr>
        <p:spPr>
          <a:xfrm>
            <a:off x="822960" y="4087368"/>
            <a:ext cx="10545775" cy="256032"/>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€250,000 pre-seed · 18 months · use of funds – Proposal – review with tax/legal advisor</a:t>
            </a:r>
            <a:endParaRPr lang="en-US" sz="1200" dirty="0"/>
          </a:p>
        </p:txBody>
      </p:sp>
      <p:sp>
        <p:nvSpPr>
          <p:cNvPr id="19" name="Shape 16"/>
          <p:cNvSpPr/>
          <p:nvPr/>
        </p:nvSpPr>
        <p:spPr>
          <a:xfrm>
            <a:off x="822960" y="4407408"/>
            <a:ext cx="5245456" cy="219456"/>
          </a:xfrm>
          <a:prstGeom prst="rect">
            <a:avLst/>
          </a:prstGeom>
          <a:solidFill>
            <a:srgbClr val="FF2D75"/>
          </a:solidFill>
          <a:ln w="12700">
            <a:solidFill>
              <a:srgbClr val="FF2D75"/>
            </a:solidFill>
            <a:prstDash val="solid"/>
          </a:ln>
        </p:spPr>
      </p:sp>
      <p:sp>
        <p:nvSpPr>
          <p:cNvPr id="20" name="Shape 17"/>
          <p:cNvSpPr/>
          <p:nvPr/>
        </p:nvSpPr>
        <p:spPr>
          <a:xfrm>
            <a:off x="6095848" y="4407408"/>
            <a:ext cx="2081723" cy="219456"/>
          </a:xfrm>
          <a:prstGeom prst="rect">
            <a:avLst/>
          </a:prstGeom>
          <a:solidFill>
            <a:srgbClr val="2DFFB5"/>
          </a:solidFill>
          <a:ln w="12700">
            <a:solidFill>
              <a:srgbClr val="2DFFB5"/>
            </a:solidFill>
            <a:prstDash val="solid"/>
          </a:ln>
        </p:spPr>
      </p:sp>
      <p:sp>
        <p:nvSpPr>
          <p:cNvPr id="21" name="Shape 18"/>
          <p:cNvSpPr/>
          <p:nvPr/>
        </p:nvSpPr>
        <p:spPr>
          <a:xfrm>
            <a:off x="8205003" y="4407408"/>
            <a:ext cx="1554434" cy="219456"/>
          </a:xfrm>
          <a:prstGeom prst="rect">
            <a:avLst/>
          </a:prstGeom>
          <a:solidFill>
            <a:srgbClr val="FFD166"/>
          </a:solidFill>
          <a:ln w="12700">
            <a:solidFill>
              <a:srgbClr val="FFD166"/>
            </a:solidFill>
            <a:prstDash val="solid"/>
          </a:ln>
        </p:spPr>
      </p:sp>
      <p:sp>
        <p:nvSpPr>
          <p:cNvPr id="22" name="Shape 19"/>
          <p:cNvSpPr/>
          <p:nvPr/>
        </p:nvSpPr>
        <p:spPr>
          <a:xfrm>
            <a:off x="9786869" y="4407408"/>
            <a:ext cx="1027146" cy="219456"/>
          </a:xfrm>
          <a:prstGeom prst="rect">
            <a:avLst/>
          </a:prstGeom>
          <a:solidFill>
            <a:srgbClr val="5AD1FF"/>
          </a:solidFill>
          <a:ln w="12700">
            <a:solidFill>
              <a:srgbClr val="5AD1FF"/>
            </a:solidFill>
            <a:prstDash val="solid"/>
          </a:ln>
        </p:spPr>
      </p:sp>
      <p:sp>
        <p:nvSpPr>
          <p:cNvPr id="23" name="Shape 20"/>
          <p:cNvSpPr/>
          <p:nvPr/>
        </p:nvSpPr>
        <p:spPr>
          <a:xfrm>
            <a:off x="10841446" y="4407408"/>
            <a:ext cx="499857" cy="219456"/>
          </a:xfrm>
          <a:prstGeom prst="rect">
            <a:avLst/>
          </a:prstGeom>
          <a:solidFill>
            <a:srgbClr val="9AA3B5"/>
          </a:solidFill>
          <a:ln w="12700">
            <a:solidFill>
              <a:srgbClr val="9AA3B5"/>
            </a:solidFill>
            <a:prstDash val="solid"/>
          </a:ln>
        </p:spPr>
      </p:sp>
      <p:sp>
        <p:nvSpPr>
          <p:cNvPr id="24" name="Shape 21"/>
          <p:cNvSpPr/>
          <p:nvPr/>
        </p:nvSpPr>
        <p:spPr>
          <a:xfrm>
            <a:off x="822960" y="4773168"/>
            <a:ext cx="109728" cy="109728"/>
          </a:xfrm>
          <a:prstGeom prst="ellipse">
            <a:avLst/>
          </a:prstGeom>
          <a:solidFill>
            <a:srgbClr val="FF2D75"/>
          </a:solidFill>
          <a:ln w="12700">
            <a:solidFill>
              <a:srgbClr val="FF2D75"/>
            </a:solidFill>
            <a:prstDash val="solid"/>
          </a:ln>
        </p:spPr>
      </p:sp>
      <p:sp>
        <p:nvSpPr>
          <p:cNvPr id="25" name="Text 22"/>
          <p:cNvSpPr txBox="1"/>
          <p:nvPr/>
        </p:nvSpPr>
        <p:spPr>
          <a:xfrm>
            <a:off x="100584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Team &amp; product</a:t>
            </a:r>
            <a:endParaRPr lang="en-US" sz="1000" dirty="0"/>
          </a:p>
        </p:txBody>
      </p:sp>
      <p:sp>
        <p:nvSpPr>
          <p:cNvPr id="26" name="Text 23"/>
          <p:cNvSpPr txBox="1"/>
          <p:nvPr/>
        </p:nvSpPr>
        <p:spPr>
          <a:xfrm>
            <a:off x="100584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€125k · 50%</a:t>
            </a:r>
            <a:endParaRPr lang="en-US" sz="1000" dirty="0"/>
          </a:p>
        </p:txBody>
      </p:sp>
      <p:sp>
        <p:nvSpPr>
          <p:cNvPr id="27" name="Shape 24"/>
          <p:cNvSpPr/>
          <p:nvPr/>
        </p:nvSpPr>
        <p:spPr>
          <a:xfrm>
            <a:off x="2932115" y="4773168"/>
            <a:ext cx="109728" cy="109728"/>
          </a:xfrm>
          <a:prstGeom prst="ellipse">
            <a:avLst/>
          </a:prstGeom>
          <a:solidFill>
            <a:srgbClr val="2DFFB5"/>
          </a:solidFill>
          <a:ln w="12700">
            <a:solidFill>
              <a:srgbClr val="2DFFB5"/>
            </a:solidFill>
            <a:prstDash val="solid"/>
          </a:ln>
        </p:spPr>
      </p:sp>
      <p:sp>
        <p:nvSpPr>
          <p:cNvPr id="28" name="Text 25"/>
          <p:cNvSpPr txBox="1"/>
          <p:nvPr/>
        </p:nvSpPr>
        <p:spPr>
          <a:xfrm>
            <a:off x="311499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Go-to-market &amp; pilots</a:t>
            </a:r>
            <a:endParaRPr lang="en-US" sz="1000" dirty="0"/>
          </a:p>
        </p:txBody>
      </p:sp>
      <p:sp>
        <p:nvSpPr>
          <p:cNvPr id="29" name="Text 26"/>
          <p:cNvSpPr txBox="1"/>
          <p:nvPr/>
        </p:nvSpPr>
        <p:spPr>
          <a:xfrm>
            <a:off x="311499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€50k · 20%</a:t>
            </a:r>
            <a:endParaRPr lang="en-US" sz="1000" dirty="0"/>
          </a:p>
        </p:txBody>
      </p:sp>
      <p:sp>
        <p:nvSpPr>
          <p:cNvPr id="30" name="Shape 27"/>
          <p:cNvSpPr/>
          <p:nvPr/>
        </p:nvSpPr>
        <p:spPr>
          <a:xfrm>
            <a:off x="5041270" y="4773168"/>
            <a:ext cx="109728" cy="109728"/>
          </a:xfrm>
          <a:prstGeom prst="ellipse">
            <a:avLst/>
          </a:prstGeom>
          <a:solidFill>
            <a:srgbClr val="FFD166"/>
          </a:solidFill>
          <a:ln w="12700">
            <a:solidFill>
              <a:srgbClr val="FFD166"/>
            </a:solidFill>
            <a:prstDash val="solid"/>
          </a:ln>
        </p:spPr>
      </p:sp>
      <p:sp>
        <p:nvSpPr>
          <p:cNvPr id="31" name="Text 28"/>
          <p:cNvSpPr txBox="1"/>
          <p:nvPr/>
        </p:nvSpPr>
        <p:spPr>
          <a:xfrm>
            <a:off x="522415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WortBild (line B)</a:t>
            </a:r>
            <a:endParaRPr lang="en-US" sz="1000" dirty="0"/>
          </a:p>
        </p:txBody>
      </p:sp>
      <p:sp>
        <p:nvSpPr>
          <p:cNvPr id="32" name="Text 29"/>
          <p:cNvSpPr txBox="1"/>
          <p:nvPr/>
        </p:nvSpPr>
        <p:spPr>
          <a:xfrm>
            <a:off x="522415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€37.5k · 15%</a:t>
            </a:r>
            <a:endParaRPr lang="en-US" sz="1000" dirty="0"/>
          </a:p>
        </p:txBody>
      </p:sp>
      <p:sp>
        <p:nvSpPr>
          <p:cNvPr id="33" name="Shape 30"/>
          <p:cNvSpPr/>
          <p:nvPr/>
        </p:nvSpPr>
        <p:spPr>
          <a:xfrm>
            <a:off x="7150425" y="4773168"/>
            <a:ext cx="109728" cy="109728"/>
          </a:xfrm>
          <a:prstGeom prst="ellipse">
            <a:avLst/>
          </a:prstGeom>
          <a:solidFill>
            <a:srgbClr val="5AD1FF"/>
          </a:solidFill>
          <a:ln w="12700">
            <a:solidFill>
              <a:srgbClr val="5AD1FF"/>
            </a:solidFill>
            <a:prstDash val="solid"/>
          </a:ln>
        </p:spPr>
      </p:sp>
      <p:sp>
        <p:nvSpPr>
          <p:cNvPr id="34" name="Text 31"/>
          <p:cNvSpPr txBox="1"/>
          <p:nvPr/>
        </p:nvSpPr>
        <p:spPr>
          <a:xfrm>
            <a:off x="733330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Legal, trademark, privacy</a:t>
            </a:r>
            <a:endParaRPr lang="en-US" sz="1000" dirty="0"/>
          </a:p>
        </p:txBody>
      </p:sp>
      <p:sp>
        <p:nvSpPr>
          <p:cNvPr id="35" name="Text 32"/>
          <p:cNvSpPr txBox="1"/>
          <p:nvPr/>
        </p:nvSpPr>
        <p:spPr>
          <a:xfrm>
            <a:off x="733330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€25k · 10%</a:t>
            </a:r>
            <a:endParaRPr lang="en-US" sz="1000" dirty="0"/>
          </a:p>
        </p:txBody>
      </p:sp>
      <p:sp>
        <p:nvSpPr>
          <p:cNvPr id="36" name="Shape 33"/>
          <p:cNvSpPr/>
          <p:nvPr/>
        </p:nvSpPr>
        <p:spPr>
          <a:xfrm>
            <a:off x="9259580" y="4773168"/>
            <a:ext cx="109728" cy="109728"/>
          </a:xfrm>
          <a:prstGeom prst="ellipse">
            <a:avLst/>
          </a:prstGeom>
          <a:solidFill>
            <a:srgbClr val="9AA3B5"/>
          </a:solidFill>
          <a:ln w="12700">
            <a:solidFill>
              <a:srgbClr val="9AA3B5"/>
            </a:solidFill>
            <a:prstDash val="solid"/>
          </a:ln>
        </p:spPr>
      </p:sp>
      <p:sp>
        <p:nvSpPr>
          <p:cNvPr id="37" name="Text 34"/>
          <p:cNvSpPr txBox="1"/>
          <p:nvPr/>
        </p:nvSpPr>
        <p:spPr>
          <a:xfrm>
            <a:off x="944246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Reserve</a:t>
            </a:r>
            <a:endParaRPr lang="en-US" sz="1000" dirty="0"/>
          </a:p>
        </p:txBody>
      </p:sp>
      <p:sp>
        <p:nvSpPr>
          <p:cNvPr id="38" name="Text 35"/>
          <p:cNvSpPr txBox="1"/>
          <p:nvPr/>
        </p:nvSpPr>
        <p:spPr>
          <a:xfrm>
            <a:off x="944246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€12.5k · 5%</a:t>
            </a:r>
            <a:endParaRPr lang="en-US" sz="1000" dirty="0"/>
          </a:p>
        </p:txBody>
      </p:sp>
      <p:sp>
        <p:nvSpPr>
          <p:cNvPr id="39" name="Shape 36"/>
          <p:cNvSpPr/>
          <p:nvPr/>
        </p:nvSpPr>
        <p:spPr>
          <a:xfrm>
            <a:off x="548640" y="5303520"/>
            <a:ext cx="11094415" cy="713232"/>
          </a:xfrm>
          <a:prstGeom prst="roundRect">
            <a:avLst>
              <a:gd name="adj" fmla="val 15385"/>
            </a:avLst>
          </a:prstGeom>
          <a:solidFill>
            <a:srgbClr val="1F2330"/>
          </a:solidFill>
          <a:ln w="12700">
            <a:solidFill>
              <a:srgbClr val="1F2330"/>
            </a:solidFill>
            <a:prstDash val="solid"/>
          </a:ln>
        </p:spPr>
      </p:sp>
      <p:sp>
        <p:nvSpPr>
          <p:cNvPr id="40" name="Text 37"/>
          <p:cNvSpPr txBox="1"/>
          <p:nvPr/>
        </p:nvSpPr>
        <p:spPr>
          <a:xfrm>
            <a:off x="822960" y="5321808"/>
            <a:ext cx="10545775" cy="67665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Tuncay Sancak, Founder &amp; Managing Director   ·   Investor Relations: Gönül Demet   ·   [Email]   ·   Demo: [Link]</a:t>
            </a:r>
            <a:endParaRPr lang="en-US" sz="1500" dirty="0"/>
          </a:p>
        </p:txBody>
      </p:sp>
      <p:sp>
        <p:nvSpPr>
          <p:cNvPr id="41" name="Text 38"/>
          <p:cNvSpPr txBox="1"/>
          <p:nvPr/>
        </p:nvSpPr>
        <p:spPr>
          <a:xfrm>
            <a:off x="548640" y="6144768"/>
            <a:ext cx="9631375" cy="27432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This deck is also available in German and Turkish: LiveFX_Pitch.pptx · LiveFX_Pitch_TR.pptx</a:t>
            </a:r>
            <a:endParaRPr lang="en-US" sz="1000" dirty="0"/>
          </a:p>
        </p:txBody>
      </p:sp>
      <p:sp>
        <p:nvSpPr>
          <p:cNvPr id="42" name="Text 39"/>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Confidential · October 2026  ·  LiveFX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LiveFX – Pitch</dc:title>
  <dc:subject>LiveFX: Your voice becomes the effect – and the picture</dc:subject>
  <dc:creator>Tuncay Sancak</dc:creator>
  <cp:lastModifiedBy>Tuncay Sancak</cp:lastModifiedBy>
  <cp:revision>1</cp:revision>
  <dcterms:created xsi:type="dcterms:W3CDTF">2026-10-04T18:31:38Z</dcterms:created>
  <dcterms:modified xsi:type="dcterms:W3CDTF">2026-10-04T18:31:38Z</dcterms:modified>
</cp:coreProperties>
</file>