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ute: LiveFX 2.1" id="{f1613e5f-53a5-6353-1122-f7dc61b0abb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Vision 2027–2029" id="{7fa908a5-2b7a-2e04-7c8a-963e9d4c976d}">
          <p14:sldIdLst>
            <p14:sldId id="267"/>
            <p14:sldId id="268"/>
            <p14:sldId id="269"/>
            <p14:sldId id="270"/>
          </p14:sldIdLst>
        </p14:section>
        <p14:section name="Team und Ask" id="{f7b1e52c-d0ae-9a81-acc4-95620f33f16c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Marktgröße in Mrd. USD (Spannen aus Sekundärquellen)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untere Schätzung</c:v>
                </c:pt>
              </c:strCache>
            </c:strRef>
          </c:tx>
          <c:spPr>
            <a:solidFill>
              <a:srgbClr val="FF2D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Live-Streaming 2026</c:v>
                  </c:pt>
                  <c:pt idx="1">
                    <c:v>Live-Streaming 2030</c:v>
                  </c:pt>
                  <c:pt idx="2">
                    <c:v>Creator Economy 2026</c:v>
                  </c:pt>
                  <c:pt idx="3">
                    <c:v>davon Live (≈ 14 %)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250</c:v>
                </c:pt>
                <c:pt idx="2">
                  <c:v>216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obere Schätzung</c:v>
                </c:pt>
              </c:strCache>
            </c:strRef>
          </c:tx>
          <c:spPr>
            <a:solidFill>
              <a:srgbClr val="2DF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Live-Streaming 2026</c:v>
                  </c:pt>
                  <c:pt idx="1">
                    <c:v>Live-Streaming 2030</c:v>
                  </c:pt>
                  <c:pt idx="2">
                    <c:v>Creator Economy 2026</c:v>
                  </c:pt>
                  <c:pt idx="3">
                    <c:v>davon Live (≈ 14 %)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157</c:v>
                </c:pt>
                <c:pt idx="1">
                  <c:v>345</c:v>
                </c:pt>
                <c:pt idx="2">
                  <c:v>260</c:v>
                </c:pt>
                <c:pt idx="3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F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11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AA3B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0F111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vorstellen: Ich streame selbst, ich schreibe Bücher, und ich habe LiveFX gebaut, weil ich im Live-Stream genau das vermisst habe, was jedes Kurzvideo hat. Was ihr heute seht, läuft in meinen eigenen Streams. Am Ende zeige ich, wohin es geht: vom Meme-Overlay zur Bildsprache für alles Gesprochene. 30 Sekunden, dann direkt zum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Auto-Untertitel haben bewiesen, dass Echtzeit-Text aus Sprache funktioniert und von Plattformen nativ eingebaut wird. Echtzeit-Effekte aus Sprache gibt es nicht. Genau diese Lücke füllen wir. Beispiel aus meinem Stream: Ich sage „krass“ – und nichts passiert, außer dass ich selbst zur Tastatur greife.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Keyword-Matching ist sofort (Zwischenergebnisse der Erkennung), keine Cloud nötig. Der optionale KI-Modus fängt Sätze ohne Stichwort („das war so peinlich für ihn“ → Awkward). Alles läuft auf dem Rechner der Creatorin – Datenschutz ist eingebaut, nicht nachgerüstet.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Wenn möglich live zeigen: Mikro starten, „das ist ja krass“ sagen, Effekt erscheint. Zweiter Take: Story-Modus an, einen Absatz vorlesen – „es regnete“, „in der Nacht“, „der Drache“ – und die Szenen wechseln. Fallback ist der Trailer. Satz, der hängen bleibt: Das erste Video, in dem Memes auf meine Sprache reagierten, hat mich mehr überzeugt als jede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kein Prototyp mehr: Releases von 0.1 bis 2.1, Unit- und End-to-End-Tests, Anleitungen auf Deutsch und Türkisch. Version 2.1 hat das Produkt leichter und sicherer gemacht: Leistungsmodus mit im Mittel 63–69 % weniger Bildzeit, 143 kostenlose Sticker unter MIT-Lizenz, Text-Sticker-Pakete in drei Sprachen und eine sichere GIF-Suche über KLIPY und GIPHY mit Jugendschutz-Filter – Google hat die Tenor-API im Juni 2026 abgeschaltet. Zwei Punkte betonen: (1) eigene Sounds, freie Sticker und verlinkte GIFs heißt keine Copyright-Strikes, (2) Zuschauer-Trigger sind die Brücke zur Monetarisierung – ein Geschenk kann heute schon einen Effekt auslösen.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ist kein Nebenkanal mehr, sondern ein Umsatzkanal. Und: Die Türkei ist ein junger, meme-affiner TikTok-Markt mit kaum lokalisierten Tools – unser größtes Paket ist das türkische, das ist kein Zufall. Technik: Was vor drei Jahren einen Server brauchte, läuft heute im Browser – das ist auch die Grundlage für die Vision ab Folie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sagen: TAM ist Sekundärquelle mit großer Spanne; SAM und SOM sind unsere Schätzung, keine Studie. Der Punkt ist nicht die genaue Zahl, sondern: Schon ein kleiner Anteil zahlender Live-Creator trägt ein Team – und der eigentliche Hebel ist die Plattform-Integration, nicht das Abo. Unten neu: Die Vision öffnet angrenzende Märkte – KI-Video 3,67 Mrd. USD [Quelle 23], Sprachlern-Apps 1,54 Mrd. USD [Quelle 33], Videoschnitt 2,68 Mrd. USD [Quelle 51], Hörbuch DE 374 Mio. € [Quelle 19]. Die rechnen wir nicht in den SOM ein. Der SOM entspricht dem Businessplan (Kapitel 6): 5.000–15.000 zahlende Nutzer im Jahr 3; das Basis-Szenario rechnet mit Ø 7.500 Pro-Nutzern.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9,99 € liegt bewusst unter Streamlabs Ultra und auf Voicemod-Niveau – Creator kennen diesen Preispunkt. Der Marktplatz macht aus Nutzern Lieferanten: Wer ein türkisches Meme-Paket baut, verkauft es. B2B ist der Weg zur Plattform: dieselbe Engine läuft als Browser-Quelle in TikTok LIVE Studio. Die Vision ergänzt Pro+ und Bildungslizenzen – alle Preise dort sind Schätzungen.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vor dem Termin eintragen – nur echte. Die Story: Das Produkt ist in echten Streams gereift (Echo-Problem, Dialekte, Hochkant-Safe-Zones kamen alle aus der Praxis). Jetzt geht es um die ersten 10 externen Creator und um messbare Watchtime-Effekte.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rechte untere Quadrant ist leer – noch. Wer ihn besetzen könnte, sind die Plattformen selbst; deshalb reden wir mit ihnen. Streamlabs &amp; Co. sind keine Gegner, sondern Hosts: LiveFX läuft als Browser-Quelle in jedem von ihnen.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Sortiert nach Geld und Beweis: Die 250 T€ tragen uns 18 Monate mit einer Entwickler:in. Zuerst Pro-Abo und Mobile-App/PWA, parallel WortBild als erste Vision-Linie, dann DE/EN und ein Plattform- oder Bildungspilot. Jeder Schritt hat ein Gate (nächste Folien). In Monat 18 holen wir die Seed-Runde von etwa 350 T€ – erst dann starten Story-Engine, Auto-Edit und VR/AR. So bleibt das kleine Team fokussiert.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Live-Untertitel haben gezeigt, dass Plattformen Sprache in Echtzeit verarbeiten wollen – kostenlos und auf Milliarden Geräten. Wir sind die nächste Stufe: Bild statt Text. Eine Engine, eine Zeitleiste, vier Linien: Erzählfilm, WortBild, Räume, Studio. Alles läuft im Browser auf dem eigenen Gerät: Ein Satz wird zu einem Zustands-Delta von wenigen hundert Byte, gezeichnet in einem Canvas. Kein Video-Diffusionsmodell, kein GPU-Server. Ehrlich: Das ist Vision für 2027–2029 – deshalb das Badge. Grundlage ist der Code, der heute schon läuft (Story-Modus, Effekt-Engine, Offline-Erkennung). WebGPU ist inzwischen in allen großen Browsern verfügbar [Quelle 27] – wir nutzen es nur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sieht es aus: Die Streamerin tut nichts außer reden. „Es war Nacht“ – der Himmel wird dunkel. „Ein Mädchen ging in den Wald“ – Bäume wachsen, die Figur läuft ein. „Es begann zu regnen“ – Regen, Atmosphäre-Loop wechselt. „Plötzlich ein Drache“ – Blitz, Kamera-Ruck, Drache. Technisch: Ein Satz erzeugt ein Delta von 200–500 Byte, Szenen wechseln 1- bis 3-mal pro Minute, gezeichnet wird in einem Canvas mit höchstens 1.200 Partikeln – dieses Budget hält unsere Effekt-Engine schon heute neben OBS. Kosten: Video-KI kostet nach Listenpreis 0,05 USD (Veo 3.1 Lite, 720p) bis 0,75 USD pro Sekunde [Quelle 24, 25], also 180–2.700 USD pro Stunde, und live geht es gar nicht. LiveFX: 0 € ohne KI, 0,25–0,75 USD pro Stunde mit optionaler Text-KI. Markt: Hörbuch DE 374 Mio. € [Quelle 19], 23,8 Mio. Menschen hören wöchentlich Podcasts [Quelle 20], YouTube über 1 Mrd. Podcast-Zuschauer [Quelle 21]; KI-Video wächst von 3,67 auf 24,89 Mrd. USD bis 2036 [Quelle 23]. Zeitplan: Die Story-Engine wird aus der Folgerunde nach Gate 2 finanziert – MVP Deutsch ab Monat 19 (H2 2028), danach TR/EN und Welten-Packs. Erster Verlags-Fall: die eigene Kinderbuchreihe.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persönlichste Teil: Ich schreibe Kinderbücher über Neurodiversität, und ich bin deutsch-türkisch. Die Lehrkraft stellt drei Dinge ein – „Ich spreche: Deutsch“, „Zeige: Türkçe“, Modus – und liest vor. Jedes Wort aus der Lernliste wird zu Bild, Wort und Aussprache. Nachsprechen ist bewusst keine Aussprachebewertung, sondern ein grüner Haken. Technik: Wort → Bild ist ein Tabellen-Lookup, die Aussprache liefert das Betriebssystem (speechSynthesis) [Quelle 29], ein Schul-Tablet reicht, Serverkosten pro Kind: null. Markt: Duolingo 58,7 Mio. tägliche Nutzer und 12,7 Mio. Zahlende [Quelle 32], Sprachlern-Apps 1,54 Mrd. USD In-App [Quelle 33], 20,4 % der Schüler:innen unter 16 sprechen zu Hause vorwiegend eine andere Sprache [Quelle 37], 2,65 Mio. Menschen mit Einwanderungsgeschichte aus der Türkei [Quelle 38], 25 % der Viertklässler unter dem Lese-Mindeststandard [Quelle 39]. Preis-Anker: ANTON-Schullizenz 250–700 € [Quelle 41]. Ehrlich: Der Integrationsbereich ist in Euro klein, er bringt Glaubwürdigkeit und Förderung; das Volumen liegt bei Familien, Verlagen und Plattformen. Wir sagen „unterstützt Vokabellernen“, nicht „doppelt so schnell“.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Türen in dasselbe Werkzeug. Erstens Live → Highlights: Unser Server kennt schon heute jeden Trigger, jedes Geschenk, jede Chat-Nachricht mit Zeitstempel – daraus werden 3–5 Clips pro Stream. Zweitens Auto-Edit: Eine 20-Minuten-MP4 wird ins Fenster gezogen, Whisper transkribiert lokal im Browser [Quelle 60], LiveFX setzt Effekte, Szenen und Schnitte als verschiebbare Chips, der Export läuft über WebCodecs und den Hardware-Encoder des Geräts [Quelle 57, 58, 59]. Die Datei verlässt den Rechner nie, die Grenzkosten pro Video liegen bei null. Räume: Bühne und Klassenzimmer gehen heute schon (Vollbild, Handy als Regie). Hörbuch mit Bildern und AR am Handy kommen mit der Folgerunde nach Gate 2. WebXR [Quelle 47, 48] und Display-Brillen wie Meta Ray-Ban Display [Quelle 46] sind Vision – IDC erwartet 2026 13,6 Mio. Smart Glasses [Quelle 45], Display-Brillen sind davon nur ein kleiner Teil. Wettbewerb ehrlich: CapCut hat 736 Mio. MAU [Quelle 52]; wir treten nicht als Universal-Editor an, sondern über Sprache → Effekt, Szenen, TR/DE und lokale Verarbeitung. Käufer-Signal: Canva kaufte 2026 Cavalry und MangoAI [Quelle 56].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Gründer ist Nutzer, Content-Lieferant und Produktverantwortlicher in einer Person – das ist der Grund, warum das Produkt in Dialekten, Hochkant und Türkçe funktioniert. Und als Kinderbuchautor bringt er den ersten Verlags- und Bildungsfall selbst mit. Gönül Demet verantwortet Investor Relations und ist Ansprechpartnerin für die Pre-Seed-Runde. Die Pre-Seed-Runde (250.000 €) finanziert eine Einstellung – eine Mobile-/Web-Entwickler:in ab Monat 3; weitere Einstellungen folgen mit der Seed-Runde nach Gate 2. Für WortBild prüft ein Edtech-Beirat fachlich.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Zahlen auf einer Folie. Basis-Szenario: Der Umsatz wächst von 51 T€ in 2027 auf 3,15 Mio. € in 2031; das EBITDA wird 2028 positiv und bleibt es ab Monat 22. Konservativ sind es 602 T€ Umsatz in 2031, optimistisch 7,44 Mio. € – die Jahre 4 und 5 sind fortgeschrieben. Runway: Ganz ohne Umsatz reichen die 250 T€ 18 Monate. In Monat 18 erwarten wir je nach Szenario 49 bis 369 T€ Kasse – und holen nach Gate 2 eine Seed-Runde von etwa 350 T€. Bewertung: Unser Angebot sind 250.000 € für 10 %, also 2,25 Mio. € Pre-Money und 2,5 Mio. € Post-Money. Die vier üblichen Methoden ohne Umsatz ergeben 2,35 bis 3,0 Mio. € – Berkus 2,35 Mio. €, Scorecard 2,95 Mio. € auf einer Referenz im unteren Teil der DACH-Spanne, VC-Methode 2,43 Mio. € im Upside-Szenario, Risk Factor Summation 3,0 Mio. €; gewichtet 2,71 Mio. €. Das Angebot ist also ein fairer, investorenfreundlicher Einstiegspreis unter jeder Referenzmethode. Warum: funktionsfähiges Produkt mit 575+ automatisierten Tests, eigenes IP und eigene Inhalte, drei Sprachen inklusive türkischer Nische, vier Vision-Optionen auf einer Engine und Kapitaleffizienz – bis v2.1 ohne externes Kapital gebaut. Ehrlich dagegen: Solo-Gründer, noch kein Umsatz. Alternativ ein SAFE mit 2,25 Mio. € Cap und 20 % Discount, ohne Zins. Verhandlungsbasis, mit Steuer- und Rechtsberater zu prüfen.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Gates in 18 Monaten – jedes gibt das nächste Budget frei. Monat 3: Pro-Abo live und Entwickler:in an Bord. Monat 6: 10.000 registrierte Nutzer und 400 zahlende Pro als Ziel; die Schwelle liegt bei 4.000 und 120. Monat 12: 20.000 Nutzer, 800 Pro, 8.073 € MRR, ein Plattform- oder Bildungspilot läuft. Monat 18 ist Gate 2: 50.000 Nutzer, 2.000 Pro, 22.586 € MRR, fünf zahlende Schulen oder Kurse für WortBild. Das ist die Grundlage für die Seed-Runde. Alles das sind Ziele – erreicht ist davon noch nichts.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Konkret enden: Wir brauchen einen Kontakt im Live-Team und einen 8-Wochen-Pilot mit 20 Creatorn. Wir liefern Overlay, Pakete, Support und die Messung (Watchtime, Gifts, Clips aus Lives). Für WortBild suchen wir einen zweiten Pilot mit Bildungsträgern, Sprachlern-Plattformen oder Verlagen – der erste Verlagsfall ist die eigene Kinderbuchreihe. Zur Runde: 250.000 € Pre-Seed für 18 Monate. Mittelverwendung (Vorschlag): Team und Produkt 125 T€, Markteintritt und Piloten 50 T€, WortBild 37,5 T€, Recht/Marke/Datenschutz 25 T€, Reserve 12,5 T€. Ganz ohne Umsatz reicht das 18 Monate. Unser Angebot: 10 % für die 250.000 € – 2,25 Mio. € Pre-Money, 2,5 Mio. € Post-Money, unter jeder üblichen Referenzmethode – oder ein SAFE mit 2,25 Mio. € Cap und 20 % Discount; Verhandlungsbasis, mit Steuer- und Rechtsberater zu prüfen. Story-Engine, Auto-Edit und VR/AR folgen mit einer Seed-Runde von etwa 350 T€ nach Gate 2. Ansprechpartnerin für Investoren: Gönül Demet. Dieses Deck gibt es auch auf Türkisch und Englisch.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tion/live-fx/business/landing-assets/overlay-neon.jp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309360" y="0"/>
            <a:ext cx="5882335" cy="3310128"/>
          </a:xfrm>
          <a:prstGeom prst="rect">
            <a:avLst/>
          </a:prstGeom>
        </p:spPr>
      </p:pic>
      <p:pic>
        <p:nvPicPr>
          <p:cNvPr id="3" name="Image 1" descr="/home/user/Notion/live-fx/business/landing-assets/overlay-portrait-r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3310128"/>
            <a:ext cx="1993392" cy="3547872"/>
          </a:xfrm>
          <a:prstGeom prst="rect">
            <a:avLst/>
          </a:prstGeom>
        </p:spPr>
      </p:pic>
      <p:pic>
        <p:nvPicPr>
          <p:cNvPr id="4" name="Image 2" descr="/home/user/Notion/live-fx/business/landing-assets/mobi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310128"/>
            <a:ext cx="1636776" cy="3547872"/>
          </a:xfrm>
          <a:prstGeom prst="rect">
            <a:avLst/>
          </a:prstGeom>
        </p:spPr>
      </p:pic>
      <p:pic>
        <p:nvPicPr>
          <p:cNvPr id="5" name="Image 3" descr="/home/user/Notion/live-fx/business/landing-assets/pane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310128"/>
            <a:ext cx="1563624" cy="978408"/>
          </a:xfrm>
          <a:prstGeom prst="rect">
            <a:avLst/>
          </a:prstGeom>
        </p:spPr>
      </p:pic>
      <p:pic>
        <p:nvPicPr>
          <p:cNvPr id="6" name="Image 4" descr="/home/user/Notion/live-fx/business/landing-assets/dem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288536"/>
            <a:ext cx="1563624" cy="877824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7946136" y="5166360"/>
            <a:ext cx="1563624" cy="1691640"/>
          </a:xfrm>
          <a:prstGeom prst="rect">
            <a:avLst/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1503152" y="3310128"/>
            <a:ext cx="688543" cy="3547872"/>
          </a:xfrm>
          <a:prstGeom prst="rect">
            <a:avLst/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MEME ENGINE  ·  v2.1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1508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72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26517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Stimme wird zum Effekt.</a:t>
            </a:r>
            <a:endParaRPr lang="en-US" sz="2800" dirty="0"/>
          </a:p>
        </p:txBody>
      </p:sp>
      <p:sp>
        <p:nvSpPr>
          <p:cNvPr id="12" name="Text 5"/>
          <p:cNvSpPr txBox="1"/>
          <p:nvPr/>
        </p:nvSpPr>
        <p:spPr>
          <a:xfrm>
            <a:off x="548640" y="34747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Memes, Sounds und Szenen in Echtzeit – ausgelöst durch das, was der Creator sagt. In unter einer Sekunde, hands-free, auf TikTok LIVE, Instagram, YouTube und Twitch.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4800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morgen: Du redest. Es wird Bild.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55778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Gründer &amp; Erfinder, Geschäftsführer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Relations: Gönül Demet  ·  [E-Mail]  ·  Oktober 2026  ·  Vertraulich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ist roh. Der Schnitt kommt zu spät.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5453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Alles, was Kurzvideos viral macht, entsteht danach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92938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Memes, Sounds, Zooms, Sticker – im Schnitt, nach der Aufnahme. Live gibt es davon nichts.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852928"/>
            <a:ext cx="548640" cy="548640"/>
          </a:xfrm>
          <a:prstGeom prst="ellipse">
            <a:avLst/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7340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Creator ist Moderator, Regisseur und Cutter zugleich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1181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zwei Händen, einer Kamera und einem Chat, der nicht wartet.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041648"/>
            <a:ext cx="548640" cy="548640"/>
          </a:xfrm>
          <a:prstGeom prst="ellipse">
            <a:avLst/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9227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Bestehende Tools reagieren auf Zuschauer oder Tasten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30682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bei Spenden und Follows, Soundboards per Hotkey. Beides braucht einen Klick.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80960" y="1417320"/>
            <a:ext cx="3959352" cy="3429000"/>
          </a:xfrm>
          <a:prstGeom prst="roundRect">
            <a:avLst>
              <a:gd name="adj" fmla="val 32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280" y="169164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reagiert auf das gesprochene Wort.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37490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Auto-Untertitel haben gezeigt: Echtzeit-Text aus Sprache funktioniert. Echtzeit-Effekte aus Sprache gibt es noch nicht.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166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sage ‚krass‘ – und nichts passiert, außer dass ich selbst zur Tastatur greife.“  – Tuncay Sancak, aus dem eigenen Stream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Stimme → Effekt in unter einer Sekunde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17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spricht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542032" y="1874520"/>
            <a:ext cx="288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11780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11780" y="1517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290322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Erkennung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90322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/ TR / EN automatisch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05172" y="1874520"/>
            <a:ext cx="288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074920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1517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16636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16636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Dialekt-tolerant, sofort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68312" y="1874520"/>
            <a:ext cx="288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338060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38060" y="1517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742950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42950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Browser-Quelle in OBS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331452" y="1874520"/>
            <a:ext cx="288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9601200" y="14173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0" y="15179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9692640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692640" y="2377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· IG · YouTube · Twitch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31546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3273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„Krass“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3767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 Neon-Text + Airhorn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297680" y="31546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26280" y="3273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„Yok artık“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4526280" y="3767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Meme-Karte + Vine-Boom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46720" y="31546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5320" y="3273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„Es regnete…“</a:t>
            </a:r>
            <a:endParaRPr lang="en-US" sz="2100" dirty="0"/>
          </a:p>
        </p:txBody>
      </p:sp>
      <p:sp>
        <p:nvSpPr>
          <p:cNvPr id="38" name="Text 35"/>
          <p:cNvSpPr txBox="1"/>
          <p:nvPr/>
        </p:nvSpPr>
        <p:spPr>
          <a:xfrm>
            <a:off x="8275320" y="3767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Regen-Szene + Atmosphäre-Loop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4800600"/>
            <a:ext cx="128016" cy="128016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2960" y="47091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 Reaktion – Treffer schon auf Zwischenergebnissen der Erkennung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172200" y="4800600"/>
            <a:ext cx="128016" cy="128016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46520" y="47091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– keine Taste, kein Klick, kein zweiter Monitor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48640" y="5422392"/>
            <a:ext cx="128016" cy="128016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2960" y="533095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Läuft lokal auf dem Rechner der Creatorin – Datenschutz eingebaut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6172200" y="5422392"/>
            <a:ext cx="128016" cy="128016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46520" y="533095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KI-Modus (optional) fängt Sätze ohne Stichwort: „das war so peinlich“ → Awkward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ES IM STREAM AUS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4</a:t>
            </a:r>
            <a:endParaRPr lang="en-US" sz="900" dirty="0"/>
          </a:p>
        </p:txBody>
      </p:sp>
      <p:pic>
        <p:nvPicPr>
          <p:cNvPr id="6" name="Image 0" descr="/home/user/Notion/live-fx/business/landing-assets/overlay-ne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583680" cy="3703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16:9 – „Krass!“ → Neon-Text + Konfetti</a:t>
            </a:r>
            <a:endParaRPr lang="en-US" sz="1150" dirty="0"/>
          </a:p>
        </p:txBody>
      </p:sp>
      <p:pic>
        <p:nvPicPr>
          <p:cNvPr id="8" name="Image 1" descr="/home/user/Notion/live-fx/business/landing-assets/overlay-portrait-r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25880"/>
            <a:ext cx="2084832" cy="3703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40664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Hochkant 9:16 – Story-Modus: „Es regnete…“</a:t>
            </a:r>
            <a:endParaRPr lang="en-US" sz="1100" dirty="0"/>
          </a:p>
        </p:txBody>
      </p:sp>
      <p:pic>
        <p:nvPicPr>
          <p:cNvPr id="10" name="Image 2" descr="/home/user/Notion/live-fx/business/landing-assets/mobi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325880"/>
            <a:ext cx="1709928" cy="3703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784080" y="507492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Handy-Fernbedienung (PWA)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548640" y="5623560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822960" y="56692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Trailer (30 s): video/LiveFX_Trailer_16x9.mp4  ·  Live-Demo: Mikro starten, „das ist ja krass“ sagen – oder Story-Modus an und einen Absatz vorlesen.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PROTOTYP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 heute – Version 2.1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179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5681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Erkennung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2257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Browser-ASR, Auto-Sprache DE/TR/EN, Dialekt-Toleranz, Lernfunktion, Selbsttest; extern via Whisper/Deepgram, Offline-Whisper (experimentell)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47872" y="15179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547872" y="195681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Effekte &amp; Leistung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47872" y="232257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Canvas-Partikel (60 fps), Neon/Glitch/Sticker-Text, Bauchbinden, Kombis, 4 Themes; Leistungsmodus: Bildzeit −63 bis −69 %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1344" y="137160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64224" y="15179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364224" y="195681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Story-Modus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232257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Vollbild-Szenen, 12 Atmosphäre-Loops, Geschichten-Pakete DE/TR/EN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97696" y="137160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80576" y="15179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180576" y="195681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80576" y="232257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85 · Deutsch 49 · English 50 · Familie &amp; Kinder 27 · Gaming 27 – plus Text-Sticker-Pakete TR/DE/EN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8496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28853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Sticker &amp; GIFs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5429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kostenlose Sticker (MIT-Lizenz, 119 animiert) · sichere GIF-Suche KLIPY/GIPHY mit Inhaltsfilter, GIFs verlinkt statt gespeichert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64992" y="370332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47872" y="38496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3547872" y="428853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Sound-Engine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547872" y="465429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synthetische Sounds (keine Lizenzkosten), Mixer mit Limiter, Ducking, Stereo, Hall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81344" y="370332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64224" y="38496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6364224" y="428853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 &amp; Plattformen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364224" y="465429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Handy-Fernbedienung (PWA), OBS/Streamlabs, TikTok LIVE Studio, IG Live Producer, Demo ohne OBS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997696" y="3703320"/>
            <a:ext cx="2679192" cy="2194560"/>
          </a:xfrm>
          <a:prstGeom prst="roundRect">
            <a:avLst>
              <a:gd name="adj" fmla="val 5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80576" y="38496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9180576" y="428853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Zuschauer &amp; offene API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180576" y="4654296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Twitch-/YouTube-Chat, Geschenke-Webhook (TikFinity / Streamer.bot), HTTP-API mit Token, 575+ automatisierte Tests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jetzt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756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Einkommens von Live-Streamern kommt aus Geschenken; 20–100 T Follower: 500–3.000 USD/Monat [Quelle 5, 6]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325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Mio.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20756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gingen 2025 allein in Südostasien, im Kaukasus und in Zentralasien auf TikTok LIVE, +77 % [Quelle 2]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1325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14 %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0756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Creator Economy (~216–260 Mrd. USD 2026) entfallen auf Live [Quelle 3, 4]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5844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ist Umsatzkanal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187952"/>
            <a:ext cx="3108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Live-Commerce und Gifting (TikTok LIVE, IG Badges, Super Chat) machen Live zum Geschäft – nicht zum Nebenformat.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34290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35844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 ist reif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187952"/>
            <a:ext cx="3108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Streaming-ASR &lt; 300 ms, Modelle im Browser, WebGPU in allen großen Browsern [Quelle 27], KI-Klassifikation für &lt; 1 USD/Stunde.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38160" y="34290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66760" y="35844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Plattformen konkurrieren über Creator-Tools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4187952"/>
            <a:ext cx="3108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↔ TikTok, Edits ↔ Instagram. Live-Tools sind der nächste Schritt – und niemand hat Sprach-Effekte.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053328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QUELLEN.md (Recherche 30.09.2026 und 03.10.2026) – [Quelle 2–6, 27]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SAM · SOM · ANGRENZENDE MÄRKTE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– Spannen statt Punktzahlen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60350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812280" y="1280160"/>
            <a:ext cx="4828032" cy="1097280"/>
          </a:xfrm>
          <a:prstGeom prst="roundRect">
            <a:avLst>
              <a:gd name="adj" fmla="val 10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95160" y="13898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14356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Live-Streaming-Markt [Quelle 1, 2]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995160" y="17922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97–157 Mrd. USD (2026) → 250–345 Mrd. USD (2030), CAGR ~27 %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12280" y="2468880"/>
            <a:ext cx="4828032" cy="1097280"/>
          </a:xfrm>
          <a:prstGeom prst="roundRect">
            <a:avLst>
              <a:gd name="adj" fmla="val 10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95160" y="2578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2624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Live-Creator-Tools · Schätzung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995160" y="29809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Mrd. USD – abgeleitet aus Streamlabs-/StreamYard-/Voicemod-Preisen × aktive Live-Creator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812280" y="3657600"/>
            <a:ext cx="4828032" cy="1097280"/>
          </a:xfrm>
          <a:prstGeom prst="roundRect">
            <a:avLst>
              <a:gd name="adj" fmla="val 10000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95160" y="37673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38130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 3 · Schätzung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6995160" y="41696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5.000–15.000 zahlende Pro-Nutzer × 9,99 €/Monat ≈ 0,6–1,8 Mio. € ARR (wie Businessplan; DACH + Türkei + EN-Nische)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956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Angrenzende Märkte der Vision (Folien 12–15)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5266944"/>
            <a:ext cx="2670734" cy="749808"/>
          </a:xfrm>
          <a:prstGeom prst="roundRect">
            <a:avLst>
              <a:gd name="adj" fmla="val 14634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13232" y="5303520"/>
            <a:ext cx="23964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3,67 Mrd. USD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13232" y="5650992"/>
            <a:ext cx="239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KI-Videogenerierung und -schnitt 2026 [Quelle 23]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56534" y="5266944"/>
            <a:ext cx="2670734" cy="749808"/>
          </a:xfrm>
          <a:prstGeom prst="roundRect">
            <a:avLst>
              <a:gd name="adj" fmla="val 14634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521126" y="5303520"/>
            <a:ext cx="23964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 Mrd. USD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521126" y="5650992"/>
            <a:ext cx="239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Sprachlern-Apps, In-App-Umsatz 2025 [Quelle 33]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64428" y="5266944"/>
            <a:ext cx="2670734" cy="749808"/>
          </a:xfrm>
          <a:prstGeom prst="roundRect">
            <a:avLst>
              <a:gd name="adj" fmla="val 14634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29020" y="5303520"/>
            <a:ext cx="23964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 Mrd. USD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6329020" y="5650992"/>
            <a:ext cx="239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Videoschnitt-Software 2026 [Quelle 51]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8972321" y="5266944"/>
            <a:ext cx="2670734" cy="749808"/>
          </a:xfrm>
          <a:prstGeom prst="roundRect">
            <a:avLst>
              <a:gd name="adj" fmla="val 14634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36913" y="5303520"/>
            <a:ext cx="23964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374 Mio. €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9136913" y="5650992"/>
            <a:ext cx="23964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Hörbuchmarkt Deutschland 2025, +13 % [Quelle 19]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6126480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QUELLEN.md [Quelle 1–4, 19, 23, 33, 51] · SAM/SOM sind eigene Schätzungen, keine Studie.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PRO → PACKS → B2B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Geschäftsmodell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679192" cy="315468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7276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65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Kernfunktionen, Standard-Pakete, OBS-Overlay. Verbreitung und Community.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27832" y="26974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64992" y="1371600"/>
            <a:ext cx="2679192" cy="3154680"/>
          </a:xfrm>
          <a:prstGeom prst="roundRect">
            <a:avLst>
              <a:gd name="adj" fmla="val 4096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93592" y="157276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93592" y="1965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9,99 €/Monat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593592" y="26974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KI-Modus, alle Szenen und Themes, Handy-Fernbedienung, Cloud-Sync, Priorität-Support.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44184" y="26974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81344" y="1371600"/>
            <a:ext cx="2679192" cy="315468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9944" y="157276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Creator-Packs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9944" y="1965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30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09944" y="26974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 für Meme- und Story-Pakete von Creatorn für Creator. Nutzer werden Lieferanten.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860536" y="26974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997696" y="1371600"/>
            <a:ext cx="2679192" cy="315468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26296" y="157276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B2B-Lizenz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26296" y="1965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Anfrage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226296" y="2697480"/>
            <a:ext cx="22219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/ White-Label für Streaming-Software, Agenturen, Plattform-Integration.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Preis-Anker im Markt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148072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Streamlabs Ultra 27 USD/Monat  ·  StreamYard Core 35 USD/Monat  ·  Restream 16 USD/Monat  ·  Voicemod Pro 10 USD/Monat [Quelle 11, 12, 13]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liegt bewusst auf Voicemod-Niveau und deutlich unter Streamlabs. Vision (Schätzung): Pro+ „Studio &amp; Szenen“ 14,99 €, WortBild Familie 4,99 €, Schul- und Verlagslizenzen – siehe Folien 13–15.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ECHTEN STREAMS GEREIFT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[Zahl]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Live-Streams mit LiveFX seit [Monat/Jahr] – [Zahl] Stunden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3756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Version (Releases 0.1 → 2.1), 575+ automatisierte Tests, Anleitungen DE/TR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in 5 Paketen + 143 freie Sticker, 38 Sounds, 13 Szenen – in 3 Sprachen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[Zahl]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0756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· [Zahl] Creator auf der Warteliste · [Zahl] Downloads</a:t>
            </a:r>
            <a:endParaRPr lang="en-US" sz="1200" dirty="0"/>
          </a:p>
        </p:txBody>
      </p:sp>
      <p:pic>
        <p:nvPicPr>
          <p:cNvPr id="14" name="Image 0" descr="/home/user/Notion/live-fx/business/landing-assets/pan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4389120" cy="274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080" y="3246120"/>
            <a:ext cx="6428232" cy="2788920"/>
          </a:xfrm>
          <a:prstGeom prst="roundRect">
            <a:avLst>
              <a:gd name="adj" fmla="val 3934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4068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aus der Praxis kam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379476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Echo-Problem (Panel + OBS) → stumme Vorschau, Ton-Check-Karte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Dialekte („grass“ → krass, „helal olsn“) → Toleranz + Lernfunktion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TikTok-/IG-Chat verdeckt das untere Drittel → Hochkant-Safe-Zones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Vorlesen im Stream → Story-Modus mit Szenen und Atmosphäre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53492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60 Tage: 10 Creator-Tests TR/DE · Landingpage + Trailer · Community-Launch · erste Pro-Abos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 – der leere Quadrant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83664" y="1517904"/>
            <a:ext cx="3090672" cy="2061972"/>
          </a:xfrm>
          <a:prstGeom prst="roundRect">
            <a:avLst>
              <a:gd name="adj" fmla="val 4435"/>
            </a:avLst>
          </a:prstGeom>
          <a:solidFill>
            <a:srgbClr val="181B23"/>
          </a:solidFill>
          <a:ln w="9525">
            <a:solidFill>
              <a:srgbClr val="2A2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03120" y="1737360"/>
            <a:ext cx="26517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Plattform-Effekte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Sticker-Gifting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84064" y="1517904"/>
            <a:ext cx="3090672" cy="2061972"/>
          </a:xfrm>
          <a:prstGeom prst="roundRect">
            <a:avLst>
              <a:gd name="adj" fmla="val 4435"/>
            </a:avLst>
          </a:prstGeom>
          <a:solidFill>
            <a:srgbClr val="181B23"/>
          </a:solidFill>
          <a:ln w="9525">
            <a:solidFill>
              <a:srgbClr val="2A2F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0" y="1737360"/>
            <a:ext cx="26517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Streamlabs / StreamElements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bei Spenden &amp; Follows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883664" y="3689604"/>
            <a:ext cx="3090672" cy="2061972"/>
          </a:xfrm>
          <a:prstGeom prst="roundRect">
            <a:avLst>
              <a:gd name="adj" fmla="val 4435"/>
            </a:avLst>
          </a:prstGeom>
          <a:solidFill>
            <a:srgbClr val="181B23"/>
          </a:solidFill>
          <a:ln w="9525">
            <a:solidFill>
              <a:srgbClr val="2A2F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3909060"/>
            <a:ext cx="26517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 · Soundboards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Deck (Hotkey)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84064" y="3689604"/>
            <a:ext cx="3090672" cy="2061972"/>
          </a:xfrm>
          <a:prstGeom prst="roundRect">
            <a:avLst>
              <a:gd name="adj" fmla="val 4435"/>
            </a:avLst>
          </a:prstGeom>
          <a:solidFill>
            <a:srgbClr val="2A1530"/>
          </a:solidFill>
          <a:ln w="25400">
            <a:solidFill>
              <a:srgbClr val="FF2D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3909060"/>
            <a:ext cx="26517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5239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einziger Anbieter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11455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Zuschauer-gesteuert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28625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Sprach-gesteuert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5879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Bedienung 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595360" y="1463040"/>
            <a:ext cx="3044952" cy="4343400"/>
          </a:xfrm>
          <a:prstGeom prst="roundRect">
            <a:avLst>
              <a:gd name="adj" fmla="val 3604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bei LiveFX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96528" y="2240280"/>
            <a:ext cx="109728" cy="109728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3427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Reagiert auf das gesprochene Wort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796528" y="2807208"/>
            <a:ext cx="109728" cy="109728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34272" y="268833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Türkçe-Pakete (85 Trigger) + Story-Pakete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96528" y="3374136"/>
            <a:ext cx="109728" cy="109728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34272" y="32552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Story-Szenen mit Atmosphäre-Loops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796528" y="3941064"/>
            <a:ext cx="109728" cy="109728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34272" y="382219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API für Zuschauer- &amp; externe Trigger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796528" y="4507992"/>
            <a:ext cx="109728" cy="109728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34272" y="438912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Läuft lokal – keine Cloud, kein Login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796528" y="5074920"/>
            <a:ext cx="109728" cy="109728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34272" y="49560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Sounds – keine Copyright-Strikes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MONATE, MIT GATES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schlank bis Gate 2, dann die Seed-Runde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10545775" cy="0"/>
          </a:xfrm>
          <a:prstGeom prst="line">
            <a:avLst/>
          </a:prstGeom>
          <a:noFill/>
          <a:ln w="25400">
            <a:solidFill>
              <a:srgbClr val="2A2F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048256"/>
            <a:ext cx="201168" cy="201168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 · Monat 1–3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700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Pro-Abo live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64992"/>
            <a:ext cx="2221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abgeschlossen · Mobile-/Web-Entwickler:in an Bord (Monat 3) · TR-Launch · Gate G0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47872" y="2048256"/>
            <a:ext cx="201168" cy="201168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47872" y="146304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· Monat 4–6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64992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3592" y="26700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Mobile-App/PWA + WortBild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593592" y="3364992"/>
            <a:ext cx="2221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 mit 300 Wörtern und Lesehilfe · 20 Beta-Creator TR/DE · Gate G1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64224" y="204825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64224" y="146304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Q3–Q4 2027 · Monat 7–12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81344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9944" y="26700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DE/EN + Piloten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09944" y="3364992"/>
            <a:ext cx="2221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DE/EN-Launch · Marktplätze · Agentur-Lizenz · Plattform- oder Bildungspilot · Gate G2a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180576" y="20482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80576" y="146304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2028 · Monat 13–18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997696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26296" y="267004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→ Seed-Runde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26296" y="3364992"/>
            <a:ext cx="2221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WortBild-Pilot ausgewertet · Seed-Runde ~350 T€ · ab Monat 19: Story-Engine, Studio, Räume, Ausbau-Team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Schlank bis Monat 18: eine Entwickler:in, Pro-Abo, Mobile-App/PWA, WortBild. Story-Engine (Erzählfilm), Auto-Edit (Studio) und VR/AR (Räume) werden aus der Folgerunde nach Gate 2 finanziert.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VISION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9631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Live-Video aus Worten: Du redest. Es wird Bild.</a:t>
            </a:r>
            <a:endParaRPr lang="en-US" sz="3200" dirty="0"/>
          </a:p>
        </p:txBody>
      </p:sp>
      <p:sp>
        <p:nvSpPr>
          <p:cNvPr id="4" name="Vision-Badge"/>
          <p:cNvSpPr/>
          <p:nvPr/>
        </p:nvSpPr>
        <p:spPr>
          <a:xfrm>
            <a:off x="10472623" y="1828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2623" y="1828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VISION</a:t>
            </a:r>
            <a:endParaRPr lang="en-US" sz="1000" dirty="0"/>
          </a:p>
        </p:txBody>
      </p:sp>
      <p:sp>
        <p:nvSpPr>
          <p:cNvPr id="6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2485568" cy="1143000"/>
          </a:xfrm>
          <a:prstGeom prst="roundRect">
            <a:avLst>
              <a:gd name="adj" fmla="val 96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499616"/>
            <a:ext cx="157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1975104"/>
            <a:ext cx="215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Mikro, Vorlesen oder eine fertige Videodatei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98216" y="1810512"/>
            <a:ext cx="256032" cy="274320"/>
          </a:xfrm>
          <a:prstGeom prst="rightArrow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8256" y="1371600"/>
            <a:ext cx="2485568" cy="1143000"/>
          </a:xfrm>
          <a:prstGeom prst="roundRect">
            <a:avLst>
              <a:gd name="adj" fmla="val 96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82848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195496" y="1499616"/>
            <a:ext cx="157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Verstehen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582848" y="1975104"/>
            <a:ext cx="215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Lexikon DE/TR/EN, Dialekt-tolerant, KI optional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67832" y="1810512"/>
            <a:ext cx="256032" cy="274320"/>
          </a:xfrm>
          <a:prstGeom prst="rightArrow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87872" y="1371600"/>
            <a:ext cx="2485568" cy="1143000"/>
          </a:xfrm>
          <a:prstGeom prst="roundRect">
            <a:avLst>
              <a:gd name="adj" fmla="val 96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2464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7065112" y="1499616"/>
            <a:ext cx="157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452464" y="1975104"/>
            <a:ext cx="215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Weltzustand ≤ 1 KB, eine gemeinsame Zeitleiste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837447" y="1810512"/>
            <a:ext cx="256032" cy="274320"/>
          </a:xfrm>
          <a:prstGeom prst="rightArrow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57487" y="1371600"/>
            <a:ext cx="2485568" cy="1143000"/>
          </a:xfrm>
          <a:prstGeom prst="roundRect">
            <a:avLst>
              <a:gd name="adj" fmla="val 96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2079" y="1481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934727" y="1499616"/>
            <a:ext cx="157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9322079" y="1975104"/>
            <a:ext cx="215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Browser gezeichnet, 60 fps, auf dem eigenen Gerät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2743200"/>
            <a:ext cx="2670734" cy="1737360"/>
          </a:xfrm>
          <a:prstGeom prst="roundRect">
            <a:avLst>
              <a:gd name="adj" fmla="val 6316"/>
            </a:avLst>
          </a:prstGeom>
          <a:solidFill>
            <a:srgbClr val="181B23"/>
          </a:solidFill>
          <a:ln w="15875">
            <a:solidFill>
              <a:srgbClr val="2DFFB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2852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1234440" y="2880360"/>
            <a:ext cx="1847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Erzählfilm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3310128"/>
            <a:ext cx="23049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jedem Satz wächst ein fortlaufender Bilderbuch-Film – unter oder neben dem Live-Bild.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356534" y="2743200"/>
            <a:ext cx="2670734" cy="1737360"/>
          </a:xfrm>
          <a:prstGeom prst="roundRect">
            <a:avLst>
              <a:gd name="adj" fmla="val 6316"/>
            </a:avLst>
          </a:prstGeom>
          <a:solidFill>
            <a:srgbClr val="181B23"/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39414" y="2852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4042334" y="2880360"/>
            <a:ext cx="1847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3539414" y="3310128"/>
            <a:ext cx="23049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Gesprochenes Wort → Bild, Wort in der Zielsprache und Aussprache. Lernen und Lesehilfe.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164428" y="2743200"/>
            <a:ext cx="2670734" cy="1737360"/>
          </a:xfrm>
          <a:prstGeom prst="roundRect">
            <a:avLst>
              <a:gd name="adj" fmla="val 6316"/>
            </a:avLst>
          </a:prstGeom>
          <a:solidFill>
            <a:srgbClr val="181B23"/>
          </a:solidFill>
          <a:ln w="15875">
            <a:solidFill>
              <a:srgbClr val="5AD1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47308" y="2852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🥽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6850228" y="2880360"/>
            <a:ext cx="1847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Räume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347308" y="3310128"/>
            <a:ext cx="23049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Bühne, Klassenzimmer, Hörbuch mit Bildern, AR am Handy, VR und Display-Brille.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972321" y="2743200"/>
            <a:ext cx="2670734" cy="1737360"/>
          </a:xfrm>
          <a:prstGeom prst="roundRect">
            <a:avLst>
              <a:gd name="adj" fmla="val 6316"/>
            </a:avLst>
          </a:prstGeom>
          <a:solidFill>
            <a:srgbClr val="181B23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55201" y="2852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9658121" y="2880360"/>
            <a:ext cx="1847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155201" y="3310128"/>
            <a:ext cx="23049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Live-Editor und Auto-Edit: Video rein, fertig geschnitten raus – ohne Upload.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48640" y="4663440"/>
            <a:ext cx="5478628" cy="1097280"/>
          </a:xfrm>
          <a:prstGeom prst="roundRect">
            <a:avLst>
              <a:gd name="adj" fmla="val 100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7240" y="4754880"/>
            <a:ext cx="5021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77240" y="5047488"/>
            <a:ext cx="502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Stimme wird in unter einer Sekunde Meme, Sound oder Szene – in den eigenen Streams des Gründers im Einsatz.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164428" y="4663440"/>
            <a:ext cx="5478628" cy="1097280"/>
          </a:xfrm>
          <a:prstGeom prst="roundRect">
            <a:avLst>
              <a:gd name="adj" fmla="val 100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93028" y="4754880"/>
            <a:ext cx="5021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MORGEN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393028" y="5047488"/>
            <a:ext cx="50214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Stimme wird ein Film, ein Wortbild mit Aussprache oder ein fertiger Clip – im Stream, in der Schule, auf der Bühne, in der Brille.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89788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Zeichnen statt generieren – mit dem Rechenbudget eines Untertitels, nicht eines Rechenzentrums.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A · ERZÄHLFILM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9631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Scene Engine: Live-Video aus Worten</a:t>
            </a:r>
            <a:endParaRPr lang="en-US" sz="3200" dirty="0"/>
          </a:p>
        </p:txBody>
      </p:sp>
      <p:sp>
        <p:nvSpPr>
          <p:cNvPr id="4" name="Vision-Badge"/>
          <p:cNvSpPr/>
          <p:nvPr/>
        </p:nvSpPr>
        <p:spPr>
          <a:xfrm>
            <a:off x="10472623" y="1828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2623" y="1828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VISION</a:t>
            </a:r>
            <a:endParaRPr lang="en-US" sz="1000" dirty="0"/>
          </a:p>
        </p:txBody>
      </p:sp>
      <p:sp>
        <p:nvSpPr>
          <p:cNvPr id="6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13</a:t>
            </a:r>
            <a:endParaRPr lang="en-US" sz="900" dirty="0"/>
          </a:p>
        </p:txBody>
      </p:sp>
      <p:sp>
        <p:nvSpPr>
          <p:cNvPr id="8" name="Szene-Himmel"/>
          <p:cNvSpPr/>
          <p:nvPr/>
        </p:nvSpPr>
        <p:spPr>
          <a:xfrm>
            <a:off x="548640" y="1298448"/>
            <a:ext cx="5486400" cy="3017520"/>
          </a:xfrm>
          <a:prstGeom prst="rect">
            <a:avLst/>
          </a:prstGeom>
          <a:solidFill>
            <a:srgbClr val="121838"/>
          </a:solidFill>
          <a:ln w="15875">
            <a:solidFill>
              <a:srgbClr val="2DFF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958084"/>
            <a:ext cx="5486400" cy="1357884"/>
          </a:xfrm>
          <a:prstGeom prst="rect">
            <a:avLst/>
          </a:prstGeom>
          <a:solidFill>
            <a:srgbClr val="1A2348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847088"/>
            <a:ext cx="566928" cy="566928"/>
          </a:xfrm>
          <a:prstGeom prst="ellipse">
            <a:avLst/>
          </a:prstGeom>
          <a:solidFill>
            <a:srgbClr val="F4F1DE"/>
          </a:solidFill>
          <a:ln/>
        </p:spPr>
      </p:sp>
      <p:sp>
        <p:nvSpPr>
          <p:cNvPr id="11" name="Shape 8"/>
          <p:cNvSpPr/>
          <p:nvPr/>
        </p:nvSpPr>
        <p:spPr>
          <a:xfrm>
            <a:off x="5074920" y="1773936"/>
            <a:ext cx="502920" cy="502920"/>
          </a:xfrm>
          <a:prstGeom prst="ellipse">
            <a:avLst/>
          </a:prstGeom>
          <a:solidFill>
            <a:srgbClr val="121838"/>
          </a:solidFill>
          <a:ln/>
        </p:spPr>
      </p:sp>
      <p:sp>
        <p:nvSpPr>
          <p:cNvPr id="12" name="Shape 9"/>
          <p:cNvSpPr/>
          <p:nvPr/>
        </p:nvSpPr>
        <p:spPr>
          <a:xfrm>
            <a:off x="3557402" y="1963237"/>
            <a:ext cx="45369" cy="45369"/>
          </a:xfrm>
          <a:prstGeom prst="ellipse">
            <a:avLst/>
          </a:prstGeom>
          <a:solidFill>
            <a:srgbClr val="FFFFFF">
              <a:alpha val="6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278804" y="1926105"/>
            <a:ext cx="43643" cy="43643"/>
          </a:xfrm>
          <a:prstGeom prst="ellipse">
            <a:avLst/>
          </a:prstGeom>
          <a:solidFill>
            <a:srgbClr val="FFFFFF">
              <a:alpha val="37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789481" y="2133188"/>
            <a:ext cx="48991" cy="48991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77948" y="2348551"/>
            <a:ext cx="51479" cy="51479"/>
          </a:xfrm>
          <a:prstGeom prst="ellipse">
            <a:avLst/>
          </a:prstGeom>
          <a:solidFill>
            <a:srgbClr val="FFFFFF">
              <a:alpha val="69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494746" y="2410760"/>
            <a:ext cx="52010" cy="52010"/>
          </a:xfrm>
          <a:prstGeom prst="ellipse">
            <a:avLst/>
          </a:prstGeom>
          <a:solidFill>
            <a:srgbClr val="FFFFFF">
              <a:alpha val="56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42205" y="2791693"/>
            <a:ext cx="33877" cy="33877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960521" y="2808371"/>
            <a:ext cx="31849" cy="31849"/>
          </a:xfrm>
          <a:prstGeom prst="ellipse">
            <a:avLst/>
          </a:prstGeom>
          <a:solidFill>
            <a:srgbClr val="FFFFFF">
              <a:alpha val="71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503754" y="2522882"/>
            <a:ext cx="42766" cy="42766"/>
          </a:xfrm>
          <a:prstGeom prst="ellipse">
            <a:avLst/>
          </a:prstGeom>
          <a:solidFill>
            <a:srgbClr val="FFFFFF">
              <a:alpha val="66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732796" y="2295344"/>
            <a:ext cx="33664" cy="33664"/>
          </a:xfrm>
          <a:prstGeom prst="ellipse">
            <a:avLst/>
          </a:prstGeom>
          <a:solidFill>
            <a:srgbClr val="FFFFFF">
              <a:alpha val="69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377600" y="2001577"/>
            <a:ext cx="47441" cy="47441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478309" y="1927191"/>
            <a:ext cx="40296" cy="40296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213093" y="2320542"/>
            <a:ext cx="36161" cy="36161"/>
          </a:xfrm>
          <a:prstGeom prst="ellipse">
            <a:avLst/>
          </a:prstGeom>
          <a:solidFill>
            <a:srgbClr val="FFFFFF">
              <a:alpha val="69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742946" y="2610411"/>
            <a:ext cx="49486" cy="49486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832171" y="2300087"/>
            <a:ext cx="32407" cy="32407"/>
          </a:xfrm>
          <a:prstGeom prst="ellipse">
            <a:avLst/>
          </a:prstGeom>
          <a:solidFill>
            <a:srgbClr val="FFFFFF">
              <a:alpha val="76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796857" y="2532006"/>
            <a:ext cx="29175" cy="29175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49679" y="2287910"/>
            <a:ext cx="62369" cy="62369"/>
          </a:xfrm>
          <a:prstGeom prst="ellipse">
            <a:avLst/>
          </a:prstGeom>
          <a:solidFill>
            <a:srgbClr val="FFFFFF">
              <a:alpha val="56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979099" y="2300449"/>
            <a:ext cx="43483" cy="43483"/>
          </a:xfrm>
          <a:prstGeom prst="ellipse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897847" y="2594457"/>
            <a:ext cx="37090" cy="37090"/>
          </a:xfrm>
          <a:prstGeom prst="ellipse">
            <a:avLst/>
          </a:prstGeom>
          <a:solidFill>
            <a:srgbClr val="FFFFFF">
              <a:alpha val="74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611558" y="2710477"/>
            <a:ext cx="37320" cy="37320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091574" y="2598838"/>
            <a:ext cx="61333" cy="61333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09184" y="2172615"/>
            <a:ext cx="47715" cy="47715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701064" y="2536990"/>
            <a:ext cx="35302" cy="35302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583356" y="1854133"/>
            <a:ext cx="37187" cy="37187"/>
          </a:xfrm>
          <a:prstGeom prst="ellipse">
            <a:avLst/>
          </a:prstGeom>
          <a:solidFill>
            <a:srgbClr val="FFFFFF">
              <a:alpha val="63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944628" y="1937039"/>
            <a:ext cx="48857" cy="48857"/>
          </a:xfrm>
          <a:prstGeom prst="ellipse">
            <a:avLst/>
          </a:prstGeom>
          <a:solidFill>
            <a:srgbClr val="FFFFFF">
              <a:alpha val="31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152597" y="2438010"/>
            <a:ext cx="44120" cy="44120"/>
          </a:xfrm>
          <a:prstGeom prst="ellipse">
            <a:avLst/>
          </a:prstGeom>
          <a:solidFill>
            <a:srgbClr val="FFFFFF">
              <a:alpha val="57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747564" y="2748576"/>
            <a:ext cx="32008" cy="32008"/>
          </a:xfrm>
          <a:prstGeom prst="ellipse">
            <a:avLst/>
          </a:prstGeom>
          <a:solidFill>
            <a:srgbClr val="FFFFFF">
              <a:alpha val="67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731520" y="2532888"/>
            <a:ext cx="685800" cy="1371600"/>
          </a:xfrm>
          <a:prstGeom prst="triangle">
            <a:avLst/>
          </a:prstGeom>
          <a:solidFill>
            <a:srgbClr val="0E4A3A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71600" y="2167128"/>
            <a:ext cx="685800" cy="1737360"/>
          </a:xfrm>
          <a:prstGeom prst="triangle">
            <a:avLst/>
          </a:prstGeom>
          <a:solidFill>
            <a:srgbClr val="0E4A3A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011680" y="2624328"/>
            <a:ext cx="685800" cy="1280160"/>
          </a:xfrm>
          <a:prstGeom prst="triangle">
            <a:avLst/>
          </a:prstGeom>
          <a:solidFill>
            <a:srgbClr val="0E4A3A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0" y="2441448"/>
            <a:ext cx="685800" cy="1463040"/>
          </a:xfrm>
          <a:prstGeom prst="triangle">
            <a:avLst/>
          </a:prstGeom>
          <a:solidFill>
            <a:srgbClr val="0E4A3A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54880" y="2075688"/>
            <a:ext cx="685800" cy="1828800"/>
          </a:xfrm>
          <a:prstGeom prst="triangle">
            <a:avLst/>
          </a:prstGeom>
          <a:solidFill>
            <a:srgbClr val="0E4A3A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349240" y="2532888"/>
            <a:ext cx="685800" cy="1371600"/>
          </a:xfrm>
          <a:prstGeom prst="triangle">
            <a:avLst/>
          </a:prstGeom>
          <a:solidFill>
            <a:srgbClr val="0E4A3A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" y="3877056"/>
            <a:ext cx="5486400" cy="438912"/>
          </a:xfrm>
          <a:prstGeom prst="rect">
            <a:avLst/>
          </a:prstGeom>
          <a:solidFill>
            <a:srgbClr val="0B2A22"/>
          </a:solidFill>
          <a:ln/>
        </p:spPr>
      </p:sp>
      <p:sp>
        <p:nvSpPr>
          <p:cNvPr id="45" name="Shape 42"/>
          <p:cNvSpPr/>
          <p:nvPr/>
        </p:nvSpPr>
        <p:spPr>
          <a:xfrm>
            <a:off x="765023" y="2097940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260747" y="3141149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021353" y="3471182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816940" y="3396226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503793" y="1873188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58942" y="1841694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390405" y="3396571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957986" y="2080967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169757" y="1901306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071655" y="2739057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68286" y="2484326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819399" y="2369859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688213" y="2063763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482852" y="1803105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835387" y="1967191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05677" y="2010769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087925" y="2597624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83323" y="3253624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951568" y="3220154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369745" y="3587723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11365" y="3028756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012125" y="2491520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35191" y="3493242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64473" y="1932668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594229" y="2385186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91144" y="2954261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890808" y="2525681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404760" y="3541232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344484" y="2610860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255970" y="3527633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029958" y="2759257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281450" y="3103119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987479" y="3658366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176702" y="2599583"/>
            <a:ext cx="73152" cy="237744"/>
          </a:xfrm>
          <a:prstGeom prst="line">
            <a:avLst/>
          </a:prstGeom>
          <a:noFill/>
          <a:ln w="12700">
            <a:solidFill>
              <a:srgbClr val="5AD1FF">
                <a:alpha val="65000"/>
              </a:srgbClr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2423160" y="3172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👧</a:t>
            </a:r>
            <a:endParaRPr lang="en-US" sz="4000" dirty="0"/>
          </a:p>
        </p:txBody>
      </p:sp>
      <p:sp>
        <p:nvSpPr>
          <p:cNvPr id="80" name="Text 77"/>
          <p:cNvSpPr txBox="1"/>
          <p:nvPr/>
        </p:nvSpPr>
        <p:spPr>
          <a:xfrm>
            <a:off x="3291840" y="239572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🐉</a:t>
            </a:r>
            <a:endParaRPr lang="en-US" sz="6600" dirty="0"/>
          </a:p>
        </p:txBody>
      </p:sp>
      <p:sp>
        <p:nvSpPr>
          <p:cNvPr id="81" name="Shape 78"/>
          <p:cNvSpPr/>
          <p:nvPr/>
        </p:nvSpPr>
        <p:spPr>
          <a:xfrm>
            <a:off x="548640" y="1298448"/>
            <a:ext cx="5486400" cy="43891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713232" y="1335024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„Es war Nacht … ein Mädchen ging in den Wald … es begann zu regnen … plötzlich ein Drache!“</a:t>
            </a:r>
            <a:endParaRPr lang="en-US" sz="1150" dirty="0"/>
          </a:p>
        </p:txBody>
      </p:sp>
      <p:sp>
        <p:nvSpPr>
          <p:cNvPr id="83" name="Shape 80"/>
          <p:cNvSpPr/>
          <p:nvPr/>
        </p:nvSpPr>
        <p:spPr>
          <a:xfrm>
            <a:off x="713232" y="39319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5AD1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13232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 Atmo: Regen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548640" y="4425696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713232" y="4453128"/>
            <a:ext cx="5157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DF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{ort: "wald", zeit: "nacht", wetter: "regen", figuren: [👧, 🐉], stimmung: "spannend"}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4965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pro Stunde Begleitvideo</a:t>
            </a:r>
            <a:endParaRPr lang="en-US" sz="1100" dirty="0"/>
          </a:p>
        </p:txBody>
      </p:sp>
      <p:sp>
        <p:nvSpPr>
          <p:cNvPr id="88" name="Text 85"/>
          <p:cNvSpPr txBox="1"/>
          <p:nvPr/>
        </p:nvSpPr>
        <p:spPr>
          <a:xfrm>
            <a:off x="548640" y="5285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Video-KI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2468880" y="5312664"/>
            <a:ext cx="1885193" cy="164592"/>
          </a:xfrm>
          <a:prstGeom prst="rect">
            <a:avLst/>
          </a:prstGeom>
          <a:solidFill>
            <a:srgbClr val="FF2D75"/>
          </a:solidFill>
          <a:ln/>
        </p:spPr>
      </p:sp>
      <p:sp>
        <p:nvSpPr>
          <p:cNvPr id="90" name="Shape 87"/>
          <p:cNvSpPr/>
          <p:nvPr/>
        </p:nvSpPr>
        <p:spPr>
          <a:xfrm>
            <a:off x="4354073" y="5312664"/>
            <a:ext cx="681098" cy="164592"/>
          </a:xfrm>
          <a:prstGeom prst="rect">
            <a:avLst/>
          </a:prstGeom>
          <a:solidFill>
            <a:srgbClr val="FF2D75">
              <a:alpha val="45000"/>
            </a:srgbClr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5108323" y="5285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180–2.700 USD</a:t>
            </a:r>
            <a:endParaRPr lang="en-US" sz="950" dirty="0"/>
          </a:p>
        </p:txBody>
      </p:sp>
      <p:sp>
        <p:nvSpPr>
          <p:cNvPr id="92" name="Text 89"/>
          <p:cNvSpPr txBox="1"/>
          <p:nvPr/>
        </p:nvSpPr>
        <p:spPr>
          <a:xfrm>
            <a:off x="548640" y="5532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mit Text-KI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2468880" y="5559552"/>
            <a:ext cx="230455" cy="16459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4" name="Shape 91"/>
          <p:cNvSpPr/>
          <p:nvPr/>
        </p:nvSpPr>
        <p:spPr>
          <a:xfrm>
            <a:off x="2699335" y="5559552"/>
            <a:ext cx="276310" cy="164592"/>
          </a:xfrm>
          <a:prstGeom prst="rect">
            <a:avLst/>
          </a:prstGeom>
          <a:solidFill>
            <a:srgbClr val="FFD166">
              <a:alpha val="45000"/>
            </a:srgbClr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048797" y="5532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0,25–0,75 USD</a:t>
            </a:r>
            <a:endParaRPr lang="en-US" sz="950" dirty="0"/>
          </a:p>
        </p:txBody>
      </p:sp>
      <p:sp>
        <p:nvSpPr>
          <p:cNvPr id="96" name="Text 93"/>
          <p:cNvSpPr txBox="1"/>
          <p:nvPr/>
        </p:nvSpPr>
        <p:spPr>
          <a:xfrm>
            <a:off x="548640" y="5779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ohne KI</a:t>
            </a:r>
            <a:endParaRPr lang="en-US" sz="950" dirty="0"/>
          </a:p>
        </p:txBody>
      </p:sp>
      <p:sp>
        <p:nvSpPr>
          <p:cNvPr id="97" name="Shape 94"/>
          <p:cNvSpPr/>
          <p:nvPr/>
        </p:nvSpPr>
        <p:spPr>
          <a:xfrm>
            <a:off x="2468880" y="5806440"/>
            <a:ext cx="54864" cy="164592"/>
          </a:xfrm>
          <a:prstGeom prst="rect">
            <a:avLst/>
          </a:prstGeom>
          <a:solidFill>
            <a:srgbClr val="2DFFB5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2596896" y="5779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950" dirty="0"/>
          </a:p>
        </p:txBody>
      </p:sp>
      <p:sp>
        <p:nvSpPr>
          <p:cNvPr id="99" name="Text 96"/>
          <p:cNvSpPr txBox="1"/>
          <p:nvPr/>
        </p:nvSpPr>
        <p:spPr>
          <a:xfrm>
            <a:off x="548640" y="60441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logarithmische Skala · Video-KI nach Listenpreis 0,05–0,75 USD/s [Quelle 24, 25] · KI-Kosten LiveFX: Projektmessung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6355080" y="1325880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Satz verändert den Weltzustand: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6355080" y="164592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6355080" y="16459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7132320" y="164592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7132320" y="16459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7909560" y="16459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7909560" y="16459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Wetter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8869680" y="16459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8869680" y="16459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9738360" y="16459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9738360" y="16459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10698480" y="16459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0698480" y="16459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Aktion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355080" y="20116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6355080" y="20116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Stimmung</a:t>
            </a:r>
            <a:endParaRPr lang="en-US" sz="950" dirty="0"/>
          </a:p>
        </p:txBody>
      </p:sp>
      <p:sp>
        <p:nvSpPr>
          <p:cNvPr id="115" name="Text 112"/>
          <p:cNvSpPr txBox="1"/>
          <p:nvPr/>
        </p:nvSpPr>
        <p:spPr>
          <a:xfrm>
            <a:off x="6355080" y="2514600"/>
            <a:ext cx="528797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Streamerin liest vor oder erzählt – darunter entsteht Satz für Satz ein animierter Film: Nacht, Wald, Regen, Drache.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Läuft mit 60 fps im Browser neben OBS, offline und deterministisch: gleiche Zeitleiste, gleiches Bild – jede Erzählung wird sofort zum Clip.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240- bis über 10.000-mal günstiger als Video-KI – und live überhaupt erst möglich.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Vorlese-, Hörbuch- und Podcast-Formate: Hörbuch DE 374 Mio. €, +13 % [Quelle 19]; YouTube &gt; 1 Mrd. Podcast-Zuschauer pro Monat [Quelle 21].</a:t>
            </a:r>
            <a:endParaRPr lang="en-US" sz="1400" dirty="0"/>
          </a:p>
        </p:txBody>
      </p:sp>
      <p:sp>
        <p:nvSpPr>
          <p:cNvPr id="116" name="Shape 113"/>
          <p:cNvSpPr/>
          <p:nvPr/>
        </p:nvSpPr>
        <p:spPr>
          <a:xfrm>
            <a:off x="6355080" y="5120640"/>
            <a:ext cx="5287975" cy="1143000"/>
          </a:xfrm>
          <a:prstGeom prst="roundRect">
            <a:avLst>
              <a:gd name="adj" fmla="val 96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6556248" y="5193792"/>
            <a:ext cx="4885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Bilderbuch, kein Fotorealismus</a:t>
            </a:r>
            <a:endParaRPr lang="en-US" sz="1100" dirty="0"/>
          </a:p>
        </p:txBody>
      </p:sp>
      <p:sp>
        <p:nvSpPr>
          <p:cNvPr id="118" name="Text 115"/>
          <p:cNvSpPr txBox="1"/>
          <p:nvPr/>
        </p:nvSpPr>
        <p:spPr>
          <a:xfrm>
            <a:off x="6556248" y="5468112"/>
            <a:ext cx="48856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Stilisierte Welt aus Emoji/SVG und Partikeln – gerade deshalb live, billig und kinderfreundlich. Optionale KI wählt nur die Szene, sie erzeugt keine Bilder.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B · WORTBILD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9631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Sprachenlernen &amp; Bildung: jedes Wort ein Bild</a:t>
            </a:r>
            <a:endParaRPr lang="en-US" sz="3200" dirty="0"/>
          </a:p>
        </p:txBody>
      </p:sp>
      <p:sp>
        <p:nvSpPr>
          <p:cNvPr id="4" name="Vision-Badge"/>
          <p:cNvSpPr/>
          <p:nvPr/>
        </p:nvSpPr>
        <p:spPr>
          <a:xfrm>
            <a:off x="10472623" y="1828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2623" y="1828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VISION</a:t>
            </a:r>
            <a:endParaRPr lang="en-US" sz="1000" dirty="0"/>
          </a:p>
        </p:txBody>
      </p:sp>
      <p:sp>
        <p:nvSpPr>
          <p:cNvPr id="6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14</a:t>
            </a:r>
            <a:endParaRPr lang="en-US" sz="900" dirty="0"/>
          </a:p>
        </p:txBody>
      </p:sp>
      <p:sp>
        <p:nvSpPr>
          <p:cNvPr id="8" name="WortBild-Karte"/>
          <p:cNvSpPr/>
          <p:nvPr/>
        </p:nvSpPr>
        <p:spPr>
          <a:xfrm>
            <a:off x="548640" y="1325880"/>
            <a:ext cx="4846320" cy="3520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31750">
            <a:solidFill>
              <a:srgbClr val="FFD1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3560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877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elma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37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· ma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7216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pPr algn="ctr" indent="0" marL="0">
              <a:buNone/>
            </a:pPr>
            <a:r>
              <a:rPr lang="en-US" sz="2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2000" dirty="0">
                <a:solidFill>
                  <a:srgbClr val="1B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Apfel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011680" y="420624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11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„elma“ – tr-TR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417320" y="4983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17320" y="4983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14600" y="4983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14600" y="4983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11880" y="4983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11880" y="4983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4132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Modi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70585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705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Übersetzen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194560" y="570585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94560" y="5705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Lesehilfe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840480" y="570585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0480" y="5705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Nachsprechen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806440" y="1325880"/>
            <a:ext cx="58366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Kind sagt „Apfel“ – sofort: 🍎, „elma“ in der Zielsprache, „der Apfel“ mit farbigem Artikel und die Aussprache. Ohne Klick.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Lesehilfe in der eigenen Sprache: für Kinder vor dem Lesealter, DaZ, Integrationskurse und neurodiverse Lernende.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Lokal, ohne Konto, offline – Schul-Datenschutz als Verkaufsargument. Aussprache über die Systemstimmen des Geräts [Quelle 29].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806440" y="3794760"/>
            <a:ext cx="1854098" cy="1417320"/>
          </a:xfrm>
          <a:prstGeom prst="roundRect">
            <a:avLst>
              <a:gd name="adj" fmla="val 7742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71032" y="3886200"/>
            <a:ext cx="1579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 Mio.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5971032" y="4407408"/>
            <a:ext cx="15797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zahlende Duolingo-Abonnenten, Q2 2026 [Quelle 32]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797698" y="3794760"/>
            <a:ext cx="1854098" cy="1417320"/>
          </a:xfrm>
          <a:prstGeom prst="roundRect">
            <a:avLst>
              <a:gd name="adj" fmla="val 7742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62290" y="3886200"/>
            <a:ext cx="1579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307.000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7962290" y="4407408"/>
            <a:ext cx="15797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Teilnehmende in Integrationskursen 2025 [Quelle 36]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9788957" y="3794760"/>
            <a:ext cx="1854098" cy="1417320"/>
          </a:xfrm>
          <a:prstGeom prst="roundRect">
            <a:avLst>
              <a:gd name="adj" fmla="val 7742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953549" y="3886200"/>
            <a:ext cx="1579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Mrd. €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9953549" y="4407408"/>
            <a:ext cx="15797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DigitalPakt 2.0 über fünf Jahre, Start 1.9.2026 [Quelle 40]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806440" y="5349240"/>
            <a:ext cx="5836615" cy="868680"/>
          </a:xfrm>
          <a:prstGeom prst="roundRect">
            <a:avLst>
              <a:gd name="adj" fmla="val 12632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007608" y="5394960"/>
            <a:ext cx="54342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Erlöse (Schätzung): WortBild Familie 4,99 €/Monat · Schullizenz 300–800 €/Jahr · Kurslizenz 49 € pro Lehrkraft und Jahr · Verlags-Edition für zweisprachige Bücher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LINIEN D + C · STUDIO UND RÄUME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9631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Auto-Edit, Editor, VR/AR – und ein größerer Markt</a:t>
            </a:r>
            <a:endParaRPr lang="en-US" sz="3100" dirty="0"/>
          </a:p>
        </p:txBody>
      </p:sp>
      <p:sp>
        <p:nvSpPr>
          <p:cNvPr id="4" name="Vision-Badge"/>
          <p:cNvSpPr/>
          <p:nvPr/>
        </p:nvSpPr>
        <p:spPr>
          <a:xfrm>
            <a:off x="10472623" y="1828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2623" y="1828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VISION</a:t>
            </a:r>
            <a:endParaRPr lang="en-US" sz="1000" dirty="0"/>
          </a:p>
        </p:txBody>
      </p:sp>
      <p:sp>
        <p:nvSpPr>
          <p:cNvPr id="6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98448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Studio: Live-Schnitt und Auto-Edit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3154680" cy="1325880"/>
          </a:xfrm>
          <a:prstGeom prst="roundRect">
            <a:avLst>
              <a:gd name="adj" fmla="val 827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7190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→ Highlights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29968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Stream 3–5 Clips im Format 9:16 – dort, wo Memes, Geschenke und Chat am dichtesten waren. Ohne Upload.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1645920"/>
            <a:ext cx="3154680" cy="1325880"/>
          </a:xfrm>
          <a:prstGeom prst="roundRect">
            <a:avLst>
              <a:gd name="adj" fmla="val 8276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3360" y="17190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 rein → fertig raus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029968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ziehen → lokales Transkript → Effekte, Szenen, Schnitte als Chips → MP4 per Hardware-Encoder [Quelle 57, 59].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6446520" cy="868680"/>
          </a:xfrm>
          <a:prstGeom prst="roundRect">
            <a:avLst>
              <a:gd name="adj" fmla="val 12632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200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🎞 Video.mp4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„Höre zu … (lokal)“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103120" y="3291840"/>
            <a:ext cx="4754880" cy="274320"/>
          </a:xfrm>
          <a:prstGeom prst="rect">
            <a:avLst/>
          </a:prstGeom>
          <a:solidFill>
            <a:srgbClr val="262B38"/>
          </a:solidFill>
          <a:ln/>
        </p:spPr>
      </p:sp>
      <p:sp>
        <p:nvSpPr>
          <p:cNvPr id="18" name="Shape 15"/>
          <p:cNvSpPr/>
          <p:nvPr/>
        </p:nvSpPr>
        <p:spPr>
          <a:xfrm>
            <a:off x="2198218" y="33101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8A93A6"/>
          </a:solidFill>
          <a:ln/>
        </p:spPr>
      </p:sp>
      <p:sp>
        <p:nvSpPr>
          <p:cNvPr id="19" name="Shape 16"/>
          <p:cNvSpPr/>
          <p:nvPr/>
        </p:nvSpPr>
        <p:spPr>
          <a:xfrm>
            <a:off x="2626157" y="33101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DFFB5"/>
          </a:solidFill>
          <a:ln/>
        </p:spPr>
      </p:sp>
      <p:sp>
        <p:nvSpPr>
          <p:cNvPr id="20" name="Shape 17"/>
          <p:cNvSpPr/>
          <p:nvPr/>
        </p:nvSpPr>
        <p:spPr>
          <a:xfrm>
            <a:off x="3054096" y="3310128"/>
            <a:ext cx="190195" cy="237744"/>
          </a:xfrm>
          <a:prstGeom prst="roundRect">
            <a:avLst>
              <a:gd name="adj" fmla="val 28846"/>
            </a:avLst>
          </a:prstGeom>
          <a:solidFill>
            <a:srgbClr val="FFD166"/>
          </a:solidFill>
          <a:ln/>
        </p:spPr>
      </p:sp>
      <p:sp>
        <p:nvSpPr>
          <p:cNvPr id="21" name="Shape 18"/>
          <p:cNvSpPr/>
          <p:nvPr/>
        </p:nvSpPr>
        <p:spPr>
          <a:xfrm>
            <a:off x="3482035" y="3310128"/>
            <a:ext cx="95098" cy="237744"/>
          </a:xfrm>
          <a:prstGeom prst="roundRect">
            <a:avLst>
              <a:gd name="adj" fmla="val 57692"/>
            </a:avLst>
          </a:prstGeom>
          <a:solidFill>
            <a:srgbClr val="FF2D75"/>
          </a:solidFill>
          <a:ln/>
        </p:spPr>
      </p:sp>
      <p:sp>
        <p:nvSpPr>
          <p:cNvPr id="22" name="Shape 19"/>
          <p:cNvSpPr/>
          <p:nvPr/>
        </p:nvSpPr>
        <p:spPr>
          <a:xfrm>
            <a:off x="3814877" y="3310128"/>
            <a:ext cx="332842" cy="237744"/>
          </a:xfrm>
          <a:prstGeom prst="roundRect">
            <a:avLst>
              <a:gd name="adj" fmla="val 23077"/>
            </a:avLst>
          </a:prstGeom>
          <a:solidFill>
            <a:srgbClr val="8A93A6"/>
          </a:solidFill>
          <a:ln/>
        </p:spPr>
      </p:sp>
      <p:sp>
        <p:nvSpPr>
          <p:cNvPr id="23" name="Shape 20"/>
          <p:cNvSpPr/>
          <p:nvPr/>
        </p:nvSpPr>
        <p:spPr>
          <a:xfrm>
            <a:off x="4385462" y="3310128"/>
            <a:ext cx="332842" cy="237744"/>
          </a:xfrm>
          <a:prstGeom prst="roundRect">
            <a:avLst>
              <a:gd name="adj" fmla="val 23077"/>
            </a:avLst>
          </a:prstGeom>
          <a:solidFill>
            <a:srgbClr val="2DFFB5"/>
          </a:solidFill>
          <a:ln/>
        </p:spPr>
      </p:sp>
      <p:sp>
        <p:nvSpPr>
          <p:cNvPr id="24" name="Shape 21"/>
          <p:cNvSpPr/>
          <p:nvPr/>
        </p:nvSpPr>
        <p:spPr>
          <a:xfrm>
            <a:off x="4860950" y="3310128"/>
            <a:ext cx="142646" cy="237744"/>
          </a:xfrm>
          <a:prstGeom prst="roundRect">
            <a:avLst>
              <a:gd name="adj" fmla="val 38462"/>
            </a:avLst>
          </a:prstGeom>
          <a:solidFill>
            <a:srgbClr val="FF2D75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1341" y="3310128"/>
            <a:ext cx="190195" cy="237744"/>
          </a:xfrm>
          <a:prstGeom prst="roundRect">
            <a:avLst>
              <a:gd name="adj" fmla="val 28846"/>
            </a:avLst>
          </a:prstGeom>
          <a:solidFill>
            <a:srgbClr val="FFD166"/>
          </a:solidFill>
          <a:ln/>
        </p:spPr>
      </p:sp>
      <p:sp>
        <p:nvSpPr>
          <p:cNvPr id="26" name="Shape 23"/>
          <p:cNvSpPr/>
          <p:nvPr/>
        </p:nvSpPr>
        <p:spPr>
          <a:xfrm>
            <a:off x="5621731" y="3310128"/>
            <a:ext cx="285293" cy="237744"/>
          </a:xfrm>
          <a:prstGeom prst="roundRect">
            <a:avLst>
              <a:gd name="adj" fmla="val 23077"/>
            </a:avLst>
          </a:prstGeom>
          <a:solidFill>
            <a:srgbClr val="8A93A6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7219" y="3310128"/>
            <a:ext cx="285293" cy="237744"/>
          </a:xfrm>
          <a:prstGeom prst="roundRect">
            <a:avLst>
              <a:gd name="adj" fmla="val 23077"/>
            </a:avLst>
          </a:prstGeom>
          <a:solidFill>
            <a:srgbClr val="2DFFB5"/>
          </a:solidFill>
          <a:ln/>
        </p:spPr>
      </p:sp>
      <p:sp>
        <p:nvSpPr>
          <p:cNvPr id="28" name="Shape 25"/>
          <p:cNvSpPr/>
          <p:nvPr/>
        </p:nvSpPr>
        <p:spPr>
          <a:xfrm>
            <a:off x="6525158" y="3310128"/>
            <a:ext cx="142646" cy="237744"/>
          </a:xfrm>
          <a:prstGeom prst="roundRect">
            <a:avLst>
              <a:gd name="adj" fmla="val 38462"/>
            </a:avLst>
          </a:prstGeom>
          <a:solidFill>
            <a:srgbClr val="FF2D75"/>
          </a:solidFill>
          <a:ln/>
        </p:spPr>
      </p:sp>
      <p:sp>
        <p:nvSpPr>
          <p:cNvPr id="29" name="Shape 26"/>
          <p:cNvSpPr/>
          <p:nvPr/>
        </p:nvSpPr>
        <p:spPr>
          <a:xfrm>
            <a:off x="2103120" y="3712464"/>
            <a:ext cx="109728" cy="109728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267712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91840" y="3712464"/>
            <a:ext cx="109728" cy="109728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56432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480560" y="3712464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45152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669280" y="3712464"/>
            <a:ext cx="109728" cy="109728"/>
          </a:xfrm>
          <a:prstGeom prst="ellipse">
            <a:avLst/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33872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114800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Räume: ein Zustand, viele Bildschirme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48640" y="448056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4535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Bühne &amp; Events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685800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geht heute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743200" y="448056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880360" y="4535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Klassenzimmer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2880360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geht heute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937760" y="448056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074920" y="4535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Hörbuch mit Bildern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5074920" y="4828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Folgerunde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48640" y="52578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5800" y="53126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AR am Handy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685800" y="56052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Folgerunde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2743200" y="52578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880360" y="53126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🥽 WebXR / VR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2880360" y="56052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2029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937760" y="52578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074920" y="53126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👓 Display-Brille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5074920" y="56052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2029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7269480" y="1298448"/>
            <a:ext cx="4373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Erweiterter Markt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645920"/>
          <a:ext cx="4373575" cy="914400"/>
        </p:xfrm>
        <a:graphic>
          <a:graphicData uri="http://schemas.openxmlformats.org/drawingml/2006/table">
            <a:tbl>
              <a:tblPr/>
              <a:tblGrid>
                <a:gridCol w="2186788"/>
                <a:gridCol w="218678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Größe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Videoschnitt-Software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2,68 Mrd. USD [Quelle 51]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KI-Video (Generierung + Schnitt)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3,67 Mrd. USD [Quelle 23]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Sprachlern-Apps (In-App) 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1,54 Mrd. USD [Quelle 33]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Hörbuch Deutschland 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 Mio. € [Quelle 19]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Glasses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 Mio. Geräte / 5,1 Mrd. USD [Quelle 45]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Live-Streaming (Kern)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2D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97–157 Mrd. USD [Quelle 1, 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</a:tr>
            </a:tbl>
          </a:graphicData>
        </a:graphic>
      </p:graphicFrame>
      <p:sp>
        <p:nvSpPr>
          <p:cNvPr id="58" name="Text 54"/>
          <p:cNvSpPr txBox="1"/>
          <p:nvPr/>
        </p:nvSpPr>
        <p:spPr>
          <a:xfrm>
            <a:off x="7269480" y="498348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Preis-Anker: OpusClip 15–29 USD, Descript 16–65 USD pro Monat [Quelle 54, 55]. LiveFX Pro+ 14,99 € (Schätzung) – ohne Cloud-Kosten, ohne Minutenlimit. XR und Brille: Schaufenster, keine Umsatzlinie.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GRÜNDER, ERFINDER, NUTZER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737360"/>
            <a:ext cx="1188720" cy="1188720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737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286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 &amp; Erfinder · Geschäftsführer · deutsch-türkischer Autor &amp; Live-Streamer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Produkt, Inhalte, Community – und die eigenen Streams als Testlabor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Meme- und Story-Pakete in TR / DE / EN aus erster Hand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Kinderbuchreihe zu Neurodiversität – Brücke zu WortBild und Erzählfilm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Bücher: [Titel] · Streams: [Plattform / @handle] · [E-Mail]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7548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4956048"/>
            <a:ext cx="731520" cy="731520"/>
          </a:xfrm>
          <a:prstGeom prst="ellipse">
            <a:avLst/>
          </a:prstGeom>
          <a:solidFill>
            <a:srgbClr val="181B23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9560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48828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874520" y="52303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874520" y="550468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Ansprechpartnerin für Investoren und die Pre-Seed-Runde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1371600"/>
            <a:ext cx="5696712" cy="1389888"/>
          </a:xfrm>
          <a:prstGeom prst="roundRect">
            <a:avLst>
              <a:gd name="adj" fmla="val 7895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1746504"/>
            <a:ext cx="640080" cy="640080"/>
          </a:xfrm>
          <a:prstGeom prst="ellipse">
            <a:avLst/>
          </a:prstGeom>
          <a:solidFill>
            <a:srgbClr val="1F2330"/>
          </a:solidFill>
          <a:ln w="19050">
            <a:solidFill>
              <a:srgbClr val="2DFFB5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6172200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162763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[Position offen] – Mobile-/Web-Entwickler:in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0665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Einstellung aus dem Pre-Seed (Monat 3): iOS/Android, PWA, später SDK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0" y="2907792"/>
            <a:ext cx="5696712" cy="1389888"/>
          </a:xfrm>
          <a:prstGeom prst="roundRect">
            <a:avLst>
              <a:gd name="adj" fmla="val 7895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72200" y="3282696"/>
            <a:ext cx="640080" cy="640080"/>
          </a:xfrm>
          <a:prstGeom prst="ellipse">
            <a:avLst/>
          </a:prstGeom>
          <a:solidFill>
            <a:srgbClr val="1F2330"/>
          </a:solidFill>
          <a:ln w="19050">
            <a:solidFill>
              <a:srgbClr val="FFD166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6172200" y="3282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316382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[Position offen] – Creator-Partnerschaften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3602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TR + DACH, Creator-Programm, Bildungsvertrieb – mit der Seed-Runde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943600" y="4443984"/>
            <a:ext cx="5696712" cy="1389888"/>
          </a:xfrm>
          <a:prstGeom prst="roundRect">
            <a:avLst>
              <a:gd name="adj" fmla="val 7895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2200" y="4818888"/>
            <a:ext cx="640080" cy="640080"/>
          </a:xfrm>
          <a:prstGeom prst="ellipse">
            <a:avLst/>
          </a:prstGeom>
          <a:solidFill>
            <a:srgbClr val="1F2330"/>
          </a:solidFill>
          <a:ln w="19050">
            <a:solidFill>
              <a:srgbClr val="9AA3B5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17220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7040880" y="470001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Beirat / Partner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51389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Gesucht: Creator-Management TR · Ex-Produktverantwortung „Live“ einer Plattform · Edtech/Didaktik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FINANZEN &amp; BEWERTUNG · SCHÄTZUNG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T€ für 18 Monate – dann die Seed-Runde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984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GuV 5 Jahre, Basis-Szenario (T€)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96696"/>
                <a:gridCol w="996696"/>
                <a:gridCol w="996696"/>
                <a:gridCol w="996696"/>
                <a:gridCol w="99669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3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3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3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2D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2D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2D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2D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2D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+1.661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3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 Jahresende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1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352958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 2031: konservativ 602 T€ · optimistisch 7,44 Mio. €. Jahre 4–5 fortgeschrieben; noch kein Umsatz.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41605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" y="42702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Monate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481888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ganz ohne Umsatz – Ø Kosten 13.444 € pro Monat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88920" y="41605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53512" y="42702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· 146 · 369 T€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53512" y="481888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Kasse in Monat 18: konservativ · Basis · optimistisch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0" y="41605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193792" y="42702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~350 T€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193792" y="481888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Seed-Runde nach Gate 2 (Monat 15–18)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406640" y="1298448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Referenzmethoden (Pre-Money)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406640" y="16916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Berkus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641080" y="1737360"/>
            <a:ext cx="1671081" cy="201168"/>
          </a:xfrm>
          <a:prstGeom prst="rect">
            <a:avLst/>
          </a:prstGeom>
          <a:solidFill>
            <a:srgbClr val="2DFFB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0385313" y="1691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2,35 Mio. €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406640" y="2075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641080" y="2121408"/>
            <a:ext cx="2097740" cy="201168"/>
          </a:xfrm>
          <a:prstGeom prst="rect">
            <a:avLst/>
          </a:prstGeom>
          <a:solidFill>
            <a:srgbClr val="5AD1F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811972" y="20756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2,95 Mio. €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406640" y="24597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VC-Methode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641080" y="2505456"/>
            <a:ext cx="1727969" cy="201168"/>
          </a:xfrm>
          <a:prstGeom prst="rect">
            <a:avLst/>
          </a:prstGeom>
          <a:solidFill>
            <a:srgbClr val="9AA3B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442201" y="24597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2,43 Mio. €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406640" y="28437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 Sum.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641080" y="2889504"/>
            <a:ext cx="2133295" cy="201168"/>
          </a:xfrm>
          <a:prstGeom prst="rect">
            <a:avLst/>
          </a:prstGeom>
          <a:solidFill>
            <a:srgbClr val="2DFFB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847527" y="28437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 Mio. €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406640" y="3337560"/>
            <a:ext cx="4236415" cy="1325880"/>
          </a:xfrm>
          <a:prstGeom prst="roundRect">
            <a:avLst>
              <a:gd name="adj" fmla="val 8276"/>
            </a:avLst>
          </a:prstGeom>
          <a:solidFill>
            <a:srgbClr val="1F2330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07808" y="3429000"/>
            <a:ext cx="383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Angebot der Gründer · unter jeder Referenzmethode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607808" y="3685032"/>
            <a:ext cx="3834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2,25 Mio. €</a:t>
            </a:r>
            <a:endParaRPr lang="en-US" sz="3200" dirty="0"/>
          </a:p>
        </p:txBody>
      </p:sp>
      <p:sp>
        <p:nvSpPr>
          <p:cNvPr id="34" name="Text 30"/>
          <p:cNvSpPr txBox="1"/>
          <p:nvPr/>
        </p:nvSpPr>
        <p:spPr>
          <a:xfrm>
            <a:off x="7607808" y="4233672"/>
            <a:ext cx="3834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· 250 T€ für 10,0 % · Post-Money 2,5 Mio. €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7406640" y="4800600"/>
            <a:ext cx="4236415" cy="777240"/>
          </a:xfrm>
          <a:prstGeom prst="roundRect">
            <a:avLst>
              <a:gd name="adj" fmla="val 14118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607808" y="4892040"/>
            <a:ext cx="383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SAFE / Wandeldarlehen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7607808" y="5184648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Cap 2,25 Mio. € · 20 % Discount (15–20 % verhandelbar) · ohne Zins · Wandlung in der Seed-Runde – max. 10 %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7607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Verhandlungsbasis – mit Steuer-/Rechtsberater prüfen. Alle Zahlen sind Schätzungen aus LiveFX_Finanzmodell.xlsx (gewichteter Referenzwert 2,71 Mio. €).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MEILENSTEINE · 18 MONATE</a:t>
            </a:r>
            <a:endParaRPr lang="en-US" sz="1000" dirty="0"/>
          </a:p>
        </p:txBody>
      </p:sp>
      <p:sp>
        <p:nvSpPr>
          <p:cNvPr id="3" name="Titel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Gates: was die 250 T€ beweisen müssen</a:t>
            </a:r>
            <a:endParaRPr lang="en-US" sz="3200" dirty="0"/>
          </a:p>
        </p:txBody>
      </p:sp>
      <p:sp>
        <p:nvSpPr>
          <p:cNvPr id="4" name="Fuß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618488"/>
            <a:ext cx="10545775" cy="0"/>
          </a:xfrm>
          <a:prstGeom prst="line">
            <a:avLst/>
          </a:prstGeom>
          <a:noFill/>
          <a:ln w="25400">
            <a:solidFill>
              <a:srgbClr val="2A2F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44752"/>
            <a:ext cx="2487854" cy="347472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44752"/>
            <a:ext cx="24878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 ·  Monat 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2670734" cy="3703320"/>
          </a:xfrm>
          <a:prstGeom prst="roundRect">
            <a:avLst>
              <a:gd name="adj" fmla="val 4109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048256"/>
            <a:ext cx="2268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468880"/>
            <a:ext cx="22683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Pro-Abo live (Zahlung)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Mobile-/Web-Entwickler:in an Bord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" y="4846320"/>
            <a:ext cx="2268398" cy="0"/>
          </a:xfrm>
          <a:prstGeom prst="line">
            <a:avLst/>
          </a:prstGeom>
          <a:noFill/>
          <a:ln w="12700">
            <a:solidFill>
              <a:srgbClr val="2A2F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4910328"/>
            <a:ext cx="2268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GIBT FREI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5148072"/>
            <a:ext cx="2268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Markteintritt Phase 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47974" y="1444752"/>
            <a:ext cx="2487854" cy="347472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47974" y="1444752"/>
            <a:ext cx="24878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 ·  Monat 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56534" y="1938528"/>
            <a:ext cx="2670734" cy="3703320"/>
          </a:xfrm>
          <a:prstGeom prst="roundRect">
            <a:avLst>
              <a:gd name="adj" fmla="val 4109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57702" y="2048256"/>
            <a:ext cx="2268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Aktivierung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557702" y="2468880"/>
            <a:ext cx="22683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registrierte Nutzer (Schwelle 4.000)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zahlende Pro (Schwelle 120)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Beta-Creator TR/DE, 10–20 Botschafter:innen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 mit 300 Wörtern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Woche-4-Retention ≥ 30 %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557702" y="4846320"/>
            <a:ext cx="2268398" cy="0"/>
          </a:xfrm>
          <a:prstGeom prst="line">
            <a:avLst/>
          </a:prstGeom>
          <a:noFill/>
          <a:ln w="12700">
            <a:solidFill>
              <a:srgbClr val="2A2F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57702" y="4910328"/>
            <a:ext cx="2268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GIBT FREI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557702" y="5148072"/>
            <a:ext cx="2268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Mobile-App/PWA-Release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55868" y="1444752"/>
            <a:ext cx="2487854" cy="347472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55868" y="1444752"/>
            <a:ext cx="24878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G2a  ·  Monat 12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64428" y="1938528"/>
            <a:ext cx="2670734" cy="3703320"/>
          </a:xfrm>
          <a:prstGeom prst="roundRect">
            <a:avLst>
              <a:gd name="adj" fmla="val 4109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65596" y="2048256"/>
            <a:ext cx="2268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Traktion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365596" y="2468880"/>
            <a:ext cx="22683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20.000 Nutzer (Schwelle 8.000)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zahlende Pro (Schwelle 240)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8.073 € (Schwelle 2.500 €)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Plattform- oder Bildungspilot; WortBild in ≥ 3 Kursen/Klassen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65596" y="4846320"/>
            <a:ext cx="2268398" cy="0"/>
          </a:xfrm>
          <a:prstGeom prst="line">
            <a:avLst/>
          </a:prstGeom>
          <a:noFill/>
          <a:ln w="12700">
            <a:solidFill>
              <a:srgbClr val="2A2F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5596" y="4910328"/>
            <a:ext cx="2268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GIBT FREI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365596" y="5148072"/>
            <a:ext cx="2268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DE/EN-Ausbau, Plattform-Gespräche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063761" y="1444752"/>
            <a:ext cx="2487854" cy="347472"/>
          </a:xfrm>
          <a:prstGeom prst="roundRect">
            <a:avLst>
              <a:gd name="adj" fmla="val 50000"/>
            </a:avLst>
          </a:prstGeom>
          <a:solidFill>
            <a:srgbClr val="1F2330"/>
          </a:solidFill>
          <a:ln w="12700">
            <a:solidFill>
              <a:srgbClr val="5AD1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63761" y="1444752"/>
            <a:ext cx="24878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 ·  Monat 18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972321" y="1938528"/>
            <a:ext cx="2670734" cy="3703320"/>
          </a:xfrm>
          <a:prstGeom prst="roundRect">
            <a:avLst>
              <a:gd name="adj" fmla="val 4109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73489" y="2048256"/>
            <a:ext cx="2268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Folgerunde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173489" y="2468880"/>
            <a:ext cx="22683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50.000 Nutzer (Schwelle 19.000)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zahlende Pro (Schwelle 570)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22.586 € (Schwelle 6.495 €)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Monat-3-Retention Pro ≥ 75 %; Conversion ≥ 3 % / 4 %</a:t>
            </a:r>
            <a:endParaRPr lang="en-US" sz="11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 zahlende Schulen oder Kurse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9173489" y="4846320"/>
            <a:ext cx="2268398" cy="0"/>
          </a:xfrm>
          <a:prstGeom prst="line">
            <a:avLst/>
          </a:prstGeom>
          <a:noFill/>
          <a:ln w="12700">
            <a:solidFill>
              <a:srgbClr val="2A2F3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73489" y="4910328"/>
            <a:ext cx="22683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GIBT FREI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9173489" y="5148072"/>
            <a:ext cx="2268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Seed-Runde, Ausbau-Team ab Monat 19, Story-Engine/Studio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80644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Werte sind Ziele (nicht erreicht): Ziel = Basis-Szenario, Schwelle = konservatives Szenario. Ein Gate gilt als erfüllt, wenn die Schwelle erreicht ist. Vorschlag – mit Investor:innen abstimmen.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tion/live-fx/business/landing-assets/overlay-neon.jp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ASK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Lasst uns Live-Streams zuhören lassen.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2670734" cy="2103120"/>
          </a:xfrm>
          <a:prstGeom prst="roundRect">
            <a:avLst>
              <a:gd name="adj" fmla="val 521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929384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2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Plattform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2135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als Feature in TikTok LIVE Studio, Instagram Live Producer oder YouTube Live. Browser-Quelle läuft heute. 8 Wochen, 20 Creator, gemessene Watchtime, Gifts und Clips.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56534" y="1783080"/>
            <a:ext cx="2670734" cy="2103120"/>
          </a:xfrm>
          <a:prstGeom prst="roundRect">
            <a:avLst>
              <a:gd name="adj" fmla="val 521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85134" y="1929384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Bildung &amp; Sprachen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3585134" y="2423160"/>
            <a:ext cx="22135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Bildungsträger, Integrationskurse, Schulen, Sprachlern-Plattformen und Verlage: WortBild und Erzählfilm in [Zahl] Kursen/Klassen bzw. mit [Zahl] Titeln testen.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64428" y="1783080"/>
            <a:ext cx="2670734" cy="2103120"/>
          </a:xfrm>
          <a:prstGeom prst="roundRect">
            <a:avLst>
              <a:gd name="adj" fmla="val 5217"/>
            </a:avLst>
          </a:prstGeom>
          <a:solidFill>
            <a:srgbClr val="181B23"/>
          </a:solidFill>
          <a:ln w="12700">
            <a:solidFill>
              <a:srgbClr val="181B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3028" y="1929384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F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93028" y="2423160"/>
            <a:ext cx="22135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Streaming-Software (OBS-Plug-in, Streamlabs), Creator-Agenturen TR / DACH, Audio- und ASR-Anbieter, Editor-Anbieter (Studio-SDK).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72321" y="1783080"/>
            <a:ext cx="2670734" cy="2103120"/>
          </a:xfrm>
          <a:prstGeom prst="roundRect">
            <a:avLst>
              <a:gd name="adj" fmla="val 5217"/>
            </a:avLst>
          </a:prstGeom>
          <a:solidFill>
            <a:srgbClr val="181B23"/>
          </a:solidFill>
          <a:ln w="15875">
            <a:solidFill>
              <a:srgbClr val="5AD1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00921" y="1929384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A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Pre-Seed: 250.000 €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00921" y="2423160"/>
            <a:ext cx="22135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10 % (Pre-Money 2,25 Mio. €, Post 2,5 Mio. €) oder SAFE mit 2,25 Mio. € Cap. 18 Monate, schlank: Pro-Abo, Mobile-App/PWA, TR → DE/EN-Launch, WortBild.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005072"/>
            <a:ext cx="11094415" cy="1207008"/>
          </a:xfrm>
          <a:prstGeom prst="roundRect">
            <a:avLst>
              <a:gd name="adj" fmla="val 9091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087368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250.000 € Pre-Seed · 18 Monate · Mittelverwendung – Vorschlag – mit Steuer-/Rechtsberater prüfen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4407408"/>
            <a:ext cx="5245456" cy="219456"/>
          </a:xfrm>
          <a:prstGeom prst="rect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5848" y="4407408"/>
            <a:ext cx="2081723" cy="219456"/>
          </a:xfrm>
          <a:prstGeom prst="rect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05003" y="4407408"/>
            <a:ext cx="1554434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86869" y="4407408"/>
            <a:ext cx="1027146" cy="219456"/>
          </a:xfrm>
          <a:prstGeom prst="rect">
            <a:avLst/>
          </a:prstGeom>
          <a:solidFill>
            <a:srgbClr val="5AD1FF"/>
          </a:solidFill>
          <a:ln w="12700">
            <a:solidFill>
              <a:srgbClr val="5AD1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841446" y="4407408"/>
            <a:ext cx="499857" cy="219456"/>
          </a:xfrm>
          <a:prstGeom prst="rect">
            <a:avLst/>
          </a:prstGeom>
          <a:solidFill>
            <a:srgbClr val="9AA3B5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" y="4773168"/>
            <a:ext cx="109728" cy="109728"/>
          </a:xfrm>
          <a:prstGeom prst="ellipse">
            <a:avLst/>
          </a:prstGeom>
          <a:solidFill>
            <a:srgbClr val="FF2D75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5840" y="4709160"/>
            <a:ext cx="1834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Produkt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" y="4937760"/>
            <a:ext cx="1834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T€ · 50 %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932115" y="4773168"/>
            <a:ext cx="109728" cy="109728"/>
          </a:xfrm>
          <a:prstGeom prst="ellipse">
            <a:avLst/>
          </a:prstGeom>
          <a:solidFill>
            <a:srgbClr val="2DFFB5"/>
          </a:solidFill>
          <a:ln w="12700">
            <a:solidFill>
              <a:srgbClr val="2DFFB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114995" y="4709160"/>
            <a:ext cx="1834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Markteintritt &amp; Piloten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3114995" y="4937760"/>
            <a:ext cx="1834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T€ · 20 %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41270" y="4773168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224150" y="4709160"/>
            <a:ext cx="1834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WortBild (Linie B)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224150" y="4937760"/>
            <a:ext cx="1834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37,5 T€ · 15 %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150425" y="4773168"/>
            <a:ext cx="109728" cy="109728"/>
          </a:xfrm>
          <a:prstGeom prst="ellipse">
            <a:avLst/>
          </a:prstGeom>
          <a:solidFill>
            <a:srgbClr val="5AD1FF"/>
          </a:solidFill>
          <a:ln w="12700">
            <a:solidFill>
              <a:srgbClr val="5AD1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33305" y="4709160"/>
            <a:ext cx="1834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Recht, Marke, Datenschutz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333305" y="4937760"/>
            <a:ext cx="1834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T€ · 10 %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259580" y="4773168"/>
            <a:ext cx="109728" cy="109728"/>
          </a:xfrm>
          <a:prstGeom prst="ellipse">
            <a:avLst/>
          </a:prstGeom>
          <a:solidFill>
            <a:srgbClr val="9AA3B5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442460" y="4709160"/>
            <a:ext cx="1834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442460" y="4937760"/>
            <a:ext cx="1834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 T€ · 5 %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" y="5303520"/>
            <a:ext cx="11094415" cy="713232"/>
          </a:xfrm>
          <a:prstGeom prst="roundRect">
            <a:avLst>
              <a:gd name="adj" fmla="val 15385"/>
            </a:avLst>
          </a:prstGeom>
          <a:solidFill>
            <a:srgbClr val="1F2330"/>
          </a:solidFill>
          <a:ln w="12700">
            <a:solidFill>
              <a:srgbClr val="1F233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2960" y="5321808"/>
            <a:ext cx="10545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Sancak, Gründer &amp; Geschäftsführer   ·   Investor Relations: Gönül Demet   ·   [E-Mail]   ·   Demo: [Link]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144768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Dieses Deck gibt es auch auf Türkisch und Englisch: LiveFX_Pitch_TR.pptx · LiveFX_Pitch_EN.pptx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071055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 · Oktober 2026  ·  LiveFX  · 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LiveFX – Pitch</dc:title>
  <dc:subject>LiveFX: Deine Stimme wird zum Effekt – und zum Bild</dc:subject>
  <dc:creator>Tuncay Sancak</dc:creator>
  <cp:lastModifiedBy>Tuncay Sancak</cp:lastModifiedBy>
  <cp:revision>1</cp:revision>
  <dcterms:created xsi:type="dcterms:W3CDTF">2026-10-04T18:33:36Z</dcterms:created>
  <dcterms:modified xsi:type="dcterms:W3CDTF">2026-10-04T18:33:36Z</dcterms:modified>
</cp:coreProperties>
</file>