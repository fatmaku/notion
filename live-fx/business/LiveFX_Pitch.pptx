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Heute: LiveFX 2.0" id="{8ffd8f69-e8b6-99de-6714-8a43f1c69431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</p14:sldIdLst>
        </p14:section>
        <p14:section name="Vision 2027–2029" id="{c3cec9d8-d335-2fd6-baaf-142a4a0aa5e4}">
          <p14:sldIdLst>
            <p14:sldId id="267"/>
            <p14:sldId id="268"/>
            <p14:sldId id="269"/>
            <p14:sldId id="270"/>
          </p14:sldIdLst>
        </p14:section>
        <p14:section name="Team und Ask" id="{500c9499-6bd4-e492-6478-cf2d6c76bbcd}">
          <p14:sldIdLst>
            <p14:sldId id="271"/>
            <p14:sldId id="27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FFFFFF"/>
                </a:solidFill>
                <a:latin typeface="Arial"/>
              </a:defRPr>
            </a:pPr>
            <a:r>
              <a:rPr sz="1100" b="0" i="0" u="none" strike="noStrike">
                <a:solidFill>
                  <a:srgbClr val="FFFFFF"/>
                </a:solidFill>
                <a:latin typeface="Arial"/>
              </a:rPr>
              <a:t>Marktgröße in Mrd. USD (Spannen aus Sekundärquellen)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untere Schätzung</c:v>
                </c:pt>
              </c:strCache>
            </c:strRef>
          </c:tx>
          <c:spPr>
            <a:solidFill>
              <a:srgbClr val="FF2D7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Live-Streaming 2026</c:v>
                  </c:pt>
                  <c:pt idx="1">
                    <c:v>Live-Streaming 2030</c:v>
                  </c:pt>
                  <c:pt idx="2">
                    <c:v>Creator Economy 2026</c:v>
                  </c:pt>
                  <c:pt idx="3">
                    <c:v>davon Live (≈ 14 %)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97</c:v>
                </c:pt>
                <c:pt idx="1">
                  <c:v>250</c:v>
                </c:pt>
                <c:pt idx="2">
                  <c:v>216</c:v>
                </c:pt>
                <c:pt idx="3">
                  <c:v>30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obere Schätzung</c:v>
                </c:pt>
              </c:strCache>
            </c:strRef>
          </c:tx>
          <c:spPr>
            <a:solidFill>
              <a:srgbClr val="2DF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Live-Streaming 2026</c:v>
                  </c:pt>
                  <c:pt idx="1">
                    <c:v>Live-Streaming 2030</c:v>
                  </c:pt>
                  <c:pt idx="2">
                    <c:v>Creator Economy 2026</c:v>
                  </c:pt>
                  <c:pt idx="3">
                    <c:v>davon Live (≈ 14 %)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157</c:v>
                </c:pt>
                <c:pt idx="1">
                  <c:v>345</c:v>
                </c:pt>
                <c:pt idx="2">
                  <c:v>260</c:v>
                </c:pt>
                <c:pt idx="3">
                  <c:v>36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FFFFF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AA3B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A2F3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F1115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9AA3B5"/>
              </a:solidFill>
              <a:latin typeface="Arial"/>
              <a:cs typeface="Arial"/>
            </a:defRPr>
          </a:pPr>
          <a:endParaRPr lang="en-US"/>
        </a:p>
      </c:txPr>
    </c:legend>
    <c:plotVisOnly val="1"/>
    <c:dispBlanksAs val="span"/>
  </c:chart>
  <c:spPr>
    <a:solidFill>
      <a:srgbClr val="0F1115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Kurz vorstellen: Ich streame selbst, ich schreibe Bücher, und ich habe LiveFX gebaut, weil ich im Live-Stream genau das vermisst habe, was jedes Kurzvideo hat. Was ihr heute seht, läuft in meinen eigenen Streams. Am Ende zeige ich, wohin es geht: vom Meme-Overlay zur Bildsprache für alles Gesprochene. 30 Sekunden, dann direkt zum Problem.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Auto-Untertitel haben bewiesen, dass Echtzeit-Text aus Sprache funktioniert und von Plattformen nativ eingebaut wird. Echtzeit-Effekte aus Sprache gibt es nicht. Genau diese Lücke füllen wir. Beispiel aus meinem Stream: Ich sage „krass“ – und nichts passiert, außer dass ich selbst zur Tastatur greife.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Wichtig: Keyword-Matching ist sofort (Zwischenergebnisse der Erkennung), keine Cloud nötig. Der optionale KI-Modus fängt Sätze ohne Stichwort („das war so peinlich für ihn“ → Awkward). Alles läuft auf dem Rechner der Creatorin – Datenschutz ist eingebaut, nicht nachgerüstet.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Wenn möglich live zeigen: Mikro starten, „das ist ja krass“ sagen, Effekt erscheint. Zweiter Take: Story-Modus an, einen Absatz vorlesen – „es regnete“, „in der Nacht“, „der Drache“ – und die Szenen wechseln. Fallback ist der Trailer. Satz, der hängen bleibt: Das erste Video, in dem Memes auf meine Sprache reagierten, hat mich mehr überzeugt als jede Folie.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Das ist kein Prototyp mehr: Releases von 0.1 bis 2.0, Unit- und End-to-End-Tests, Anleitungen in DE/TR. Version 2.0 war ein Härtungs-Release für Bühne und Verkauf. Zwei Dinge betonen: (1) eigene Sounds und Pakete = keine Copyright-Strikes, (2) die Zuschauer-Trigger sind die Brücke zur Monetarisierung – ein Geschenk kann heute schon einen Effekt auslösen.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Live ist kein Nebenkanal mehr, sondern ein Umsatzkanal. Und: Die Türkei ist ein junger, meme-affiner TikTok-Markt mit kaum lokalisierten Tools – unser größtes Paket ist das türkische, das ist kein Zufall. Technik: Was vor drei Jahren einen Server brauchte, läuft heute im Browser – das ist auch die Grundlage für die Vision ab Folie 12.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Ehrlich sagen: TAM ist Sekundärquelle mit großer Spanne; SAM und SOM sind unsere Schätzung, keine Studie. Der Punkt ist nicht die genaue Zahl, sondern: Schon ein kleiner Anteil zahlender Live-Creator trägt ein Team – und der eigentliche Hebel ist die Plattform-Integration, nicht das Abo. Unten neu: Die Vision öffnet angrenzende Märkte – KI-Video 3,67 Mrd. USD [Quelle 23], Sprachlern-Apps 1,54 Mrd. USD [Quelle 33], Videoschnitt 2,68 Mrd. USD [Quelle 51], Hörbuch DE 374 Mio. € [Quelle 19]. Die rechnen wir nicht in den SOM ein.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9,99 € liegt bewusst unter Streamlabs Ultra und auf Voicemod-Niveau – Creator kennen diesen Preispunkt. Der Marktplatz macht aus Nutzern Lieferanten: Wer ein türkisches Meme-Paket baut, verkauft es. B2B ist der Weg zur Plattform: dieselbe Engine läuft als Browser-Quelle in TikTok LIVE Studio. Die Vision ergänzt Pro+ und Bildungslizenzen – alle Preise dort sind Schätzungen.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Zahlen vor dem Termin eintragen – nur echte. Die Story: Das Produkt ist in echten Streams gereift (Echo-Problem, Dialekte, Hochkant-Safe-Zones kamen alle aus der Praxis). Jetzt geht es um die ersten 10 externen Creator und um messbare Watchtime-Effekte.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Der rechte untere Quadrant ist leer – noch. Wer ihn besetzen könnte, sind die Plattformen selbst; deshalb reden wir mit ihnen. Streamlabs &amp; Co. sind keine Gegner, sondern Hosts: LiveFX läuft als Browser-Quelle in jedem von ihnen.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Reihenfolge nach Hebel: Mobile-SDK löst das größte Problem (Handy-Streamer ohne OBS). Plattform-Integration ist der Ask dieses Decks. KI-Verstehen und Story-Engine sind unsere technische Differenzierung. Wichtig: Die Szenen werden prozedural gezeichnet, nicht von einer Video-KI generiert – das ist die Brücke zu den nächsten vier Folien.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Live-Untertitel haben gezeigt, dass Plattformen Sprache in Echtzeit verarbeiten wollen – kostenlos und auf Milliarden Geräten. Wir sind die nächste Stufe: Bild statt Text. Eine Engine, eine Zeitleiste, vier Linien: Erzählfilm, WortBild, Räume, Studio. Alles läuft im Browser auf dem eigenen Gerät: Ein Satz wird zu einem Zustands-Delta von wenigen hundert Byte, gezeichnet in einem Canvas. Kein Video-Diffusionsmodell, kein GPU-Server. Ehrlich: Das ist Vision für 2027–2029 – deshalb das Badge. Grundlage ist der Code, der heute schon läuft (Story-Modus, Effekt-Engine, Offline-Erkennung). WebGPU ist inzwischen in allen großen Browsern verfügbar [Quelle 27] – wir nutzen es nur optional.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 sieht es aus: Die Streamerin tut nichts außer reden. „Es war Nacht“ – der Himmel wird dunkel. „Ein Mädchen ging in den Wald“ – Bäume wachsen, die Figur läuft ein. „Es begann zu regnen“ – Regen, Atmosphäre-Loop wechselt. „Plötzlich ein Drache“ – Blitz, Kamera-Ruck, Drache. Technisch: Ein Satz erzeugt ein Delta von 200–500 Byte, Szenen wechseln 1- bis 3-mal pro Minute, gezeichnet wird in einem Canvas mit höchstens 1.200 Partikeln – dieses Budget hält unsere Effekt-Engine schon heute neben OBS. Kosten: Video-KI kostet nach Listenpreis 0,05 USD (Veo 3.1 Lite, 720p) bis 0,75 USD pro Sekunde [Quelle 24, 25], also 180–2.700 USD pro Stunde, und live geht es gar nicht. LiveFX: 0 € ohne KI, 0,25–0,75 USD pro Stunde mit optionaler Text-KI. Markt: Hörbuch DE 374 Mio. € [Quelle 19], 23,8 Mio. Menschen hören wöchentlich Podcasts [Quelle 20], YouTube über 1 Mrd. Podcast-Zuschauer [Quelle 21]; KI-Video wächst von 3,67 auf 24,89 Mrd. USD bis 2036 [Quelle 23]. Zeitplan: MVP Deutsch Q2 2027, TR/EN und Welten-Packs Q3 2027. Erster Verlags-Fall: die eigene Kinderbuchreihe.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Der persönlichste Teil: Ich schreibe Kinderbücher über Neurodiversität, und ich bin deutsch-türkisch. Die Lehrkraft stellt drei Dinge ein – „Ich spreche: Deutsch“, „Zeige: Türkçe“, Modus – und liest vor. Jedes Wort aus der Lernliste wird zu Bild, Wort und Aussprache. Nachsprechen ist bewusst keine Aussprachebewertung, sondern ein grüner Haken. Technik: Wort → Bild ist ein Tabellen-Lookup, die Aussprache liefert das Betriebssystem (speechSynthesis) [Quelle 29], ein Schul-Tablet reicht, Serverkosten pro Kind: null. Markt: Duolingo 58,7 Mio. tägliche Nutzer und 12,7 Mio. Zahlende [Quelle 32], Sprachlern-Apps 1,54 Mrd. USD In-App [Quelle 33], 20,4 % der Schüler:innen unter 16 sprechen zu Hause vorwiegend eine andere Sprache [Quelle 37], 2,65 Mio. Menschen mit Einwanderungsgeschichte aus der Türkei [Quelle 38], 25 % der Viertklässler unter dem Lese-Mindeststandard [Quelle 39]. Preis-Anker: ANTON-Schullizenz 250–700 € [Quelle 41]. Ehrlich: Der Integrationsbereich ist in Euro klein, er bringt Glaubwürdigkeit und Förderung; das Volumen liegt bei Familien, Verlagen und Plattformen. Wir sagen „unterstützt Vokabellernen“, nicht „doppelt so schnell“.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Zwei Türen in dasselbe Werkzeug. Erstens Live → Highlights: Unser Server kennt schon heute jeden Trigger, jedes Geschenk, jede Chat-Nachricht mit Zeitstempel – daraus werden 3–5 Clips pro Stream. Zweitens Auto-Edit: Eine 20-Minuten-MP4 wird ins Fenster gezogen, Whisper transkribiert lokal im Browser [Quelle 60], LiveFX setzt Effekte, Szenen und Schnitte als verschiebbare Chips, der Export läuft über WebCodecs und den Hardware-Encoder des Geräts [Quelle 57, 58, 59]. Die Datei verlässt den Rechner nie, die Grenzkosten pro Video liegen bei null. Räume: Bühne und Klassenzimmer gehen heute schon (Vollbild, Handy als Regie). Hörbuch mit Bildern und AR am Handy kommen 2027. WebXR [Quelle 47, 48] und Display-Brillen wie Meta Ray-Ban Display [Quelle 46] sind Vision – IDC erwartet 2026 13,6 Mio. Smart Glasses [Quelle 45], Display-Brillen sind davon nur ein kleiner Teil. Wettbewerb ehrlich: CapCut hat 736 Mio. MAU [Quelle 52]; wir treten nicht als Universal-Editor an, sondern über Sprache → Effekt, Szenen, TR/DE und lokale Verarbeitung. Käufer-Signal: Canva kaufte 2026 Cavalry und MangoAI [Quelle 56].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Die Gründerin ist Nutzerin, Content-Lieferantin und Produktverantwortliche in einer Person – das ist der Grund, warum das Produkt in Dialekten, Hochkant und Türkçe funktioniert. Und als Kinderbuchautorin bringt sie den ersten Verlags- und Bildungsfall selbst mit. Mit dem Seed kommen zwei Hires; für WortBild holen wir fachliche Prüfung über einen Edtech-Beirat.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Konkret enden: Was wir brauchen, ist ein Ansprechpartner im Live-Team und ein 8-Wochen-Pilot mit 20 Creatorn. Wir liefern Overlay, Pakete, Support und die Messung (Watchtime, Gifts, Clips aus Lives). Neu: Für WortBild und Erzählfilm suchen wir einen zweiten Pilot mit Bildungsträgern, Sprachlern-Plattformen oder Verlagen – der erste Verlagsfall ist die eigene Kinderbuchreihe. Das Deck gibt es auch auf Türkisch und Englisch.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jpg"/><Relationship Id="rId3" Type="http://schemas.openxmlformats.org/officeDocument/2006/relationships/image" Target="../media/image-1-3.jpg"/><Relationship Id="rId4" Type="http://schemas.openxmlformats.org/officeDocument/2006/relationships/image" Target="../media/image-1-4.jpg"/><Relationship Id="rId5" Type="http://schemas.openxmlformats.org/officeDocument/2006/relationships/image" Target="../media/image-1-5.jp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image" Target="../media/image-4-2.jpg"/><Relationship Id="rId3" Type="http://schemas.openxmlformats.org/officeDocument/2006/relationships/image" Target="../media/image-4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1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Notion/live-fx/business/landing-assets/overlay-neon.jp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6309360" y="0"/>
            <a:ext cx="5882335" cy="3310128"/>
          </a:xfrm>
          <a:prstGeom prst="rect">
            <a:avLst/>
          </a:prstGeom>
        </p:spPr>
      </p:pic>
      <p:pic>
        <p:nvPicPr>
          <p:cNvPr id="3" name="Image 1" descr="/home/user/Notion/live-fx/business/landing-assets/overlay-portrait-rain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3310128"/>
            <a:ext cx="1993392" cy="3547872"/>
          </a:xfrm>
          <a:prstGeom prst="rect">
            <a:avLst/>
          </a:prstGeom>
        </p:spPr>
      </p:pic>
      <p:pic>
        <p:nvPicPr>
          <p:cNvPr id="4" name="Image 2" descr="/home/user/Notion/live-fx/business/landing-assets/mobile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3310128"/>
            <a:ext cx="1636776" cy="3547872"/>
          </a:xfrm>
          <a:prstGeom prst="rect">
            <a:avLst/>
          </a:prstGeom>
        </p:spPr>
      </p:pic>
      <p:pic>
        <p:nvPicPr>
          <p:cNvPr id="5" name="Image 3" descr="/home/user/Notion/live-fx/business/landing-assets/panel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46136" y="3310128"/>
            <a:ext cx="1563624" cy="978408"/>
          </a:xfrm>
          <a:prstGeom prst="rect">
            <a:avLst/>
          </a:prstGeom>
        </p:spPr>
      </p:pic>
      <p:pic>
        <p:nvPicPr>
          <p:cNvPr id="6" name="Image 4" descr="/home/user/Notion/live-fx/business/landing-assets/demo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46136" y="4288536"/>
            <a:ext cx="1563624" cy="877824"/>
          </a:xfrm>
          <a:prstGeom prst="rect">
            <a:avLst/>
          </a:prstGeom>
        </p:spPr>
      </p:pic>
      <p:sp>
        <p:nvSpPr>
          <p:cNvPr id="7" name="Shape 0"/>
          <p:cNvSpPr/>
          <p:nvPr/>
        </p:nvSpPr>
        <p:spPr>
          <a:xfrm>
            <a:off x="7946136" y="5166360"/>
            <a:ext cx="1563624" cy="1691640"/>
          </a:xfrm>
          <a:prstGeom prst="rect">
            <a:avLst/>
          </a:prstGeom>
          <a:solidFill>
            <a:srgbClr val="181B23"/>
          </a:solidFill>
          <a:ln w="12700">
            <a:solidFill>
              <a:srgbClr val="181B23"/>
            </a:solidFill>
            <a:prstDash val="solid"/>
          </a:ln>
        </p:spPr>
      </p:sp>
      <p:sp>
        <p:nvSpPr>
          <p:cNvPr id="8" name="Shape 1"/>
          <p:cNvSpPr/>
          <p:nvPr/>
        </p:nvSpPr>
        <p:spPr>
          <a:xfrm>
            <a:off x="11503152" y="3310128"/>
            <a:ext cx="688543" cy="3547872"/>
          </a:xfrm>
          <a:prstGeom prst="rect">
            <a:avLst/>
          </a:prstGeom>
          <a:solidFill>
            <a:srgbClr val="181B23"/>
          </a:solidFill>
          <a:ln w="12700">
            <a:solidFill>
              <a:srgbClr val="181B23"/>
            </a:solidFill>
            <a:prstDash val="solid"/>
          </a:ln>
        </p:spPr>
      </p:sp>
      <p:sp>
        <p:nvSpPr>
          <p:cNvPr id="9" name="Text 2"/>
          <p:cNvSpPr txBox="1"/>
          <p:nvPr/>
        </p:nvSpPr>
        <p:spPr>
          <a:xfrm>
            <a:off x="548640" y="11887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2DFF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MEME ENGINE  ·  v2.0</a:t>
            </a:r>
            <a:endParaRPr lang="en-US" sz="1100" dirty="0"/>
          </a:p>
        </p:txBody>
      </p:sp>
      <p:sp>
        <p:nvSpPr>
          <p:cNvPr id="10" name="Text 3"/>
          <p:cNvSpPr txBox="1"/>
          <p:nvPr/>
        </p:nvSpPr>
        <p:spPr>
          <a:xfrm>
            <a:off x="548640" y="1508760"/>
            <a:ext cx="5486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7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LiveFX</a:t>
            </a:r>
            <a:endParaRPr lang="en-US" sz="7200" dirty="0"/>
          </a:p>
        </p:txBody>
      </p:sp>
      <p:sp>
        <p:nvSpPr>
          <p:cNvPr id="11" name="Text 4"/>
          <p:cNvSpPr txBox="1"/>
          <p:nvPr/>
        </p:nvSpPr>
        <p:spPr>
          <a:xfrm>
            <a:off x="548640" y="2651760"/>
            <a:ext cx="5577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FF2D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Deine Stimme wird zum Effekt.</a:t>
            </a:r>
            <a:endParaRPr lang="en-US" sz="2800" dirty="0"/>
          </a:p>
        </p:txBody>
      </p:sp>
      <p:sp>
        <p:nvSpPr>
          <p:cNvPr id="12" name="Text 5"/>
          <p:cNvSpPr txBox="1"/>
          <p:nvPr/>
        </p:nvSpPr>
        <p:spPr>
          <a:xfrm>
            <a:off x="548640" y="3474720"/>
            <a:ext cx="53949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Memes, Sounds und Szenen in Echtzeit – ausgelöst durch das, was der Creator sagt. In unter einer Sekunde, hands-free, auf TikTok LIVE, Instagram, YouTube und Twitch.</a:t>
            </a:r>
            <a:endParaRPr lang="en-US" sz="1500" dirty="0"/>
          </a:p>
        </p:txBody>
      </p:sp>
      <p:sp>
        <p:nvSpPr>
          <p:cNvPr id="13" name="Text 6"/>
          <p:cNvSpPr txBox="1"/>
          <p:nvPr/>
        </p:nvSpPr>
        <p:spPr>
          <a:xfrm>
            <a:off x="548640" y="480060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i="1" dirty="0">
                <a:solidFill>
                  <a:srgbClr val="FFD1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 morgen: Du redest. Es wird Bild.</a:t>
            </a:r>
            <a:endParaRPr lang="en-US" sz="1300" dirty="0"/>
          </a:p>
        </p:txBody>
      </p:sp>
      <p:sp>
        <p:nvSpPr>
          <p:cNvPr id="14" name="Text 7"/>
          <p:cNvSpPr txBox="1"/>
          <p:nvPr/>
        </p:nvSpPr>
        <p:spPr>
          <a:xfrm>
            <a:off x="548640" y="5577840"/>
            <a:ext cx="5577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[Name]</a:t>
            </a:r>
            <a:pPr indent="0" marL="0">
              <a:buNone/>
            </a:pPr>
            <a:r>
              <a:rPr lang="en-US" sz="130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·  Gründerin, Autorin &amp; Live-Streamerin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[Datum]  ·  [E-Mail]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1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18288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F2D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PROBLEM</a:t>
            </a:r>
            <a:endParaRPr lang="en-US" sz="1000" dirty="0"/>
          </a:p>
        </p:txBody>
      </p:sp>
      <p:sp>
        <p:nvSpPr>
          <p:cNvPr id="3" name="Titel"/>
          <p:cNvSpPr txBox="1"/>
          <p:nvPr/>
        </p:nvSpPr>
        <p:spPr>
          <a:xfrm>
            <a:off x="548640" y="438912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ist roh. Der Schnitt kommt zu spät.</a:t>
            </a:r>
            <a:endParaRPr lang="en-US" sz="3200" dirty="0"/>
          </a:p>
        </p:txBody>
      </p:sp>
      <p:sp>
        <p:nvSpPr>
          <p:cNvPr id="4" name="Fuß"/>
          <p:cNvSpPr txBox="1"/>
          <p:nvPr/>
        </p:nvSpPr>
        <p:spPr>
          <a:xfrm>
            <a:off x="9357055" y="6473952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LiveFX  ·  2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1417320"/>
            <a:ext cx="6766560" cy="1051560"/>
          </a:xfrm>
          <a:prstGeom prst="roundRect">
            <a:avLst>
              <a:gd name="adj" fmla="val 10435"/>
            </a:avLst>
          </a:prstGeom>
          <a:solidFill>
            <a:srgbClr val="181B23"/>
          </a:solidFill>
          <a:ln w="12700">
            <a:solidFill>
              <a:srgbClr val="181B23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31520" y="1664208"/>
            <a:ext cx="548640" cy="548640"/>
          </a:xfrm>
          <a:prstGeom prst="ellipse">
            <a:avLst/>
          </a:prstGeom>
          <a:solidFill>
            <a:srgbClr val="1F2330"/>
          </a:solidFill>
          <a:ln w="12700">
            <a:solidFill>
              <a:srgbClr val="1F233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31520" y="166420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✂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1463040" y="1545336"/>
            <a:ext cx="5669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Alles, was Kurzvideos viral macht, entsteht danach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1463040" y="1929384"/>
            <a:ext cx="5669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Memes, Sounds, Zooms, Sticker – im Schnitt, nach der Aufnahme. Live gibt es davon nichts.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548640" y="2606040"/>
            <a:ext cx="6766560" cy="1051560"/>
          </a:xfrm>
          <a:prstGeom prst="roundRect">
            <a:avLst>
              <a:gd name="adj" fmla="val 10435"/>
            </a:avLst>
          </a:prstGeom>
          <a:solidFill>
            <a:srgbClr val="181B23"/>
          </a:solidFill>
          <a:ln w="12700">
            <a:solidFill>
              <a:srgbClr val="181B23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731520" y="2852928"/>
            <a:ext cx="548640" cy="548640"/>
          </a:xfrm>
          <a:prstGeom prst="ellipse">
            <a:avLst/>
          </a:prstGeom>
          <a:solidFill>
            <a:srgbClr val="1F2330"/>
          </a:solidFill>
          <a:ln w="12700">
            <a:solidFill>
              <a:srgbClr val="1F2330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31520" y="285292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🎛</a:t>
            </a:r>
            <a:endParaRPr lang="en-US" sz="2000" dirty="0"/>
          </a:p>
        </p:txBody>
      </p:sp>
      <p:sp>
        <p:nvSpPr>
          <p:cNvPr id="14" name="Text 11"/>
          <p:cNvSpPr txBox="1"/>
          <p:nvPr/>
        </p:nvSpPr>
        <p:spPr>
          <a:xfrm>
            <a:off x="1463040" y="2734056"/>
            <a:ext cx="5669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Creator ist Moderator, Regisseur und Cutter zugleich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1463040" y="3118104"/>
            <a:ext cx="5669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 zwei Händen, einer Kamera und einem Chat, der nicht wartet.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48640" y="3794760"/>
            <a:ext cx="6766560" cy="1051560"/>
          </a:xfrm>
          <a:prstGeom prst="roundRect">
            <a:avLst>
              <a:gd name="adj" fmla="val 10435"/>
            </a:avLst>
          </a:prstGeom>
          <a:solidFill>
            <a:srgbClr val="181B23"/>
          </a:solidFill>
          <a:ln w="12700">
            <a:solidFill>
              <a:srgbClr val="181B23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31520" y="4041648"/>
            <a:ext cx="548640" cy="548640"/>
          </a:xfrm>
          <a:prstGeom prst="ellipse">
            <a:avLst/>
          </a:prstGeom>
          <a:solidFill>
            <a:srgbClr val="1F2330"/>
          </a:solidFill>
          <a:ln w="12700">
            <a:solidFill>
              <a:srgbClr val="1F2330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31520" y="404164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🔔</a:t>
            </a:r>
            <a:endParaRPr lang="en-US" sz="2000" dirty="0"/>
          </a:p>
        </p:txBody>
      </p:sp>
      <p:sp>
        <p:nvSpPr>
          <p:cNvPr id="19" name="Text 16"/>
          <p:cNvSpPr txBox="1"/>
          <p:nvPr/>
        </p:nvSpPr>
        <p:spPr>
          <a:xfrm>
            <a:off x="1463040" y="3922776"/>
            <a:ext cx="5669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Bestehende Tools reagieren auf Zuschauer oder Tasten</a:t>
            </a:r>
            <a:endParaRPr lang="en-US" sz="1500" dirty="0"/>
          </a:p>
        </p:txBody>
      </p:sp>
      <p:sp>
        <p:nvSpPr>
          <p:cNvPr id="20" name="Text 17"/>
          <p:cNvSpPr txBox="1"/>
          <p:nvPr/>
        </p:nvSpPr>
        <p:spPr>
          <a:xfrm>
            <a:off x="1463040" y="4306824"/>
            <a:ext cx="5669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Alerts bei Spenden und Follows, Soundboards per Hotkey. Beides braucht einen Klick.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7680960" y="1417320"/>
            <a:ext cx="3959352" cy="3429000"/>
          </a:xfrm>
          <a:prstGeom prst="roundRect">
            <a:avLst>
              <a:gd name="adj" fmla="val 3200"/>
            </a:avLst>
          </a:prstGeom>
          <a:solidFill>
            <a:srgbClr val="1F2330"/>
          </a:solidFill>
          <a:ln w="12700">
            <a:solidFill>
              <a:srgbClr val="1F2330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7955280" y="1691640"/>
            <a:ext cx="3429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D1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Niemand reagiert auf das gesprochene Wort.</a:t>
            </a:r>
            <a:endParaRPr lang="en-US" sz="2600" dirty="0"/>
          </a:p>
        </p:txBody>
      </p:sp>
      <p:sp>
        <p:nvSpPr>
          <p:cNvPr id="23" name="Text 20"/>
          <p:cNvSpPr txBox="1"/>
          <p:nvPr/>
        </p:nvSpPr>
        <p:spPr>
          <a:xfrm>
            <a:off x="7955280" y="3749040"/>
            <a:ext cx="3429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Auto-Untertitel haben gezeigt: Echtzeit-Text aus Sprache funktioniert. Echtzeit-Effekte aus Sprache gibt es noch nicht.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548640" y="516636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i="1" dirty="0">
                <a:solidFill>
                  <a:srgbClr val="2DFF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„Ich sage ‚krass‘ – und nichts passiert, außer dass ich selbst zur Tastatur greife.“  – [Name], aus dem eigenen Stream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1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18288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2DFF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LÖSUNG</a:t>
            </a:r>
            <a:endParaRPr lang="en-US" sz="1000" dirty="0"/>
          </a:p>
        </p:txBody>
      </p:sp>
      <p:sp>
        <p:nvSpPr>
          <p:cNvPr id="3" name="Titel"/>
          <p:cNvSpPr txBox="1"/>
          <p:nvPr/>
        </p:nvSpPr>
        <p:spPr>
          <a:xfrm>
            <a:off x="548640" y="438912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Stimme → Effekt in unter einer Sekunde</a:t>
            </a:r>
            <a:endParaRPr lang="en-US" sz="3200" dirty="0"/>
          </a:p>
        </p:txBody>
      </p:sp>
      <p:sp>
        <p:nvSpPr>
          <p:cNvPr id="4" name="Fuß"/>
          <p:cNvSpPr txBox="1"/>
          <p:nvPr/>
        </p:nvSpPr>
        <p:spPr>
          <a:xfrm>
            <a:off x="9357055" y="6473952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LiveFX  ·  3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1417320"/>
            <a:ext cx="2011680" cy="1463040"/>
          </a:xfrm>
          <a:prstGeom prst="roundRect">
            <a:avLst>
              <a:gd name="adj" fmla="val 7500"/>
            </a:avLst>
          </a:prstGeom>
          <a:solidFill>
            <a:srgbClr val="181B23"/>
          </a:solidFill>
          <a:ln w="12700">
            <a:solidFill>
              <a:srgbClr val="181B23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1517904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🎙</a:t>
            </a:r>
            <a:endParaRPr lang="en-US" sz="260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202996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Mikro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640080" y="2377440"/>
            <a:ext cx="1828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Creator spricht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2542032" y="1874520"/>
            <a:ext cx="2880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2D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2200" dirty="0"/>
          </a:p>
        </p:txBody>
      </p:sp>
      <p:sp>
        <p:nvSpPr>
          <p:cNvPr id="11" name="Shape 8"/>
          <p:cNvSpPr/>
          <p:nvPr/>
        </p:nvSpPr>
        <p:spPr>
          <a:xfrm>
            <a:off x="2811780" y="1417320"/>
            <a:ext cx="2011680" cy="1463040"/>
          </a:xfrm>
          <a:prstGeom prst="roundRect">
            <a:avLst>
              <a:gd name="adj" fmla="val 7500"/>
            </a:avLst>
          </a:prstGeom>
          <a:solidFill>
            <a:srgbClr val="181B23"/>
          </a:solidFill>
          <a:ln w="12700">
            <a:solidFill>
              <a:srgbClr val="181B23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2811780" y="1517904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🧠</a:t>
            </a:r>
            <a:endParaRPr lang="en-US" sz="2600" dirty="0"/>
          </a:p>
        </p:txBody>
      </p:sp>
      <p:sp>
        <p:nvSpPr>
          <p:cNvPr id="13" name="Text 10"/>
          <p:cNvSpPr txBox="1"/>
          <p:nvPr/>
        </p:nvSpPr>
        <p:spPr>
          <a:xfrm>
            <a:off x="2903220" y="202996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Erkennung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2903220" y="2377440"/>
            <a:ext cx="1828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/ TR / EN automatisch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4805172" y="1874520"/>
            <a:ext cx="2880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2D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2200" dirty="0"/>
          </a:p>
        </p:txBody>
      </p:sp>
      <p:sp>
        <p:nvSpPr>
          <p:cNvPr id="16" name="Shape 13"/>
          <p:cNvSpPr/>
          <p:nvPr/>
        </p:nvSpPr>
        <p:spPr>
          <a:xfrm>
            <a:off x="5074920" y="1417320"/>
            <a:ext cx="2011680" cy="1463040"/>
          </a:xfrm>
          <a:prstGeom prst="roundRect">
            <a:avLst>
              <a:gd name="adj" fmla="val 7500"/>
            </a:avLst>
          </a:prstGeom>
          <a:solidFill>
            <a:srgbClr val="181B23"/>
          </a:solidFill>
          <a:ln w="12700">
            <a:solidFill>
              <a:srgbClr val="181B23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5074920" y="1517904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⚡</a:t>
            </a:r>
            <a:endParaRPr lang="en-US" sz="2600" dirty="0"/>
          </a:p>
        </p:txBody>
      </p:sp>
      <p:sp>
        <p:nvSpPr>
          <p:cNvPr id="18" name="Text 15"/>
          <p:cNvSpPr txBox="1"/>
          <p:nvPr/>
        </p:nvSpPr>
        <p:spPr>
          <a:xfrm>
            <a:off x="5166360" y="202996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Matcher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5166360" y="2377440"/>
            <a:ext cx="1828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Dialekt-tolerant, sofort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7068312" y="1874520"/>
            <a:ext cx="2880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2D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2200" dirty="0"/>
          </a:p>
        </p:txBody>
      </p:sp>
      <p:sp>
        <p:nvSpPr>
          <p:cNvPr id="21" name="Shape 18"/>
          <p:cNvSpPr/>
          <p:nvPr/>
        </p:nvSpPr>
        <p:spPr>
          <a:xfrm>
            <a:off x="7338060" y="1417320"/>
            <a:ext cx="2011680" cy="1463040"/>
          </a:xfrm>
          <a:prstGeom prst="roundRect">
            <a:avLst>
              <a:gd name="adj" fmla="val 7500"/>
            </a:avLst>
          </a:prstGeom>
          <a:solidFill>
            <a:srgbClr val="181B23"/>
          </a:solidFill>
          <a:ln w="12700">
            <a:solidFill>
              <a:srgbClr val="181B23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7338060" y="1517904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🖥</a:t>
            </a:r>
            <a:endParaRPr lang="en-US" sz="2600" dirty="0"/>
          </a:p>
        </p:txBody>
      </p:sp>
      <p:sp>
        <p:nvSpPr>
          <p:cNvPr id="23" name="Text 20"/>
          <p:cNvSpPr txBox="1"/>
          <p:nvPr/>
        </p:nvSpPr>
        <p:spPr>
          <a:xfrm>
            <a:off x="7429500" y="202996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Overlay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7429500" y="2377440"/>
            <a:ext cx="1828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Browser-Quelle in OBS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9331452" y="1874520"/>
            <a:ext cx="2880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2D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2200" dirty="0"/>
          </a:p>
        </p:txBody>
      </p:sp>
      <p:sp>
        <p:nvSpPr>
          <p:cNvPr id="26" name="Shape 23"/>
          <p:cNvSpPr/>
          <p:nvPr/>
        </p:nvSpPr>
        <p:spPr>
          <a:xfrm>
            <a:off x="9601200" y="1417320"/>
            <a:ext cx="2011680" cy="1463040"/>
          </a:xfrm>
          <a:prstGeom prst="roundRect">
            <a:avLst>
              <a:gd name="adj" fmla="val 7500"/>
            </a:avLst>
          </a:prstGeom>
          <a:solidFill>
            <a:srgbClr val="181B23"/>
          </a:solidFill>
          <a:ln w="12700">
            <a:solidFill>
              <a:srgbClr val="181B23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9601200" y="1517904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📺</a:t>
            </a:r>
            <a:endParaRPr lang="en-US" sz="2600" dirty="0"/>
          </a:p>
        </p:txBody>
      </p:sp>
      <p:sp>
        <p:nvSpPr>
          <p:cNvPr id="28" name="Text 25"/>
          <p:cNvSpPr txBox="1"/>
          <p:nvPr/>
        </p:nvSpPr>
        <p:spPr>
          <a:xfrm>
            <a:off x="9692640" y="202996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Stream</a:t>
            </a:r>
            <a:endParaRPr lang="en-US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9692640" y="2377440"/>
            <a:ext cx="1828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TikTok · IG · YouTube · Twitch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548640" y="3154680"/>
            <a:ext cx="3520440" cy="1280160"/>
          </a:xfrm>
          <a:prstGeom prst="roundRect">
            <a:avLst>
              <a:gd name="adj" fmla="val 8571"/>
            </a:avLst>
          </a:prstGeom>
          <a:solidFill>
            <a:srgbClr val="1F2330"/>
          </a:solidFill>
          <a:ln w="12700">
            <a:solidFill>
              <a:srgbClr val="1F2330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777240" y="3273552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100" b="1" dirty="0">
                <a:solidFill>
                  <a:srgbClr val="FF2D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„Krass“</a:t>
            </a:r>
            <a:endParaRPr lang="en-US" sz="2100" dirty="0"/>
          </a:p>
        </p:txBody>
      </p:sp>
      <p:sp>
        <p:nvSpPr>
          <p:cNvPr id="32" name="Text 29"/>
          <p:cNvSpPr txBox="1"/>
          <p:nvPr/>
        </p:nvSpPr>
        <p:spPr>
          <a:xfrm>
            <a:off x="777240" y="3767328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🤯 Neon-Text + Airhorn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>
            <a:off x="4297680" y="3154680"/>
            <a:ext cx="3520440" cy="1280160"/>
          </a:xfrm>
          <a:prstGeom prst="roundRect">
            <a:avLst>
              <a:gd name="adj" fmla="val 8571"/>
            </a:avLst>
          </a:prstGeom>
          <a:solidFill>
            <a:srgbClr val="1F2330"/>
          </a:solidFill>
          <a:ln w="12700">
            <a:solidFill>
              <a:srgbClr val="1F2330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4526280" y="3273552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100" b="1" dirty="0">
                <a:solidFill>
                  <a:srgbClr val="FFD1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„Yok artık“</a:t>
            </a:r>
            <a:endParaRPr lang="en-US" sz="2100" dirty="0"/>
          </a:p>
        </p:txBody>
      </p:sp>
      <p:sp>
        <p:nvSpPr>
          <p:cNvPr id="35" name="Text 32"/>
          <p:cNvSpPr txBox="1"/>
          <p:nvPr/>
        </p:nvSpPr>
        <p:spPr>
          <a:xfrm>
            <a:off x="4526280" y="3767328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Meme-Karte + Vine-Boom</a:t>
            </a:r>
            <a:endParaRPr lang="en-US" sz="1300" dirty="0"/>
          </a:p>
        </p:txBody>
      </p:sp>
      <p:sp>
        <p:nvSpPr>
          <p:cNvPr id="36" name="Shape 33"/>
          <p:cNvSpPr/>
          <p:nvPr/>
        </p:nvSpPr>
        <p:spPr>
          <a:xfrm>
            <a:off x="8046720" y="3154680"/>
            <a:ext cx="3520440" cy="1280160"/>
          </a:xfrm>
          <a:prstGeom prst="roundRect">
            <a:avLst>
              <a:gd name="adj" fmla="val 8571"/>
            </a:avLst>
          </a:prstGeom>
          <a:solidFill>
            <a:srgbClr val="1F2330"/>
          </a:solidFill>
          <a:ln w="12700">
            <a:solidFill>
              <a:srgbClr val="1F2330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8275320" y="3273552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100" b="1" dirty="0">
                <a:solidFill>
                  <a:srgbClr val="2DFF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„Es regnete…“</a:t>
            </a:r>
            <a:endParaRPr lang="en-US" sz="2100" dirty="0"/>
          </a:p>
        </p:txBody>
      </p:sp>
      <p:sp>
        <p:nvSpPr>
          <p:cNvPr id="38" name="Text 35"/>
          <p:cNvSpPr txBox="1"/>
          <p:nvPr/>
        </p:nvSpPr>
        <p:spPr>
          <a:xfrm>
            <a:off x="8275320" y="3767328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Regen-Szene + Atmosphäre-Loop</a:t>
            </a:r>
            <a:endParaRPr lang="en-US" sz="1300" dirty="0"/>
          </a:p>
        </p:txBody>
      </p:sp>
      <p:sp>
        <p:nvSpPr>
          <p:cNvPr id="39" name="Shape 36"/>
          <p:cNvSpPr/>
          <p:nvPr/>
        </p:nvSpPr>
        <p:spPr>
          <a:xfrm>
            <a:off x="548640" y="4800600"/>
            <a:ext cx="128016" cy="128016"/>
          </a:xfrm>
          <a:prstGeom prst="ellipse">
            <a:avLst/>
          </a:prstGeom>
          <a:solidFill>
            <a:srgbClr val="FF2D75"/>
          </a:solidFill>
          <a:ln w="12700">
            <a:solidFill>
              <a:srgbClr val="FF2D75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822960" y="4709160"/>
            <a:ext cx="5257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&lt; 1 s Reaktion – Treffer schon auf Zwischenergebnissen der Erkennung</a:t>
            </a:r>
            <a:endParaRPr lang="en-US" sz="1300" dirty="0"/>
          </a:p>
        </p:txBody>
      </p:sp>
      <p:sp>
        <p:nvSpPr>
          <p:cNvPr id="41" name="Shape 38"/>
          <p:cNvSpPr/>
          <p:nvPr/>
        </p:nvSpPr>
        <p:spPr>
          <a:xfrm>
            <a:off x="6172200" y="4800600"/>
            <a:ext cx="128016" cy="128016"/>
          </a:xfrm>
          <a:prstGeom prst="ellipse">
            <a:avLst/>
          </a:prstGeom>
          <a:solidFill>
            <a:srgbClr val="2DFFB5"/>
          </a:solidFill>
          <a:ln w="12700">
            <a:solidFill>
              <a:srgbClr val="2DFFB5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6446520" y="4709160"/>
            <a:ext cx="5257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Hands-free – keine Taste, kein Klick, kein zweiter Monitor</a:t>
            </a:r>
            <a:endParaRPr lang="en-US" sz="1300" dirty="0"/>
          </a:p>
        </p:txBody>
      </p:sp>
      <p:sp>
        <p:nvSpPr>
          <p:cNvPr id="43" name="Shape 40"/>
          <p:cNvSpPr/>
          <p:nvPr/>
        </p:nvSpPr>
        <p:spPr>
          <a:xfrm>
            <a:off x="548640" y="5422392"/>
            <a:ext cx="128016" cy="128016"/>
          </a:xfrm>
          <a:prstGeom prst="ellipse">
            <a:avLst/>
          </a:prstGeom>
          <a:solidFill>
            <a:srgbClr val="FF2D75"/>
          </a:solidFill>
          <a:ln w="12700">
            <a:solidFill>
              <a:srgbClr val="FF2D75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822960" y="5330952"/>
            <a:ext cx="5257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Läuft lokal auf dem Rechner der Creatorin – Datenschutz eingebaut</a:t>
            </a:r>
            <a:endParaRPr lang="en-US" sz="1300" dirty="0"/>
          </a:p>
        </p:txBody>
      </p:sp>
      <p:sp>
        <p:nvSpPr>
          <p:cNvPr id="45" name="Shape 42"/>
          <p:cNvSpPr/>
          <p:nvPr/>
        </p:nvSpPr>
        <p:spPr>
          <a:xfrm>
            <a:off x="6172200" y="5422392"/>
            <a:ext cx="128016" cy="128016"/>
          </a:xfrm>
          <a:prstGeom prst="ellipse">
            <a:avLst/>
          </a:prstGeom>
          <a:solidFill>
            <a:srgbClr val="2DFFB5"/>
          </a:solidFill>
          <a:ln w="12700">
            <a:solidFill>
              <a:srgbClr val="2DFFB5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6446520" y="5330952"/>
            <a:ext cx="5257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KI-Modus (optional) fängt Sätze ohne Stichwort: „das war so peinlich“ → Awkward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1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18288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FD1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SIEHT ES IM STREAM AUS</a:t>
            </a:r>
            <a:endParaRPr lang="en-US" sz="1000" dirty="0"/>
          </a:p>
        </p:txBody>
      </p:sp>
      <p:sp>
        <p:nvSpPr>
          <p:cNvPr id="3" name="Titel"/>
          <p:cNvSpPr txBox="1"/>
          <p:nvPr/>
        </p:nvSpPr>
        <p:spPr>
          <a:xfrm>
            <a:off x="548640" y="438912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</a:t>
            </a:r>
            <a:endParaRPr lang="en-US" sz="3200" dirty="0"/>
          </a:p>
        </p:txBody>
      </p:sp>
      <p:sp>
        <p:nvSpPr>
          <p:cNvPr id="4" name="Fuß"/>
          <p:cNvSpPr txBox="1"/>
          <p:nvPr/>
        </p:nvSpPr>
        <p:spPr>
          <a:xfrm>
            <a:off x="9357055" y="6473952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LiveFX  ·  4</a:t>
            </a:r>
            <a:endParaRPr lang="en-US" sz="900" dirty="0"/>
          </a:p>
        </p:txBody>
      </p:sp>
      <p:pic>
        <p:nvPicPr>
          <p:cNvPr id="6" name="Image 0" descr="/home/user/Notion/live-fx/business/landing-assets/overlay-neon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6583680" cy="3703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548640" y="507492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Overlay 16:9 – „Krass!“ → Neon-Text + Konfetti</a:t>
            </a:r>
            <a:endParaRPr lang="en-US" sz="1150" dirty="0"/>
          </a:p>
        </p:txBody>
      </p:sp>
      <p:pic>
        <p:nvPicPr>
          <p:cNvPr id="8" name="Image 1" descr="/home/user/Notion/live-fx/business/landing-assets/overlay-portrait-rain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0" y="1325880"/>
            <a:ext cx="2084832" cy="3703320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7406640" y="507492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Hochkant 9:16 – Story-Modus: „Es regnete…“</a:t>
            </a:r>
            <a:endParaRPr lang="en-US" sz="1100" dirty="0"/>
          </a:p>
        </p:txBody>
      </p:sp>
      <p:pic>
        <p:nvPicPr>
          <p:cNvPr id="10" name="Image 2" descr="/home/user/Notion/live-fx/business/landing-assets/mobile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84080" y="1325880"/>
            <a:ext cx="1709928" cy="3703320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9784080" y="5074920"/>
            <a:ext cx="18562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Handy-Fernbedienung (PWA)</a:t>
            </a:r>
            <a:endParaRPr lang="en-US" sz="1100" dirty="0"/>
          </a:p>
        </p:txBody>
      </p:sp>
      <p:sp>
        <p:nvSpPr>
          <p:cNvPr id="12" name="Shape 6"/>
          <p:cNvSpPr/>
          <p:nvPr/>
        </p:nvSpPr>
        <p:spPr>
          <a:xfrm>
            <a:off x="548640" y="5623560"/>
            <a:ext cx="11094415" cy="749808"/>
          </a:xfrm>
          <a:prstGeom prst="roundRect">
            <a:avLst>
              <a:gd name="adj" fmla="val 14634"/>
            </a:avLst>
          </a:prstGeom>
          <a:solidFill>
            <a:srgbClr val="1F2330"/>
          </a:solidFill>
          <a:ln w="12700">
            <a:solidFill>
              <a:srgbClr val="1F2330"/>
            </a:solidFill>
            <a:prstDash val="solid"/>
          </a:ln>
        </p:spPr>
      </p:sp>
      <p:sp>
        <p:nvSpPr>
          <p:cNvPr id="13" name="Text 7"/>
          <p:cNvSpPr txBox="1"/>
          <p:nvPr/>
        </p:nvSpPr>
        <p:spPr>
          <a:xfrm>
            <a:off x="822960" y="5669280"/>
            <a:ext cx="105457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  Trailer (30 s): video/LiveFX_Trailer_16x9.mp4  ·  Live-Demo: Mikro starten, „das ist ja krass“ sagen – oder Story-Modus an und einen Absatz vorlesen.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1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18288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F2D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KEIN PROTOTYP</a:t>
            </a:r>
            <a:endParaRPr lang="en-US" sz="1000" dirty="0"/>
          </a:p>
        </p:txBody>
      </p:sp>
      <p:sp>
        <p:nvSpPr>
          <p:cNvPr id="3" name="Titel"/>
          <p:cNvSpPr txBox="1"/>
          <p:nvPr/>
        </p:nvSpPr>
        <p:spPr>
          <a:xfrm>
            <a:off x="548640" y="438912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Produkt heute – Version 2.0</a:t>
            </a:r>
            <a:endParaRPr lang="en-US" sz="3200" dirty="0"/>
          </a:p>
        </p:txBody>
      </p:sp>
      <p:sp>
        <p:nvSpPr>
          <p:cNvPr id="4" name="Fuß"/>
          <p:cNvSpPr txBox="1"/>
          <p:nvPr/>
        </p:nvSpPr>
        <p:spPr>
          <a:xfrm>
            <a:off x="9357055" y="6473952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LiveFX  ·  5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1371600"/>
            <a:ext cx="2679192" cy="2194560"/>
          </a:xfrm>
          <a:prstGeom prst="roundRect">
            <a:avLst>
              <a:gd name="adj" fmla="val 5000"/>
            </a:avLst>
          </a:prstGeom>
          <a:solidFill>
            <a:srgbClr val="181B23"/>
          </a:solidFill>
          <a:ln w="12700">
            <a:solidFill>
              <a:srgbClr val="181B23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517904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🎙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1956816"/>
            <a:ext cx="2313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FF2D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Erkennung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731520" y="2322576"/>
            <a:ext cx="2313432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Browser-ASR, Auto-Sprache DE/TR/EN, Dialekt-Toleranz, Lernfunktion, Selbsttest; extern via Whisper/Deepgram, Offline-Whisper (experimentell)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364992" y="1371600"/>
            <a:ext cx="2679192" cy="2194560"/>
          </a:xfrm>
          <a:prstGeom prst="roundRect">
            <a:avLst>
              <a:gd name="adj" fmla="val 5000"/>
            </a:avLst>
          </a:prstGeom>
          <a:solidFill>
            <a:srgbClr val="181B23"/>
          </a:solidFill>
          <a:ln w="12700">
            <a:solidFill>
              <a:srgbClr val="181B23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547872" y="1517904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✨</a:t>
            </a:r>
            <a:endParaRPr lang="en-US" sz="2000" dirty="0"/>
          </a:p>
        </p:txBody>
      </p:sp>
      <p:sp>
        <p:nvSpPr>
          <p:cNvPr id="12" name="Text 9"/>
          <p:cNvSpPr txBox="1"/>
          <p:nvPr/>
        </p:nvSpPr>
        <p:spPr>
          <a:xfrm>
            <a:off x="3547872" y="1956816"/>
            <a:ext cx="2313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2DFF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Effekt-Engine v2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3547872" y="2322576"/>
            <a:ext cx="2313432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Canvas-Partikel mit Physik (60 fps), Neon/Glitch-Text, Bauchbinden, Kombis, 4 Themes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6181344" y="1371600"/>
            <a:ext cx="2679192" cy="2194560"/>
          </a:xfrm>
          <a:prstGeom prst="roundRect">
            <a:avLst>
              <a:gd name="adj" fmla="val 5000"/>
            </a:avLst>
          </a:prstGeom>
          <a:solidFill>
            <a:srgbClr val="181B23"/>
          </a:solidFill>
          <a:ln w="12700">
            <a:solidFill>
              <a:srgbClr val="181B23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364224" y="1517904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📖</a:t>
            </a:r>
            <a:endParaRPr lang="en-US" sz="2000" dirty="0"/>
          </a:p>
        </p:txBody>
      </p:sp>
      <p:sp>
        <p:nvSpPr>
          <p:cNvPr id="16" name="Text 13"/>
          <p:cNvSpPr txBox="1"/>
          <p:nvPr/>
        </p:nvSpPr>
        <p:spPr>
          <a:xfrm>
            <a:off x="6364224" y="1956816"/>
            <a:ext cx="2313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FFD1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Story-Modus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6364224" y="2322576"/>
            <a:ext cx="2313432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Vollbild-Szenen, 12 Atmosphäre-Loops, Geschichten-Pakete DE/TR/EN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8997696" y="1371600"/>
            <a:ext cx="2679192" cy="2194560"/>
          </a:xfrm>
          <a:prstGeom prst="roundRect">
            <a:avLst>
              <a:gd name="adj" fmla="val 5000"/>
            </a:avLst>
          </a:prstGeom>
          <a:solidFill>
            <a:srgbClr val="181B23"/>
          </a:solidFill>
          <a:ln w="12700">
            <a:solidFill>
              <a:srgbClr val="181B23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9180576" y="1517904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📦</a:t>
            </a:r>
            <a:endParaRPr lang="en-US" sz="2000" dirty="0"/>
          </a:p>
        </p:txBody>
      </p:sp>
      <p:sp>
        <p:nvSpPr>
          <p:cNvPr id="20" name="Text 17"/>
          <p:cNvSpPr txBox="1"/>
          <p:nvPr/>
        </p:nvSpPr>
        <p:spPr>
          <a:xfrm>
            <a:off x="9180576" y="1956816"/>
            <a:ext cx="2313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FF2D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Pakete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9180576" y="2322576"/>
            <a:ext cx="2313432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Türkçe 85 · Deutsch 49 · English 50 · Familie &amp; Kinder 27 · Gaming 27 – plus GIF-Suche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548640" y="3703320"/>
            <a:ext cx="2679192" cy="2194560"/>
          </a:xfrm>
          <a:prstGeom prst="roundRect">
            <a:avLst>
              <a:gd name="adj" fmla="val 5000"/>
            </a:avLst>
          </a:prstGeom>
          <a:solidFill>
            <a:srgbClr val="181B23"/>
          </a:solidFill>
          <a:ln w="12700">
            <a:solidFill>
              <a:srgbClr val="181B23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731520" y="3849624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🔊</a:t>
            </a:r>
            <a:endParaRPr lang="en-US" sz="2000" dirty="0"/>
          </a:p>
        </p:txBody>
      </p:sp>
      <p:sp>
        <p:nvSpPr>
          <p:cNvPr id="24" name="Text 21"/>
          <p:cNvSpPr txBox="1"/>
          <p:nvPr/>
        </p:nvSpPr>
        <p:spPr>
          <a:xfrm>
            <a:off x="731520" y="4288536"/>
            <a:ext cx="2313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2DFF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Sound-Engine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731520" y="4654296"/>
            <a:ext cx="2313432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 synthetische Sounds (keine Lizenzkosten), Mixer mit Limiter, Ducking, Stereo, Hall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3364992" y="3703320"/>
            <a:ext cx="2679192" cy="2194560"/>
          </a:xfrm>
          <a:prstGeom prst="roundRect">
            <a:avLst>
              <a:gd name="adj" fmla="val 5000"/>
            </a:avLst>
          </a:prstGeom>
          <a:solidFill>
            <a:srgbClr val="181B23"/>
          </a:solidFill>
          <a:ln w="12700">
            <a:solidFill>
              <a:srgbClr val="181B23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3547872" y="3849624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💬</a:t>
            </a:r>
            <a:endParaRPr lang="en-US" sz="2000" dirty="0"/>
          </a:p>
        </p:txBody>
      </p:sp>
      <p:sp>
        <p:nvSpPr>
          <p:cNvPr id="28" name="Text 25"/>
          <p:cNvSpPr txBox="1"/>
          <p:nvPr/>
        </p:nvSpPr>
        <p:spPr>
          <a:xfrm>
            <a:off x="3547872" y="4288536"/>
            <a:ext cx="2313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FFD1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Zuschauer-Trigger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3547872" y="4654296"/>
            <a:ext cx="2313432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Twitch-Chat, YouTube-Chat, Geschenke-Webhook (TikTok via TikFinity / Streamer.bot)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6181344" y="3703320"/>
            <a:ext cx="2679192" cy="2194560"/>
          </a:xfrm>
          <a:prstGeom prst="roundRect">
            <a:avLst>
              <a:gd name="adj" fmla="val 5000"/>
            </a:avLst>
          </a:prstGeom>
          <a:solidFill>
            <a:srgbClr val="181B23"/>
          </a:solidFill>
          <a:ln w="12700">
            <a:solidFill>
              <a:srgbClr val="181B23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364224" y="3849624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📱</a:t>
            </a:r>
            <a:endParaRPr lang="en-US" sz="2000" dirty="0"/>
          </a:p>
        </p:txBody>
      </p:sp>
      <p:sp>
        <p:nvSpPr>
          <p:cNvPr id="32" name="Text 29"/>
          <p:cNvSpPr txBox="1"/>
          <p:nvPr/>
        </p:nvSpPr>
        <p:spPr>
          <a:xfrm>
            <a:off x="6364224" y="4288536"/>
            <a:ext cx="2313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FF2D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Handy &amp; Plattformen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6364224" y="4654296"/>
            <a:ext cx="2313432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Handy-Fernbedienung (PWA), OBS/Streamlabs, TikTok LIVE Studio, IG Live Producer, Demo ohne OBS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8997696" y="3703320"/>
            <a:ext cx="2679192" cy="2194560"/>
          </a:xfrm>
          <a:prstGeom prst="roundRect">
            <a:avLst>
              <a:gd name="adj" fmla="val 5000"/>
            </a:avLst>
          </a:prstGeom>
          <a:solidFill>
            <a:srgbClr val="181B23"/>
          </a:solidFill>
          <a:ln w="12700">
            <a:solidFill>
              <a:srgbClr val="181B23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9180576" y="3849624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🔌</a:t>
            </a:r>
            <a:endParaRPr lang="en-US" sz="2000" dirty="0"/>
          </a:p>
        </p:txBody>
      </p:sp>
      <p:sp>
        <p:nvSpPr>
          <p:cNvPr id="36" name="Text 33"/>
          <p:cNvSpPr txBox="1"/>
          <p:nvPr/>
        </p:nvSpPr>
        <p:spPr>
          <a:xfrm>
            <a:off x="9180576" y="4288536"/>
            <a:ext cx="2313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2DFF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Offene API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9180576" y="4654296"/>
            <a:ext cx="2313432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HTTP-API mit Token (Stream Deck, Chat-Bots, externe ASR), 240+ automatisierte Tests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1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18288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2DFF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TIMING</a:t>
            </a:r>
            <a:endParaRPr lang="en-US" sz="1000" dirty="0"/>
          </a:p>
        </p:txBody>
      </p:sp>
      <p:sp>
        <p:nvSpPr>
          <p:cNvPr id="3" name="Titel"/>
          <p:cNvSpPr txBox="1"/>
          <p:nvPr/>
        </p:nvSpPr>
        <p:spPr>
          <a:xfrm>
            <a:off x="548640" y="438912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Warum jetzt</a:t>
            </a:r>
            <a:endParaRPr lang="en-US" sz="3200" dirty="0"/>
          </a:p>
        </p:txBody>
      </p:sp>
      <p:sp>
        <p:nvSpPr>
          <p:cNvPr id="4" name="Fuß"/>
          <p:cNvSpPr txBox="1"/>
          <p:nvPr/>
        </p:nvSpPr>
        <p:spPr>
          <a:xfrm>
            <a:off x="9357055" y="6473952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LiveFX  ·  6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32588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800" b="1" dirty="0">
                <a:solidFill>
                  <a:srgbClr val="FF2D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~50 %</a:t>
            </a:r>
            <a:endParaRPr lang="en-US" sz="38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2075688"/>
            <a:ext cx="3474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 Einkommens von Live-Streamern kommt aus Geschenken; 20–100 T Follower: 500–3.000 USD/Monat [Quelle 5, 6]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4343400" y="132588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800" b="1" dirty="0">
                <a:solidFill>
                  <a:srgbClr val="2DFF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 100 Mio.</a:t>
            </a:r>
            <a:endParaRPr lang="en-US" sz="3800" dirty="0"/>
          </a:p>
        </p:txBody>
      </p:sp>
      <p:sp>
        <p:nvSpPr>
          <p:cNvPr id="9" name="Text 6"/>
          <p:cNvSpPr txBox="1"/>
          <p:nvPr/>
        </p:nvSpPr>
        <p:spPr>
          <a:xfrm>
            <a:off x="4343400" y="2075688"/>
            <a:ext cx="3474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Creator gingen 2025 allein in Südostasien, im Kaukasus und in Zentralasien auf TikTok LIVE, +77 % [Quelle 2]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8138160" y="132588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800" b="1" dirty="0">
                <a:solidFill>
                  <a:srgbClr val="FFD1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14 %</a:t>
            </a:r>
            <a:endParaRPr lang="en-US" sz="3800" dirty="0"/>
          </a:p>
        </p:txBody>
      </p:sp>
      <p:sp>
        <p:nvSpPr>
          <p:cNvPr id="11" name="Text 8"/>
          <p:cNvSpPr txBox="1"/>
          <p:nvPr/>
        </p:nvSpPr>
        <p:spPr>
          <a:xfrm>
            <a:off x="8138160" y="2075688"/>
            <a:ext cx="3474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Creator Economy (~216–260 Mrd. USD 2026) entfallen auf Live [Quelle 3, 4]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548640" y="3429000"/>
            <a:ext cx="3520440" cy="2331720"/>
          </a:xfrm>
          <a:prstGeom prst="roundRect">
            <a:avLst>
              <a:gd name="adj" fmla="val 4706"/>
            </a:avLst>
          </a:prstGeom>
          <a:solidFill>
            <a:srgbClr val="181B23"/>
          </a:solidFill>
          <a:ln w="12700">
            <a:solidFill>
              <a:srgbClr val="181B23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77240" y="3584448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ist Umsatzkanal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777240" y="4187952"/>
            <a:ext cx="310896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Live-Commerce und Gifting (TikTok LIVE, IG Badges, Super Chat) machen Live zum Geschäft – nicht zum Nebenformat.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343400" y="3429000"/>
            <a:ext cx="3520440" cy="2331720"/>
          </a:xfrm>
          <a:prstGeom prst="roundRect">
            <a:avLst>
              <a:gd name="adj" fmla="val 4706"/>
            </a:avLst>
          </a:prstGeom>
          <a:solidFill>
            <a:srgbClr val="181B23"/>
          </a:solidFill>
          <a:ln w="12700">
            <a:solidFill>
              <a:srgbClr val="181B23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572000" y="3584448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Technik ist reif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4572000" y="4187952"/>
            <a:ext cx="310896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Streaming-ASR &lt; 300 ms, Modelle im Browser, WebGPU in allen großen Browsern [Quelle 27], KI-Klassifikation für &lt; 1 USD/Stunde.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8138160" y="3429000"/>
            <a:ext cx="3520440" cy="2331720"/>
          </a:xfrm>
          <a:prstGeom prst="roundRect">
            <a:avLst>
              <a:gd name="adj" fmla="val 4706"/>
            </a:avLst>
          </a:prstGeom>
          <a:solidFill>
            <a:srgbClr val="181B23"/>
          </a:solidFill>
          <a:ln w="12700">
            <a:solidFill>
              <a:srgbClr val="181B23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366760" y="3584448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Plattformen konkurrieren über Creator-Tools</a:t>
            </a:r>
            <a:endParaRPr lang="en-US" sz="1500" dirty="0"/>
          </a:p>
        </p:txBody>
      </p:sp>
      <p:sp>
        <p:nvSpPr>
          <p:cNvPr id="20" name="Text 17"/>
          <p:cNvSpPr txBox="1"/>
          <p:nvPr/>
        </p:nvSpPr>
        <p:spPr>
          <a:xfrm>
            <a:off x="8366760" y="4187952"/>
            <a:ext cx="310896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CapCut ↔ TikTok, Edits ↔ Instagram. Live-Tools sind der nächste Schritt – und niemand hat Sprach-Effekte.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548640" y="6053328"/>
            <a:ext cx="999713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Quellen: QUELLEN.md (Recherche 30.09.2026 und 03.10.2026) – [Quelle 2–6, 27]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1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18288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FD1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TAM · SAM · SOM · ANGRENZENDE MÄRKTE</a:t>
            </a:r>
            <a:endParaRPr lang="en-US" sz="1000" dirty="0"/>
          </a:p>
        </p:txBody>
      </p:sp>
      <p:sp>
        <p:nvSpPr>
          <p:cNvPr id="3" name="Titel"/>
          <p:cNvSpPr txBox="1"/>
          <p:nvPr/>
        </p:nvSpPr>
        <p:spPr>
          <a:xfrm>
            <a:off x="548640" y="438912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Markt – Spannen statt Punktzahlen</a:t>
            </a:r>
            <a:endParaRPr lang="en-US" sz="3200" dirty="0"/>
          </a:p>
        </p:txBody>
      </p:sp>
      <p:sp>
        <p:nvSpPr>
          <p:cNvPr id="4" name="Fuß"/>
          <p:cNvSpPr txBox="1"/>
          <p:nvPr/>
        </p:nvSpPr>
        <p:spPr>
          <a:xfrm>
            <a:off x="9357055" y="6473952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LiveFX  ·  7</a:t>
            </a:r>
            <a:endParaRPr lang="en-US" sz="9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1280160"/>
          <a:ext cx="6035040" cy="3520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3"/>
          <p:cNvSpPr/>
          <p:nvPr/>
        </p:nvSpPr>
        <p:spPr>
          <a:xfrm>
            <a:off x="6812280" y="1280160"/>
            <a:ext cx="4828032" cy="1097280"/>
          </a:xfrm>
          <a:prstGeom prst="roundRect">
            <a:avLst>
              <a:gd name="adj" fmla="val 10000"/>
            </a:avLst>
          </a:prstGeom>
          <a:solidFill>
            <a:srgbClr val="181B23"/>
          </a:solidFill>
          <a:ln w="12700">
            <a:solidFill>
              <a:srgbClr val="181B23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6995160" y="1389888"/>
            <a:ext cx="822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FF2D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TAM</a:t>
            </a:r>
            <a:endParaRPr lang="en-US" sz="1900" dirty="0"/>
          </a:p>
        </p:txBody>
      </p:sp>
      <p:sp>
        <p:nvSpPr>
          <p:cNvPr id="9" name="Text 5"/>
          <p:cNvSpPr txBox="1"/>
          <p:nvPr/>
        </p:nvSpPr>
        <p:spPr>
          <a:xfrm>
            <a:off x="7818120" y="1435608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Live-Streaming-Markt [Quelle 1, 2]</a:t>
            </a:r>
            <a:endParaRPr lang="en-US" sz="1150" dirty="0"/>
          </a:p>
        </p:txBody>
      </p:sp>
      <p:sp>
        <p:nvSpPr>
          <p:cNvPr id="10" name="Text 6"/>
          <p:cNvSpPr txBox="1"/>
          <p:nvPr/>
        </p:nvSpPr>
        <p:spPr>
          <a:xfrm>
            <a:off x="6995160" y="1792224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97–157 Mrd. USD (2026) → 250–345 Mrd. USD (2030), CAGR ~27 %</a:t>
            </a:r>
            <a:endParaRPr lang="en-US" sz="1050" dirty="0"/>
          </a:p>
        </p:txBody>
      </p:sp>
      <p:sp>
        <p:nvSpPr>
          <p:cNvPr id="11" name="Shape 7"/>
          <p:cNvSpPr/>
          <p:nvPr/>
        </p:nvSpPr>
        <p:spPr>
          <a:xfrm>
            <a:off x="6812280" y="2468880"/>
            <a:ext cx="4828032" cy="1097280"/>
          </a:xfrm>
          <a:prstGeom prst="roundRect">
            <a:avLst>
              <a:gd name="adj" fmla="val 10000"/>
            </a:avLst>
          </a:prstGeom>
          <a:solidFill>
            <a:srgbClr val="181B23"/>
          </a:solidFill>
          <a:ln w="12700">
            <a:solidFill>
              <a:srgbClr val="181B23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6995160" y="2578608"/>
            <a:ext cx="822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2DFF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</a:t>
            </a:r>
            <a:endParaRPr lang="en-US" sz="1900" dirty="0"/>
          </a:p>
        </p:txBody>
      </p:sp>
      <p:sp>
        <p:nvSpPr>
          <p:cNvPr id="13" name="Text 9"/>
          <p:cNvSpPr txBox="1"/>
          <p:nvPr/>
        </p:nvSpPr>
        <p:spPr>
          <a:xfrm>
            <a:off x="7818120" y="2624328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Live-Creator-Tools · Schätzung</a:t>
            </a:r>
            <a:endParaRPr lang="en-US" sz="1150" dirty="0"/>
          </a:p>
        </p:txBody>
      </p:sp>
      <p:sp>
        <p:nvSpPr>
          <p:cNvPr id="14" name="Text 10"/>
          <p:cNvSpPr txBox="1"/>
          <p:nvPr/>
        </p:nvSpPr>
        <p:spPr>
          <a:xfrm>
            <a:off x="6995160" y="2980944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1–3 Mrd. USD – abgeleitet aus Streamlabs-/StreamYard-/Voicemod-Preisen × aktive Live-Creator</a:t>
            </a:r>
            <a:endParaRPr lang="en-US" sz="1050" dirty="0"/>
          </a:p>
        </p:txBody>
      </p:sp>
      <p:sp>
        <p:nvSpPr>
          <p:cNvPr id="15" name="Shape 11"/>
          <p:cNvSpPr/>
          <p:nvPr/>
        </p:nvSpPr>
        <p:spPr>
          <a:xfrm>
            <a:off x="6812280" y="3657600"/>
            <a:ext cx="4828032" cy="1097280"/>
          </a:xfrm>
          <a:prstGeom prst="roundRect">
            <a:avLst>
              <a:gd name="adj" fmla="val 10000"/>
            </a:avLst>
          </a:prstGeom>
          <a:solidFill>
            <a:srgbClr val="181B23"/>
          </a:solidFill>
          <a:ln w="12700">
            <a:solidFill>
              <a:srgbClr val="181B23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6995160" y="3767328"/>
            <a:ext cx="822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FFD1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SOM</a:t>
            </a:r>
            <a:endParaRPr lang="en-US" sz="1900" dirty="0"/>
          </a:p>
        </p:txBody>
      </p:sp>
      <p:sp>
        <p:nvSpPr>
          <p:cNvPr id="17" name="Text 13"/>
          <p:cNvSpPr txBox="1"/>
          <p:nvPr/>
        </p:nvSpPr>
        <p:spPr>
          <a:xfrm>
            <a:off x="7818120" y="3813048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Jahr 3 · Schätzung</a:t>
            </a:r>
            <a:endParaRPr lang="en-US" sz="1150" dirty="0"/>
          </a:p>
        </p:txBody>
      </p:sp>
      <p:sp>
        <p:nvSpPr>
          <p:cNvPr id="18" name="Text 14"/>
          <p:cNvSpPr txBox="1"/>
          <p:nvPr/>
        </p:nvSpPr>
        <p:spPr>
          <a:xfrm>
            <a:off x="6995160" y="4169664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20–40 T Pro-Abos × 9,99 €/Monat ≈ 2,4–4,8 Mio. € ARR (DACH + Türkei + EN-Nische)</a:t>
            </a:r>
            <a:endParaRPr lang="en-US" sz="1050" dirty="0"/>
          </a:p>
        </p:txBody>
      </p:sp>
      <p:sp>
        <p:nvSpPr>
          <p:cNvPr id="19" name="Text 15"/>
          <p:cNvSpPr txBox="1"/>
          <p:nvPr/>
        </p:nvSpPr>
        <p:spPr>
          <a:xfrm>
            <a:off x="548640" y="49560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5AD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Angrenzende Märkte der Vision (Folien 12–15)</a:t>
            </a:r>
            <a:endParaRPr lang="en-US" sz="1100" dirty="0"/>
          </a:p>
        </p:txBody>
      </p:sp>
      <p:sp>
        <p:nvSpPr>
          <p:cNvPr id="20" name="Shape 16"/>
          <p:cNvSpPr/>
          <p:nvPr/>
        </p:nvSpPr>
        <p:spPr>
          <a:xfrm>
            <a:off x="548640" y="5266944"/>
            <a:ext cx="2670734" cy="749808"/>
          </a:xfrm>
          <a:prstGeom prst="roundRect">
            <a:avLst>
              <a:gd name="adj" fmla="val 14634"/>
            </a:avLst>
          </a:prstGeom>
          <a:solidFill>
            <a:srgbClr val="1F2330"/>
          </a:solidFill>
          <a:ln w="12700">
            <a:solidFill>
              <a:srgbClr val="1F2330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713232" y="5303520"/>
            <a:ext cx="239641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2DFF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3,67 Mrd. USD</a:t>
            </a:r>
            <a:endParaRPr lang="en-US" sz="1500" dirty="0"/>
          </a:p>
        </p:txBody>
      </p:sp>
      <p:sp>
        <p:nvSpPr>
          <p:cNvPr id="22" name="Text 18"/>
          <p:cNvSpPr txBox="1"/>
          <p:nvPr/>
        </p:nvSpPr>
        <p:spPr>
          <a:xfrm>
            <a:off x="713232" y="5650992"/>
            <a:ext cx="239641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KI-Videogenerierung und -schnitt 2026 [Quelle 23]</a:t>
            </a:r>
            <a:endParaRPr lang="en-US" sz="1000" dirty="0"/>
          </a:p>
        </p:txBody>
      </p:sp>
      <p:sp>
        <p:nvSpPr>
          <p:cNvPr id="23" name="Shape 19"/>
          <p:cNvSpPr/>
          <p:nvPr/>
        </p:nvSpPr>
        <p:spPr>
          <a:xfrm>
            <a:off x="3356534" y="5266944"/>
            <a:ext cx="2670734" cy="749808"/>
          </a:xfrm>
          <a:prstGeom prst="roundRect">
            <a:avLst>
              <a:gd name="adj" fmla="val 14634"/>
            </a:avLst>
          </a:prstGeom>
          <a:solidFill>
            <a:srgbClr val="1F2330"/>
          </a:solidFill>
          <a:ln w="12700">
            <a:solidFill>
              <a:srgbClr val="1F2330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3521126" y="5303520"/>
            <a:ext cx="239641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FFD1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1,54 Mrd. USD</a:t>
            </a:r>
            <a:endParaRPr lang="en-US" sz="1500" dirty="0"/>
          </a:p>
        </p:txBody>
      </p:sp>
      <p:sp>
        <p:nvSpPr>
          <p:cNvPr id="25" name="Text 21"/>
          <p:cNvSpPr txBox="1"/>
          <p:nvPr/>
        </p:nvSpPr>
        <p:spPr>
          <a:xfrm>
            <a:off x="3521126" y="5650992"/>
            <a:ext cx="239641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Sprachlern-Apps, In-App-Umsatz 2025 [Quelle 33]</a:t>
            </a:r>
            <a:endParaRPr lang="en-US" sz="1000" dirty="0"/>
          </a:p>
        </p:txBody>
      </p:sp>
      <p:sp>
        <p:nvSpPr>
          <p:cNvPr id="26" name="Shape 22"/>
          <p:cNvSpPr/>
          <p:nvPr/>
        </p:nvSpPr>
        <p:spPr>
          <a:xfrm>
            <a:off x="6164428" y="5266944"/>
            <a:ext cx="2670734" cy="749808"/>
          </a:xfrm>
          <a:prstGeom prst="roundRect">
            <a:avLst>
              <a:gd name="adj" fmla="val 14634"/>
            </a:avLst>
          </a:prstGeom>
          <a:solidFill>
            <a:srgbClr val="1F2330"/>
          </a:solidFill>
          <a:ln w="12700">
            <a:solidFill>
              <a:srgbClr val="1F2330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6329020" y="5303520"/>
            <a:ext cx="239641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5AD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2,68 Mrd. USD</a:t>
            </a:r>
            <a:endParaRPr lang="en-US" sz="1500" dirty="0"/>
          </a:p>
        </p:txBody>
      </p:sp>
      <p:sp>
        <p:nvSpPr>
          <p:cNvPr id="28" name="Text 24"/>
          <p:cNvSpPr txBox="1"/>
          <p:nvPr/>
        </p:nvSpPr>
        <p:spPr>
          <a:xfrm>
            <a:off x="6329020" y="5650992"/>
            <a:ext cx="239641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Videoschnitt-Software 2026 [Quelle 51]</a:t>
            </a:r>
            <a:endParaRPr lang="en-US" sz="1000" dirty="0"/>
          </a:p>
        </p:txBody>
      </p:sp>
      <p:sp>
        <p:nvSpPr>
          <p:cNvPr id="29" name="Shape 25"/>
          <p:cNvSpPr/>
          <p:nvPr/>
        </p:nvSpPr>
        <p:spPr>
          <a:xfrm>
            <a:off x="8972321" y="5266944"/>
            <a:ext cx="2670734" cy="749808"/>
          </a:xfrm>
          <a:prstGeom prst="roundRect">
            <a:avLst>
              <a:gd name="adj" fmla="val 14634"/>
            </a:avLst>
          </a:prstGeom>
          <a:solidFill>
            <a:srgbClr val="1F2330"/>
          </a:solidFill>
          <a:ln w="12700">
            <a:solidFill>
              <a:srgbClr val="1F2330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9136913" y="5303520"/>
            <a:ext cx="239641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FF2D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374 Mio. €</a:t>
            </a:r>
            <a:endParaRPr lang="en-US" sz="1500" dirty="0"/>
          </a:p>
        </p:txBody>
      </p:sp>
      <p:sp>
        <p:nvSpPr>
          <p:cNvPr id="31" name="Text 27"/>
          <p:cNvSpPr txBox="1"/>
          <p:nvPr/>
        </p:nvSpPr>
        <p:spPr>
          <a:xfrm>
            <a:off x="9136913" y="5650992"/>
            <a:ext cx="239641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Hörbuchmarkt Deutschland 2025, +13 % [Quelle 19]</a:t>
            </a:r>
            <a:endParaRPr lang="en-US" sz="1000" dirty="0"/>
          </a:p>
        </p:txBody>
      </p:sp>
      <p:sp>
        <p:nvSpPr>
          <p:cNvPr id="32" name="Text 28"/>
          <p:cNvSpPr txBox="1"/>
          <p:nvPr/>
        </p:nvSpPr>
        <p:spPr>
          <a:xfrm>
            <a:off x="548640" y="6126480"/>
            <a:ext cx="999713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Quellen: QUELLEN.md [Quelle 1–4, 19, 23, 33, 51] · SAM/SOM sind eigene Schätzungen, keine Studie.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1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18288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F2D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FREE → PRO → PACKS → B2B</a:t>
            </a:r>
            <a:endParaRPr lang="en-US" sz="1000" dirty="0"/>
          </a:p>
        </p:txBody>
      </p:sp>
      <p:sp>
        <p:nvSpPr>
          <p:cNvPr id="3" name="Titel"/>
          <p:cNvSpPr txBox="1"/>
          <p:nvPr/>
        </p:nvSpPr>
        <p:spPr>
          <a:xfrm>
            <a:off x="548640" y="438912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Geschäftsmodell</a:t>
            </a:r>
            <a:endParaRPr lang="en-US" sz="3200" dirty="0"/>
          </a:p>
        </p:txBody>
      </p:sp>
      <p:sp>
        <p:nvSpPr>
          <p:cNvPr id="4" name="Fuß"/>
          <p:cNvSpPr txBox="1"/>
          <p:nvPr/>
        </p:nvSpPr>
        <p:spPr>
          <a:xfrm>
            <a:off x="9357055" y="6473952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LiveFX  ·  8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1371600"/>
            <a:ext cx="2679192" cy="3154680"/>
          </a:xfrm>
          <a:prstGeom prst="roundRect">
            <a:avLst>
              <a:gd name="adj" fmla="val 4096"/>
            </a:avLst>
          </a:prstGeom>
          <a:solidFill>
            <a:srgbClr val="181B23"/>
          </a:solidFill>
          <a:ln w="12700">
            <a:solidFill>
              <a:srgbClr val="181B23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1572768"/>
            <a:ext cx="22219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Free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1965960"/>
            <a:ext cx="22219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0 €</a:t>
            </a:r>
            <a:endParaRPr lang="en-US" sz="24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2697480"/>
            <a:ext cx="222199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Kernfunktionen, Standard-Pakete, OBS-Overlay. Verbreitung und Community.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3227832" y="2697480"/>
            <a:ext cx="137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3364992" y="1371600"/>
            <a:ext cx="2679192" cy="3154680"/>
          </a:xfrm>
          <a:prstGeom prst="roundRect">
            <a:avLst>
              <a:gd name="adj" fmla="val 4096"/>
            </a:avLst>
          </a:prstGeom>
          <a:solidFill>
            <a:srgbClr val="1F2330"/>
          </a:solidFill>
          <a:ln w="12700">
            <a:solidFill>
              <a:srgbClr val="1F2330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593592" y="1572768"/>
            <a:ext cx="22219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FF2D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3593592" y="1965960"/>
            <a:ext cx="22219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9,99 €/Monat</a:t>
            </a:r>
            <a:endParaRPr lang="en-US" sz="2400" dirty="0"/>
          </a:p>
        </p:txBody>
      </p:sp>
      <p:sp>
        <p:nvSpPr>
          <p:cNvPr id="14" name="Text 11"/>
          <p:cNvSpPr txBox="1"/>
          <p:nvPr/>
        </p:nvSpPr>
        <p:spPr>
          <a:xfrm>
            <a:off x="3593592" y="2697480"/>
            <a:ext cx="222199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KI-Modus, alle Szenen und Themes, Handy-Fernbedienung, Cloud-Sync, Priorität-Support.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6044184" y="2697480"/>
            <a:ext cx="137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1600" dirty="0"/>
          </a:p>
        </p:txBody>
      </p:sp>
      <p:sp>
        <p:nvSpPr>
          <p:cNvPr id="16" name="Shape 13"/>
          <p:cNvSpPr/>
          <p:nvPr/>
        </p:nvSpPr>
        <p:spPr>
          <a:xfrm>
            <a:off x="6181344" y="1371600"/>
            <a:ext cx="2679192" cy="3154680"/>
          </a:xfrm>
          <a:prstGeom prst="roundRect">
            <a:avLst>
              <a:gd name="adj" fmla="val 4096"/>
            </a:avLst>
          </a:prstGeom>
          <a:solidFill>
            <a:srgbClr val="181B23"/>
          </a:solidFill>
          <a:ln w="12700">
            <a:solidFill>
              <a:srgbClr val="181B23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09944" y="1572768"/>
            <a:ext cx="22219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2DFF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Creator-Packs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6409944" y="1965960"/>
            <a:ext cx="22219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70 / 30</a:t>
            </a:r>
            <a:endParaRPr lang="en-US" sz="2400" dirty="0"/>
          </a:p>
        </p:txBody>
      </p:sp>
      <p:sp>
        <p:nvSpPr>
          <p:cNvPr id="19" name="Text 16"/>
          <p:cNvSpPr txBox="1"/>
          <p:nvPr/>
        </p:nvSpPr>
        <p:spPr>
          <a:xfrm>
            <a:off x="6409944" y="2697480"/>
            <a:ext cx="222199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Marktplatz für Meme- und Story-Pakete von Creatorn für Creator. Nutzer werden Lieferanten.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8860536" y="2697480"/>
            <a:ext cx="137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1600" dirty="0"/>
          </a:p>
        </p:txBody>
      </p:sp>
      <p:sp>
        <p:nvSpPr>
          <p:cNvPr id="21" name="Shape 18"/>
          <p:cNvSpPr/>
          <p:nvPr/>
        </p:nvSpPr>
        <p:spPr>
          <a:xfrm>
            <a:off x="8997696" y="1371600"/>
            <a:ext cx="2679192" cy="3154680"/>
          </a:xfrm>
          <a:prstGeom prst="roundRect">
            <a:avLst>
              <a:gd name="adj" fmla="val 4096"/>
            </a:avLst>
          </a:prstGeom>
          <a:solidFill>
            <a:srgbClr val="181B23"/>
          </a:solidFill>
          <a:ln w="12700">
            <a:solidFill>
              <a:srgbClr val="181B23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9226296" y="1572768"/>
            <a:ext cx="22219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FFD1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B2B-Lizenz</a:t>
            </a:r>
            <a:endParaRPr lang="en-US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9226296" y="1965960"/>
            <a:ext cx="22219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 Anfrage</a:t>
            </a:r>
            <a:endParaRPr lang="en-US" sz="2400" dirty="0"/>
          </a:p>
        </p:txBody>
      </p:sp>
      <p:sp>
        <p:nvSpPr>
          <p:cNvPr id="24" name="Text 21"/>
          <p:cNvSpPr txBox="1"/>
          <p:nvPr/>
        </p:nvSpPr>
        <p:spPr>
          <a:xfrm>
            <a:off x="9226296" y="2697480"/>
            <a:ext cx="222199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SDK / White-Label für Streaming-Software, Agenturen, Plattform-Integration.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548640" y="4709160"/>
            <a:ext cx="11094415" cy="1463040"/>
          </a:xfrm>
          <a:prstGeom prst="roundRect">
            <a:avLst>
              <a:gd name="adj" fmla="val 7500"/>
            </a:avLst>
          </a:prstGeom>
          <a:solidFill>
            <a:srgbClr val="1F2330"/>
          </a:solidFill>
          <a:ln w="12700">
            <a:solidFill>
              <a:srgbClr val="1F2330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22960" y="4828032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FD1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Preis-Anker im Markt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822960" y="5148072"/>
            <a:ext cx="1054577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Streamlabs Ultra 27 USD/Monat  ·  StreamYard Core 35 USD/Monat  ·  Restream 16 USD/Monat  ·  Voicemod Pro 10 USD/Monat [Quelle 11, 12, 13]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 liegt bewusst auf Voicemod-Niveau und deutlich unter Streamlabs. Vision (Schätzung): Pro+ „Studio &amp; Szenen“ 14,99 €, WortBild Familie 4,99 €, Schul- und Verlagslizenzen – siehe Folien 13–15.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1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18288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2DFF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 ECHTEN STREAMS GEREIFT</a:t>
            </a:r>
            <a:endParaRPr lang="en-US" sz="1000" dirty="0"/>
          </a:p>
        </p:txBody>
      </p:sp>
      <p:sp>
        <p:nvSpPr>
          <p:cNvPr id="3" name="Titel"/>
          <p:cNvSpPr txBox="1"/>
          <p:nvPr/>
        </p:nvSpPr>
        <p:spPr>
          <a:xfrm>
            <a:off x="548640" y="438912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Traction</a:t>
            </a:r>
            <a:endParaRPr lang="en-US" sz="3200" dirty="0"/>
          </a:p>
        </p:txBody>
      </p:sp>
      <p:sp>
        <p:nvSpPr>
          <p:cNvPr id="4" name="Fuß"/>
          <p:cNvSpPr txBox="1"/>
          <p:nvPr/>
        </p:nvSpPr>
        <p:spPr>
          <a:xfrm>
            <a:off x="9357055" y="6473952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LiveFX  ·  9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32588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800" b="1" dirty="0">
                <a:solidFill>
                  <a:srgbClr val="FF2D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[Zahl]</a:t>
            </a:r>
            <a:endParaRPr lang="en-US" sz="38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2075688"/>
            <a:ext cx="2651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eigene Live-Streams mit LiveFX seit [Monat/Jahr] – [Zahl] Stunden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3337560" y="132588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800" b="1" dirty="0">
                <a:solidFill>
                  <a:srgbClr val="2DFF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2.0</a:t>
            </a:r>
            <a:endParaRPr lang="en-US" sz="3800" dirty="0"/>
          </a:p>
        </p:txBody>
      </p:sp>
      <p:sp>
        <p:nvSpPr>
          <p:cNvPr id="9" name="Text 6"/>
          <p:cNvSpPr txBox="1"/>
          <p:nvPr/>
        </p:nvSpPr>
        <p:spPr>
          <a:xfrm>
            <a:off x="3337560" y="2075688"/>
            <a:ext cx="2651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aktuelle Version (Releases 0.1 → 2.0), 240+ automatisierte Tests, Anleitungen DE/TR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6126480" y="132588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800" b="1" dirty="0">
                <a:solidFill>
                  <a:srgbClr val="FFD1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238</a:t>
            </a:r>
            <a:endParaRPr lang="en-US" sz="3800" dirty="0"/>
          </a:p>
        </p:txBody>
      </p:sp>
      <p:sp>
        <p:nvSpPr>
          <p:cNvPr id="11" name="Text 8"/>
          <p:cNvSpPr txBox="1"/>
          <p:nvPr/>
        </p:nvSpPr>
        <p:spPr>
          <a:xfrm>
            <a:off x="6126480" y="2075688"/>
            <a:ext cx="2651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Trigger in 5 Paketen, 3 Story-Pakete, 38 Sounds, 13 Szenen – in 3 Sprachen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8915400" y="132588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[Zahl]</a:t>
            </a:r>
            <a:endParaRPr lang="en-US" sz="3800" dirty="0"/>
          </a:p>
        </p:txBody>
      </p:sp>
      <p:sp>
        <p:nvSpPr>
          <p:cNvPr id="13" name="Text 10"/>
          <p:cNvSpPr txBox="1"/>
          <p:nvPr/>
        </p:nvSpPr>
        <p:spPr>
          <a:xfrm>
            <a:off x="8915400" y="2075688"/>
            <a:ext cx="2651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Follower · [Zahl] Creator auf der Warteliste · [Zahl] Downloads</a:t>
            </a:r>
            <a:endParaRPr lang="en-US" sz="1200" dirty="0"/>
          </a:p>
        </p:txBody>
      </p:sp>
      <p:pic>
        <p:nvPicPr>
          <p:cNvPr id="14" name="Image 0" descr="/home/user/Notion/live-fx/business/landing-assets/panel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3246120"/>
            <a:ext cx="4389120" cy="2743200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5212080" y="3246120"/>
            <a:ext cx="6428232" cy="2788920"/>
          </a:xfrm>
          <a:prstGeom prst="roundRect">
            <a:avLst>
              <a:gd name="adj" fmla="val 3934"/>
            </a:avLst>
          </a:prstGeom>
          <a:solidFill>
            <a:srgbClr val="181B23"/>
          </a:solidFill>
          <a:ln w="12700">
            <a:solidFill>
              <a:srgbClr val="181B23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5440680" y="338328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aus der Praxis kam</a:t>
            </a:r>
            <a:endParaRPr lang="en-US" sz="1500" dirty="0"/>
          </a:p>
        </p:txBody>
      </p:sp>
      <p:sp>
        <p:nvSpPr>
          <p:cNvPr id="17" name="Text 13"/>
          <p:cNvSpPr txBox="1"/>
          <p:nvPr/>
        </p:nvSpPr>
        <p:spPr>
          <a:xfrm>
            <a:off x="5440680" y="3794760"/>
            <a:ext cx="5943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Echo-Problem (Panel + OBS) → stumme Vorschau, Ton-Check-Karte</a:t>
            </a:r>
            <a:endParaRPr lang="en-US" sz="12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Dialekte („grass“ → krass, „helal olsn“) → Toleranz + Lernfunktion</a:t>
            </a:r>
            <a:endParaRPr lang="en-US" sz="12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TikTok-/IG-Chat verdeckt das untere Drittel → Hochkant-Safe-Zones</a:t>
            </a:r>
            <a:endParaRPr lang="en-US" sz="12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Vorlesen im Stream → Story-Modus mit Szenen und Atmosphäre</a:t>
            </a:r>
            <a:endParaRPr lang="en-US" sz="1200" dirty="0"/>
          </a:p>
        </p:txBody>
      </p:sp>
      <p:sp>
        <p:nvSpPr>
          <p:cNvPr id="18" name="Text 14"/>
          <p:cNvSpPr txBox="1"/>
          <p:nvPr/>
        </p:nvSpPr>
        <p:spPr>
          <a:xfrm>
            <a:off x="5440680" y="5349240"/>
            <a:ext cx="5943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FFD1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Nächste 60 Tage: 10 Creator-Tests TR/DE · Landingpage + Trailer · Community-Launch · erste Pro-Abos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1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18288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FD1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2×2</a:t>
            </a:r>
            <a:endParaRPr lang="en-US" sz="1000" dirty="0"/>
          </a:p>
        </p:txBody>
      </p:sp>
      <p:sp>
        <p:nvSpPr>
          <p:cNvPr id="3" name="Titel"/>
          <p:cNvSpPr txBox="1"/>
          <p:nvPr/>
        </p:nvSpPr>
        <p:spPr>
          <a:xfrm>
            <a:off x="548640" y="438912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Wettbewerb – der leere Quadrant</a:t>
            </a:r>
            <a:endParaRPr lang="en-US" sz="3200" dirty="0"/>
          </a:p>
        </p:txBody>
      </p:sp>
      <p:sp>
        <p:nvSpPr>
          <p:cNvPr id="4" name="Fuß"/>
          <p:cNvSpPr txBox="1"/>
          <p:nvPr/>
        </p:nvSpPr>
        <p:spPr>
          <a:xfrm>
            <a:off x="9357055" y="6473952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LiveFX  ·  10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1883664" y="1517904"/>
            <a:ext cx="3090672" cy="2061972"/>
          </a:xfrm>
          <a:prstGeom prst="roundRect">
            <a:avLst>
              <a:gd name="adj" fmla="val 4435"/>
            </a:avLst>
          </a:prstGeom>
          <a:solidFill>
            <a:srgbClr val="181B23"/>
          </a:solidFill>
          <a:ln w="9525">
            <a:solidFill>
              <a:srgbClr val="2A2F3C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2103120" y="1737360"/>
            <a:ext cx="2651760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Native Plattform-Effekte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Sticker-Gifting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084064" y="1517904"/>
            <a:ext cx="3090672" cy="2061972"/>
          </a:xfrm>
          <a:prstGeom prst="roundRect">
            <a:avLst>
              <a:gd name="adj" fmla="val 4435"/>
            </a:avLst>
          </a:prstGeom>
          <a:solidFill>
            <a:srgbClr val="181B23"/>
          </a:solidFill>
          <a:ln w="9525">
            <a:solidFill>
              <a:srgbClr val="2A2F3C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303520" y="1737360"/>
            <a:ext cx="2651760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Streamlabs / StreamElements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Alerts bei Spenden &amp; Follows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1883664" y="3689604"/>
            <a:ext cx="3090672" cy="2061972"/>
          </a:xfrm>
          <a:prstGeom prst="roundRect">
            <a:avLst>
              <a:gd name="adj" fmla="val 4435"/>
            </a:avLst>
          </a:prstGeom>
          <a:solidFill>
            <a:srgbClr val="181B23"/>
          </a:solidFill>
          <a:ln w="9525">
            <a:solidFill>
              <a:srgbClr val="2A2F3C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2103120" y="3909060"/>
            <a:ext cx="2651760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Voicemod · Soundboards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Stream Deck (Hotkey)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084064" y="3689604"/>
            <a:ext cx="3090672" cy="2061972"/>
          </a:xfrm>
          <a:prstGeom prst="roundRect">
            <a:avLst>
              <a:gd name="adj" fmla="val 4435"/>
            </a:avLst>
          </a:prstGeom>
          <a:solidFill>
            <a:srgbClr val="2A1530"/>
          </a:solidFill>
          <a:ln w="25400">
            <a:solidFill>
              <a:srgbClr val="FF2D75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303520" y="3909060"/>
            <a:ext cx="2651760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2D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LiveFX</a:t>
            </a:r>
            <a:endParaRPr lang="en-US" sz="3400" dirty="0"/>
          </a:p>
        </p:txBody>
      </p:sp>
      <p:sp>
        <p:nvSpPr>
          <p:cNvPr id="14" name="Text 11"/>
          <p:cNvSpPr txBox="1"/>
          <p:nvPr/>
        </p:nvSpPr>
        <p:spPr>
          <a:xfrm>
            <a:off x="5303520" y="5239512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2DFF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einziger Anbieter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1828800" y="1133856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manuell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5029200" y="1133856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automatisch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457200" y="2114550"/>
            <a:ext cx="1325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Zuschauer-gesteuert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457200" y="4286250"/>
            <a:ext cx="1325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Sprach-gesteuert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1828800" y="587959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Bedienung →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8595360" y="1463040"/>
            <a:ext cx="3044952" cy="4343400"/>
          </a:xfrm>
          <a:prstGeom prst="roundRect">
            <a:avLst>
              <a:gd name="adj" fmla="val 3604"/>
            </a:avLst>
          </a:prstGeom>
          <a:solidFill>
            <a:srgbClr val="181B23"/>
          </a:solidFill>
          <a:ln w="12700">
            <a:solidFill>
              <a:srgbClr val="181B23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796528" y="1627632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FFD1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Nur bei LiveFX</a:t>
            </a:r>
            <a:endParaRPr lang="en-US" sz="1500" dirty="0"/>
          </a:p>
        </p:txBody>
      </p:sp>
      <p:sp>
        <p:nvSpPr>
          <p:cNvPr id="22" name="Shape 19"/>
          <p:cNvSpPr/>
          <p:nvPr/>
        </p:nvSpPr>
        <p:spPr>
          <a:xfrm>
            <a:off x="8796528" y="2240280"/>
            <a:ext cx="109728" cy="109728"/>
          </a:xfrm>
          <a:prstGeom prst="ellipse">
            <a:avLst/>
          </a:prstGeom>
          <a:solidFill>
            <a:srgbClr val="FF2D75"/>
          </a:solidFill>
          <a:ln w="12700">
            <a:solidFill>
              <a:srgbClr val="FF2D75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9034272" y="2121408"/>
            <a:ext cx="248716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Reagiert auf das gesprochene Wort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8796528" y="2807208"/>
            <a:ext cx="109728" cy="109728"/>
          </a:xfrm>
          <a:prstGeom prst="ellipse">
            <a:avLst/>
          </a:prstGeom>
          <a:solidFill>
            <a:srgbClr val="2DFFB5"/>
          </a:solidFill>
          <a:ln w="12700">
            <a:solidFill>
              <a:srgbClr val="2DFFB5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9034272" y="2688336"/>
            <a:ext cx="248716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Türkçe-Pakete (85 Trigger) + Story-Pakete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8796528" y="3374136"/>
            <a:ext cx="109728" cy="109728"/>
          </a:xfrm>
          <a:prstGeom prst="ellipse">
            <a:avLst/>
          </a:prstGeom>
          <a:solidFill>
            <a:srgbClr val="FF2D75"/>
          </a:solidFill>
          <a:ln w="12700">
            <a:solidFill>
              <a:srgbClr val="FF2D75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9034272" y="3255264"/>
            <a:ext cx="248716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Story-Szenen mit Atmosphäre-Loops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8796528" y="3941064"/>
            <a:ext cx="109728" cy="109728"/>
          </a:xfrm>
          <a:prstGeom prst="ellipse">
            <a:avLst/>
          </a:prstGeom>
          <a:solidFill>
            <a:srgbClr val="2DFFB5"/>
          </a:solidFill>
          <a:ln w="12700">
            <a:solidFill>
              <a:srgbClr val="2DFFB5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9034272" y="3822192"/>
            <a:ext cx="248716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Offene API für Zuschauer- &amp; externe Trigger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8796528" y="4507992"/>
            <a:ext cx="109728" cy="109728"/>
          </a:xfrm>
          <a:prstGeom prst="ellipse">
            <a:avLst/>
          </a:prstGeom>
          <a:solidFill>
            <a:srgbClr val="FF2D75"/>
          </a:solidFill>
          <a:ln w="12700">
            <a:solidFill>
              <a:srgbClr val="FF2D75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9034272" y="4389120"/>
            <a:ext cx="248716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Läuft lokal – keine Cloud, kein Login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8796528" y="5074920"/>
            <a:ext cx="109728" cy="109728"/>
          </a:xfrm>
          <a:prstGeom prst="ellipse">
            <a:avLst/>
          </a:prstGeom>
          <a:solidFill>
            <a:srgbClr val="2DFFB5"/>
          </a:solidFill>
          <a:ln w="12700">
            <a:solidFill>
              <a:srgbClr val="2DFFB5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9034272" y="4956048"/>
            <a:ext cx="248716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Eigene Sounds – keine Copyright-Strikes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11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18288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2DFF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NACH HEBEL SORTIERT</a:t>
            </a:r>
            <a:endParaRPr lang="en-US" sz="1000" dirty="0"/>
          </a:p>
        </p:txBody>
      </p:sp>
      <p:sp>
        <p:nvSpPr>
          <p:cNvPr id="3" name="Titel"/>
          <p:cNvSpPr txBox="1"/>
          <p:nvPr/>
        </p:nvSpPr>
        <p:spPr>
          <a:xfrm>
            <a:off x="548640" y="438912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Roadmap</a:t>
            </a:r>
            <a:endParaRPr lang="en-US" sz="3200" dirty="0"/>
          </a:p>
        </p:txBody>
      </p:sp>
      <p:sp>
        <p:nvSpPr>
          <p:cNvPr id="4" name="Fuß"/>
          <p:cNvSpPr txBox="1"/>
          <p:nvPr/>
        </p:nvSpPr>
        <p:spPr>
          <a:xfrm>
            <a:off x="9357055" y="6473952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LiveFX  ·  11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822960" y="2148840"/>
            <a:ext cx="10545775" cy="0"/>
          </a:xfrm>
          <a:prstGeom prst="line">
            <a:avLst/>
          </a:prstGeom>
          <a:noFill/>
          <a:ln w="25400">
            <a:solidFill>
              <a:srgbClr val="2A2F3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31520" y="2048256"/>
            <a:ext cx="201168" cy="201168"/>
          </a:xfrm>
          <a:prstGeom prst="ellipse">
            <a:avLst/>
          </a:prstGeom>
          <a:solidFill>
            <a:srgbClr val="FF2D75"/>
          </a:solidFill>
          <a:ln w="12700">
            <a:solidFill>
              <a:srgbClr val="FF2D75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31520" y="1463040"/>
            <a:ext cx="23134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2D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Q4 2026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548640" y="2514600"/>
            <a:ext cx="2679192" cy="2788920"/>
          </a:xfrm>
          <a:prstGeom prst="roundRect">
            <a:avLst>
              <a:gd name="adj" fmla="val 4096"/>
            </a:avLst>
          </a:prstGeom>
          <a:solidFill>
            <a:srgbClr val="181B23"/>
          </a:solidFill>
          <a:ln w="12700">
            <a:solidFill>
              <a:srgbClr val="181B23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77240" y="2670048"/>
            <a:ext cx="22219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Natives Mobile-SDK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777240" y="3364992"/>
            <a:ext cx="2221992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Effekte direkt in der Kamera-App statt nur OBS · Offline-Erkennung stabil · 10 Creator-Tests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3547872" y="2048256"/>
            <a:ext cx="201168" cy="201168"/>
          </a:xfrm>
          <a:prstGeom prst="ellipse">
            <a:avLst/>
          </a:prstGeom>
          <a:solidFill>
            <a:srgbClr val="2DFFB5"/>
          </a:solidFill>
          <a:ln w="12700">
            <a:solidFill>
              <a:srgbClr val="2DFFB5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547872" y="1463040"/>
            <a:ext cx="23134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2DFF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 2027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3364992" y="2514600"/>
            <a:ext cx="2679192" cy="2788920"/>
          </a:xfrm>
          <a:prstGeom prst="roundRect">
            <a:avLst>
              <a:gd name="adj" fmla="val 4096"/>
            </a:avLst>
          </a:prstGeom>
          <a:solidFill>
            <a:srgbClr val="181B23"/>
          </a:solidFill>
          <a:ln w="12700">
            <a:solidFill>
              <a:srgbClr val="181B23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3593592" y="2670048"/>
            <a:ext cx="22219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Plattform-Integration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3593592" y="3364992"/>
            <a:ext cx="2221992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TikTok LIVE Studio Plug-in / Instagram Live Producer · Installer · Marktplatz-Beta · Highlights finden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6364224" y="2048256"/>
            <a:ext cx="201168" cy="201168"/>
          </a:xfrm>
          <a:prstGeom prst="ellips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364224" y="1463040"/>
            <a:ext cx="23134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D1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Q2 2027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6181344" y="2514600"/>
            <a:ext cx="2679192" cy="2788920"/>
          </a:xfrm>
          <a:prstGeom prst="roundRect">
            <a:avLst>
              <a:gd name="adj" fmla="val 4096"/>
            </a:avLst>
          </a:prstGeom>
          <a:solidFill>
            <a:srgbClr val="181B23"/>
          </a:solidFill>
          <a:ln w="12700">
            <a:solidFill>
              <a:srgbClr val="181B23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409944" y="2670048"/>
            <a:ext cx="22219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KI-Verstehen v2</a:t>
            </a:r>
            <a:endParaRPr lang="en-US" sz="1600" dirty="0"/>
          </a:p>
        </p:txBody>
      </p:sp>
      <p:sp>
        <p:nvSpPr>
          <p:cNvPr id="21" name="Text 18"/>
          <p:cNvSpPr txBox="1"/>
          <p:nvPr/>
        </p:nvSpPr>
        <p:spPr>
          <a:xfrm>
            <a:off x="6409944" y="3364992"/>
            <a:ext cx="2221992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Stimmung, Kontext, Ironie · Multi-Trigger pro Satz · Pro-Abo · Live-Commerce-Trigger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9180576" y="2048256"/>
            <a:ext cx="201168" cy="20116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9180576" y="1463040"/>
            <a:ext cx="23134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Q3–Q4 2027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8997696" y="2514600"/>
            <a:ext cx="2679192" cy="2788920"/>
          </a:xfrm>
          <a:prstGeom prst="roundRect">
            <a:avLst>
              <a:gd name="adj" fmla="val 4096"/>
            </a:avLst>
          </a:prstGeom>
          <a:solidFill>
            <a:srgbClr val="181B23"/>
          </a:solidFill>
          <a:ln w="12700">
            <a:solidFill>
              <a:srgbClr val="181B23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9226296" y="2670048"/>
            <a:ext cx="22219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Story-Engine</a:t>
            </a:r>
            <a:endParaRPr lang="en-US" sz="1600" dirty="0"/>
          </a:p>
        </p:txBody>
      </p:sp>
      <p:sp>
        <p:nvSpPr>
          <p:cNvPr id="26" name="Text 23"/>
          <p:cNvSpPr txBox="1"/>
          <p:nvPr/>
        </p:nvSpPr>
        <p:spPr>
          <a:xfrm>
            <a:off x="9226296" y="3364992"/>
            <a:ext cx="2221992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Ganze Geschichten als Szenenfolge · prozedural gezeichnete Szenen (Erzählfilm) · zuschauer-gestiftete Effekte · Plattform-Pilot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548640" y="55321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i="1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Mobile-SDK löst das größte Problem (Handy-Streamer ohne OBS). Plattform-Integration ist der Ask dieses Decks. KI-Verstehen und Story-Engine sind die technische Differenzierung – und der Einstieg in die Vision 2027–2029.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11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18288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FD1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VISION</a:t>
            </a:r>
            <a:endParaRPr lang="en-US" sz="1000" dirty="0"/>
          </a:p>
        </p:txBody>
      </p:sp>
      <p:sp>
        <p:nvSpPr>
          <p:cNvPr id="3" name="Titel"/>
          <p:cNvSpPr txBox="1"/>
          <p:nvPr/>
        </p:nvSpPr>
        <p:spPr>
          <a:xfrm>
            <a:off x="548640" y="438912"/>
            <a:ext cx="96313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Live-Video aus Worten: Du redest. Es wird Bild.</a:t>
            </a:r>
            <a:endParaRPr lang="en-US" sz="3200" dirty="0"/>
          </a:p>
        </p:txBody>
      </p:sp>
      <p:sp>
        <p:nvSpPr>
          <p:cNvPr id="4" name="Vision-Badge"/>
          <p:cNvSpPr/>
          <p:nvPr/>
        </p:nvSpPr>
        <p:spPr>
          <a:xfrm>
            <a:off x="10472623" y="182880"/>
            <a:ext cx="1170432" cy="310896"/>
          </a:xfrm>
          <a:prstGeom prst="roundRect">
            <a:avLst>
              <a:gd name="adj" fmla="val 50000"/>
            </a:avLst>
          </a:prstGeom>
          <a:solidFill>
            <a:srgbClr val="2A1530"/>
          </a:solidFill>
          <a:ln w="15875">
            <a:solidFill>
              <a:srgbClr val="FF2D7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472623" y="182880"/>
            <a:ext cx="11704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2D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✦ VISION</a:t>
            </a:r>
            <a:endParaRPr lang="en-US" sz="1000" dirty="0"/>
          </a:p>
        </p:txBody>
      </p:sp>
      <p:sp>
        <p:nvSpPr>
          <p:cNvPr id="6" name="Fuß"/>
          <p:cNvSpPr txBox="1"/>
          <p:nvPr/>
        </p:nvSpPr>
        <p:spPr>
          <a:xfrm>
            <a:off x="9357055" y="6473952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LiveFX  ·  12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548640" y="1371600"/>
            <a:ext cx="2485568" cy="1143000"/>
          </a:xfrm>
          <a:prstGeom prst="roundRect">
            <a:avLst>
              <a:gd name="adj" fmla="val 9600"/>
            </a:avLst>
          </a:prstGeom>
          <a:solidFill>
            <a:srgbClr val="1F2330"/>
          </a:solidFill>
          <a:ln w="12700">
            <a:solidFill>
              <a:srgbClr val="1F2330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13232" y="1481328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🎙</a:t>
            </a:r>
            <a:endParaRPr lang="en-US" sz="2400" dirty="0"/>
          </a:p>
        </p:txBody>
      </p:sp>
      <p:sp>
        <p:nvSpPr>
          <p:cNvPr id="10" name="Text 7"/>
          <p:cNvSpPr txBox="1"/>
          <p:nvPr/>
        </p:nvSpPr>
        <p:spPr>
          <a:xfrm>
            <a:off x="1325880" y="1499616"/>
            <a:ext cx="15711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FF2D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Stimme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713232" y="1975104"/>
            <a:ext cx="21563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Mikro, Vorlesen oder eine fertige Videodatei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3098216" y="1810512"/>
            <a:ext cx="256032" cy="274320"/>
          </a:xfrm>
          <a:prstGeom prst="rightArrow">
            <a:avLst/>
          </a:prstGeom>
          <a:solidFill>
            <a:srgbClr val="FF2D75"/>
          </a:solidFill>
          <a:ln w="12700">
            <a:solidFill>
              <a:srgbClr val="FF2D75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418256" y="1371600"/>
            <a:ext cx="2485568" cy="1143000"/>
          </a:xfrm>
          <a:prstGeom prst="roundRect">
            <a:avLst>
              <a:gd name="adj" fmla="val 9600"/>
            </a:avLst>
          </a:prstGeom>
          <a:solidFill>
            <a:srgbClr val="1F2330"/>
          </a:solidFill>
          <a:ln w="12700">
            <a:solidFill>
              <a:srgbClr val="1F2330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582848" y="1481328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🧠</a:t>
            </a:r>
            <a:endParaRPr lang="en-US" sz="2400" dirty="0"/>
          </a:p>
        </p:txBody>
      </p:sp>
      <p:sp>
        <p:nvSpPr>
          <p:cNvPr id="15" name="Text 12"/>
          <p:cNvSpPr txBox="1"/>
          <p:nvPr/>
        </p:nvSpPr>
        <p:spPr>
          <a:xfrm>
            <a:off x="4195496" y="1499616"/>
            <a:ext cx="15711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FFD1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Verstehen</a:t>
            </a:r>
            <a:endParaRPr lang="en-US" sz="1700" dirty="0"/>
          </a:p>
        </p:txBody>
      </p:sp>
      <p:sp>
        <p:nvSpPr>
          <p:cNvPr id="16" name="Text 13"/>
          <p:cNvSpPr txBox="1"/>
          <p:nvPr/>
        </p:nvSpPr>
        <p:spPr>
          <a:xfrm>
            <a:off x="3582848" y="1975104"/>
            <a:ext cx="21563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Lexikon DE/TR/EN, Dialekt-tolerant, KI optional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5967832" y="1810512"/>
            <a:ext cx="256032" cy="274320"/>
          </a:xfrm>
          <a:prstGeom prst="rightArrow">
            <a:avLst/>
          </a:prstGeom>
          <a:solidFill>
            <a:srgbClr val="FF2D75"/>
          </a:solidFill>
          <a:ln w="12700">
            <a:solidFill>
              <a:srgbClr val="FF2D75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287872" y="1371600"/>
            <a:ext cx="2485568" cy="1143000"/>
          </a:xfrm>
          <a:prstGeom prst="roundRect">
            <a:avLst>
              <a:gd name="adj" fmla="val 9600"/>
            </a:avLst>
          </a:prstGeom>
          <a:solidFill>
            <a:srgbClr val="1F2330"/>
          </a:solidFill>
          <a:ln w="12700">
            <a:solidFill>
              <a:srgbClr val="1F2330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452464" y="1481328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🎬</a:t>
            </a:r>
            <a:endParaRPr lang="en-US" sz="2400" dirty="0"/>
          </a:p>
        </p:txBody>
      </p:sp>
      <p:sp>
        <p:nvSpPr>
          <p:cNvPr id="20" name="Text 17"/>
          <p:cNvSpPr txBox="1"/>
          <p:nvPr/>
        </p:nvSpPr>
        <p:spPr>
          <a:xfrm>
            <a:off x="7065112" y="1499616"/>
            <a:ext cx="15711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2DFF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Szene</a:t>
            </a:r>
            <a:endParaRPr lang="en-US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6452464" y="1975104"/>
            <a:ext cx="21563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Weltzustand ≤ 1 KB, eine gemeinsame Zeitleiste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8837447" y="1810512"/>
            <a:ext cx="256032" cy="274320"/>
          </a:xfrm>
          <a:prstGeom prst="rightArrow">
            <a:avLst/>
          </a:prstGeom>
          <a:solidFill>
            <a:srgbClr val="FF2D75"/>
          </a:solidFill>
          <a:ln w="12700">
            <a:solidFill>
              <a:srgbClr val="FF2D75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9157487" y="1371600"/>
            <a:ext cx="2485568" cy="1143000"/>
          </a:xfrm>
          <a:prstGeom prst="roundRect">
            <a:avLst>
              <a:gd name="adj" fmla="val 9600"/>
            </a:avLst>
          </a:prstGeom>
          <a:solidFill>
            <a:srgbClr val="1F2330"/>
          </a:solidFill>
          <a:ln w="12700">
            <a:solidFill>
              <a:srgbClr val="1F2330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9322079" y="1481328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📺</a:t>
            </a:r>
            <a:endParaRPr lang="en-US" sz="2400" dirty="0"/>
          </a:p>
        </p:txBody>
      </p:sp>
      <p:sp>
        <p:nvSpPr>
          <p:cNvPr id="25" name="Text 22"/>
          <p:cNvSpPr txBox="1"/>
          <p:nvPr/>
        </p:nvSpPr>
        <p:spPr>
          <a:xfrm>
            <a:off x="9934727" y="1499616"/>
            <a:ext cx="15711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5AD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Video</a:t>
            </a:r>
            <a:endParaRPr lang="en-US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9322079" y="1975104"/>
            <a:ext cx="21563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 Browser gezeichnet, 60 fps, auf dem eigenen Gerät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548640" y="2743200"/>
            <a:ext cx="2670734" cy="1737360"/>
          </a:xfrm>
          <a:prstGeom prst="roundRect">
            <a:avLst>
              <a:gd name="adj" fmla="val 6316"/>
            </a:avLst>
          </a:prstGeom>
          <a:solidFill>
            <a:srgbClr val="181B23"/>
          </a:solidFill>
          <a:ln w="15875">
            <a:solidFill>
              <a:srgbClr val="2DFFB5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731520" y="2852928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🌳</a:t>
            </a:r>
            <a:endParaRPr lang="en-US" sz="2000" dirty="0"/>
          </a:p>
        </p:txBody>
      </p:sp>
      <p:sp>
        <p:nvSpPr>
          <p:cNvPr id="29" name="Text 26"/>
          <p:cNvSpPr txBox="1"/>
          <p:nvPr/>
        </p:nvSpPr>
        <p:spPr>
          <a:xfrm>
            <a:off x="1234440" y="2880360"/>
            <a:ext cx="184777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2DFF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Erzählfilm</a:t>
            </a:r>
            <a:endParaRPr lang="en-US" sz="1500" dirty="0"/>
          </a:p>
        </p:txBody>
      </p:sp>
      <p:sp>
        <p:nvSpPr>
          <p:cNvPr id="30" name="Text 27"/>
          <p:cNvSpPr txBox="1"/>
          <p:nvPr/>
        </p:nvSpPr>
        <p:spPr>
          <a:xfrm>
            <a:off x="731520" y="3310128"/>
            <a:ext cx="230497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 jedem Satz wächst ein fortlaufender Bilderbuch-Film – unter oder neben dem Live-Bild.</a:t>
            </a:r>
            <a:endParaRPr lang="en-US" sz="1150" dirty="0"/>
          </a:p>
        </p:txBody>
      </p:sp>
      <p:sp>
        <p:nvSpPr>
          <p:cNvPr id="31" name="Shape 28"/>
          <p:cNvSpPr/>
          <p:nvPr/>
        </p:nvSpPr>
        <p:spPr>
          <a:xfrm>
            <a:off x="3356534" y="2743200"/>
            <a:ext cx="2670734" cy="1737360"/>
          </a:xfrm>
          <a:prstGeom prst="roundRect">
            <a:avLst>
              <a:gd name="adj" fmla="val 6316"/>
            </a:avLst>
          </a:prstGeom>
          <a:solidFill>
            <a:srgbClr val="181B23"/>
          </a:solidFill>
          <a:ln w="15875">
            <a:solidFill>
              <a:srgbClr val="FFD166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3539414" y="2852928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🍎</a:t>
            </a:r>
            <a:endParaRPr lang="en-US" sz="2000" dirty="0"/>
          </a:p>
        </p:txBody>
      </p:sp>
      <p:sp>
        <p:nvSpPr>
          <p:cNvPr id="33" name="Text 30"/>
          <p:cNvSpPr txBox="1"/>
          <p:nvPr/>
        </p:nvSpPr>
        <p:spPr>
          <a:xfrm>
            <a:off x="4042334" y="2880360"/>
            <a:ext cx="184777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FFD1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WortBild</a:t>
            </a:r>
            <a:endParaRPr lang="en-US" sz="1500" dirty="0"/>
          </a:p>
        </p:txBody>
      </p:sp>
      <p:sp>
        <p:nvSpPr>
          <p:cNvPr id="34" name="Text 31"/>
          <p:cNvSpPr txBox="1"/>
          <p:nvPr/>
        </p:nvSpPr>
        <p:spPr>
          <a:xfrm>
            <a:off x="3539414" y="3310128"/>
            <a:ext cx="230497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Gesprochenes Wort → Bild, Wort in der Zielsprache und Aussprache. Lernen und Lesehilfe.</a:t>
            </a:r>
            <a:endParaRPr lang="en-US" sz="1150" dirty="0"/>
          </a:p>
        </p:txBody>
      </p:sp>
      <p:sp>
        <p:nvSpPr>
          <p:cNvPr id="35" name="Shape 32"/>
          <p:cNvSpPr/>
          <p:nvPr/>
        </p:nvSpPr>
        <p:spPr>
          <a:xfrm>
            <a:off x="6164428" y="2743200"/>
            <a:ext cx="2670734" cy="1737360"/>
          </a:xfrm>
          <a:prstGeom prst="roundRect">
            <a:avLst>
              <a:gd name="adj" fmla="val 6316"/>
            </a:avLst>
          </a:prstGeom>
          <a:solidFill>
            <a:srgbClr val="181B23"/>
          </a:solidFill>
          <a:ln w="15875">
            <a:solidFill>
              <a:srgbClr val="5AD1F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6347308" y="2852928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🥽</a:t>
            </a:r>
            <a:endParaRPr lang="en-US" sz="2000" dirty="0"/>
          </a:p>
        </p:txBody>
      </p:sp>
      <p:sp>
        <p:nvSpPr>
          <p:cNvPr id="37" name="Text 34"/>
          <p:cNvSpPr txBox="1"/>
          <p:nvPr/>
        </p:nvSpPr>
        <p:spPr>
          <a:xfrm>
            <a:off x="6850228" y="2880360"/>
            <a:ext cx="184777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5AD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Räume</a:t>
            </a:r>
            <a:endParaRPr lang="en-US" sz="1500" dirty="0"/>
          </a:p>
        </p:txBody>
      </p:sp>
      <p:sp>
        <p:nvSpPr>
          <p:cNvPr id="38" name="Text 35"/>
          <p:cNvSpPr txBox="1"/>
          <p:nvPr/>
        </p:nvSpPr>
        <p:spPr>
          <a:xfrm>
            <a:off x="6347308" y="3310128"/>
            <a:ext cx="230497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Bühne, Klassenzimmer, Hörbuch mit Bildern, AR am Handy, VR und Display-Brille.</a:t>
            </a:r>
            <a:endParaRPr lang="en-US" sz="1150" dirty="0"/>
          </a:p>
        </p:txBody>
      </p:sp>
      <p:sp>
        <p:nvSpPr>
          <p:cNvPr id="39" name="Shape 36"/>
          <p:cNvSpPr/>
          <p:nvPr/>
        </p:nvSpPr>
        <p:spPr>
          <a:xfrm>
            <a:off x="8972321" y="2743200"/>
            <a:ext cx="2670734" cy="1737360"/>
          </a:xfrm>
          <a:prstGeom prst="roundRect">
            <a:avLst>
              <a:gd name="adj" fmla="val 6316"/>
            </a:avLst>
          </a:prstGeom>
          <a:solidFill>
            <a:srgbClr val="181B23"/>
          </a:solidFill>
          <a:ln w="15875">
            <a:solidFill>
              <a:srgbClr val="FF2D75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9155201" y="2852928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✂</a:t>
            </a:r>
            <a:endParaRPr lang="en-US" sz="2000" dirty="0"/>
          </a:p>
        </p:txBody>
      </p:sp>
      <p:sp>
        <p:nvSpPr>
          <p:cNvPr id="41" name="Text 38"/>
          <p:cNvSpPr txBox="1"/>
          <p:nvPr/>
        </p:nvSpPr>
        <p:spPr>
          <a:xfrm>
            <a:off x="9658121" y="2880360"/>
            <a:ext cx="184777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FF2D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Studio</a:t>
            </a:r>
            <a:endParaRPr lang="en-US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9155201" y="3310128"/>
            <a:ext cx="230497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Live-Editor und Auto-Edit: Video rein, fertig geschnitten raus – ohne Upload.</a:t>
            </a:r>
            <a:endParaRPr lang="en-US" sz="1150" dirty="0"/>
          </a:p>
        </p:txBody>
      </p:sp>
      <p:sp>
        <p:nvSpPr>
          <p:cNvPr id="43" name="Shape 40"/>
          <p:cNvSpPr/>
          <p:nvPr/>
        </p:nvSpPr>
        <p:spPr>
          <a:xfrm>
            <a:off x="548640" y="4663440"/>
            <a:ext cx="5478628" cy="1097280"/>
          </a:xfrm>
          <a:prstGeom prst="roundRect">
            <a:avLst>
              <a:gd name="adj" fmla="val 10000"/>
            </a:avLst>
          </a:prstGeom>
          <a:solidFill>
            <a:srgbClr val="1F2330"/>
          </a:solidFill>
          <a:ln w="12700">
            <a:solidFill>
              <a:srgbClr val="1F2330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777240" y="4754880"/>
            <a:ext cx="50214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HEUTE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777240" y="5047488"/>
            <a:ext cx="502142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 Stimme wird in unter einer Sekunde Meme, Sound oder Szene – in den eigenen Streams der Gründerin im Einsatz.</a:t>
            </a:r>
            <a:endParaRPr lang="en-US" sz="1200" dirty="0"/>
          </a:p>
        </p:txBody>
      </p:sp>
      <p:sp>
        <p:nvSpPr>
          <p:cNvPr id="46" name="Shape 43"/>
          <p:cNvSpPr/>
          <p:nvPr/>
        </p:nvSpPr>
        <p:spPr>
          <a:xfrm>
            <a:off x="6164428" y="4663440"/>
            <a:ext cx="5478628" cy="1097280"/>
          </a:xfrm>
          <a:prstGeom prst="roundRect">
            <a:avLst>
              <a:gd name="adj" fmla="val 10000"/>
            </a:avLst>
          </a:prstGeom>
          <a:solidFill>
            <a:srgbClr val="1F2330"/>
          </a:solidFill>
          <a:ln w="12700">
            <a:solidFill>
              <a:srgbClr val="1F2330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6393028" y="4754880"/>
            <a:ext cx="50214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D1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MORGEN</a:t>
            </a:r>
            <a:endParaRPr lang="en-US" sz="1100" dirty="0"/>
          </a:p>
        </p:txBody>
      </p:sp>
      <p:sp>
        <p:nvSpPr>
          <p:cNvPr id="48" name="Text 45"/>
          <p:cNvSpPr txBox="1"/>
          <p:nvPr/>
        </p:nvSpPr>
        <p:spPr>
          <a:xfrm>
            <a:off x="6393028" y="5047488"/>
            <a:ext cx="502142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 Stimme wird ein Film, ein Wortbild mit Aussprache oder ein fertiger Clip – im Stream, in der Schule, auf der Bühne, in der Brille.</a:t>
            </a:r>
            <a:endParaRPr lang="en-US" sz="1200" dirty="0"/>
          </a:p>
        </p:txBody>
      </p:sp>
      <p:sp>
        <p:nvSpPr>
          <p:cNvPr id="49" name="Text 46"/>
          <p:cNvSpPr txBox="1"/>
          <p:nvPr/>
        </p:nvSpPr>
        <p:spPr>
          <a:xfrm>
            <a:off x="548640" y="5897880"/>
            <a:ext cx="98142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i="1" dirty="0">
                <a:solidFill>
                  <a:srgbClr val="FFD1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Zeichnen statt generieren – mit dem Rechenbudget eines Untertitels, nicht eines Rechenzentrums.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11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18288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2DFF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LINIE A · ERZÄHLFILM</a:t>
            </a:r>
            <a:endParaRPr lang="en-US" sz="1000" dirty="0"/>
          </a:p>
        </p:txBody>
      </p:sp>
      <p:sp>
        <p:nvSpPr>
          <p:cNvPr id="3" name="Titel"/>
          <p:cNvSpPr txBox="1"/>
          <p:nvPr/>
        </p:nvSpPr>
        <p:spPr>
          <a:xfrm>
            <a:off x="548640" y="438912"/>
            <a:ext cx="96313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Generative Scene Engine: Live-Video aus Worten</a:t>
            </a:r>
            <a:endParaRPr lang="en-US" sz="3200" dirty="0"/>
          </a:p>
        </p:txBody>
      </p:sp>
      <p:sp>
        <p:nvSpPr>
          <p:cNvPr id="4" name="Vision-Badge"/>
          <p:cNvSpPr/>
          <p:nvPr/>
        </p:nvSpPr>
        <p:spPr>
          <a:xfrm>
            <a:off x="10472623" y="182880"/>
            <a:ext cx="1170432" cy="310896"/>
          </a:xfrm>
          <a:prstGeom prst="roundRect">
            <a:avLst>
              <a:gd name="adj" fmla="val 50000"/>
            </a:avLst>
          </a:prstGeom>
          <a:solidFill>
            <a:srgbClr val="2A1530"/>
          </a:solidFill>
          <a:ln w="15875">
            <a:solidFill>
              <a:srgbClr val="FF2D7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472623" y="182880"/>
            <a:ext cx="11704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2D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✦ VISION</a:t>
            </a:r>
            <a:endParaRPr lang="en-US" sz="1000" dirty="0"/>
          </a:p>
        </p:txBody>
      </p:sp>
      <p:sp>
        <p:nvSpPr>
          <p:cNvPr id="6" name="Fuß"/>
          <p:cNvSpPr txBox="1"/>
          <p:nvPr/>
        </p:nvSpPr>
        <p:spPr>
          <a:xfrm>
            <a:off x="9357055" y="6473952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LiveFX  ·  13</a:t>
            </a:r>
            <a:endParaRPr lang="en-US" sz="900" dirty="0"/>
          </a:p>
        </p:txBody>
      </p:sp>
      <p:sp>
        <p:nvSpPr>
          <p:cNvPr id="8" name="Szene-Himmel"/>
          <p:cNvSpPr/>
          <p:nvPr/>
        </p:nvSpPr>
        <p:spPr>
          <a:xfrm>
            <a:off x="548640" y="1298448"/>
            <a:ext cx="5486400" cy="3017520"/>
          </a:xfrm>
          <a:prstGeom prst="rect">
            <a:avLst/>
          </a:prstGeom>
          <a:solidFill>
            <a:srgbClr val="121838"/>
          </a:solidFill>
          <a:ln w="15875">
            <a:solidFill>
              <a:srgbClr val="2DFFB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548640" y="2958084"/>
            <a:ext cx="5486400" cy="1357884"/>
          </a:xfrm>
          <a:prstGeom prst="rect">
            <a:avLst/>
          </a:prstGeom>
          <a:solidFill>
            <a:srgbClr val="1A2348">
              <a:alpha val="70000"/>
            </a:srgbClr>
          </a:solidFill>
          <a:ln/>
        </p:spPr>
      </p:sp>
      <p:sp>
        <p:nvSpPr>
          <p:cNvPr id="10" name="Shape 7"/>
          <p:cNvSpPr/>
          <p:nvPr/>
        </p:nvSpPr>
        <p:spPr>
          <a:xfrm>
            <a:off x="4937760" y="1847088"/>
            <a:ext cx="566928" cy="566928"/>
          </a:xfrm>
          <a:prstGeom prst="ellipse">
            <a:avLst/>
          </a:prstGeom>
          <a:solidFill>
            <a:srgbClr val="F4F1DE"/>
          </a:solidFill>
          <a:ln/>
        </p:spPr>
      </p:sp>
      <p:sp>
        <p:nvSpPr>
          <p:cNvPr id="11" name="Shape 8"/>
          <p:cNvSpPr/>
          <p:nvPr/>
        </p:nvSpPr>
        <p:spPr>
          <a:xfrm>
            <a:off x="5074920" y="1773936"/>
            <a:ext cx="502920" cy="502920"/>
          </a:xfrm>
          <a:prstGeom prst="ellipse">
            <a:avLst/>
          </a:prstGeom>
          <a:solidFill>
            <a:srgbClr val="121838"/>
          </a:solidFill>
          <a:ln/>
        </p:spPr>
      </p:sp>
      <p:sp>
        <p:nvSpPr>
          <p:cNvPr id="12" name="Shape 9"/>
          <p:cNvSpPr/>
          <p:nvPr/>
        </p:nvSpPr>
        <p:spPr>
          <a:xfrm>
            <a:off x="3557402" y="1963237"/>
            <a:ext cx="45369" cy="45369"/>
          </a:xfrm>
          <a:prstGeom prst="ellipse">
            <a:avLst/>
          </a:prstGeom>
          <a:solidFill>
            <a:srgbClr val="FFFFFF">
              <a:alpha val="68000"/>
            </a:srgbClr>
          </a:solidFill>
          <a:ln/>
        </p:spPr>
      </p:sp>
      <p:sp>
        <p:nvSpPr>
          <p:cNvPr id="13" name="Shape 10"/>
          <p:cNvSpPr/>
          <p:nvPr/>
        </p:nvSpPr>
        <p:spPr>
          <a:xfrm>
            <a:off x="3278804" y="1926105"/>
            <a:ext cx="43643" cy="43643"/>
          </a:xfrm>
          <a:prstGeom prst="ellipse">
            <a:avLst/>
          </a:prstGeom>
          <a:solidFill>
            <a:srgbClr val="FFFFFF">
              <a:alpha val="37000"/>
            </a:srgbClr>
          </a:solidFill>
          <a:ln/>
        </p:spPr>
      </p:sp>
      <p:sp>
        <p:nvSpPr>
          <p:cNvPr id="14" name="Shape 11"/>
          <p:cNvSpPr/>
          <p:nvPr/>
        </p:nvSpPr>
        <p:spPr>
          <a:xfrm>
            <a:off x="2789481" y="2133188"/>
            <a:ext cx="48991" cy="48991"/>
          </a:xfrm>
          <a:prstGeom prst="ellipse">
            <a:avLst/>
          </a:prstGeom>
          <a:solidFill>
            <a:srgbClr val="FFFFFF">
              <a:alpha val="41000"/>
            </a:srgbClr>
          </a:solidFill>
          <a:ln/>
        </p:spPr>
      </p:sp>
      <p:sp>
        <p:nvSpPr>
          <p:cNvPr id="15" name="Shape 12"/>
          <p:cNvSpPr/>
          <p:nvPr/>
        </p:nvSpPr>
        <p:spPr>
          <a:xfrm>
            <a:off x="1077948" y="2348551"/>
            <a:ext cx="51479" cy="51479"/>
          </a:xfrm>
          <a:prstGeom prst="ellipse">
            <a:avLst/>
          </a:prstGeom>
          <a:solidFill>
            <a:srgbClr val="FFFFFF">
              <a:alpha val="69000"/>
            </a:srgbClr>
          </a:solidFill>
          <a:ln/>
        </p:spPr>
      </p:sp>
      <p:sp>
        <p:nvSpPr>
          <p:cNvPr id="16" name="Shape 13"/>
          <p:cNvSpPr/>
          <p:nvPr/>
        </p:nvSpPr>
        <p:spPr>
          <a:xfrm>
            <a:off x="1494746" y="2410760"/>
            <a:ext cx="52010" cy="52010"/>
          </a:xfrm>
          <a:prstGeom prst="ellipse">
            <a:avLst/>
          </a:prstGeom>
          <a:solidFill>
            <a:srgbClr val="FFFFFF">
              <a:alpha val="56000"/>
            </a:srgbClr>
          </a:solidFill>
          <a:ln/>
        </p:spPr>
      </p:sp>
      <p:sp>
        <p:nvSpPr>
          <p:cNvPr id="17" name="Shape 14"/>
          <p:cNvSpPr/>
          <p:nvPr/>
        </p:nvSpPr>
        <p:spPr>
          <a:xfrm>
            <a:off x="942205" y="2791693"/>
            <a:ext cx="33877" cy="33877"/>
          </a:xfrm>
          <a:prstGeom prst="ellipse">
            <a:avLst/>
          </a:prstGeom>
          <a:solidFill>
            <a:srgbClr val="FFFFFF">
              <a:alpha val="32000"/>
            </a:srgbClr>
          </a:solidFill>
          <a:ln/>
        </p:spPr>
      </p:sp>
      <p:sp>
        <p:nvSpPr>
          <p:cNvPr id="18" name="Shape 15"/>
          <p:cNvSpPr/>
          <p:nvPr/>
        </p:nvSpPr>
        <p:spPr>
          <a:xfrm>
            <a:off x="2960521" y="2808371"/>
            <a:ext cx="31849" cy="31849"/>
          </a:xfrm>
          <a:prstGeom prst="ellipse">
            <a:avLst/>
          </a:prstGeom>
          <a:solidFill>
            <a:srgbClr val="FFFFFF">
              <a:alpha val="71000"/>
            </a:srgbClr>
          </a:solidFill>
          <a:ln/>
        </p:spPr>
      </p:sp>
      <p:sp>
        <p:nvSpPr>
          <p:cNvPr id="19" name="Shape 16"/>
          <p:cNvSpPr/>
          <p:nvPr/>
        </p:nvSpPr>
        <p:spPr>
          <a:xfrm>
            <a:off x="3503754" y="2522882"/>
            <a:ext cx="42766" cy="42766"/>
          </a:xfrm>
          <a:prstGeom prst="ellipse">
            <a:avLst/>
          </a:prstGeom>
          <a:solidFill>
            <a:srgbClr val="FFFFFF">
              <a:alpha val="66000"/>
            </a:srgbClr>
          </a:solidFill>
          <a:ln/>
        </p:spPr>
      </p:sp>
      <p:sp>
        <p:nvSpPr>
          <p:cNvPr id="20" name="Shape 17"/>
          <p:cNvSpPr/>
          <p:nvPr/>
        </p:nvSpPr>
        <p:spPr>
          <a:xfrm>
            <a:off x="5732796" y="2295344"/>
            <a:ext cx="33664" cy="33664"/>
          </a:xfrm>
          <a:prstGeom prst="ellipse">
            <a:avLst/>
          </a:prstGeom>
          <a:solidFill>
            <a:srgbClr val="FFFFFF">
              <a:alpha val="69000"/>
            </a:srgbClr>
          </a:solidFill>
          <a:ln/>
        </p:spPr>
      </p:sp>
      <p:sp>
        <p:nvSpPr>
          <p:cNvPr id="21" name="Shape 18"/>
          <p:cNvSpPr/>
          <p:nvPr/>
        </p:nvSpPr>
        <p:spPr>
          <a:xfrm>
            <a:off x="2377600" y="2001577"/>
            <a:ext cx="47441" cy="47441"/>
          </a:xfrm>
          <a:prstGeom prst="ellipse">
            <a:avLst/>
          </a:prstGeom>
          <a:solidFill>
            <a:srgbClr val="FFFFFF">
              <a:alpha val="42000"/>
            </a:srgbClr>
          </a:solidFill>
          <a:ln/>
        </p:spPr>
      </p:sp>
      <p:sp>
        <p:nvSpPr>
          <p:cNvPr id="22" name="Shape 19"/>
          <p:cNvSpPr/>
          <p:nvPr/>
        </p:nvSpPr>
        <p:spPr>
          <a:xfrm>
            <a:off x="2478309" y="1927191"/>
            <a:ext cx="40296" cy="40296"/>
          </a:xfrm>
          <a:prstGeom prst="ellipse">
            <a:avLst/>
          </a:prstGeom>
          <a:solidFill>
            <a:srgbClr val="FFFFFF">
              <a:alpha val="34000"/>
            </a:srgbClr>
          </a:solidFill>
          <a:ln/>
        </p:spPr>
      </p:sp>
      <p:sp>
        <p:nvSpPr>
          <p:cNvPr id="23" name="Shape 20"/>
          <p:cNvSpPr/>
          <p:nvPr/>
        </p:nvSpPr>
        <p:spPr>
          <a:xfrm>
            <a:off x="5213093" y="2320542"/>
            <a:ext cx="36161" cy="36161"/>
          </a:xfrm>
          <a:prstGeom prst="ellipse">
            <a:avLst/>
          </a:prstGeom>
          <a:solidFill>
            <a:srgbClr val="FFFFFF">
              <a:alpha val="69000"/>
            </a:srgbClr>
          </a:solidFill>
          <a:ln/>
        </p:spPr>
      </p:sp>
      <p:sp>
        <p:nvSpPr>
          <p:cNvPr id="24" name="Shape 21"/>
          <p:cNvSpPr/>
          <p:nvPr/>
        </p:nvSpPr>
        <p:spPr>
          <a:xfrm>
            <a:off x="2742946" y="2610411"/>
            <a:ext cx="49486" cy="49486"/>
          </a:xfrm>
          <a:prstGeom prst="ellipse">
            <a:avLst/>
          </a:prstGeom>
          <a:solidFill>
            <a:srgbClr val="FFFFFF">
              <a:alpha val="48000"/>
            </a:srgbClr>
          </a:solidFill>
          <a:ln/>
        </p:spPr>
      </p:sp>
      <p:sp>
        <p:nvSpPr>
          <p:cNvPr id="25" name="Shape 22"/>
          <p:cNvSpPr/>
          <p:nvPr/>
        </p:nvSpPr>
        <p:spPr>
          <a:xfrm>
            <a:off x="1832171" y="2300087"/>
            <a:ext cx="32407" cy="32407"/>
          </a:xfrm>
          <a:prstGeom prst="ellipse">
            <a:avLst/>
          </a:prstGeom>
          <a:solidFill>
            <a:srgbClr val="FFFFFF">
              <a:alpha val="76000"/>
            </a:srgbClr>
          </a:solidFill>
          <a:ln/>
        </p:spPr>
      </p:sp>
      <p:sp>
        <p:nvSpPr>
          <p:cNvPr id="26" name="Shape 23"/>
          <p:cNvSpPr/>
          <p:nvPr/>
        </p:nvSpPr>
        <p:spPr>
          <a:xfrm>
            <a:off x="2796857" y="2532006"/>
            <a:ext cx="29175" cy="29175"/>
          </a:xfrm>
          <a:prstGeom prst="ellipse">
            <a:avLst/>
          </a:prstGeom>
          <a:solidFill>
            <a:srgbClr val="FFFFFF">
              <a:alpha val="48000"/>
            </a:srgbClr>
          </a:solidFill>
          <a:ln/>
        </p:spPr>
      </p:sp>
      <p:sp>
        <p:nvSpPr>
          <p:cNvPr id="27" name="Shape 24"/>
          <p:cNvSpPr/>
          <p:nvPr/>
        </p:nvSpPr>
        <p:spPr>
          <a:xfrm>
            <a:off x="2349679" y="2287910"/>
            <a:ext cx="62369" cy="62369"/>
          </a:xfrm>
          <a:prstGeom prst="ellipse">
            <a:avLst/>
          </a:prstGeom>
          <a:solidFill>
            <a:srgbClr val="FFFFFF">
              <a:alpha val="56000"/>
            </a:srgbClr>
          </a:solidFill>
          <a:ln/>
        </p:spPr>
      </p:sp>
      <p:sp>
        <p:nvSpPr>
          <p:cNvPr id="28" name="Shape 25"/>
          <p:cNvSpPr/>
          <p:nvPr/>
        </p:nvSpPr>
        <p:spPr>
          <a:xfrm>
            <a:off x="4979099" y="2300449"/>
            <a:ext cx="43483" cy="43483"/>
          </a:xfrm>
          <a:prstGeom prst="ellipse">
            <a:avLst/>
          </a:prstGeom>
          <a:solidFill>
            <a:srgbClr val="FFFFFF">
              <a:alpha val="59000"/>
            </a:srgbClr>
          </a:solidFill>
          <a:ln/>
        </p:spPr>
      </p:sp>
      <p:sp>
        <p:nvSpPr>
          <p:cNvPr id="29" name="Shape 26"/>
          <p:cNvSpPr/>
          <p:nvPr/>
        </p:nvSpPr>
        <p:spPr>
          <a:xfrm>
            <a:off x="1897847" y="2594457"/>
            <a:ext cx="37090" cy="37090"/>
          </a:xfrm>
          <a:prstGeom prst="ellipse">
            <a:avLst/>
          </a:prstGeom>
          <a:solidFill>
            <a:srgbClr val="FFFFFF">
              <a:alpha val="74000"/>
            </a:srgbClr>
          </a:solidFill>
          <a:ln/>
        </p:spPr>
      </p:sp>
      <p:sp>
        <p:nvSpPr>
          <p:cNvPr id="30" name="Shape 27"/>
          <p:cNvSpPr/>
          <p:nvPr/>
        </p:nvSpPr>
        <p:spPr>
          <a:xfrm>
            <a:off x="4611558" y="2710477"/>
            <a:ext cx="37320" cy="37320"/>
          </a:xfrm>
          <a:prstGeom prst="ellipse">
            <a:avLst/>
          </a:prstGeom>
          <a:solidFill>
            <a:srgbClr val="FFFFFF">
              <a:alpha val="32000"/>
            </a:srgbClr>
          </a:solidFill>
          <a:ln/>
        </p:spPr>
      </p:sp>
      <p:sp>
        <p:nvSpPr>
          <p:cNvPr id="31" name="Shape 28"/>
          <p:cNvSpPr/>
          <p:nvPr/>
        </p:nvSpPr>
        <p:spPr>
          <a:xfrm>
            <a:off x="5091574" y="2598838"/>
            <a:ext cx="61333" cy="61333"/>
          </a:xfrm>
          <a:prstGeom prst="ellipse">
            <a:avLst/>
          </a:prstGeom>
          <a:solidFill>
            <a:srgbClr val="FFFFFF">
              <a:alpha val="48000"/>
            </a:srgbClr>
          </a:solidFill>
          <a:ln/>
        </p:spPr>
      </p:sp>
      <p:sp>
        <p:nvSpPr>
          <p:cNvPr id="32" name="Shape 29"/>
          <p:cNvSpPr/>
          <p:nvPr/>
        </p:nvSpPr>
        <p:spPr>
          <a:xfrm>
            <a:off x="809184" y="2172615"/>
            <a:ext cx="47715" cy="47715"/>
          </a:xfrm>
          <a:prstGeom prst="ellipse">
            <a:avLst/>
          </a:prstGeom>
          <a:solidFill>
            <a:srgbClr val="FFFFFF">
              <a:alpha val="63000"/>
            </a:srgbClr>
          </a:solidFill>
          <a:ln/>
        </p:spPr>
      </p:sp>
      <p:sp>
        <p:nvSpPr>
          <p:cNvPr id="33" name="Shape 30"/>
          <p:cNvSpPr/>
          <p:nvPr/>
        </p:nvSpPr>
        <p:spPr>
          <a:xfrm>
            <a:off x="2701064" y="2536990"/>
            <a:ext cx="35302" cy="35302"/>
          </a:xfrm>
          <a:prstGeom prst="ellipse">
            <a:avLst/>
          </a:prstGeom>
          <a:solidFill>
            <a:srgbClr val="FFFFFF">
              <a:alpha val="44000"/>
            </a:srgbClr>
          </a:solidFill>
          <a:ln/>
        </p:spPr>
      </p:sp>
      <p:sp>
        <p:nvSpPr>
          <p:cNvPr id="34" name="Shape 31"/>
          <p:cNvSpPr/>
          <p:nvPr/>
        </p:nvSpPr>
        <p:spPr>
          <a:xfrm>
            <a:off x="5583356" y="1854133"/>
            <a:ext cx="37187" cy="37187"/>
          </a:xfrm>
          <a:prstGeom prst="ellipse">
            <a:avLst/>
          </a:prstGeom>
          <a:solidFill>
            <a:srgbClr val="FFFFFF">
              <a:alpha val="63000"/>
            </a:srgbClr>
          </a:solidFill>
          <a:ln/>
        </p:spPr>
      </p:sp>
      <p:sp>
        <p:nvSpPr>
          <p:cNvPr id="35" name="Shape 32"/>
          <p:cNvSpPr/>
          <p:nvPr/>
        </p:nvSpPr>
        <p:spPr>
          <a:xfrm>
            <a:off x="2944628" y="1937039"/>
            <a:ext cx="48857" cy="48857"/>
          </a:xfrm>
          <a:prstGeom prst="ellipse">
            <a:avLst/>
          </a:prstGeom>
          <a:solidFill>
            <a:srgbClr val="FFFFFF">
              <a:alpha val="31000"/>
            </a:srgbClr>
          </a:solidFill>
          <a:ln/>
        </p:spPr>
      </p:sp>
      <p:sp>
        <p:nvSpPr>
          <p:cNvPr id="36" name="Shape 33"/>
          <p:cNvSpPr/>
          <p:nvPr/>
        </p:nvSpPr>
        <p:spPr>
          <a:xfrm>
            <a:off x="5152597" y="2438010"/>
            <a:ext cx="44120" cy="44120"/>
          </a:xfrm>
          <a:prstGeom prst="ellipse">
            <a:avLst/>
          </a:prstGeom>
          <a:solidFill>
            <a:srgbClr val="FFFFFF">
              <a:alpha val="57000"/>
            </a:srgbClr>
          </a:solidFill>
          <a:ln/>
        </p:spPr>
      </p:sp>
      <p:sp>
        <p:nvSpPr>
          <p:cNvPr id="37" name="Shape 34"/>
          <p:cNvSpPr/>
          <p:nvPr/>
        </p:nvSpPr>
        <p:spPr>
          <a:xfrm>
            <a:off x="4747564" y="2748576"/>
            <a:ext cx="32008" cy="32008"/>
          </a:xfrm>
          <a:prstGeom prst="ellipse">
            <a:avLst/>
          </a:prstGeom>
          <a:solidFill>
            <a:srgbClr val="FFFFFF">
              <a:alpha val="67000"/>
            </a:srgbClr>
          </a:solidFill>
          <a:ln/>
        </p:spPr>
      </p:sp>
      <p:sp>
        <p:nvSpPr>
          <p:cNvPr id="38" name="Shape 35"/>
          <p:cNvSpPr/>
          <p:nvPr/>
        </p:nvSpPr>
        <p:spPr>
          <a:xfrm>
            <a:off x="731520" y="2532888"/>
            <a:ext cx="685800" cy="1371600"/>
          </a:xfrm>
          <a:prstGeom prst="triangle">
            <a:avLst/>
          </a:prstGeom>
          <a:solidFill>
            <a:srgbClr val="0E4A3A"/>
          </a:solidFill>
          <a:ln w="9525">
            <a:solidFill>
              <a:srgbClr val="1F7A5C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1371600" y="2167128"/>
            <a:ext cx="685800" cy="1737360"/>
          </a:xfrm>
          <a:prstGeom prst="triangle">
            <a:avLst/>
          </a:prstGeom>
          <a:solidFill>
            <a:srgbClr val="0E4A3A"/>
          </a:solidFill>
          <a:ln w="9525">
            <a:solidFill>
              <a:srgbClr val="1F7A5C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2011680" y="2624328"/>
            <a:ext cx="685800" cy="1280160"/>
          </a:xfrm>
          <a:prstGeom prst="triangle">
            <a:avLst/>
          </a:prstGeom>
          <a:solidFill>
            <a:srgbClr val="0E4A3A"/>
          </a:solidFill>
          <a:ln w="9525">
            <a:solidFill>
              <a:srgbClr val="1F7A5C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4114800" y="2441448"/>
            <a:ext cx="685800" cy="1463040"/>
          </a:xfrm>
          <a:prstGeom prst="triangle">
            <a:avLst/>
          </a:prstGeom>
          <a:solidFill>
            <a:srgbClr val="0E4A3A"/>
          </a:solidFill>
          <a:ln w="9525">
            <a:solidFill>
              <a:srgbClr val="1F7A5C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4754880" y="2075688"/>
            <a:ext cx="685800" cy="1828800"/>
          </a:xfrm>
          <a:prstGeom prst="triangle">
            <a:avLst/>
          </a:prstGeom>
          <a:solidFill>
            <a:srgbClr val="0E4A3A"/>
          </a:solidFill>
          <a:ln w="9525">
            <a:solidFill>
              <a:srgbClr val="1F7A5C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5349240" y="2532888"/>
            <a:ext cx="685800" cy="1371600"/>
          </a:xfrm>
          <a:prstGeom prst="triangle">
            <a:avLst/>
          </a:prstGeom>
          <a:solidFill>
            <a:srgbClr val="0E4A3A"/>
          </a:solidFill>
          <a:ln w="9525">
            <a:solidFill>
              <a:srgbClr val="1F7A5C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548640" y="3877056"/>
            <a:ext cx="5486400" cy="438912"/>
          </a:xfrm>
          <a:prstGeom prst="rect">
            <a:avLst/>
          </a:prstGeom>
          <a:solidFill>
            <a:srgbClr val="0B2A22"/>
          </a:solidFill>
          <a:ln/>
        </p:spPr>
      </p:sp>
      <p:sp>
        <p:nvSpPr>
          <p:cNvPr id="45" name="Shape 42"/>
          <p:cNvSpPr/>
          <p:nvPr/>
        </p:nvSpPr>
        <p:spPr>
          <a:xfrm>
            <a:off x="765023" y="2097940"/>
            <a:ext cx="73152" cy="237744"/>
          </a:xfrm>
          <a:prstGeom prst="line">
            <a:avLst/>
          </a:prstGeom>
          <a:noFill/>
          <a:ln w="12700">
            <a:solidFill>
              <a:srgbClr val="5AD1FF">
                <a:alpha val="65000"/>
              </a:srgbClr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4260747" y="3141149"/>
            <a:ext cx="73152" cy="237744"/>
          </a:xfrm>
          <a:prstGeom prst="line">
            <a:avLst/>
          </a:prstGeom>
          <a:noFill/>
          <a:ln w="12700">
            <a:solidFill>
              <a:srgbClr val="5AD1FF">
                <a:alpha val="65000"/>
              </a:srgbClr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4021353" y="3471182"/>
            <a:ext cx="73152" cy="237744"/>
          </a:xfrm>
          <a:prstGeom prst="line">
            <a:avLst/>
          </a:prstGeom>
          <a:noFill/>
          <a:ln w="12700">
            <a:solidFill>
              <a:srgbClr val="5AD1FF">
                <a:alpha val="65000"/>
              </a:srgbClr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1816940" y="3396226"/>
            <a:ext cx="73152" cy="237744"/>
          </a:xfrm>
          <a:prstGeom prst="line">
            <a:avLst/>
          </a:prstGeom>
          <a:noFill/>
          <a:ln w="12700">
            <a:solidFill>
              <a:srgbClr val="5AD1FF">
                <a:alpha val="65000"/>
              </a:srgbClr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1503793" y="1873188"/>
            <a:ext cx="73152" cy="237744"/>
          </a:xfrm>
          <a:prstGeom prst="line">
            <a:avLst/>
          </a:prstGeom>
          <a:noFill/>
          <a:ln w="12700">
            <a:solidFill>
              <a:srgbClr val="5AD1FF">
                <a:alpha val="65000"/>
              </a:srgbClr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1058942" y="1841694"/>
            <a:ext cx="73152" cy="237744"/>
          </a:xfrm>
          <a:prstGeom prst="line">
            <a:avLst/>
          </a:prstGeom>
          <a:noFill/>
          <a:ln w="12700">
            <a:solidFill>
              <a:srgbClr val="5AD1FF">
                <a:alpha val="65000"/>
              </a:srgbClr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3390405" y="3396571"/>
            <a:ext cx="73152" cy="237744"/>
          </a:xfrm>
          <a:prstGeom prst="line">
            <a:avLst/>
          </a:prstGeom>
          <a:noFill/>
          <a:ln w="12700">
            <a:solidFill>
              <a:srgbClr val="5AD1FF">
                <a:alpha val="65000"/>
              </a:srgbClr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>
            <a:off x="4957986" y="2080967"/>
            <a:ext cx="73152" cy="237744"/>
          </a:xfrm>
          <a:prstGeom prst="line">
            <a:avLst/>
          </a:prstGeom>
          <a:noFill/>
          <a:ln w="12700">
            <a:solidFill>
              <a:srgbClr val="5AD1FF">
                <a:alpha val="65000"/>
              </a:srgbClr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3169757" y="1901306"/>
            <a:ext cx="73152" cy="237744"/>
          </a:xfrm>
          <a:prstGeom prst="line">
            <a:avLst/>
          </a:prstGeom>
          <a:noFill/>
          <a:ln w="12700">
            <a:solidFill>
              <a:srgbClr val="5AD1FF">
                <a:alpha val="65000"/>
              </a:srgbClr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2071655" y="2739057"/>
            <a:ext cx="73152" cy="237744"/>
          </a:xfrm>
          <a:prstGeom prst="line">
            <a:avLst/>
          </a:prstGeom>
          <a:noFill/>
          <a:ln w="12700">
            <a:solidFill>
              <a:srgbClr val="5AD1FF">
                <a:alpha val="65000"/>
              </a:srgbClr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968286" y="2484326"/>
            <a:ext cx="73152" cy="237744"/>
          </a:xfrm>
          <a:prstGeom prst="line">
            <a:avLst/>
          </a:prstGeom>
          <a:noFill/>
          <a:ln w="12700">
            <a:solidFill>
              <a:srgbClr val="5AD1FF">
                <a:alpha val="65000"/>
              </a:srgbClr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1819399" y="2369859"/>
            <a:ext cx="73152" cy="237744"/>
          </a:xfrm>
          <a:prstGeom prst="line">
            <a:avLst/>
          </a:prstGeom>
          <a:noFill/>
          <a:ln w="12700">
            <a:solidFill>
              <a:srgbClr val="5AD1FF">
                <a:alpha val="65000"/>
              </a:srgbClr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4688213" y="2063763"/>
            <a:ext cx="73152" cy="237744"/>
          </a:xfrm>
          <a:prstGeom prst="line">
            <a:avLst/>
          </a:prstGeom>
          <a:noFill/>
          <a:ln w="12700">
            <a:solidFill>
              <a:srgbClr val="5AD1FF">
                <a:alpha val="65000"/>
              </a:srgbClr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>
            <a:off x="1482852" y="1803105"/>
            <a:ext cx="73152" cy="237744"/>
          </a:xfrm>
          <a:prstGeom prst="line">
            <a:avLst/>
          </a:prstGeom>
          <a:noFill/>
          <a:ln w="12700">
            <a:solidFill>
              <a:srgbClr val="5AD1FF">
                <a:alpha val="65000"/>
              </a:srgbClr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>
            <a:off x="3835387" y="1967191"/>
            <a:ext cx="73152" cy="237744"/>
          </a:xfrm>
          <a:prstGeom prst="line">
            <a:avLst/>
          </a:prstGeom>
          <a:noFill/>
          <a:ln w="12700">
            <a:solidFill>
              <a:srgbClr val="5AD1FF">
                <a:alpha val="65000"/>
              </a:srgbClr>
            </a:solidFill>
            <a:prstDash val="solid"/>
          </a:ln>
        </p:spPr>
      </p:sp>
      <p:sp>
        <p:nvSpPr>
          <p:cNvPr id="60" name="Shape 57"/>
          <p:cNvSpPr/>
          <p:nvPr/>
        </p:nvSpPr>
        <p:spPr>
          <a:xfrm>
            <a:off x="2705677" y="2010769"/>
            <a:ext cx="73152" cy="237744"/>
          </a:xfrm>
          <a:prstGeom prst="line">
            <a:avLst/>
          </a:prstGeom>
          <a:noFill/>
          <a:ln w="12700">
            <a:solidFill>
              <a:srgbClr val="5AD1FF">
                <a:alpha val="65000"/>
              </a:srgbClr>
            </a:solidFill>
            <a:prstDash val="solid"/>
          </a:ln>
        </p:spPr>
      </p:sp>
      <p:sp>
        <p:nvSpPr>
          <p:cNvPr id="61" name="Shape 58"/>
          <p:cNvSpPr/>
          <p:nvPr/>
        </p:nvSpPr>
        <p:spPr>
          <a:xfrm>
            <a:off x="3087925" y="2597624"/>
            <a:ext cx="73152" cy="237744"/>
          </a:xfrm>
          <a:prstGeom prst="line">
            <a:avLst/>
          </a:prstGeom>
          <a:noFill/>
          <a:ln w="12700">
            <a:solidFill>
              <a:srgbClr val="5AD1FF">
                <a:alpha val="65000"/>
              </a:srgbClr>
            </a:solidFill>
            <a:prstDash val="solid"/>
          </a:ln>
        </p:spPr>
      </p:sp>
      <p:sp>
        <p:nvSpPr>
          <p:cNvPr id="62" name="Shape 59"/>
          <p:cNvSpPr/>
          <p:nvPr/>
        </p:nvSpPr>
        <p:spPr>
          <a:xfrm>
            <a:off x="683323" y="3253624"/>
            <a:ext cx="73152" cy="237744"/>
          </a:xfrm>
          <a:prstGeom prst="line">
            <a:avLst/>
          </a:prstGeom>
          <a:noFill/>
          <a:ln w="12700">
            <a:solidFill>
              <a:srgbClr val="5AD1FF">
                <a:alpha val="65000"/>
              </a:srgbClr>
            </a:solidFill>
            <a:prstDash val="solid"/>
          </a:ln>
        </p:spPr>
      </p:sp>
      <p:sp>
        <p:nvSpPr>
          <p:cNvPr id="63" name="Shape 60"/>
          <p:cNvSpPr/>
          <p:nvPr/>
        </p:nvSpPr>
        <p:spPr>
          <a:xfrm>
            <a:off x="2951568" y="3220154"/>
            <a:ext cx="73152" cy="237744"/>
          </a:xfrm>
          <a:prstGeom prst="line">
            <a:avLst/>
          </a:prstGeom>
          <a:noFill/>
          <a:ln w="12700">
            <a:solidFill>
              <a:srgbClr val="5AD1FF">
                <a:alpha val="65000"/>
              </a:srgbClr>
            </a:solidFill>
            <a:prstDash val="solid"/>
          </a:ln>
        </p:spPr>
      </p:sp>
      <p:sp>
        <p:nvSpPr>
          <p:cNvPr id="64" name="Shape 61"/>
          <p:cNvSpPr/>
          <p:nvPr/>
        </p:nvSpPr>
        <p:spPr>
          <a:xfrm>
            <a:off x="2369745" y="3587723"/>
            <a:ext cx="73152" cy="237744"/>
          </a:xfrm>
          <a:prstGeom prst="line">
            <a:avLst/>
          </a:prstGeom>
          <a:noFill/>
          <a:ln w="12700">
            <a:solidFill>
              <a:srgbClr val="5AD1FF">
                <a:alpha val="65000"/>
              </a:srgbClr>
            </a:solidFill>
            <a:prstDash val="solid"/>
          </a:ln>
        </p:spPr>
      </p:sp>
      <p:sp>
        <p:nvSpPr>
          <p:cNvPr id="65" name="Shape 62"/>
          <p:cNvSpPr/>
          <p:nvPr/>
        </p:nvSpPr>
        <p:spPr>
          <a:xfrm>
            <a:off x="4311365" y="3028756"/>
            <a:ext cx="73152" cy="237744"/>
          </a:xfrm>
          <a:prstGeom prst="line">
            <a:avLst/>
          </a:prstGeom>
          <a:noFill/>
          <a:ln w="12700">
            <a:solidFill>
              <a:srgbClr val="5AD1FF">
                <a:alpha val="65000"/>
              </a:srgbClr>
            </a:solidFill>
            <a:prstDash val="solid"/>
          </a:ln>
        </p:spPr>
      </p:sp>
      <p:sp>
        <p:nvSpPr>
          <p:cNvPr id="66" name="Shape 63"/>
          <p:cNvSpPr/>
          <p:nvPr/>
        </p:nvSpPr>
        <p:spPr>
          <a:xfrm>
            <a:off x="2012125" y="2491520"/>
            <a:ext cx="73152" cy="237744"/>
          </a:xfrm>
          <a:prstGeom prst="line">
            <a:avLst/>
          </a:prstGeom>
          <a:noFill/>
          <a:ln w="12700">
            <a:solidFill>
              <a:srgbClr val="5AD1FF">
                <a:alpha val="65000"/>
              </a:srgbClr>
            </a:solidFill>
            <a:prstDash val="solid"/>
          </a:ln>
        </p:spPr>
      </p:sp>
      <p:sp>
        <p:nvSpPr>
          <p:cNvPr id="67" name="Shape 64"/>
          <p:cNvSpPr/>
          <p:nvPr/>
        </p:nvSpPr>
        <p:spPr>
          <a:xfrm>
            <a:off x="1035191" y="3493242"/>
            <a:ext cx="73152" cy="237744"/>
          </a:xfrm>
          <a:prstGeom prst="line">
            <a:avLst/>
          </a:prstGeom>
          <a:noFill/>
          <a:ln w="12700">
            <a:solidFill>
              <a:srgbClr val="5AD1FF">
                <a:alpha val="65000"/>
              </a:srgbClr>
            </a:solidFill>
            <a:prstDash val="solid"/>
          </a:ln>
        </p:spPr>
      </p:sp>
      <p:sp>
        <p:nvSpPr>
          <p:cNvPr id="68" name="Shape 65"/>
          <p:cNvSpPr/>
          <p:nvPr/>
        </p:nvSpPr>
        <p:spPr>
          <a:xfrm>
            <a:off x="1064473" y="1932668"/>
            <a:ext cx="73152" cy="237744"/>
          </a:xfrm>
          <a:prstGeom prst="line">
            <a:avLst/>
          </a:prstGeom>
          <a:noFill/>
          <a:ln w="12700">
            <a:solidFill>
              <a:srgbClr val="5AD1FF">
                <a:alpha val="65000"/>
              </a:srgbClr>
            </a:solidFill>
            <a:prstDash val="solid"/>
          </a:ln>
        </p:spPr>
      </p:sp>
      <p:sp>
        <p:nvSpPr>
          <p:cNvPr id="69" name="Shape 66"/>
          <p:cNvSpPr/>
          <p:nvPr/>
        </p:nvSpPr>
        <p:spPr>
          <a:xfrm>
            <a:off x="1594229" y="2385186"/>
            <a:ext cx="73152" cy="237744"/>
          </a:xfrm>
          <a:prstGeom prst="line">
            <a:avLst/>
          </a:prstGeom>
          <a:noFill/>
          <a:ln w="12700">
            <a:solidFill>
              <a:srgbClr val="5AD1FF">
                <a:alpha val="65000"/>
              </a:srgbClr>
            </a:solidFill>
            <a:prstDash val="solid"/>
          </a:ln>
        </p:spPr>
      </p:sp>
      <p:sp>
        <p:nvSpPr>
          <p:cNvPr id="70" name="Shape 67"/>
          <p:cNvSpPr/>
          <p:nvPr/>
        </p:nvSpPr>
        <p:spPr>
          <a:xfrm>
            <a:off x="791144" y="2954261"/>
            <a:ext cx="73152" cy="237744"/>
          </a:xfrm>
          <a:prstGeom prst="line">
            <a:avLst/>
          </a:prstGeom>
          <a:noFill/>
          <a:ln w="12700">
            <a:solidFill>
              <a:srgbClr val="5AD1FF">
                <a:alpha val="65000"/>
              </a:srgbClr>
            </a:solidFill>
            <a:prstDash val="solid"/>
          </a:ln>
        </p:spPr>
      </p:sp>
      <p:sp>
        <p:nvSpPr>
          <p:cNvPr id="71" name="Shape 68"/>
          <p:cNvSpPr/>
          <p:nvPr/>
        </p:nvSpPr>
        <p:spPr>
          <a:xfrm>
            <a:off x="2890808" y="2525681"/>
            <a:ext cx="73152" cy="237744"/>
          </a:xfrm>
          <a:prstGeom prst="line">
            <a:avLst/>
          </a:prstGeom>
          <a:noFill/>
          <a:ln w="12700">
            <a:solidFill>
              <a:srgbClr val="5AD1FF">
                <a:alpha val="65000"/>
              </a:srgbClr>
            </a:solidFill>
            <a:prstDash val="solid"/>
          </a:ln>
        </p:spPr>
      </p:sp>
      <p:sp>
        <p:nvSpPr>
          <p:cNvPr id="72" name="Shape 69"/>
          <p:cNvSpPr/>
          <p:nvPr/>
        </p:nvSpPr>
        <p:spPr>
          <a:xfrm>
            <a:off x="3404760" y="3541232"/>
            <a:ext cx="73152" cy="237744"/>
          </a:xfrm>
          <a:prstGeom prst="line">
            <a:avLst/>
          </a:prstGeom>
          <a:noFill/>
          <a:ln w="12700">
            <a:solidFill>
              <a:srgbClr val="5AD1FF">
                <a:alpha val="65000"/>
              </a:srgbClr>
            </a:solidFill>
            <a:prstDash val="solid"/>
          </a:ln>
        </p:spPr>
      </p:sp>
      <p:sp>
        <p:nvSpPr>
          <p:cNvPr id="73" name="Shape 70"/>
          <p:cNvSpPr/>
          <p:nvPr/>
        </p:nvSpPr>
        <p:spPr>
          <a:xfrm>
            <a:off x="3344484" y="2610860"/>
            <a:ext cx="73152" cy="237744"/>
          </a:xfrm>
          <a:prstGeom prst="line">
            <a:avLst/>
          </a:prstGeom>
          <a:noFill/>
          <a:ln w="12700">
            <a:solidFill>
              <a:srgbClr val="5AD1FF">
                <a:alpha val="65000"/>
              </a:srgbClr>
            </a:solidFill>
            <a:prstDash val="solid"/>
          </a:ln>
        </p:spPr>
      </p:sp>
      <p:sp>
        <p:nvSpPr>
          <p:cNvPr id="74" name="Shape 71"/>
          <p:cNvSpPr/>
          <p:nvPr/>
        </p:nvSpPr>
        <p:spPr>
          <a:xfrm>
            <a:off x="1255970" y="3527633"/>
            <a:ext cx="73152" cy="237744"/>
          </a:xfrm>
          <a:prstGeom prst="line">
            <a:avLst/>
          </a:prstGeom>
          <a:noFill/>
          <a:ln w="12700">
            <a:solidFill>
              <a:srgbClr val="5AD1FF">
                <a:alpha val="65000"/>
              </a:srgbClr>
            </a:solidFill>
            <a:prstDash val="solid"/>
          </a:ln>
        </p:spPr>
      </p:sp>
      <p:sp>
        <p:nvSpPr>
          <p:cNvPr id="75" name="Shape 72"/>
          <p:cNvSpPr/>
          <p:nvPr/>
        </p:nvSpPr>
        <p:spPr>
          <a:xfrm>
            <a:off x="4029958" y="2759257"/>
            <a:ext cx="73152" cy="237744"/>
          </a:xfrm>
          <a:prstGeom prst="line">
            <a:avLst/>
          </a:prstGeom>
          <a:noFill/>
          <a:ln w="12700">
            <a:solidFill>
              <a:srgbClr val="5AD1FF">
                <a:alpha val="65000"/>
              </a:srgbClr>
            </a:solidFill>
            <a:prstDash val="solid"/>
          </a:ln>
        </p:spPr>
      </p:sp>
      <p:sp>
        <p:nvSpPr>
          <p:cNvPr id="76" name="Shape 73"/>
          <p:cNvSpPr/>
          <p:nvPr/>
        </p:nvSpPr>
        <p:spPr>
          <a:xfrm>
            <a:off x="5281450" y="3103119"/>
            <a:ext cx="73152" cy="237744"/>
          </a:xfrm>
          <a:prstGeom prst="line">
            <a:avLst/>
          </a:prstGeom>
          <a:noFill/>
          <a:ln w="12700">
            <a:solidFill>
              <a:srgbClr val="5AD1FF">
                <a:alpha val="65000"/>
              </a:srgbClr>
            </a:solidFill>
            <a:prstDash val="solid"/>
          </a:ln>
        </p:spPr>
      </p:sp>
      <p:sp>
        <p:nvSpPr>
          <p:cNvPr id="77" name="Shape 74"/>
          <p:cNvSpPr/>
          <p:nvPr/>
        </p:nvSpPr>
        <p:spPr>
          <a:xfrm>
            <a:off x="2987479" y="3658366"/>
            <a:ext cx="73152" cy="237744"/>
          </a:xfrm>
          <a:prstGeom prst="line">
            <a:avLst/>
          </a:prstGeom>
          <a:noFill/>
          <a:ln w="12700">
            <a:solidFill>
              <a:srgbClr val="5AD1FF">
                <a:alpha val="65000"/>
              </a:srgbClr>
            </a:solidFill>
            <a:prstDash val="solid"/>
          </a:ln>
        </p:spPr>
      </p:sp>
      <p:sp>
        <p:nvSpPr>
          <p:cNvPr id="78" name="Shape 75"/>
          <p:cNvSpPr/>
          <p:nvPr/>
        </p:nvSpPr>
        <p:spPr>
          <a:xfrm>
            <a:off x="5176702" y="2599583"/>
            <a:ext cx="73152" cy="237744"/>
          </a:xfrm>
          <a:prstGeom prst="line">
            <a:avLst/>
          </a:prstGeom>
          <a:noFill/>
          <a:ln w="12700">
            <a:solidFill>
              <a:srgbClr val="5AD1FF">
                <a:alpha val="65000"/>
              </a:srgbClr>
            </a:solidFill>
            <a:prstDash val="solid"/>
          </a:ln>
        </p:spPr>
      </p:sp>
      <p:sp>
        <p:nvSpPr>
          <p:cNvPr id="79" name="Text 76"/>
          <p:cNvSpPr txBox="1"/>
          <p:nvPr/>
        </p:nvSpPr>
        <p:spPr>
          <a:xfrm>
            <a:off x="2423160" y="317296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👧</a:t>
            </a:r>
            <a:endParaRPr lang="en-US" sz="4000" dirty="0"/>
          </a:p>
        </p:txBody>
      </p:sp>
      <p:sp>
        <p:nvSpPr>
          <p:cNvPr id="80" name="Text 77"/>
          <p:cNvSpPr txBox="1"/>
          <p:nvPr/>
        </p:nvSpPr>
        <p:spPr>
          <a:xfrm>
            <a:off x="3291840" y="2395728"/>
            <a:ext cx="1280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🐉</a:t>
            </a:r>
            <a:endParaRPr lang="en-US" sz="6600" dirty="0"/>
          </a:p>
        </p:txBody>
      </p:sp>
      <p:sp>
        <p:nvSpPr>
          <p:cNvPr id="81" name="Shape 78"/>
          <p:cNvSpPr/>
          <p:nvPr/>
        </p:nvSpPr>
        <p:spPr>
          <a:xfrm>
            <a:off x="548640" y="1298448"/>
            <a:ext cx="5486400" cy="438912"/>
          </a:xfrm>
          <a:prstGeom prst="rect">
            <a:avLst/>
          </a:prstGeom>
          <a:solidFill>
            <a:srgbClr val="000000">
              <a:alpha val="55000"/>
            </a:srgbClr>
          </a:solidFill>
          <a:ln/>
        </p:spPr>
      </p:sp>
      <p:sp>
        <p:nvSpPr>
          <p:cNvPr id="82" name="Text 79"/>
          <p:cNvSpPr txBox="1"/>
          <p:nvPr/>
        </p:nvSpPr>
        <p:spPr>
          <a:xfrm>
            <a:off x="713232" y="1335024"/>
            <a:ext cx="51572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„Es war Nacht … ein Mädchen ging in den Wald … es begann zu regnen … plötzlich ein Drache!“</a:t>
            </a:r>
            <a:endParaRPr lang="en-US" sz="1150" dirty="0"/>
          </a:p>
        </p:txBody>
      </p:sp>
      <p:sp>
        <p:nvSpPr>
          <p:cNvPr id="83" name="Shape 80"/>
          <p:cNvSpPr/>
          <p:nvPr/>
        </p:nvSpPr>
        <p:spPr>
          <a:xfrm>
            <a:off x="713232" y="3931920"/>
            <a:ext cx="1463040" cy="292608"/>
          </a:xfrm>
          <a:prstGeom prst="roundRect">
            <a:avLst>
              <a:gd name="adj" fmla="val 50000"/>
            </a:avLst>
          </a:prstGeom>
          <a:solidFill>
            <a:srgbClr val="1F2330"/>
          </a:solidFill>
          <a:ln w="12700">
            <a:solidFill>
              <a:srgbClr val="5AD1FF"/>
            </a:solidFill>
            <a:prstDash val="solid"/>
          </a:ln>
        </p:spPr>
      </p:sp>
      <p:sp>
        <p:nvSpPr>
          <p:cNvPr id="84" name="Text 81"/>
          <p:cNvSpPr txBox="1"/>
          <p:nvPr/>
        </p:nvSpPr>
        <p:spPr>
          <a:xfrm>
            <a:off x="713232" y="393192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AD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🌧 Atmo: Regen</a:t>
            </a:r>
            <a:endParaRPr lang="en-US" sz="1000" dirty="0"/>
          </a:p>
        </p:txBody>
      </p:sp>
      <p:sp>
        <p:nvSpPr>
          <p:cNvPr id="85" name="Shape 82"/>
          <p:cNvSpPr/>
          <p:nvPr/>
        </p:nvSpPr>
        <p:spPr>
          <a:xfrm>
            <a:off x="548640" y="4425696"/>
            <a:ext cx="5486400" cy="457200"/>
          </a:xfrm>
          <a:prstGeom prst="roundRect">
            <a:avLst>
              <a:gd name="adj" fmla="val 24000"/>
            </a:avLst>
          </a:prstGeom>
          <a:solidFill>
            <a:srgbClr val="1F2330"/>
          </a:solidFill>
          <a:ln w="12700">
            <a:solidFill>
              <a:srgbClr val="1F2330"/>
            </a:solidFill>
            <a:prstDash val="solid"/>
          </a:ln>
        </p:spPr>
      </p:sp>
      <p:sp>
        <p:nvSpPr>
          <p:cNvPr id="86" name="Text 83"/>
          <p:cNvSpPr txBox="1"/>
          <p:nvPr/>
        </p:nvSpPr>
        <p:spPr>
          <a:xfrm>
            <a:off x="713232" y="4453128"/>
            <a:ext cx="51572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2DFF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{ort: "wald", zeit: "nacht", wetter: "regen", figuren: [👧, 🐉], stimmung: "spannend"}</a:t>
            </a:r>
            <a:endParaRPr lang="en-US" sz="1000" dirty="0"/>
          </a:p>
        </p:txBody>
      </p:sp>
      <p:sp>
        <p:nvSpPr>
          <p:cNvPr id="87" name="Text 84"/>
          <p:cNvSpPr txBox="1"/>
          <p:nvPr/>
        </p:nvSpPr>
        <p:spPr>
          <a:xfrm>
            <a:off x="548640" y="496519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Kosten pro Stunde Begleitvideo</a:t>
            </a:r>
            <a:endParaRPr lang="en-US" sz="1100" dirty="0"/>
          </a:p>
        </p:txBody>
      </p:sp>
      <p:sp>
        <p:nvSpPr>
          <p:cNvPr id="88" name="Text 85"/>
          <p:cNvSpPr txBox="1"/>
          <p:nvPr/>
        </p:nvSpPr>
        <p:spPr>
          <a:xfrm>
            <a:off x="548640" y="5285232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Video-KI</a:t>
            </a:r>
            <a:endParaRPr lang="en-US" sz="950" dirty="0"/>
          </a:p>
        </p:txBody>
      </p:sp>
      <p:sp>
        <p:nvSpPr>
          <p:cNvPr id="89" name="Shape 86"/>
          <p:cNvSpPr/>
          <p:nvPr/>
        </p:nvSpPr>
        <p:spPr>
          <a:xfrm>
            <a:off x="2468880" y="5312664"/>
            <a:ext cx="1885193" cy="164592"/>
          </a:xfrm>
          <a:prstGeom prst="rect">
            <a:avLst/>
          </a:prstGeom>
          <a:solidFill>
            <a:srgbClr val="FF2D75"/>
          </a:solidFill>
          <a:ln/>
        </p:spPr>
      </p:sp>
      <p:sp>
        <p:nvSpPr>
          <p:cNvPr id="90" name="Shape 87"/>
          <p:cNvSpPr/>
          <p:nvPr/>
        </p:nvSpPr>
        <p:spPr>
          <a:xfrm>
            <a:off x="4354073" y="5312664"/>
            <a:ext cx="681098" cy="164592"/>
          </a:xfrm>
          <a:prstGeom prst="rect">
            <a:avLst/>
          </a:prstGeom>
          <a:solidFill>
            <a:srgbClr val="FF2D75">
              <a:alpha val="45000"/>
            </a:srgbClr>
          </a:solidFill>
          <a:ln/>
        </p:spPr>
      </p:sp>
      <p:sp>
        <p:nvSpPr>
          <p:cNvPr id="91" name="Text 88"/>
          <p:cNvSpPr txBox="1"/>
          <p:nvPr/>
        </p:nvSpPr>
        <p:spPr>
          <a:xfrm>
            <a:off x="5108323" y="5285232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b="1" dirty="0">
                <a:solidFill>
                  <a:srgbClr val="FF2D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180–2.700 USD</a:t>
            </a:r>
            <a:endParaRPr lang="en-US" sz="950" dirty="0"/>
          </a:p>
        </p:txBody>
      </p:sp>
      <p:sp>
        <p:nvSpPr>
          <p:cNvPr id="92" name="Text 89"/>
          <p:cNvSpPr txBox="1"/>
          <p:nvPr/>
        </p:nvSpPr>
        <p:spPr>
          <a:xfrm>
            <a:off x="548640" y="5532120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LiveFX mit Text-KI</a:t>
            </a:r>
            <a:endParaRPr lang="en-US" sz="950" dirty="0"/>
          </a:p>
        </p:txBody>
      </p:sp>
      <p:sp>
        <p:nvSpPr>
          <p:cNvPr id="93" name="Shape 90"/>
          <p:cNvSpPr/>
          <p:nvPr/>
        </p:nvSpPr>
        <p:spPr>
          <a:xfrm>
            <a:off x="2468880" y="5559552"/>
            <a:ext cx="230455" cy="164592"/>
          </a:xfrm>
          <a:prstGeom prst="rect">
            <a:avLst/>
          </a:prstGeom>
          <a:solidFill>
            <a:srgbClr val="FFD166"/>
          </a:solidFill>
          <a:ln/>
        </p:spPr>
      </p:sp>
      <p:sp>
        <p:nvSpPr>
          <p:cNvPr id="94" name="Shape 91"/>
          <p:cNvSpPr/>
          <p:nvPr/>
        </p:nvSpPr>
        <p:spPr>
          <a:xfrm>
            <a:off x="2699335" y="5559552"/>
            <a:ext cx="276310" cy="164592"/>
          </a:xfrm>
          <a:prstGeom prst="rect">
            <a:avLst/>
          </a:prstGeom>
          <a:solidFill>
            <a:srgbClr val="FFD166">
              <a:alpha val="45000"/>
            </a:srgbClr>
          </a:solidFill>
          <a:ln/>
        </p:spPr>
      </p:sp>
      <p:sp>
        <p:nvSpPr>
          <p:cNvPr id="95" name="Text 92"/>
          <p:cNvSpPr txBox="1"/>
          <p:nvPr/>
        </p:nvSpPr>
        <p:spPr>
          <a:xfrm>
            <a:off x="3048797" y="5532120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b="1" dirty="0">
                <a:solidFill>
                  <a:srgbClr val="FFD1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0,25–0,75 USD</a:t>
            </a:r>
            <a:endParaRPr lang="en-US" sz="950" dirty="0"/>
          </a:p>
        </p:txBody>
      </p:sp>
      <p:sp>
        <p:nvSpPr>
          <p:cNvPr id="96" name="Text 93"/>
          <p:cNvSpPr txBox="1"/>
          <p:nvPr/>
        </p:nvSpPr>
        <p:spPr>
          <a:xfrm>
            <a:off x="548640" y="5779008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LiveFX ohne KI</a:t>
            </a:r>
            <a:endParaRPr lang="en-US" sz="950" dirty="0"/>
          </a:p>
        </p:txBody>
      </p:sp>
      <p:sp>
        <p:nvSpPr>
          <p:cNvPr id="97" name="Shape 94"/>
          <p:cNvSpPr/>
          <p:nvPr/>
        </p:nvSpPr>
        <p:spPr>
          <a:xfrm>
            <a:off x="2468880" y="5806440"/>
            <a:ext cx="54864" cy="164592"/>
          </a:xfrm>
          <a:prstGeom prst="rect">
            <a:avLst/>
          </a:prstGeom>
          <a:solidFill>
            <a:srgbClr val="2DFFB5"/>
          </a:solidFill>
          <a:ln/>
        </p:spPr>
      </p:sp>
      <p:sp>
        <p:nvSpPr>
          <p:cNvPr id="98" name="Text 95"/>
          <p:cNvSpPr txBox="1"/>
          <p:nvPr/>
        </p:nvSpPr>
        <p:spPr>
          <a:xfrm>
            <a:off x="2596896" y="5779008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b="1" dirty="0">
                <a:solidFill>
                  <a:srgbClr val="2DFF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0 €</a:t>
            </a:r>
            <a:endParaRPr lang="en-US" sz="950" dirty="0"/>
          </a:p>
        </p:txBody>
      </p:sp>
      <p:sp>
        <p:nvSpPr>
          <p:cNvPr id="99" name="Text 96"/>
          <p:cNvSpPr txBox="1"/>
          <p:nvPr/>
        </p:nvSpPr>
        <p:spPr>
          <a:xfrm>
            <a:off x="548640" y="6044184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logarithmische Skala · Video-KI nach Listenpreis 0,05–0,75 USD/s [Quelle 24, 25] · KI-Kosten LiveFX: Projektmessung</a:t>
            </a:r>
            <a:endParaRPr lang="en-US" sz="1000" dirty="0"/>
          </a:p>
        </p:txBody>
      </p:sp>
      <p:sp>
        <p:nvSpPr>
          <p:cNvPr id="100" name="Text 97"/>
          <p:cNvSpPr txBox="1"/>
          <p:nvPr/>
        </p:nvSpPr>
        <p:spPr>
          <a:xfrm>
            <a:off x="6355080" y="1325880"/>
            <a:ext cx="52879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2DFF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Jeder Satz verändert den Weltzustand:</a:t>
            </a:r>
            <a:endParaRPr lang="en-US" sz="1100" dirty="0"/>
          </a:p>
        </p:txBody>
      </p:sp>
      <p:sp>
        <p:nvSpPr>
          <p:cNvPr id="101" name="Shape 98"/>
          <p:cNvSpPr/>
          <p:nvPr/>
        </p:nvSpPr>
        <p:spPr>
          <a:xfrm>
            <a:off x="6355080" y="1645920"/>
            <a:ext cx="685800" cy="292608"/>
          </a:xfrm>
          <a:prstGeom prst="roundRect">
            <a:avLst>
              <a:gd name="adj" fmla="val 50000"/>
            </a:avLst>
          </a:prstGeom>
          <a:solidFill>
            <a:srgbClr val="1F2330"/>
          </a:solidFill>
          <a:ln w="12700">
            <a:solidFill>
              <a:srgbClr val="2DFFB5"/>
            </a:solidFill>
            <a:prstDash val="solid"/>
          </a:ln>
        </p:spPr>
      </p:sp>
      <p:sp>
        <p:nvSpPr>
          <p:cNvPr id="102" name="Text 99"/>
          <p:cNvSpPr txBox="1"/>
          <p:nvPr/>
        </p:nvSpPr>
        <p:spPr>
          <a:xfrm>
            <a:off x="6355080" y="1645920"/>
            <a:ext cx="685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Ort</a:t>
            </a:r>
            <a:endParaRPr lang="en-US" sz="950" dirty="0"/>
          </a:p>
        </p:txBody>
      </p:sp>
      <p:sp>
        <p:nvSpPr>
          <p:cNvPr id="103" name="Shape 100"/>
          <p:cNvSpPr/>
          <p:nvPr/>
        </p:nvSpPr>
        <p:spPr>
          <a:xfrm>
            <a:off x="7132320" y="1645920"/>
            <a:ext cx="685800" cy="292608"/>
          </a:xfrm>
          <a:prstGeom prst="roundRect">
            <a:avLst>
              <a:gd name="adj" fmla="val 50000"/>
            </a:avLst>
          </a:prstGeom>
          <a:solidFill>
            <a:srgbClr val="1F2330"/>
          </a:solidFill>
          <a:ln w="12700">
            <a:solidFill>
              <a:srgbClr val="2DFFB5"/>
            </a:solidFill>
            <a:prstDash val="solid"/>
          </a:ln>
        </p:spPr>
      </p:sp>
      <p:sp>
        <p:nvSpPr>
          <p:cNvPr id="104" name="Text 101"/>
          <p:cNvSpPr txBox="1"/>
          <p:nvPr/>
        </p:nvSpPr>
        <p:spPr>
          <a:xfrm>
            <a:off x="7132320" y="1645920"/>
            <a:ext cx="685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Zeit</a:t>
            </a:r>
            <a:endParaRPr lang="en-US" sz="950" dirty="0"/>
          </a:p>
        </p:txBody>
      </p:sp>
      <p:sp>
        <p:nvSpPr>
          <p:cNvPr id="105" name="Shape 102"/>
          <p:cNvSpPr/>
          <p:nvPr/>
        </p:nvSpPr>
        <p:spPr>
          <a:xfrm>
            <a:off x="7909560" y="1645920"/>
            <a:ext cx="868680" cy="292608"/>
          </a:xfrm>
          <a:prstGeom prst="roundRect">
            <a:avLst>
              <a:gd name="adj" fmla="val 50000"/>
            </a:avLst>
          </a:prstGeom>
          <a:solidFill>
            <a:srgbClr val="1F2330"/>
          </a:solidFill>
          <a:ln w="12700">
            <a:solidFill>
              <a:srgbClr val="2DFFB5"/>
            </a:solidFill>
            <a:prstDash val="solid"/>
          </a:ln>
        </p:spPr>
      </p:sp>
      <p:sp>
        <p:nvSpPr>
          <p:cNvPr id="106" name="Text 103"/>
          <p:cNvSpPr txBox="1"/>
          <p:nvPr/>
        </p:nvSpPr>
        <p:spPr>
          <a:xfrm>
            <a:off x="7909560" y="1645920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Wetter</a:t>
            </a:r>
            <a:endParaRPr lang="en-US" sz="950" dirty="0"/>
          </a:p>
        </p:txBody>
      </p:sp>
      <p:sp>
        <p:nvSpPr>
          <p:cNvPr id="107" name="Shape 104"/>
          <p:cNvSpPr/>
          <p:nvPr/>
        </p:nvSpPr>
        <p:spPr>
          <a:xfrm>
            <a:off x="8869680" y="1645920"/>
            <a:ext cx="777240" cy="292608"/>
          </a:xfrm>
          <a:prstGeom prst="roundRect">
            <a:avLst>
              <a:gd name="adj" fmla="val 50000"/>
            </a:avLst>
          </a:prstGeom>
          <a:solidFill>
            <a:srgbClr val="1F2330"/>
          </a:solidFill>
          <a:ln w="12700">
            <a:solidFill>
              <a:srgbClr val="2DFFB5"/>
            </a:solidFill>
            <a:prstDash val="solid"/>
          </a:ln>
        </p:spPr>
      </p:sp>
      <p:sp>
        <p:nvSpPr>
          <p:cNvPr id="108" name="Text 105"/>
          <p:cNvSpPr txBox="1"/>
          <p:nvPr/>
        </p:nvSpPr>
        <p:spPr>
          <a:xfrm>
            <a:off x="8869680" y="1645920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</a:t>
            </a:r>
            <a:endParaRPr lang="en-US" sz="950" dirty="0"/>
          </a:p>
        </p:txBody>
      </p:sp>
      <p:sp>
        <p:nvSpPr>
          <p:cNvPr id="109" name="Shape 106"/>
          <p:cNvSpPr/>
          <p:nvPr/>
        </p:nvSpPr>
        <p:spPr>
          <a:xfrm>
            <a:off x="9738360" y="1645920"/>
            <a:ext cx="868680" cy="292608"/>
          </a:xfrm>
          <a:prstGeom prst="roundRect">
            <a:avLst>
              <a:gd name="adj" fmla="val 50000"/>
            </a:avLst>
          </a:prstGeom>
          <a:solidFill>
            <a:srgbClr val="1F2330"/>
          </a:solidFill>
          <a:ln w="12700">
            <a:solidFill>
              <a:srgbClr val="2DFFB5"/>
            </a:solidFill>
            <a:prstDash val="solid"/>
          </a:ln>
        </p:spPr>
      </p:sp>
      <p:sp>
        <p:nvSpPr>
          <p:cNvPr id="110" name="Text 107"/>
          <p:cNvSpPr txBox="1"/>
          <p:nvPr/>
        </p:nvSpPr>
        <p:spPr>
          <a:xfrm>
            <a:off x="9738360" y="1645920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Objekt</a:t>
            </a:r>
            <a:endParaRPr lang="en-US" sz="950" dirty="0"/>
          </a:p>
        </p:txBody>
      </p:sp>
      <p:sp>
        <p:nvSpPr>
          <p:cNvPr id="111" name="Shape 108"/>
          <p:cNvSpPr/>
          <p:nvPr/>
        </p:nvSpPr>
        <p:spPr>
          <a:xfrm>
            <a:off x="10698480" y="1645920"/>
            <a:ext cx="868680" cy="292608"/>
          </a:xfrm>
          <a:prstGeom prst="roundRect">
            <a:avLst>
              <a:gd name="adj" fmla="val 50000"/>
            </a:avLst>
          </a:prstGeom>
          <a:solidFill>
            <a:srgbClr val="1F2330"/>
          </a:solidFill>
          <a:ln w="12700">
            <a:solidFill>
              <a:srgbClr val="2DFFB5"/>
            </a:solidFill>
            <a:prstDash val="solid"/>
          </a:ln>
        </p:spPr>
      </p:sp>
      <p:sp>
        <p:nvSpPr>
          <p:cNvPr id="112" name="Text 109"/>
          <p:cNvSpPr txBox="1"/>
          <p:nvPr/>
        </p:nvSpPr>
        <p:spPr>
          <a:xfrm>
            <a:off x="10698480" y="1645920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Aktion</a:t>
            </a:r>
            <a:endParaRPr lang="en-US" sz="950" dirty="0"/>
          </a:p>
        </p:txBody>
      </p:sp>
      <p:sp>
        <p:nvSpPr>
          <p:cNvPr id="113" name="Shape 110"/>
          <p:cNvSpPr/>
          <p:nvPr/>
        </p:nvSpPr>
        <p:spPr>
          <a:xfrm>
            <a:off x="6355080" y="2011680"/>
            <a:ext cx="1051560" cy="292608"/>
          </a:xfrm>
          <a:prstGeom prst="roundRect">
            <a:avLst>
              <a:gd name="adj" fmla="val 50000"/>
            </a:avLst>
          </a:prstGeom>
          <a:solidFill>
            <a:srgbClr val="1F2330"/>
          </a:solidFill>
          <a:ln w="12700">
            <a:solidFill>
              <a:srgbClr val="2DFFB5"/>
            </a:solidFill>
            <a:prstDash val="solid"/>
          </a:ln>
        </p:spPr>
      </p:sp>
      <p:sp>
        <p:nvSpPr>
          <p:cNvPr id="114" name="Text 111"/>
          <p:cNvSpPr txBox="1"/>
          <p:nvPr/>
        </p:nvSpPr>
        <p:spPr>
          <a:xfrm>
            <a:off x="6355080" y="2011680"/>
            <a:ext cx="1051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Stimmung</a:t>
            </a:r>
            <a:endParaRPr lang="en-US" sz="950" dirty="0"/>
          </a:p>
        </p:txBody>
      </p:sp>
      <p:sp>
        <p:nvSpPr>
          <p:cNvPr id="115" name="Text 112"/>
          <p:cNvSpPr txBox="1"/>
          <p:nvPr/>
        </p:nvSpPr>
        <p:spPr>
          <a:xfrm>
            <a:off x="6355080" y="2514600"/>
            <a:ext cx="5287975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Streamerin liest vor oder erzählt – darunter entsteht Satz für Satz ein animierter Film: Nacht, Wald, Regen, Drache.</a:t>
            </a:r>
            <a:endParaRPr lang="en-US" sz="14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Läuft mit 60 fps im Browser neben OBS, offline und deterministisch: gleiche Zeitleiste, gleiches Bild – jede Erzählung wird sofort zum Clip.</a:t>
            </a:r>
            <a:endParaRPr lang="en-US" sz="14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240- bis über 10.000-mal günstiger als Video-KI – und live überhaupt erst möglich.</a:t>
            </a:r>
            <a:endParaRPr lang="en-US" sz="14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Für Vorlese-, Hörbuch- und Podcast-Formate: Hörbuch DE 374 Mio. €, +13 % [Quelle 19]; YouTube &gt; 1 Mrd. Podcast-Zuschauer pro Monat [Quelle 21].</a:t>
            </a:r>
            <a:endParaRPr lang="en-US" sz="1400" dirty="0"/>
          </a:p>
        </p:txBody>
      </p:sp>
      <p:sp>
        <p:nvSpPr>
          <p:cNvPr id="116" name="Shape 113"/>
          <p:cNvSpPr/>
          <p:nvPr/>
        </p:nvSpPr>
        <p:spPr>
          <a:xfrm>
            <a:off x="6355080" y="5120640"/>
            <a:ext cx="5287975" cy="1143000"/>
          </a:xfrm>
          <a:prstGeom prst="roundRect">
            <a:avLst>
              <a:gd name="adj" fmla="val 9600"/>
            </a:avLst>
          </a:prstGeom>
          <a:solidFill>
            <a:srgbClr val="1F2330"/>
          </a:solidFill>
          <a:ln w="12700">
            <a:solidFill>
              <a:srgbClr val="1F2330"/>
            </a:solidFill>
            <a:prstDash val="solid"/>
          </a:ln>
        </p:spPr>
      </p:sp>
      <p:sp>
        <p:nvSpPr>
          <p:cNvPr id="117" name="Text 114"/>
          <p:cNvSpPr txBox="1"/>
          <p:nvPr/>
        </p:nvSpPr>
        <p:spPr>
          <a:xfrm>
            <a:off x="6556248" y="5193792"/>
            <a:ext cx="48856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FFD1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Bewusst Bilderbuch, kein Fotorealismus</a:t>
            </a:r>
            <a:endParaRPr lang="en-US" sz="1100" dirty="0"/>
          </a:p>
        </p:txBody>
      </p:sp>
      <p:sp>
        <p:nvSpPr>
          <p:cNvPr id="118" name="Text 115"/>
          <p:cNvSpPr txBox="1"/>
          <p:nvPr/>
        </p:nvSpPr>
        <p:spPr>
          <a:xfrm>
            <a:off x="6556248" y="5468112"/>
            <a:ext cx="4885639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Stilisierte Welt aus Emoji/SVG und Partikeln – gerade deshalb live, billig und kinderfreundlich. Optionale KI wählt nur die Szene, sie erzeugt keine Bilder.</a:t>
            </a:r>
            <a:endParaRPr lang="en-US" sz="11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11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18288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FD1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LINIE B · WORTBILD</a:t>
            </a:r>
            <a:endParaRPr lang="en-US" sz="1000" dirty="0"/>
          </a:p>
        </p:txBody>
      </p:sp>
      <p:sp>
        <p:nvSpPr>
          <p:cNvPr id="3" name="Titel"/>
          <p:cNvSpPr txBox="1"/>
          <p:nvPr/>
        </p:nvSpPr>
        <p:spPr>
          <a:xfrm>
            <a:off x="548640" y="438912"/>
            <a:ext cx="96313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Sprachenlernen &amp; Bildung: jedes Wort ein Bild</a:t>
            </a:r>
            <a:endParaRPr lang="en-US" sz="3200" dirty="0"/>
          </a:p>
        </p:txBody>
      </p:sp>
      <p:sp>
        <p:nvSpPr>
          <p:cNvPr id="4" name="Vision-Badge"/>
          <p:cNvSpPr/>
          <p:nvPr/>
        </p:nvSpPr>
        <p:spPr>
          <a:xfrm>
            <a:off x="10472623" y="182880"/>
            <a:ext cx="1170432" cy="310896"/>
          </a:xfrm>
          <a:prstGeom prst="roundRect">
            <a:avLst>
              <a:gd name="adj" fmla="val 50000"/>
            </a:avLst>
          </a:prstGeom>
          <a:solidFill>
            <a:srgbClr val="2A1530"/>
          </a:solidFill>
          <a:ln w="15875">
            <a:solidFill>
              <a:srgbClr val="FF2D7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472623" y="182880"/>
            <a:ext cx="11704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2D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✦ VISION</a:t>
            </a:r>
            <a:endParaRPr lang="en-US" sz="1000" dirty="0"/>
          </a:p>
        </p:txBody>
      </p:sp>
      <p:sp>
        <p:nvSpPr>
          <p:cNvPr id="6" name="Fuß"/>
          <p:cNvSpPr txBox="1"/>
          <p:nvPr/>
        </p:nvSpPr>
        <p:spPr>
          <a:xfrm>
            <a:off x="9357055" y="6473952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LiveFX  ·  14</a:t>
            </a:r>
            <a:endParaRPr lang="en-US" sz="900" dirty="0"/>
          </a:p>
        </p:txBody>
      </p:sp>
      <p:sp>
        <p:nvSpPr>
          <p:cNvPr id="8" name="WortBild-Karte"/>
          <p:cNvSpPr/>
          <p:nvPr/>
        </p:nvSpPr>
        <p:spPr>
          <a:xfrm>
            <a:off x="548640" y="1325880"/>
            <a:ext cx="4846320" cy="35204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31750">
            <a:solidFill>
              <a:srgbClr val="FFD166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48640" y="1435608"/>
            <a:ext cx="48463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🍎</a:t>
            </a:r>
            <a:endParaRPr lang="en-US" sz="7200" dirty="0"/>
          </a:p>
        </p:txBody>
      </p:sp>
      <p:sp>
        <p:nvSpPr>
          <p:cNvPr id="10" name="Text 7"/>
          <p:cNvSpPr txBox="1"/>
          <p:nvPr/>
        </p:nvSpPr>
        <p:spPr>
          <a:xfrm>
            <a:off x="731520" y="2587752"/>
            <a:ext cx="4480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1B1E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elma</a:t>
            </a:r>
            <a:endParaRPr lang="en-US" sz="5000" dirty="0"/>
          </a:p>
        </p:txBody>
      </p:sp>
      <p:sp>
        <p:nvSpPr>
          <p:cNvPr id="11" name="Text 8"/>
          <p:cNvSpPr txBox="1"/>
          <p:nvPr/>
        </p:nvSpPr>
        <p:spPr>
          <a:xfrm>
            <a:off x="731520" y="3337560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· ma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731520" y="3721608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apple</a:t>
            </a:r>
            <a:pPr algn="ctr" indent="0" marL="0">
              <a:buNone/>
            </a:pPr>
            <a:r>
              <a:rPr lang="en-US" sz="200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·  </a:t>
            </a:r>
            <a:pPr algn="ctr" indent="0" marL="0">
              <a:buNone/>
            </a:pPr>
            <a:r>
              <a:rPr lang="en-US" sz="2000" dirty="0">
                <a:solidFill>
                  <a:srgbClr val="1B1E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Apfel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2011680" y="4206240"/>
            <a:ext cx="457200" cy="457200"/>
          </a:xfrm>
          <a:prstGeom prst="ellips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011680" y="4206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🔊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2560320" y="420624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7A5B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„elma“ – tr-TR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1417320" y="4983480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F2330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417320" y="4983480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D1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2514600" y="4983480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F2330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2514600" y="4983480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D1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3611880" y="4983480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F2330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3611880" y="4983480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D1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</a:t>
            </a:r>
            <a:endParaRPr lang="en-US" sz="105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5413248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Drei Modi</a:t>
            </a:r>
            <a:endParaRPr lang="en-US" sz="1050" dirty="0"/>
          </a:p>
        </p:txBody>
      </p:sp>
      <p:sp>
        <p:nvSpPr>
          <p:cNvPr id="23" name="Shape 20"/>
          <p:cNvSpPr/>
          <p:nvPr/>
        </p:nvSpPr>
        <p:spPr>
          <a:xfrm>
            <a:off x="548640" y="5705856"/>
            <a:ext cx="1554480" cy="384048"/>
          </a:xfrm>
          <a:prstGeom prst="roundRect">
            <a:avLst>
              <a:gd name="adj" fmla="val 50000"/>
            </a:avLst>
          </a:prstGeom>
          <a:solidFill>
            <a:srgbClr val="1F2330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548640" y="5705856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D1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Übersetzen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2194560" y="5705856"/>
            <a:ext cx="1554480" cy="384048"/>
          </a:xfrm>
          <a:prstGeom prst="roundRect">
            <a:avLst>
              <a:gd name="adj" fmla="val 50000"/>
            </a:avLst>
          </a:prstGeom>
          <a:solidFill>
            <a:srgbClr val="1F2330"/>
          </a:solidFill>
          <a:ln w="12700">
            <a:solidFill>
              <a:srgbClr val="2DFFB5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2194560" y="5705856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DFF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Lesehilfe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3840480" y="5705856"/>
            <a:ext cx="1554480" cy="384048"/>
          </a:xfrm>
          <a:prstGeom prst="roundRect">
            <a:avLst>
              <a:gd name="adj" fmla="val 50000"/>
            </a:avLst>
          </a:prstGeom>
          <a:solidFill>
            <a:srgbClr val="1F2330"/>
          </a:solidFill>
          <a:ln w="12700">
            <a:solidFill>
              <a:srgbClr val="FF2D75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3840480" y="5705856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2D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Nachsprechen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5806440" y="1325880"/>
            <a:ext cx="5836615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 Kind sagt „Apfel“ – sofort: 🍎, „elma“ in der Zielsprache, „der Apfel“ mit farbigem Artikel und die Aussprache. Ohne Klick.</a:t>
            </a:r>
            <a:endParaRPr lang="en-US" sz="14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Lesehilfe in der eigenen Sprache: für Kinder vor dem Lesealter, DaZ, Integrationskurse und neurodiverse Lernende.</a:t>
            </a:r>
            <a:endParaRPr lang="en-US" sz="14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Lokal, ohne Konto, offline – Schul-Datenschutz als Verkaufsargument. Aussprache über die Systemstimmen des Geräts [Quelle 29].</a:t>
            </a:r>
            <a:endParaRPr lang="en-US" sz="1400" dirty="0"/>
          </a:p>
        </p:txBody>
      </p:sp>
      <p:sp>
        <p:nvSpPr>
          <p:cNvPr id="30" name="Shape 27"/>
          <p:cNvSpPr/>
          <p:nvPr/>
        </p:nvSpPr>
        <p:spPr>
          <a:xfrm>
            <a:off x="5806440" y="3794760"/>
            <a:ext cx="1854098" cy="1417320"/>
          </a:xfrm>
          <a:prstGeom prst="roundRect">
            <a:avLst>
              <a:gd name="adj" fmla="val 7742"/>
            </a:avLst>
          </a:prstGeom>
          <a:solidFill>
            <a:srgbClr val="181B23"/>
          </a:solidFill>
          <a:ln w="12700">
            <a:solidFill>
              <a:srgbClr val="181B23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5971032" y="3886200"/>
            <a:ext cx="157977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FD1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12,7 Mio.</a:t>
            </a:r>
            <a:endParaRPr lang="en-US" sz="2400" dirty="0"/>
          </a:p>
        </p:txBody>
      </p:sp>
      <p:sp>
        <p:nvSpPr>
          <p:cNvPr id="32" name="Text 29"/>
          <p:cNvSpPr txBox="1"/>
          <p:nvPr/>
        </p:nvSpPr>
        <p:spPr>
          <a:xfrm>
            <a:off x="5971032" y="4407408"/>
            <a:ext cx="157977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zahlende Duolingo-Abonnenten, Q2 2026 [Quelle 32]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7797698" y="3794760"/>
            <a:ext cx="1854098" cy="1417320"/>
          </a:xfrm>
          <a:prstGeom prst="roundRect">
            <a:avLst>
              <a:gd name="adj" fmla="val 7742"/>
            </a:avLst>
          </a:prstGeom>
          <a:solidFill>
            <a:srgbClr val="181B23"/>
          </a:solidFill>
          <a:ln w="12700">
            <a:solidFill>
              <a:srgbClr val="181B23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7962290" y="3886200"/>
            <a:ext cx="157977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DFF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307.000</a:t>
            </a:r>
            <a:endParaRPr lang="en-US" sz="2400" dirty="0"/>
          </a:p>
        </p:txBody>
      </p:sp>
      <p:sp>
        <p:nvSpPr>
          <p:cNvPr id="35" name="Text 32"/>
          <p:cNvSpPr txBox="1"/>
          <p:nvPr/>
        </p:nvSpPr>
        <p:spPr>
          <a:xfrm>
            <a:off x="7962290" y="4407408"/>
            <a:ext cx="157977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neue Teilnehmende in Integrationskursen 2025 [Quelle 36]</a:t>
            </a:r>
            <a:endParaRPr lang="en-US" sz="1050" dirty="0"/>
          </a:p>
        </p:txBody>
      </p:sp>
      <p:sp>
        <p:nvSpPr>
          <p:cNvPr id="36" name="Shape 33"/>
          <p:cNvSpPr/>
          <p:nvPr/>
        </p:nvSpPr>
        <p:spPr>
          <a:xfrm>
            <a:off x="9788957" y="3794760"/>
            <a:ext cx="1854098" cy="1417320"/>
          </a:xfrm>
          <a:prstGeom prst="roundRect">
            <a:avLst>
              <a:gd name="adj" fmla="val 7742"/>
            </a:avLst>
          </a:prstGeom>
          <a:solidFill>
            <a:srgbClr val="181B23"/>
          </a:solidFill>
          <a:ln w="12700">
            <a:solidFill>
              <a:srgbClr val="181B23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9953549" y="3886200"/>
            <a:ext cx="157977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5AD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Mrd. €</a:t>
            </a:r>
            <a:endParaRPr lang="en-US" sz="2400" dirty="0"/>
          </a:p>
        </p:txBody>
      </p:sp>
      <p:sp>
        <p:nvSpPr>
          <p:cNvPr id="38" name="Text 35"/>
          <p:cNvSpPr txBox="1"/>
          <p:nvPr/>
        </p:nvSpPr>
        <p:spPr>
          <a:xfrm>
            <a:off x="9953549" y="4407408"/>
            <a:ext cx="157977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DigitalPakt 2.0 über fünf Jahre, Start 1.9.2026 [Quelle 40]</a:t>
            </a:r>
            <a:endParaRPr lang="en-US" sz="1050" dirty="0"/>
          </a:p>
        </p:txBody>
      </p:sp>
      <p:sp>
        <p:nvSpPr>
          <p:cNvPr id="39" name="Shape 36"/>
          <p:cNvSpPr/>
          <p:nvPr/>
        </p:nvSpPr>
        <p:spPr>
          <a:xfrm>
            <a:off x="5806440" y="5349240"/>
            <a:ext cx="5836615" cy="868680"/>
          </a:xfrm>
          <a:prstGeom prst="roundRect">
            <a:avLst>
              <a:gd name="adj" fmla="val 12632"/>
            </a:avLst>
          </a:prstGeom>
          <a:solidFill>
            <a:srgbClr val="1F2330"/>
          </a:solidFill>
          <a:ln w="12700">
            <a:solidFill>
              <a:srgbClr val="1F2330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6007608" y="5394960"/>
            <a:ext cx="543427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Erlöse (Schätzung): WortBild Familie 4,99 €/Monat · Schullizenz 300–800 €/Jahr · Kurslizenz 49 € pro Lehrkraft und Jahr · Verlags-Edition für zweisprachige Bücher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11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18288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F2D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LINIEN D + C · STUDIO UND RÄUME</a:t>
            </a:r>
            <a:endParaRPr lang="en-US" sz="1000" dirty="0"/>
          </a:p>
        </p:txBody>
      </p:sp>
      <p:sp>
        <p:nvSpPr>
          <p:cNvPr id="3" name="Titel"/>
          <p:cNvSpPr txBox="1"/>
          <p:nvPr/>
        </p:nvSpPr>
        <p:spPr>
          <a:xfrm>
            <a:off x="548640" y="438912"/>
            <a:ext cx="96313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Auto-Edit, Editor, VR/AR – und ein größerer Markt</a:t>
            </a:r>
            <a:endParaRPr lang="en-US" sz="3100" dirty="0"/>
          </a:p>
        </p:txBody>
      </p:sp>
      <p:sp>
        <p:nvSpPr>
          <p:cNvPr id="4" name="Vision-Badge"/>
          <p:cNvSpPr/>
          <p:nvPr/>
        </p:nvSpPr>
        <p:spPr>
          <a:xfrm>
            <a:off x="10472623" y="182880"/>
            <a:ext cx="1170432" cy="310896"/>
          </a:xfrm>
          <a:prstGeom prst="roundRect">
            <a:avLst>
              <a:gd name="adj" fmla="val 50000"/>
            </a:avLst>
          </a:prstGeom>
          <a:solidFill>
            <a:srgbClr val="2A1530"/>
          </a:solidFill>
          <a:ln w="15875">
            <a:solidFill>
              <a:srgbClr val="FF2D7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472623" y="182880"/>
            <a:ext cx="11704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2D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✦ VISION</a:t>
            </a:r>
            <a:endParaRPr lang="en-US" sz="1000" dirty="0"/>
          </a:p>
        </p:txBody>
      </p:sp>
      <p:sp>
        <p:nvSpPr>
          <p:cNvPr id="6" name="Fuß"/>
          <p:cNvSpPr txBox="1"/>
          <p:nvPr/>
        </p:nvSpPr>
        <p:spPr>
          <a:xfrm>
            <a:off x="9357055" y="6473952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LiveFX  ·  15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1298448"/>
            <a:ext cx="6446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FF2D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LiveFX Studio: Live-Schnitt und Auto-Edit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548640" y="1645920"/>
            <a:ext cx="3154680" cy="1325880"/>
          </a:xfrm>
          <a:prstGeom prst="roundRect">
            <a:avLst>
              <a:gd name="adj" fmla="val 8276"/>
            </a:avLst>
          </a:prstGeom>
          <a:solidFill>
            <a:srgbClr val="181B23"/>
          </a:solidFill>
          <a:ln w="12700">
            <a:solidFill>
              <a:srgbClr val="181B23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31520" y="1719072"/>
            <a:ext cx="2788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→ Highlights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731520" y="2029968"/>
            <a:ext cx="27889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Nach dem Stream 3–5 Clips im Format 9:16 – dort, wo Memes, Geschenke und Chat am dichtesten waren. Ohne Upload.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3840480" y="1645920"/>
            <a:ext cx="3154680" cy="1325880"/>
          </a:xfrm>
          <a:prstGeom prst="roundRect">
            <a:avLst>
              <a:gd name="adj" fmla="val 8276"/>
            </a:avLst>
          </a:prstGeom>
          <a:solidFill>
            <a:srgbClr val="181B23"/>
          </a:solidFill>
          <a:ln w="12700">
            <a:solidFill>
              <a:srgbClr val="181B23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023360" y="1719072"/>
            <a:ext cx="2788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Datei rein → fertig raus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4023360" y="2029968"/>
            <a:ext cx="27889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Video ziehen → lokales Transkript → Effekte, Szenen, Schnitte als Chips → MP4 per Hardware-Encoder [Quelle 57, 59].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548640" y="3108960"/>
            <a:ext cx="6446520" cy="868680"/>
          </a:xfrm>
          <a:prstGeom prst="roundRect">
            <a:avLst>
              <a:gd name="adj" fmla="val 12632"/>
            </a:avLst>
          </a:prstGeom>
          <a:solidFill>
            <a:srgbClr val="1F2330"/>
          </a:solidFill>
          <a:ln w="12700">
            <a:solidFill>
              <a:srgbClr val="1F2330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85800" y="3200400"/>
            <a:ext cx="1325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🎞 Video.mp4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„Höre zu … (lokal)“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2103120" y="3291840"/>
            <a:ext cx="4754880" cy="274320"/>
          </a:xfrm>
          <a:prstGeom prst="rect">
            <a:avLst/>
          </a:prstGeom>
          <a:solidFill>
            <a:srgbClr val="262B38"/>
          </a:solidFill>
          <a:ln/>
        </p:spPr>
      </p:sp>
      <p:sp>
        <p:nvSpPr>
          <p:cNvPr id="18" name="Shape 15"/>
          <p:cNvSpPr/>
          <p:nvPr/>
        </p:nvSpPr>
        <p:spPr>
          <a:xfrm>
            <a:off x="2198218" y="3310128"/>
            <a:ext cx="237744" cy="237744"/>
          </a:xfrm>
          <a:prstGeom prst="roundRect">
            <a:avLst>
              <a:gd name="adj" fmla="val 23077"/>
            </a:avLst>
          </a:prstGeom>
          <a:solidFill>
            <a:srgbClr val="8A93A6"/>
          </a:solidFill>
          <a:ln/>
        </p:spPr>
      </p:sp>
      <p:sp>
        <p:nvSpPr>
          <p:cNvPr id="19" name="Shape 16"/>
          <p:cNvSpPr/>
          <p:nvPr/>
        </p:nvSpPr>
        <p:spPr>
          <a:xfrm>
            <a:off x="2626157" y="3310128"/>
            <a:ext cx="237744" cy="237744"/>
          </a:xfrm>
          <a:prstGeom prst="roundRect">
            <a:avLst>
              <a:gd name="adj" fmla="val 23077"/>
            </a:avLst>
          </a:prstGeom>
          <a:solidFill>
            <a:srgbClr val="2DFFB5"/>
          </a:solidFill>
          <a:ln/>
        </p:spPr>
      </p:sp>
      <p:sp>
        <p:nvSpPr>
          <p:cNvPr id="20" name="Shape 17"/>
          <p:cNvSpPr/>
          <p:nvPr/>
        </p:nvSpPr>
        <p:spPr>
          <a:xfrm>
            <a:off x="3054096" y="3310128"/>
            <a:ext cx="190195" cy="237744"/>
          </a:xfrm>
          <a:prstGeom prst="roundRect">
            <a:avLst>
              <a:gd name="adj" fmla="val 28846"/>
            </a:avLst>
          </a:prstGeom>
          <a:solidFill>
            <a:srgbClr val="FFD166"/>
          </a:solidFill>
          <a:ln/>
        </p:spPr>
      </p:sp>
      <p:sp>
        <p:nvSpPr>
          <p:cNvPr id="21" name="Shape 18"/>
          <p:cNvSpPr/>
          <p:nvPr/>
        </p:nvSpPr>
        <p:spPr>
          <a:xfrm>
            <a:off x="3482035" y="3310128"/>
            <a:ext cx="95098" cy="237744"/>
          </a:xfrm>
          <a:prstGeom prst="roundRect">
            <a:avLst>
              <a:gd name="adj" fmla="val 57692"/>
            </a:avLst>
          </a:prstGeom>
          <a:solidFill>
            <a:srgbClr val="FF2D75"/>
          </a:solidFill>
          <a:ln/>
        </p:spPr>
      </p:sp>
      <p:sp>
        <p:nvSpPr>
          <p:cNvPr id="22" name="Shape 19"/>
          <p:cNvSpPr/>
          <p:nvPr/>
        </p:nvSpPr>
        <p:spPr>
          <a:xfrm>
            <a:off x="3814877" y="3310128"/>
            <a:ext cx="332842" cy="237744"/>
          </a:xfrm>
          <a:prstGeom prst="roundRect">
            <a:avLst>
              <a:gd name="adj" fmla="val 23077"/>
            </a:avLst>
          </a:prstGeom>
          <a:solidFill>
            <a:srgbClr val="8A93A6"/>
          </a:solidFill>
          <a:ln/>
        </p:spPr>
      </p:sp>
      <p:sp>
        <p:nvSpPr>
          <p:cNvPr id="23" name="Shape 20"/>
          <p:cNvSpPr/>
          <p:nvPr/>
        </p:nvSpPr>
        <p:spPr>
          <a:xfrm>
            <a:off x="4385462" y="3310128"/>
            <a:ext cx="332842" cy="237744"/>
          </a:xfrm>
          <a:prstGeom prst="roundRect">
            <a:avLst>
              <a:gd name="adj" fmla="val 23077"/>
            </a:avLst>
          </a:prstGeom>
          <a:solidFill>
            <a:srgbClr val="2DFFB5"/>
          </a:solidFill>
          <a:ln/>
        </p:spPr>
      </p:sp>
      <p:sp>
        <p:nvSpPr>
          <p:cNvPr id="24" name="Shape 21"/>
          <p:cNvSpPr/>
          <p:nvPr/>
        </p:nvSpPr>
        <p:spPr>
          <a:xfrm>
            <a:off x="4860950" y="3310128"/>
            <a:ext cx="142646" cy="237744"/>
          </a:xfrm>
          <a:prstGeom prst="roundRect">
            <a:avLst>
              <a:gd name="adj" fmla="val 38462"/>
            </a:avLst>
          </a:prstGeom>
          <a:solidFill>
            <a:srgbClr val="FF2D75"/>
          </a:solidFill>
          <a:ln/>
        </p:spPr>
      </p:sp>
      <p:sp>
        <p:nvSpPr>
          <p:cNvPr id="25" name="Shape 22"/>
          <p:cNvSpPr/>
          <p:nvPr/>
        </p:nvSpPr>
        <p:spPr>
          <a:xfrm>
            <a:off x="5241341" y="3310128"/>
            <a:ext cx="190195" cy="237744"/>
          </a:xfrm>
          <a:prstGeom prst="roundRect">
            <a:avLst>
              <a:gd name="adj" fmla="val 28846"/>
            </a:avLst>
          </a:prstGeom>
          <a:solidFill>
            <a:srgbClr val="FFD166"/>
          </a:solidFill>
          <a:ln/>
        </p:spPr>
      </p:sp>
      <p:sp>
        <p:nvSpPr>
          <p:cNvPr id="26" name="Shape 23"/>
          <p:cNvSpPr/>
          <p:nvPr/>
        </p:nvSpPr>
        <p:spPr>
          <a:xfrm>
            <a:off x="5621731" y="3310128"/>
            <a:ext cx="285293" cy="237744"/>
          </a:xfrm>
          <a:prstGeom prst="roundRect">
            <a:avLst>
              <a:gd name="adj" fmla="val 23077"/>
            </a:avLst>
          </a:prstGeom>
          <a:solidFill>
            <a:srgbClr val="8A93A6"/>
          </a:solidFill>
          <a:ln/>
        </p:spPr>
      </p:sp>
      <p:sp>
        <p:nvSpPr>
          <p:cNvPr id="27" name="Shape 24"/>
          <p:cNvSpPr/>
          <p:nvPr/>
        </p:nvSpPr>
        <p:spPr>
          <a:xfrm>
            <a:off x="6097219" y="3310128"/>
            <a:ext cx="285293" cy="237744"/>
          </a:xfrm>
          <a:prstGeom prst="roundRect">
            <a:avLst>
              <a:gd name="adj" fmla="val 23077"/>
            </a:avLst>
          </a:prstGeom>
          <a:solidFill>
            <a:srgbClr val="2DFFB5"/>
          </a:solidFill>
          <a:ln/>
        </p:spPr>
      </p:sp>
      <p:sp>
        <p:nvSpPr>
          <p:cNvPr id="28" name="Shape 25"/>
          <p:cNvSpPr/>
          <p:nvPr/>
        </p:nvSpPr>
        <p:spPr>
          <a:xfrm>
            <a:off x="6525158" y="3310128"/>
            <a:ext cx="142646" cy="237744"/>
          </a:xfrm>
          <a:prstGeom prst="roundRect">
            <a:avLst>
              <a:gd name="adj" fmla="val 38462"/>
            </a:avLst>
          </a:prstGeom>
          <a:solidFill>
            <a:srgbClr val="FF2D75"/>
          </a:solidFill>
          <a:ln/>
        </p:spPr>
      </p:sp>
      <p:sp>
        <p:nvSpPr>
          <p:cNvPr id="29" name="Shape 26"/>
          <p:cNvSpPr/>
          <p:nvPr/>
        </p:nvSpPr>
        <p:spPr>
          <a:xfrm>
            <a:off x="2103120" y="3712464"/>
            <a:ext cx="109728" cy="109728"/>
          </a:xfrm>
          <a:prstGeom prst="ellipse">
            <a:avLst/>
          </a:prstGeom>
          <a:solidFill>
            <a:srgbClr val="FF2D75"/>
          </a:solidFill>
          <a:ln w="12700">
            <a:solidFill>
              <a:srgbClr val="FF2D75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2267712" y="363931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Meme</a:t>
            </a:r>
            <a:endParaRPr lang="en-US" sz="950" dirty="0"/>
          </a:p>
        </p:txBody>
      </p:sp>
      <p:sp>
        <p:nvSpPr>
          <p:cNvPr id="31" name="Shape 28"/>
          <p:cNvSpPr/>
          <p:nvPr/>
        </p:nvSpPr>
        <p:spPr>
          <a:xfrm>
            <a:off x="3291840" y="3712464"/>
            <a:ext cx="109728" cy="109728"/>
          </a:xfrm>
          <a:prstGeom prst="ellipse">
            <a:avLst/>
          </a:prstGeom>
          <a:solidFill>
            <a:srgbClr val="2DFFB5"/>
          </a:solidFill>
          <a:ln w="12700">
            <a:solidFill>
              <a:srgbClr val="2DFFB5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3456432" y="363931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Szene</a:t>
            </a:r>
            <a:endParaRPr lang="en-US" sz="950" dirty="0"/>
          </a:p>
        </p:txBody>
      </p:sp>
      <p:sp>
        <p:nvSpPr>
          <p:cNvPr id="33" name="Shape 30"/>
          <p:cNvSpPr/>
          <p:nvPr/>
        </p:nvSpPr>
        <p:spPr>
          <a:xfrm>
            <a:off x="4480560" y="3712464"/>
            <a:ext cx="109728" cy="109728"/>
          </a:xfrm>
          <a:prstGeom prst="ellips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4645152" y="363931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Zoom</a:t>
            </a:r>
            <a:endParaRPr lang="en-US" sz="950" dirty="0"/>
          </a:p>
        </p:txBody>
      </p:sp>
      <p:sp>
        <p:nvSpPr>
          <p:cNvPr id="35" name="Shape 32"/>
          <p:cNvSpPr/>
          <p:nvPr/>
        </p:nvSpPr>
        <p:spPr>
          <a:xfrm>
            <a:off x="5669280" y="3712464"/>
            <a:ext cx="109728" cy="109728"/>
          </a:xfrm>
          <a:prstGeom prst="ellipse">
            <a:avLst/>
          </a:prstGeom>
          <a:solidFill>
            <a:srgbClr val="8A93A6"/>
          </a:solidFill>
          <a:ln w="12700">
            <a:solidFill>
              <a:srgbClr val="8A93A6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5833872" y="363931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Schnitt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548640" y="4114800"/>
            <a:ext cx="6446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5AD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LiveFX Räume: ein Zustand, viele Bildschirme</a:t>
            </a:r>
            <a:endParaRPr lang="en-US" sz="1400" dirty="0"/>
          </a:p>
        </p:txBody>
      </p:sp>
      <p:sp>
        <p:nvSpPr>
          <p:cNvPr id="38" name="Shape 35"/>
          <p:cNvSpPr/>
          <p:nvPr/>
        </p:nvSpPr>
        <p:spPr>
          <a:xfrm>
            <a:off x="548640" y="4480560"/>
            <a:ext cx="2057400" cy="658368"/>
          </a:xfrm>
          <a:prstGeom prst="roundRect">
            <a:avLst>
              <a:gd name="adj" fmla="val 16667"/>
            </a:avLst>
          </a:prstGeom>
          <a:solidFill>
            <a:srgbClr val="181B23"/>
          </a:solidFill>
          <a:ln w="12700">
            <a:solidFill>
              <a:srgbClr val="181B23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85800" y="4535424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🎤 Bühne &amp; Events</a:t>
            </a:r>
            <a:endParaRPr lang="en-US" sz="1150" dirty="0"/>
          </a:p>
        </p:txBody>
      </p:sp>
      <p:sp>
        <p:nvSpPr>
          <p:cNvPr id="40" name="Text 37"/>
          <p:cNvSpPr txBox="1"/>
          <p:nvPr/>
        </p:nvSpPr>
        <p:spPr>
          <a:xfrm>
            <a:off x="685800" y="4828032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b="1" dirty="0">
                <a:solidFill>
                  <a:srgbClr val="2DFF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geht heute</a:t>
            </a:r>
            <a:endParaRPr lang="en-US" sz="950" dirty="0"/>
          </a:p>
        </p:txBody>
      </p:sp>
      <p:sp>
        <p:nvSpPr>
          <p:cNvPr id="41" name="Shape 38"/>
          <p:cNvSpPr/>
          <p:nvPr/>
        </p:nvSpPr>
        <p:spPr>
          <a:xfrm>
            <a:off x="2743200" y="4480560"/>
            <a:ext cx="2057400" cy="658368"/>
          </a:xfrm>
          <a:prstGeom prst="roundRect">
            <a:avLst>
              <a:gd name="adj" fmla="val 16667"/>
            </a:avLst>
          </a:prstGeom>
          <a:solidFill>
            <a:srgbClr val="181B23"/>
          </a:solidFill>
          <a:ln w="12700">
            <a:solidFill>
              <a:srgbClr val="181B23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2880360" y="4535424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🏫 Klassenzimmer</a:t>
            </a:r>
            <a:endParaRPr lang="en-US" sz="1150" dirty="0"/>
          </a:p>
        </p:txBody>
      </p:sp>
      <p:sp>
        <p:nvSpPr>
          <p:cNvPr id="43" name="Text 40"/>
          <p:cNvSpPr txBox="1"/>
          <p:nvPr/>
        </p:nvSpPr>
        <p:spPr>
          <a:xfrm>
            <a:off x="2880360" y="4828032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b="1" dirty="0">
                <a:solidFill>
                  <a:srgbClr val="2DFF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geht heute</a:t>
            </a:r>
            <a:endParaRPr lang="en-US" sz="950" dirty="0"/>
          </a:p>
        </p:txBody>
      </p:sp>
      <p:sp>
        <p:nvSpPr>
          <p:cNvPr id="44" name="Shape 41"/>
          <p:cNvSpPr/>
          <p:nvPr/>
        </p:nvSpPr>
        <p:spPr>
          <a:xfrm>
            <a:off x="4937760" y="4480560"/>
            <a:ext cx="2057400" cy="658368"/>
          </a:xfrm>
          <a:prstGeom prst="roundRect">
            <a:avLst>
              <a:gd name="adj" fmla="val 16667"/>
            </a:avLst>
          </a:prstGeom>
          <a:solidFill>
            <a:srgbClr val="181B23"/>
          </a:solidFill>
          <a:ln w="12700">
            <a:solidFill>
              <a:srgbClr val="181B23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5074920" y="4535424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🎧 Hörbuch mit Bildern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5074920" y="4828032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b="1" dirty="0">
                <a:solidFill>
                  <a:srgbClr val="FFD1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2027</a:t>
            </a:r>
            <a:endParaRPr lang="en-US" sz="950" dirty="0"/>
          </a:p>
        </p:txBody>
      </p:sp>
      <p:sp>
        <p:nvSpPr>
          <p:cNvPr id="47" name="Shape 44"/>
          <p:cNvSpPr/>
          <p:nvPr/>
        </p:nvSpPr>
        <p:spPr>
          <a:xfrm>
            <a:off x="548640" y="5257800"/>
            <a:ext cx="2057400" cy="658368"/>
          </a:xfrm>
          <a:prstGeom prst="roundRect">
            <a:avLst>
              <a:gd name="adj" fmla="val 16667"/>
            </a:avLst>
          </a:prstGeom>
          <a:solidFill>
            <a:srgbClr val="181B23"/>
          </a:solidFill>
          <a:ln w="12700">
            <a:solidFill>
              <a:srgbClr val="181B23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685800" y="5312664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📱 AR am Handy</a:t>
            </a:r>
            <a:endParaRPr lang="en-US" sz="1150" dirty="0"/>
          </a:p>
        </p:txBody>
      </p:sp>
      <p:sp>
        <p:nvSpPr>
          <p:cNvPr id="49" name="Text 46"/>
          <p:cNvSpPr txBox="1"/>
          <p:nvPr/>
        </p:nvSpPr>
        <p:spPr>
          <a:xfrm>
            <a:off x="685800" y="5605272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b="1" dirty="0">
                <a:solidFill>
                  <a:srgbClr val="FFD1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2027</a:t>
            </a:r>
            <a:endParaRPr lang="en-US" sz="950" dirty="0"/>
          </a:p>
        </p:txBody>
      </p:sp>
      <p:sp>
        <p:nvSpPr>
          <p:cNvPr id="50" name="Shape 47"/>
          <p:cNvSpPr/>
          <p:nvPr/>
        </p:nvSpPr>
        <p:spPr>
          <a:xfrm>
            <a:off x="2743200" y="5257800"/>
            <a:ext cx="2057400" cy="658368"/>
          </a:xfrm>
          <a:prstGeom prst="roundRect">
            <a:avLst>
              <a:gd name="adj" fmla="val 16667"/>
            </a:avLst>
          </a:prstGeom>
          <a:solidFill>
            <a:srgbClr val="181B23"/>
          </a:solidFill>
          <a:ln w="12700">
            <a:solidFill>
              <a:srgbClr val="181B23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2880360" y="5312664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🥽 WebXR / VR</a:t>
            </a:r>
            <a:endParaRPr lang="en-US" sz="1150" dirty="0"/>
          </a:p>
        </p:txBody>
      </p:sp>
      <p:sp>
        <p:nvSpPr>
          <p:cNvPr id="52" name="Text 49"/>
          <p:cNvSpPr txBox="1"/>
          <p:nvPr/>
        </p:nvSpPr>
        <p:spPr>
          <a:xfrm>
            <a:off x="2880360" y="5605272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b="1" dirty="0">
                <a:solidFill>
                  <a:srgbClr val="FF2D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Vision 2028</a:t>
            </a:r>
            <a:endParaRPr lang="en-US" sz="950" dirty="0"/>
          </a:p>
        </p:txBody>
      </p:sp>
      <p:sp>
        <p:nvSpPr>
          <p:cNvPr id="53" name="Shape 50"/>
          <p:cNvSpPr/>
          <p:nvPr/>
        </p:nvSpPr>
        <p:spPr>
          <a:xfrm>
            <a:off x="4937760" y="5257800"/>
            <a:ext cx="2057400" cy="658368"/>
          </a:xfrm>
          <a:prstGeom prst="roundRect">
            <a:avLst>
              <a:gd name="adj" fmla="val 16667"/>
            </a:avLst>
          </a:prstGeom>
          <a:solidFill>
            <a:srgbClr val="181B23"/>
          </a:solidFill>
          <a:ln w="12700">
            <a:solidFill>
              <a:srgbClr val="181B23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5074920" y="5312664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👓 Display-Brille</a:t>
            </a:r>
            <a:endParaRPr lang="en-US" sz="1150" dirty="0"/>
          </a:p>
        </p:txBody>
      </p:sp>
      <p:sp>
        <p:nvSpPr>
          <p:cNvPr id="55" name="Text 52"/>
          <p:cNvSpPr txBox="1"/>
          <p:nvPr/>
        </p:nvSpPr>
        <p:spPr>
          <a:xfrm>
            <a:off x="5074920" y="5605272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b="1" dirty="0">
                <a:solidFill>
                  <a:srgbClr val="FF2D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Vision 2028</a:t>
            </a:r>
            <a:endParaRPr lang="en-US" sz="950" dirty="0"/>
          </a:p>
        </p:txBody>
      </p:sp>
      <p:sp>
        <p:nvSpPr>
          <p:cNvPr id="56" name="Text 53"/>
          <p:cNvSpPr txBox="1"/>
          <p:nvPr/>
        </p:nvSpPr>
        <p:spPr>
          <a:xfrm>
            <a:off x="7269480" y="1298448"/>
            <a:ext cx="437357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FFD1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Erweiterter Markt</a:t>
            </a:r>
            <a:endParaRPr lang="en-US" sz="14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269480" y="1645920"/>
          <a:ext cx="4373575" cy="914400"/>
        </p:xfrm>
        <a:graphic>
          <a:graphicData uri="http://schemas.openxmlformats.org/drawingml/2006/table">
            <a:tbl>
              <a:tblPr/>
              <a:tblGrid>
                <a:gridCol w="2186788"/>
                <a:gridCol w="2186788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D16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Segment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3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D16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Größe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33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Videoschnitt-Software 2026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2,68 Mrd. USD [Quelle 51]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KI-Video (Generierung + Schnitt) 2026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3,67 Mrd. USD [Quelle 23]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Sprachlern-Apps (In-App) 2025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1,54 Mrd. USD [Quelle 33]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Hörbuch Deutschland 2025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374 Mio. € [Quelle 19]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Smart Glasses 2026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13,6 Mio. Geräte / 5,1 Mrd. USD [Quelle 45]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B2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Live-Streaming (Kern) 2026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5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2D7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97–157 Mrd. USD [Quelle 1, 2]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530"/>
                    </a:solidFill>
                  </a:tcPr>
                </a:tc>
              </a:tr>
            </a:tbl>
          </a:graphicData>
        </a:graphic>
      </p:graphicFrame>
      <p:sp>
        <p:nvSpPr>
          <p:cNvPr id="58" name="Text 54"/>
          <p:cNvSpPr txBox="1"/>
          <p:nvPr/>
        </p:nvSpPr>
        <p:spPr>
          <a:xfrm>
            <a:off x="7269480" y="4983480"/>
            <a:ext cx="4373575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i="1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Preis-Anker: OpusClip 15–29 USD, Descript 16–65 USD pro Monat [Quelle 54, 55]. LiveFX Pro+ 14,99 € (Schätzung) – ohne Cloud-Kosten, ohne Minutenlimit. XR und Brille: Schaufenster, keine Umsatzlinie.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F11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18288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F2D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NUTZERIN, AUTORIN, GRÜNDERIN</a:t>
            </a:r>
            <a:endParaRPr lang="en-US" sz="1000" dirty="0"/>
          </a:p>
        </p:txBody>
      </p:sp>
      <p:sp>
        <p:nvSpPr>
          <p:cNvPr id="3" name="Titel"/>
          <p:cNvSpPr txBox="1"/>
          <p:nvPr/>
        </p:nvSpPr>
        <p:spPr>
          <a:xfrm>
            <a:off x="548640" y="438912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</a:t>
            </a:r>
            <a:endParaRPr lang="en-US" sz="3200" dirty="0"/>
          </a:p>
        </p:txBody>
      </p:sp>
      <p:sp>
        <p:nvSpPr>
          <p:cNvPr id="4" name="Fuß"/>
          <p:cNvSpPr txBox="1"/>
          <p:nvPr/>
        </p:nvSpPr>
        <p:spPr>
          <a:xfrm>
            <a:off x="9357055" y="6473952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LiveFX  ·  16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1371600"/>
            <a:ext cx="5120640" cy="4526280"/>
          </a:xfrm>
          <a:prstGeom prst="roundRect">
            <a:avLst>
              <a:gd name="adj" fmla="val 2424"/>
            </a:avLst>
          </a:prstGeom>
          <a:solidFill>
            <a:srgbClr val="1F2330"/>
          </a:solidFill>
          <a:ln w="12700">
            <a:solidFill>
              <a:srgbClr val="1F2330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914400" y="1737360"/>
            <a:ext cx="1188720" cy="1188720"/>
          </a:xfrm>
          <a:prstGeom prst="ellipse">
            <a:avLst/>
          </a:prstGeom>
          <a:solidFill>
            <a:srgbClr val="FF2D75"/>
          </a:solidFill>
          <a:ln w="12700">
            <a:solidFill>
              <a:srgbClr val="FF2D75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914400" y="173736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[Foto]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2331720" y="182880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[Name]</a:t>
            </a:r>
            <a:endParaRPr lang="en-US" sz="2200" dirty="0"/>
          </a:p>
        </p:txBody>
      </p:sp>
      <p:sp>
        <p:nvSpPr>
          <p:cNvPr id="10" name="Text 7"/>
          <p:cNvSpPr txBox="1"/>
          <p:nvPr/>
        </p:nvSpPr>
        <p:spPr>
          <a:xfrm>
            <a:off x="2331720" y="2286000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FF2D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Gründerin · deutsch-türkische Autorin &amp; Live-Streamerin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914400" y="3200400"/>
            <a:ext cx="448056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Produkt, Inhalte, Community – und die eigenen Streams als Testlabor</a:t>
            </a:r>
            <a:endParaRPr lang="en-US" sz="12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Meme- und Story-Pakete in TR / DE / EN aus erster Hand</a:t>
            </a:r>
            <a:endParaRPr lang="en-US" sz="12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Kinderbuchreihe zu Neurodiversität – Brücke zu WortBild und Erzählfilm</a:t>
            </a:r>
            <a:endParaRPr lang="en-US" sz="12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Bücher: [Titel] · Streams: [Plattform / @handle] · [E-Mail]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5943600" y="1371600"/>
            <a:ext cx="5696712" cy="1389888"/>
          </a:xfrm>
          <a:prstGeom prst="roundRect">
            <a:avLst>
              <a:gd name="adj" fmla="val 7895"/>
            </a:avLst>
          </a:prstGeom>
          <a:solidFill>
            <a:srgbClr val="181B23"/>
          </a:solidFill>
          <a:ln w="12700">
            <a:solidFill>
              <a:srgbClr val="181B23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6172200" y="1746504"/>
            <a:ext cx="640080" cy="640080"/>
          </a:xfrm>
          <a:prstGeom prst="ellipse">
            <a:avLst/>
          </a:prstGeom>
          <a:solidFill>
            <a:srgbClr val="1F2330"/>
          </a:solidFill>
          <a:ln w="19050">
            <a:solidFill>
              <a:srgbClr val="2DFFB5"/>
            </a:solidFill>
            <a:prstDash val="dash"/>
          </a:ln>
        </p:spPr>
      </p:sp>
      <p:sp>
        <p:nvSpPr>
          <p:cNvPr id="14" name="Text 11"/>
          <p:cNvSpPr txBox="1"/>
          <p:nvPr/>
        </p:nvSpPr>
        <p:spPr>
          <a:xfrm>
            <a:off x="6172200" y="1746504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2DFF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2000" dirty="0"/>
          </a:p>
        </p:txBody>
      </p:sp>
      <p:sp>
        <p:nvSpPr>
          <p:cNvPr id="15" name="Text 12"/>
          <p:cNvSpPr txBox="1"/>
          <p:nvPr/>
        </p:nvSpPr>
        <p:spPr>
          <a:xfrm>
            <a:off x="7040880" y="1627632"/>
            <a:ext cx="4434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[Position offen] – Tech-Lead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7040880" y="2066544"/>
            <a:ext cx="4434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Audio / Realtime, Mobile-SDK, Canvas/WebGPU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5943600" y="2907792"/>
            <a:ext cx="5696712" cy="1389888"/>
          </a:xfrm>
          <a:prstGeom prst="roundRect">
            <a:avLst>
              <a:gd name="adj" fmla="val 7895"/>
            </a:avLst>
          </a:prstGeom>
          <a:solidFill>
            <a:srgbClr val="181B23"/>
          </a:solidFill>
          <a:ln w="12700">
            <a:solidFill>
              <a:srgbClr val="181B23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172200" y="3282696"/>
            <a:ext cx="640080" cy="640080"/>
          </a:xfrm>
          <a:prstGeom prst="ellipse">
            <a:avLst/>
          </a:prstGeom>
          <a:solidFill>
            <a:srgbClr val="1F2330"/>
          </a:solidFill>
          <a:ln w="19050">
            <a:solidFill>
              <a:srgbClr val="FFD166"/>
            </a:solidFill>
            <a:prstDash val="dash"/>
          </a:ln>
        </p:spPr>
      </p:sp>
      <p:sp>
        <p:nvSpPr>
          <p:cNvPr id="19" name="Text 16"/>
          <p:cNvSpPr txBox="1"/>
          <p:nvPr/>
        </p:nvSpPr>
        <p:spPr>
          <a:xfrm>
            <a:off x="6172200" y="3282696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D1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2000" dirty="0"/>
          </a:p>
        </p:txBody>
      </p:sp>
      <p:sp>
        <p:nvSpPr>
          <p:cNvPr id="20" name="Text 17"/>
          <p:cNvSpPr txBox="1"/>
          <p:nvPr/>
        </p:nvSpPr>
        <p:spPr>
          <a:xfrm>
            <a:off x="7040880" y="3163824"/>
            <a:ext cx="4434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[Position offen] – Creator-Partnerschaften</a:t>
            </a:r>
            <a:endParaRPr lang="en-US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7040880" y="3602736"/>
            <a:ext cx="4434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TR + DACH, Creator-Programm, Bildungsvertrieb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943600" y="4443984"/>
            <a:ext cx="5696712" cy="1389888"/>
          </a:xfrm>
          <a:prstGeom prst="roundRect">
            <a:avLst>
              <a:gd name="adj" fmla="val 7895"/>
            </a:avLst>
          </a:prstGeom>
          <a:solidFill>
            <a:srgbClr val="181B23"/>
          </a:solidFill>
          <a:ln w="12700">
            <a:solidFill>
              <a:srgbClr val="181B23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6172200" y="4818888"/>
            <a:ext cx="640080" cy="640080"/>
          </a:xfrm>
          <a:prstGeom prst="ellipse">
            <a:avLst/>
          </a:prstGeom>
          <a:solidFill>
            <a:srgbClr val="1F2330"/>
          </a:solidFill>
          <a:ln w="19050">
            <a:solidFill>
              <a:srgbClr val="9AA3B5"/>
            </a:solidFill>
            <a:prstDash val="dash"/>
          </a:ln>
        </p:spPr>
      </p:sp>
      <p:sp>
        <p:nvSpPr>
          <p:cNvPr id="24" name="Text 21"/>
          <p:cNvSpPr txBox="1"/>
          <p:nvPr/>
        </p:nvSpPr>
        <p:spPr>
          <a:xfrm>
            <a:off x="6172200" y="481888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</a:t>
            </a:r>
            <a:endParaRPr lang="en-US" sz="2000" dirty="0"/>
          </a:p>
        </p:txBody>
      </p:sp>
      <p:sp>
        <p:nvSpPr>
          <p:cNvPr id="25" name="Text 22"/>
          <p:cNvSpPr txBox="1"/>
          <p:nvPr/>
        </p:nvSpPr>
        <p:spPr>
          <a:xfrm>
            <a:off x="7040880" y="4700016"/>
            <a:ext cx="4434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Beirat / Partner</a:t>
            </a:r>
            <a:endParaRPr lang="en-US" sz="1500" dirty="0"/>
          </a:p>
        </p:txBody>
      </p:sp>
      <p:sp>
        <p:nvSpPr>
          <p:cNvPr id="26" name="Text 23"/>
          <p:cNvSpPr txBox="1"/>
          <p:nvPr/>
        </p:nvSpPr>
        <p:spPr>
          <a:xfrm>
            <a:off x="7040880" y="5138928"/>
            <a:ext cx="4434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[Name] · [Name] · Edtech/Didaktik: [Name]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F11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Notion/live-fx/business/landing-assets/overlay-neon.jpg">    </p:cNvPr>
          <p:cNvPicPr>
            <a:picLocks noChangeAspect="1"/>
          </p:cNvPicPr>
          <p:nvPr/>
        </p:nvPicPr>
        <p:blipFill>
          <a:blip r:embed="rId1">
            <a:alphaModFix amt="18000"/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502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2DFF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ASK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841248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Lasst uns Live-Streams zuhören lassen.</a:t>
            </a:r>
            <a:endParaRPr lang="en-US" sz="3400" dirty="0"/>
          </a:p>
        </p:txBody>
      </p:sp>
      <p:sp>
        <p:nvSpPr>
          <p:cNvPr id="5" name="Shape 2"/>
          <p:cNvSpPr/>
          <p:nvPr/>
        </p:nvSpPr>
        <p:spPr>
          <a:xfrm>
            <a:off x="548640" y="1828800"/>
            <a:ext cx="2670734" cy="3246120"/>
          </a:xfrm>
          <a:prstGeom prst="roundRect">
            <a:avLst>
              <a:gd name="adj" fmla="val 4109"/>
            </a:avLst>
          </a:prstGeom>
          <a:solidFill>
            <a:srgbClr val="181B23"/>
          </a:solidFill>
          <a:ln w="12700">
            <a:solidFill>
              <a:srgbClr val="181B23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993392"/>
            <a:ext cx="221353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FF2D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Pilot Plattform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724912"/>
            <a:ext cx="221353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LiveFX als Feature in TikTok LIVE Studio, Instagram Live Producer oder YouTube Live. Browser-Quelle läuft heute. 8 Wochen, 20 Creator, gemessene Watchtime, Gifts und Clips.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3356534" y="1828800"/>
            <a:ext cx="2670734" cy="3246120"/>
          </a:xfrm>
          <a:prstGeom prst="roundRect">
            <a:avLst>
              <a:gd name="adj" fmla="val 4109"/>
            </a:avLst>
          </a:prstGeom>
          <a:solidFill>
            <a:srgbClr val="181B23"/>
          </a:solidFill>
          <a:ln w="15875">
            <a:solidFill>
              <a:srgbClr val="FFD166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585134" y="1993392"/>
            <a:ext cx="221353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FFD1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Pilot Bildung &amp; Sprachen</a:t>
            </a:r>
            <a:endParaRPr lang="en-US" sz="1800" dirty="0"/>
          </a:p>
        </p:txBody>
      </p:sp>
      <p:sp>
        <p:nvSpPr>
          <p:cNvPr id="10" name="Text 7"/>
          <p:cNvSpPr txBox="1"/>
          <p:nvPr/>
        </p:nvSpPr>
        <p:spPr>
          <a:xfrm>
            <a:off x="3585134" y="2724912"/>
            <a:ext cx="221353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Bildungsträger, Integrationskurse, Schulen, Sprachlern-Plattformen und Verlage: WortBild und Erzählfilm in [Zahl] Kursen/Klassen bzw. mit [Zahl] Titeln testen.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64428" y="1828800"/>
            <a:ext cx="2670734" cy="3246120"/>
          </a:xfrm>
          <a:prstGeom prst="roundRect">
            <a:avLst>
              <a:gd name="adj" fmla="val 4109"/>
            </a:avLst>
          </a:prstGeom>
          <a:solidFill>
            <a:srgbClr val="181B23"/>
          </a:solidFill>
          <a:ln w="12700">
            <a:solidFill>
              <a:srgbClr val="181B23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393028" y="1993392"/>
            <a:ext cx="221353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2DFF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Partner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6393028" y="2724912"/>
            <a:ext cx="221353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Streaming-Software (OBS-Plug-in, Streamlabs), Creator-Agenturen TR / DACH, Audio- und ASR-Anbieter, Editor-Anbieter (Studio-SDK).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8972321" y="1828800"/>
            <a:ext cx="2670734" cy="3246120"/>
          </a:xfrm>
          <a:prstGeom prst="roundRect">
            <a:avLst>
              <a:gd name="adj" fmla="val 4109"/>
            </a:avLst>
          </a:prstGeom>
          <a:solidFill>
            <a:srgbClr val="181B23"/>
          </a:solidFill>
          <a:ln w="12700">
            <a:solidFill>
              <a:srgbClr val="181B23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9200921" y="1993392"/>
            <a:ext cx="221353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5AD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Gespräch &amp; Seed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9200921" y="2724912"/>
            <a:ext cx="221353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Übernahme-Gespräch: Technologie + Team. Parallel: Seed [Zahl] € für 18 Monate – 2 Hires, Creator-Programm, Piloten.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548640" y="5303520"/>
            <a:ext cx="11094415" cy="713232"/>
          </a:xfrm>
          <a:prstGeom prst="roundRect">
            <a:avLst>
              <a:gd name="adj" fmla="val 15385"/>
            </a:avLst>
          </a:prstGeom>
          <a:solidFill>
            <a:srgbClr val="1F2330"/>
          </a:solidFill>
          <a:ln w="12700">
            <a:solidFill>
              <a:srgbClr val="1F2330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22960" y="5321808"/>
            <a:ext cx="10545775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Kontakt: [E-Mail]   ·   Demo: [Link]   ·   Code &amp; Doku: live-fx/   ·   [Name]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548640" y="6144768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9A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Dieses Deck gibt es auch auf Türkisch und Englisch: LiveFX_Pitch_TR.pptx · LiveFX_Pitch_EN.pptx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9357055" y="6473952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LiveFX  ·  17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LiveFX – Pitch</dc:title>
  <dc:subject>LiveFX: Deine Stimme wird zum Effekt – und zum Bild</dc:subject>
  <dc:creator>[Name]</dc:creator>
  <cp:lastModifiedBy>[Name]</cp:lastModifiedBy>
  <cp:revision>1</cp:revision>
  <dcterms:created xsi:type="dcterms:W3CDTF">2026-10-03T13:06:51Z</dcterms:created>
  <dcterms:modified xsi:type="dcterms:W3CDTF">2026-10-03T13:06:51Z</dcterms:modified>
</cp:coreProperties>
</file>