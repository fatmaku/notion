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Arial"/>
              </a:rPr>
              <a:t>Marktgröße in Mrd. USD (Spannen aus Sekundärquellen)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untere Schätzung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(≈14 %)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250</c:v>
                </c:pt>
                <c:pt idx="2">
                  <c:v>216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obere Schätzung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(≈14 %)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157</c:v>
                </c:pt>
                <c:pt idx="1">
                  <c:v>345</c:v>
                </c:pt>
                <c:pt idx="2">
                  <c:v>260</c:v>
                </c:pt>
                <c:pt idx="3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F3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11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F111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vorstellen: Ich streame selbst, ich schreibe Bücher, und ich habe LiveFX gebaut, weil ich im Live-Stream genau das vermisst habe, was jedes Kurzvideo hat. Was ihr heute seht, läuft in meinen eigenen Streams. 30 Sekunden, dann direkt zum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Auto-Untertitel haben bewiesen, dass Echtzeit-Text aus Sprache funktioniert und von Plattformen nativ eingebaut wird. Echtzeit-Effekte aus Sprache gibt es nicht. Genau diese Lücke füllen wir. Beispiel aus meinem Stream: Ich sage „krass“ – und nichts passiert, außer dass ich selbst zur Tastatur greife.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Keyword-Matching ist sofort (Zwischenergebnisse der Erkennung), keine Cloud nötig. Der optionale KI-Modus fängt Sätze ohne Stichwort („das war so peinlich für ihn“ → Awkward). Alles läuft auf dem Rechner der Creatorin – Datenschutz ist eingebaut, nicht nachgerüstet.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Wenn möglich live zeigen: Mikro starten, „das ist ja krass“ sagen, Effekt erscheint. Zweiter Take: Story-Modus an, einen Absatz vorlesen – „es regnete“, „in der Nacht“, „der Drache“ – und die Szenen wechseln. Fallback ist der Trailer. Satz, der hängen bleibt: Das erste Video, in dem Memes auf meine Sprache reagierten, hat mich mehr überzeugt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kein Prototyp mehr: sechs Releases, Unit- und End-to-End-Tests, Anleitungen in DE/TR. Zwei Dinge betonen: (1) eigene Sounds und Pakete = keine Copyright-Strikes, (2) die Zuschauer-Trigger sind die Brücke zur Monetarisierung – ein Geschenk kann heute schon einen Effekt auslösen.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ist kein Nebenkanal mehr, sondern ein Umsatzkanal. Und: Die Türkei ist ein junger, meme-affiner TikTok-Markt mit kaum lokalisierten Tools – unser größtes Paket ist das türkische, das ist kein Zufall.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sagen: TAM ist Sekundärquelle mit großer Spanne; SAM und SOM sind unsere Schätzung, keine Studie. Der Punkt ist nicht die genaue Zahl, sondern: Schon ein kleiner Anteil zahlender Live-Creator trägt ein Team – und der eigentliche Hebel ist die Plattform-Integration, nicht das Abo.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9,99 € liegt bewusst unter Streamlabs Ultra und auf Voicemod-Niveau – Creator kennen diesen Preispunkt. Der Marktplatz macht aus Nutzern Lieferanten: Wer ein türkisches Meme-Paket baut, verkauft es. B2B ist der Weg zur Plattform: dieselbe Engine läuft als Browser-Quelle in TikTok LIVE 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Zahlen vor dem Termin eintragen – nur echte. Die Story: Das Produkt ist in echten Streams gereift (Echo-Problem, Dialekte, Hochkant-Safe-Zones kamen alle aus der Praxis). Jetzt geht es um die ersten 10 externen Creator und um messbare Watchtime-Effekte.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rechte untere Quadrant ist leer – noch. Wer ihn besetzen könnte, sind die Plattformen selbst; deshalb reden wir mit ihnen. Streamlabs &amp; Co. sind keine Gegner, sondern Hosts: LiveFX läuft als Browser-Quelle in jedem von ihnen.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nach Hebel: Mobile-SDK löst das größte Problem (Handy-Streamer ohne OBS). Plattform-Integration ist der Ask dieses Decks. KI-Verstehen und Story-Engine sind unsere technische Differenzierung.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Gründerin ist Nutzerin, Content-Lieferantin und Produktverantwortliche in einer Person – das ist der Grund, warum das Produkt in Dialekten, Hochkant und Türkçe funktioniert. Mit dem Seed kommen zwei Hires.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Konkret enden: Was wir brauchen, ist ein Ansprechpartner im Live-Team und einen 8-Wochen-Pilot mit 20 Creatorn. Wir liefern Overlay, Pakete, Support und die Messung (Watchtime, Gifts, Clips aus Lives).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</a:t>
            </a:r>
            <a:endParaRPr lang="en-US" sz="900" dirty="0"/>
          </a:p>
        </p:txBody>
      </p:sp>
      <p:pic>
        <p:nvPicPr>
          <p:cNvPr id="3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309360" y="0"/>
            <a:ext cx="5882335" cy="3310128"/>
          </a:xfrm>
          <a:prstGeom prst="rect">
            <a:avLst/>
          </a:prstGeom>
        </p:spPr>
      </p:pic>
      <p:pic>
        <p:nvPicPr>
          <p:cNvPr id="4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3310128"/>
            <a:ext cx="1993392" cy="3547872"/>
          </a:xfrm>
          <a:prstGeom prst="rect">
            <a:avLst/>
          </a:prstGeom>
        </p:spPr>
      </p:pic>
      <p:pic>
        <p:nvPicPr>
          <p:cNvPr id="5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10128"/>
            <a:ext cx="1636776" cy="3547872"/>
          </a:xfrm>
          <a:prstGeom prst="rect">
            <a:avLst/>
          </a:prstGeom>
        </p:spPr>
      </p:pic>
      <p:pic>
        <p:nvPicPr>
          <p:cNvPr id="6" name="Image 3" descr="/home/user/Notion/live-fx/business/landing-asset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36" y="3310128"/>
            <a:ext cx="1563624" cy="978408"/>
          </a:xfrm>
          <a:prstGeom prst="rect">
            <a:avLst/>
          </a:prstGeom>
        </p:spPr>
      </p:pic>
      <p:pic>
        <p:nvPicPr>
          <p:cNvPr id="7" name="Image 4" descr="/home/user/Notion/live-fx/business/landing-assets/demo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6136" y="4288536"/>
            <a:ext cx="1563624" cy="877824"/>
          </a:xfrm>
          <a:prstGeom prst="rect">
            <a:avLst/>
          </a:prstGeom>
        </p:spPr>
      </p:pic>
      <p:sp>
        <p:nvSpPr>
          <p:cNvPr id="8" name="Shape 1"/>
          <p:cNvSpPr/>
          <p:nvPr/>
        </p:nvSpPr>
        <p:spPr>
          <a:xfrm>
            <a:off x="7946136" y="5166360"/>
            <a:ext cx="1563624" cy="1691640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Shape 2"/>
          <p:cNvSpPr/>
          <p:nvPr/>
        </p:nvSpPr>
        <p:spPr>
          <a:xfrm>
            <a:off x="11503152" y="3310128"/>
            <a:ext cx="688543" cy="3547872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54864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MEME ENGINE  ·  v1.6</a:t>
            </a:r>
            <a:endParaRPr lang="en-US" sz="1100" dirty="0"/>
          </a:p>
        </p:txBody>
      </p:sp>
      <p:sp>
        <p:nvSpPr>
          <p:cNvPr id="11" name="Text 4"/>
          <p:cNvSpPr txBox="1"/>
          <p:nvPr/>
        </p:nvSpPr>
        <p:spPr>
          <a:xfrm>
            <a:off x="548640" y="16002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7200" dirty="0"/>
          </a:p>
        </p:txBody>
      </p:sp>
      <p:sp>
        <p:nvSpPr>
          <p:cNvPr id="12" name="Text 5"/>
          <p:cNvSpPr txBox="1"/>
          <p:nvPr/>
        </p:nvSpPr>
        <p:spPr>
          <a:xfrm>
            <a:off x="548640" y="274320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Deine Stimme wird zum Effekt.</a:t>
            </a:r>
            <a:endParaRPr lang="en-US" sz="30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3520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 und Szenen in Echtzeit – ausgelöst durch das, was der Creator sagt. In unter einer Sekunde, hands-free, auf TikTok LIVE, Instagram, YouTube und Twitch.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Gründerin, Autorin &amp; Live-Streamerin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[Datum]  ·  [E-Mail]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roh. Der Schnitt kommt zu spät.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766560" cy="1024128"/>
          </a:xfrm>
          <a:prstGeom prst="roundRect">
            <a:avLst>
              <a:gd name="adj" fmla="val 1071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55064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55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5819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Alles, was Kurzvideos viral macht, entsteht danach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94767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Sounds, Zooms, Sticker – im Schnitt, nach der Aufnahme. Live gibt es davon nichts.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6766560" cy="1024128"/>
          </a:xfrm>
          <a:prstGeom prst="roundRect">
            <a:avLst>
              <a:gd name="adj" fmla="val 1071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843784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7706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ist Moderator, Regisseur und Cutter zugleich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13639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zwei Händen, einer Kamera und einem Chat, der nicht wartet.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6766560" cy="1024128"/>
          </a:xfrm>
          <a:prstGeom prst="roundRect">
            <a:avLst>
              <a:gd name="adj" fmla="val 1071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032504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32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9593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Bestehende Tools reagieren auf Zuschauer oder Tasten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32511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und Follows, Soundboards per Hotkey. Beides braucht einen Klick.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0" y="1417320"/>
            <a:ext cx="3959352" cy="3401568"/>
          </a:xfrm>
          <a:prstGeom prst="roundRect">
            <a:avLst>
              <a:gd name="adj" fmla="val 3226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7373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reagiert auf das gesprochene Wort.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37947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Auto-Untertitel haben gezeigt: Echtzeit-Text aus Sprache funktioniert. Echtzeit-Effekte aus Sprache gibt es noch nicht.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sage ‚krass‘ – und nichts passiert, außer dass ich selbst zur Tastatur greife.“  – [Name], aus dem eigenen Stream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 → Effekt in unter einer Sekunde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3619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spricht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18745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16352" y="141732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16352" y="153619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816352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816352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/ TR / EN automatisch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09744" y="18745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84064" y="141732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4064" y="153619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084064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84064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Dialekt-tolerant, sofort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77456" y="18745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351776" y="141732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51776" y="153619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7351776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51776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Browser-Quelle in OBS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18745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619488" y="141732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19488" y="153619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619488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619488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· IG · YouTube · Twitch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2004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„Krass“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🤯 Neon-Text + Airhorn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297680" y="32004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262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„Yok artık“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4526280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Meme-Karte + Vine-Boom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046720" y="32004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7532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regnete…“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275320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Regen-Szene + Atmosphäre-Loop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548640" y="4892040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" y="4800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 Reaktion – Keyword-Treffer schon auf Zwischenergebnissen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6172200" y="4892040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46520" y="4800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 – keine Taste, kein Klick, kein zweiter Monitor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548640" y="5458968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22960" y="536752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auf dem Rechner der Creatorin – Datenschutz eingebaut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6172200" y="5458968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46520" y="536752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 (optional) fängt Sätze ohne Stichwort: „das war so peinlich“ → Awkward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ES IM STREAM AUS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4</a:t>
            </a:r>
            <a:endParaRPr lang="en-US" sz="900" dirty="0"/>
          </a:p>
        </p:txBody>
      </p:sp>
      <p:pic>
        <p:nvPicPr>
          <p:cNvPr id="5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7492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16:9 – „Krass!“ → Neon-Text + Konfetti</a:t>
            </a:r>
            <a:endParaRPr lang="en-US" sz="1150" dirty="0"/>
          </a:p>
        </p:txBody>
      </p:sp>
      <p:pic>
        <p:nvPicPr>
          <p:cNvPr id="7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25880"/>
            <a:ext cx="2084832" cy="3703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06640" y="5074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Hochkant 9:16 – Story-Modus: „Es regnete…“</a:t>
            </a:r>
            <a:endParaRPr lang="en-US" sz="1150" dirty="0"/>
          </a:p>
        </p:txBody>
      </p:sp>
      <p:pic>
        <p:nvPicPr>
          <p:cNvPr id="9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325880"/>
            <a:ext cx="1709928" cy="3703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784080" y="5074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7607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Trailer (30 s): video/LiveFX_Trailer_16x9.mp4  ·  Live-Demo: Mikro starten, „das ist ja krass“ sagen – oder Story-Modus an und einen Absatz vorlesen.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 heute – Version 1.6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PROTOTYP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36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93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Browser-ASR, Auto-Sprache DE/TR/EN, Dialekt-Toleranz, Lernfunktion, Selbsttest; extern via Whisper/Deepgram, Offline-Whisper (exp.)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4992" y="1371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47872" y="1536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47872" y="1993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Effekt-Engine v2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331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Canvas-Partikel mit Physik (60 fps), Neon/Glitch-Text, Bauchbinden, Kombis, 4 Themes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1344" y="1371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4224" y="1536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64224" y="1993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Story-Modus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64224" y="2331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Vollbild-Szenen, 12 Atmosphäre-Loops, Geschichten-Pakete DE/TR/EN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1371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80576" y="1536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80576" y="1993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80576" y="2331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85 · Deutsch 49 · English 50 · Familie &amp; Kinder 27 · Gaming 27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657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822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279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Sound-Engine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617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synthetische Sounds (keine Lizenzkosten), Mixer mit Limiter, Ducking, Stereo, Hall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64992" y="3657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47872" y="3822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3547872" y="4279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Zuschauer-Trigger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547872" y="4617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Twitch-Chat, YouTube-Chat, Geschenke-Webhook (TikTok via TikFinity / Streamer.bot)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81344" y="3657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64224" y="3822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6364224" y="4279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&amp; Plattformen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364224" y="4617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(PWA), OBS/Streamlabs, TikTok LIVE Studio, IG Live Producer, Demo ohne OBS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997696" y="3657600"/>
            <a:ext cx="2679192" cy="2148840"/>
          </a:xfrm>
          <a:prstGeom prst="roundRect">
            <a:avLst>
              <a:gd name="adj" fmla="val 51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80576" y="38221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9180576" y="4279392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180576" y="461772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HTTP-API mit Token (Stream Deck, Chat-Bots, externe ASR), 240+ automatisierte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jetzt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Einkommens von Live-Streamern kommt aus Geschenken; 20–100 T Follower: 500–3.000 USD/Monat (influencerfee.com, muvi.com)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371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 Mio.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gingen 2025 allein in SEA/Kaukasus/Zentralasien auf TikTok LIVE, +77 % YoY (gyre.pro)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1371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14 %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Economy (~216–260 Mrd. USD 2026) ist Live (datarefs.com, newmarketpitch.com)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6118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Umsatzkanal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206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Live-Commerce und Gifting (TikTok LIVE, IG Badges, Super Chat) machen Live zum Geschäft – nicht zum Nebenformat.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34290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36118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 ist reif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06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Streaming-ASR &lt; 300 ms, Offline-Modelle im Browser, Prompt-Caching macht KI-Klassifikation für &lt; 1 $/Stunde möglich.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34290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66760" y="36118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Plattformen konkurrieren über Creator-Tools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4206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 ↔ TikTok, Edits ↔ Instagram. Live-Tools sind der nächste Schritt – und niemand hat Sprach-Effekte.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(recherchiert 30.09.2026) – market.us, gyre.pro, datarefs.com, newmarketpitch.com, influencerfee.com, muvi.com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– Spannen statt Punktzahlen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SAM · SOM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7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325880"/>
            <a:ext cx="4142232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463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Live-Streaming-Markt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8745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Mrd. USD (2026) → 250–345 Mrd. USD (2030), CAGR ~27 %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423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market.us, gyre.pro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498080" y="2834640"/>
            <a:ext cx="4142232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80960" y="2971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Live-Creator-Tools (Software) · Schätzung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338328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Mrd. USD – abgeleitet aus Streamlabs/StreamYard/Voicemod-Preisen × aktive Live-Creator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393192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Schätzung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98080" y="4343400"/>
            <a:ext cx="4142232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 3 · Schätzung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48920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20–40 T Pro-Abos × 9,99 €/Monat ≈ 2,4–4,8 Mio. € ARR (DACH + Türkei + EN-Nische)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544068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Schätzung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– market.us/report/live-streaming-market, gyre.pro, datarefs.com, newmarketpitch.com · SAM/SOM sind eigene Schätzungen, keine Studie.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Geschäftsmodell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→ PRO → PACKS → B2B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679192" cy="310896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Kernfunktionen, Standard-Pakete, OBS-Overlay. Verbreitung &amp; Community.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182112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64992" y="1371600"/>
            <a:ext cx="2679192" cy="3108960"/>
          </a:xfrm>
          <a:prstGeom prst="roundRect">
            <a:avLst>
              <a:gd name="adj" fmla="val 4096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3592" y="16002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0116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9,99 €/Monat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74320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KI-Modus, alle Szenen &amp; Themes, Handy-Fernbedienung, Cloud-Sync, Priorität-Support.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98464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81344" y="1371600"/>
            <a:ext cx="2679192" cy="310896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16002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Creator-Packs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20116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30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274320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 für Meme- und Story-Pakete von Creatorn für Creator. Nutzer werden Lieferanten.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814816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997696" y="1371600"/>
            <a:ext cx="2679192" cy="310896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26296" y="160020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B2B-Lizenz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20116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Anfrage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226296" y="274320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White-Label für Streaming-Software, Agenturen, Plattform-Integration.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 im Markt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27 $/Monat  ·  StreamYard Core 35 $/Monat  ·  Restream 16 $/Monat  ·  Voicemod Pro 10 $/Monat   (capterra.com, toolchase.com)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liegt bewusst auf Voicemod-Niveau und deutlich unter Streamlabs – ein Preispunkt, den Creator kennen. Der langfristige Hebel ist die Plattform-Integration (B2B).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ECHTEN STREAMS GEREIFT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9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Live-Streams mit LiveFX seit [Monat/Jahr] – [Zahl] Stunden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2194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 (0.1 → 1.6), 240+ automatisierte Tests, Anleitungen DE/TR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194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in 5 Paketen, 3 Story-Pakete, 38 Sounds, 13 Szenen – in 3 Sprachen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154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2194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 · [Zahl] Creator auf der Warteliste · [Zahl] Downloads</a:t>
            </a:r>
            <a:endParaRPr lang="en-US" sz="1250" dirty="0"/>
          </a:p>
        </p:txBody>
      </p:sp>
      <p:pic>
        <p:nvPicPr>
          <p:cNvPr id="13" name="Image 0" descr="/home/user/Notion/live-fx/business/landing-assets/pan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4389120" cy="27432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212080" y="3246120"/>
            <a:ext cx="6428232" cy="2743200"/>
          </a:xfrm>
          <a:prstGeom prst="roundRect">
            <a:avLst>
              <a:gd name="adj" fmla="val 4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4068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aus der Praxis kam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38404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Echo-Problem (Panel + OBS) → stumme Vorschau, Ton-Check-Karte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Dialekte („grass“ → krass, „helal olsn“) → Toleranz + Lernfunktion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TikTok/IG-Chat verdeckt das untere Drittel → Hochkant-Safe-Zones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Vorlesen im Stream → Story-Modus mit Szenen und Atmosphäre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53492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60 Tage: 10 Creator-Tests TR/DE · Landingpage + Trailer · Community-Launch · erste Pro-Abos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 – der leere Quadrant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83664" y="1472184"/>
            <a:ext cx="3090672" cy="2084832"/>
          </a:xfrm>
          <a:prstGeom prst="roundRect">
            <a:avLst>
              <a:gd name="adj" fmla="val 4386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03120" y="169164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Plattform-Effekte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Sticker-Gifting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84064" y="1472184"/>
            <a:ext cx="3090672" cy="2084832"/>
          </a:xfrm>
          <a:prstGeom prst="roundRect">
            <a:avLst>
              <a:gd name="adj" fmla="val 4386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0" y="169164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/ StreamElements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&amp; Follows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883664" y="3666744"/>
            <a:ext cx="3090672" cy="2084832"/>
          </a:xfrm>
          <a:prstGeom prst="roundRect">
            <a:avLst>
              <a:gd name="adj" fmla="val 4386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388620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· Soundboards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Deck (Hotkey)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84064" y="3666744"/>
            <a:ext cx="3090672" cy="2084832"/>
          </a:xfrm>
          <a:prstGeom prst="roundRect">
            <a:avLst>
              <a:gd name="adj" fmla="val 4386"/>
            </a:avLst>
          </a:prstGeom>
          <a:solidFill>
            <a:srgbClr val="2A1530"/>
          </a:solidFill>
          <a:ln w="25400">
            <a:solidFill>
              <a:srgbClr val="FF2D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388620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5104181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Anbieter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051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1051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18541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gesteuert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37997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Sprach-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gesteuert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Bedienung →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95360" y="1417320"/>
            <a:ext cx="3044952" cy="4389120"/>
          </a:xfrm>
          <a:prstGeom prst="roundRect">
            <a:avLst>
              <a:gd name="adj" fmla="val 360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23960" y="1600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bei LiveFX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823960" y="219456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70848" y="2075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Reagiert auf das gesprochene Wort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823960" y="274320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70848" y="2624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Türkçe-Pakete (85 Trigger) + Story-Pakete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23960" y="329184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70848" y="31729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Story-Szenen mit Atmosphäre-Loops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823960" y="384048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70848" y="372160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 für Zuschauer- &amp; externe Trigger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23960" y="438912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70848" y="42702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– keine Cloud, kein Login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823960" y="493776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0848" y="48188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Sounds – keine Copyright-Strikes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HEBEL SORTIERT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5775" cy="0"/>
          </a:xfrm>
          <a:prstGeom prst="line">
            <a:avLst/>
          </a:prstGeom>
          <a:noFill/>
          <a:ln w="25400">
            <a:solidFill>
              <a:srgbClr val="2A2F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048256"/>
            <a:ext cx="201168" cy="20116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679192" cy="274320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 Mobile-SDK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832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Effekte direkt in der Kamera-App statt nur OBS · Offline-Erkennung stabil · 10 Creator-Tests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47872" y="2048256"/>
            <a:ext cx="201168" cy="20116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47872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64992" y="2514600"/>
            <a:ext cx="2679192" cy="274320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93592" y="26974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Plattform-Integration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33832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LIVE Studio Plug-in / Instagram Live Producer · Installer · Marktplatz-Beta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64224" y="204825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64224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81344" y="2514600"/>
            <a:ext cx="2679192" cy="274320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9944" y="26974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KI-Verstehen v2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33832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Stimmung, Kontext, Ironie · Multi-Trigger pro Satz · Pro-Abo · Live-Commerce-Trigger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04825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80576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Q3–Q4 2027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997696" y="2514600"/>
            <a:ext cx="2679192" cy="274320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26296" y="269748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Story-Engine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226296" y="33832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Ganze Geschichten als Szenenfolge · generierte Hintergründe · zuschauer-gestiftete Effekte · Plattform-Pilot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Mobile-SDK löst das größte Problem (Handy-Streamer ohne OBS). Plattform-Integration ist der Ask dieses Decks. KI-Verstehen und Story-Engine sind die technische Differenzierung.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NUTZERIN, AUTORIN, GRÜNDERIN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737360"/>
            <a:ext cx="1188720" cy="1188720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[Foto]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Gründerin · deutsch-türkische Autorin &amp; Live-Streamerin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4612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Produkt, Inhalte, Community – und die eigenen Streams als Testlabor</a:t>
            </a:r>
            <a:endParaRPr lang="en-US" sz="12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 und Story-Pakete in TR / DE / EN aus erster Hand</a:t>
            </a:r>
            <a:endParaRPr lang="en-US" sz="12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Bücher: [Titel] · Streams: [Plattform / @handle]</a:t>
            </a:r>
            <a:endParaRPr lang="en-US" sz="12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Kontakt: [E-Mail]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0" y="1371600"/>
            <a:ext cx="5696712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1737360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2DFFB5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1722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Tech-Lead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103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/ Realtime, Mobile-SDK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2880360"/>
            <a:ext cx="5696712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246120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FFD16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17220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200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Creator-Partnerschaften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3611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TR + DACH, Creator-Programm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0" y="4389120"/>
            <a:ext cx="5696712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4754880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9AA3B5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172200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4709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Beirat / Partner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5120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 · [Name]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13</a:t>
            </a:r>
            <a:endParaRPr lang="en-US" sz="900" dirty="0"/>
          </a:p>
        </p:txBody>
      </p:sp>
      <p:pic>
        <p:nvPicPr>
          <p:cNvPr id="3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ASK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Lasst uns Live-Streams zuhören lassen.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331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als Feature in TikTok LIVE Studio, Instagram Live Producer oder YouTube Live. Browser-Quelle läuft heute, SDK in 2 Quartalen. 8 Wochen, 20 Creator, gemessene Watchtime &amp; Gifts.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21031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2331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292608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Streaming-Software (OBS-Plug-in, Streamlabs), Creator-Agenturen TR / DACH, Audio- und ASR-Anbieter.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46720" y="210312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2331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Übernahme-Gespräch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92608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 + Team. Parallel: Seed [Zahl] € für 18 Monate – 2 Hires, Creator-Programm, Pilot.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303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Kontakt: [E-Mail]   ·   Demo: [Link]   ·   Code &amp; Doku: live-fx/   ·   [Name]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Pitch</dc:title>
  <dc:subject>PptxGenJS Presentation</dc:subject>
  <dc:creator>[Name]</dc:creator>
  <cp:lastModifiedBy>[Name]</cp:lastModifiedBy>
  <cp:revision>1</cp:revision>
  <dcterms:created xsi:type="dcterms:W3CDTF">2026-10-01T07:00:18Z</dcterms:created>
  <dcterms:modified xsi:type="dcterms:W3CDTF">2026-10-01T07:00:18Z</dcterms:modified>
</cp:coreProperties>
</file>