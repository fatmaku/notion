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ute: LiveFX 2.1" id="{6c83759f-4bf6-04f8-9990-41d100ceda1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Vision 2027–2029" id="{d691f47b-67f7-c1e9-31e8-09aeb43193e9}">
          <p14:sldIdLst>
            <p14:sldId id="267"/>
            <p14:sldId id="268"/>
            <p14:sldId id="269"/>
            <p14:sldId id="270"/>
          </p14:sldIdLst>
        </p14:section>
        <p14:section name="Team und Ask" id="{56375c3a-fcd5-b1e1-534a-f531db1d4e1b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100" b="0" i="0" u="none" strike="noStrike">
                <a:solidFill>
                  <a:srgbClr val="FFFFFF"/>
                </a:solidFill>
                <a:latin typeface="Arial"/>
              </a:rPr>
              <a:t>Marktgröße in Mrd. USD (Spannen aus Sekundärquellen)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untere Schätzung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 14 %)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250</c:v>
                </c:pt>
                <c:pt idx="2">
                  <c:v>216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obere Schätzung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 14 %)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157</c:v>
                </c:pt>
                <c:pt idx="1">
                  <c:v>345</c:v>
                </c:pt>
                <c:pt idx="2">
                  <c:v>260</c:v>
                </c:pt>
                <c:pt idx="3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3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F3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11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AA3B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F111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vorstellen: Ich streame selbst, ich schreibe Bücher, und ich habe LiveFX gebaut, weil ich im Live-Stream genau das vermisst habe, was jedes Kurzvideo hat. Was ihr heute seht, läuft in meinen eigenen Streams. Am Ende zeige ich, wohin es geht: vom Meme-Overlay zur Bildsprache für alles Gesprochene. 30 Sekunden, dann direkt zum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Auto-Untertitel haben bewiesen, dass Echtzeit-Text aus Sprache funktioniert und von Plattformen nativ eingebaut wird. Echtzeit-Effekte aus Sprache gibt es nicht. Genau diese Lücke füllen wir. Beispiel aus meinem Stream: Ich sage „krass“ – und nichts passiert, außer dass ich selbst zur Tastatur greife.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Keyword-Matching ist sofort (Zwischenergebnisse der Erkennung), keine Cloud nötig. Der optionale KI-Modus fängt Sätze ohne Stichwort („das war so peinlich für ihn“ → Awkward). Alles läuft auf dem Rechner der Creatorin – Datenschutz ist eingebaut, nicht nachgerüstet.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Wenn möglich live zeigen: Mikro starten, „das ist ja krass“ sagen, Effekt erscheint. Zweiter Take: Story-Modus an, einen Absatz vorlesen – „es regnete“, „in der Nacht“, „der Drache“ – und die Szenen wechseln. Fallback ist der Trailer. Satz, der hängen bleibt: Das erste Video, in dem Memes auf meine Sprache reagierten, hat mich mehr überzeugt als jede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kein Prototyp mehr: Releases von 0.1 bis 2.1, Unit- und End-to-End-Tests, Anleitungen auf Deutsch und Türkisch. Version 2.1 hat das Produkt leichter und sicherer gemacht: Leistungsmodus mit im Mittel 63–69 % weniger Bildzeit, 143 kostenlose Sticker unter MIT-Lizenz, Text-Sticker-Pakete in drei Sprachen und eine sichere GIF-Suche über KLIPY und GIPHY mit Jugendschutz-Filter – Google hat die Tenor-API im Juni 2026 abgeschaltet. Zwei Punkte betonen: (1) eigene Sounds, freie Sticker und verlinkte GIFs heißt keine Copyright-Strikes, (2) Zuschauer-Trigger sind die Brücke zur Monetarisierung – ein Geschenk kann heute schon einen Effekt auslösen.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ist kein Nebenkanal mehr, sondern ein Umsatzkanal. Und: Die Türkei ist ein junger, meme-affiner TikTok-Markt mit kaum lokalisierten Tools – unser größtes Paket ist das türkische, das ist kein Zufall. Technik: Was vor drei Jahren einen Server brauchte, läuft heute im Browser – das ist auch die Grundlage für die Vision ab Folie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 sagen: TAM ist Sekundärquelle mit großer Spanne; SAM und SOM sind unsere Schätzung, keine Studie. Der Punkt ist nicht die genaue Zahl, sondern: Schon ein kleiner Anteil zahlender Live-Creator trägt ein Team – und der eigentliche Hebel ist die Plattform-Integration, nicht das Abo. Unten neu: Die Vision öffnet angrenzende Märkte – KI-Video 3,67 Mrd. USD [Quelle 23], Sprachlern-Apps 1,54 Mrd. USD [Quelle 33], Videoschnitt 2,68 Mrd. USD [Quelle 51], Hörbuch DE 374 Mio. € [Quelle 19]. Die rechnen wir nicht in den SOM ein. Der SOM entspricht dem Businessplan (Kapitel 6): 5.000–15.000 zahlende Nutzer im Jahr 3; das Basis-Szenario rechnet mit Ø 7.500 Pro-Nutzern.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9,99 € liegt bewusst unter Streamlabs Ultra und auf Voicemod-Niveau – Creator kennen diesen Preispunkt. Der Marktplatz macht aus Nutzern Lieferanten: Wer ein türkisches Meme-Paket baut, verkauft es. B2B ist der Weg zur Plattform: dieselbe Engine läuft als Browser-Quelle in TikTok LIVE Studio. Die Vision ergänzt Pro+ und Bildungslizenzen – alle Preise dort sind Schätzungen.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Zahlen vor dem Termin eintragen – nur echte. Die Story: Das Produkt ist in echten Streams gereift (Echo-Problem, Dialekte, Hochkant-Safe-Zones kamen alle aus der Praxis). Jetzt geht es um die ersten 10 externen Creator und um messbare Watchtime-Effekte.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rechte untere Quadrant ist leer – noch. Wer ihn besetzen könnte, sind die Plattformen selbst; deshalb reden wir mit ihnen. Streamlabs &amp; Co. sind keine Gegner, sondern Hosts: LiveFX läuft als Browser-Quelle in jedem von ihnen.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Sortiert nach Geld und Beweis: Die 250 T€ tragen uns 18 Monate mit einer Entwickler:in. Zuerst Pro-Abo und Mobile-App/PWA, parallel WortBild als erste Vision-Linie, dann DE/EN und ein Plattform- oder Bildungspilot. Jeder Schritt hat ein Gate (nächste Folien). In Monat 18 holen wir die Seed-Runde von etwa 350 T€ – erst dann starten Story-Engine, Auto-Edit und VR/AR. So bleibt das kleine Team fokussiert.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Live-Untertitel haben gezeigt, dass Plattformen Sprache in Echtzeit verarbeiten wollen – kostenlos und auf Milliarden Geräten. Wir sind die nächste Stufe: Bild statt Text. Eine Engine, eine Zeitleiste, vier Linien: Erzählfilm, WortBild, Räume, Studio. Alles läuft im Browser auf dem eigenen Gerät: Ein Satz wird zu einem Zustands-Delta von wenigen hundert Byte, gezeichnet in einem Canvas. Kein Video-Diffusionsmodell, kein GPU-Server. Ehrlich: Das ist Vision für 2027–2029 – deshalb das Badge. Grundlage ist der Code, der heute schon läuft (Story-Modus, Effekt-Engine, Offline-Erkennung). WebGPU ist inzwischen in allen großen Browsern verfügbar [Quelle 27] – wir nutzen es nur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sieht es aus: Die Streamerin tut nichts außer reden. „Es war Nacht“ – der Himmel wird dunkel. „Ein Mädchen ging in den Wald“ – Bäume wachsen, die Figur läuft ein. „Es begann zu regnen“ – Regen, Atmosphäre-Loop wechselt. „Plötzlich ein Drache“ – Blitz, Kamera-Ruck, Drache. Technisch: Ein Satz erzeugt ein Delta von 200–500 Byte, Szenen wechseln 1- bis 3-mal pro Minute, gezeichnet wird in einem Canvas mit höchstens 1.200 Partikeln – dieses Budget hält unsere Effekt-Engine schon heute neben OBS. Kosten: Video-KI kostet nach Listenpreis 0,05 USD (Veo 3.1 Lite, 720p) bis 0,75 USD pro Sekunde [Quelle 24, 25], also 180–2.700 USD pro Stunde, und live geht es gar nicht. LiveFX: 0 € ohne KI, 0,25–0,75 USD pro Stunde mit optionaler Text-KI. Markt: Hörbuch DE 374 Mio. € [Quelle 19], 23,8 Mio. Menschen hören wöchentlich Podcasts [Quelle 20], YouTube über 1 Mrd. Podcast-Zuschauer [Quelle 21]; KI-Video wächst von 3,67 auf 24,89 Mrd. USD bis 2036 [Quelle 23]. Zeitplan: Die Story-Engine wird aus der Folgerunde nach Gate 2 finanziert – MVP Deutsch ab Monat 19 (H2 2028), danach TR/EN und Welten-Packs. Erster Verlags-Fall: die eigene Kinderbuchreihe.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persönlichste Teil: Ich schreibe Kinderbücher über Neurodiversität, und ich bin deutsch-türkisch. Die Lehrkraft stellt drei Dinge ein – „Ich spreche: Deutsch“, „Zeige: Türkçe“, Modus – und liest vor. Jedes Wort aus der Lernliste wird zu Bild, Wort und Aussprache. Nachsprechen ist bewusst keine Aussprachebewertung, sondern ein grüner Haken. Technik: Wort → Bild ist ein Tabellen-Lookup, die Aussprache liefert das Betriebssystem (speechSynthesis) [Quelle 29], ein Schul-Tablet reicht, Serverkosten pro Kind: null. Markt: Duolingo 58,7 Mio. tägliche Nutzer und 12,7 Mio. Zahlende [Quelle 32], Sprachlern-Apps 1,54 Mrd. USD In-App [Quelle 33], 20,4 % der Schüler:innen unter 16 sprechen zu Hause vorwiegend eine andere Sprache [Quelle 37], 2,65 Mio. Menschen mit Einwanderungsgeschichte aus der Türkei [Quelle 38], 25 % der Viertklässler unter dem Lese-Mindeststandard [Quelle 39]. Preis-Anker: ANTON-Schullizenz 250–700 € [Quelle 41]. Ehrlich: Der Integrationsbereich ist in Euro klein, er bringt Glaubwürdigkeit und Förderung; das Volumen liegt bei Familien, Verlagen und Plattformen. Wir sagen „unterstützt Vokabellernen“, nicht „doppelt so schnell“.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Türen in dasselbe Werkzeug. Erstens Live → Highlights: Unser Server kennt schon heute jeden Trigger, jedes Geschenk, jede Chat-Nachricht mit Zeitstempel – daraus werden 3–5 Clips pro Stream. Zweitens Auto-Edit: Eine 20-Minuten-MP4 wird ins Fenster gezogen, Whisper transkribiert lokal im Browser [Quelle 60], LiveFX setzt Effekte, Szenen und Schnitte als verschiebbare Chips, der Export läuft über WebCodecs und den Hardware-Encoder des Geräts [Quelle 57, 58, 59]. Die Datei verlässt den Rechner nie, die Grenzkosten pro Video liegen bei null. Räume: Bühne und Klassenzimmer gehen heute schon (Vollbild, Handy als Regie). Hörbuch mit Bildern und AR am Handy kommen mit der Folgerunde nach Gate 2. WebXR [Quelle 47, 48] und Display-Brillen wie Meta Ray-Ban Display [Quelle 46] sind Vision – IDC erwartet 2026 13,6 Mio. Smart Glasses [Quelle 45], Display-Brillen sind davon nur ein kleiner Teil. Wettbewerb ehrlich: CapCut hat 736 Mio. MAU [Quelle 52]; wir treten nicht als Universal-Editor an, sondern über Sprache → Effekt, Szenen, TR/DE und lokale Verarbeitung. Käufer-Signal: Canva kaufte 2026 Cavalry und MangoAI [Quelle 56].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Gründer ist Nutzer, Content-Lieferant und Produktverantwortlicher in einer Person – das ist der Grund, warum das Produkt in Dialekten, Hochkant und Türkçe funktioniert. Und als Kinderbuchautor bringt er den ersten Verlags- und Bildungsfall selbst mit. Gönül Demet verantwortet Investor Relations und ist Ansprechpartnerin für die Pre-Seed-Runde. Die Pre-Seed-Runde (250.000 €) finanziert eine Einstellung – eine Mobile-/Web-Entwickler:in ab Monat 3; weitere Einstellungen folgen mit der Seed-Runde nach Gate 2. Für WortBild prüft ein Edtech-Beirat fachlich.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Zahlen auf einer Folie. Basis-Szenario: Der Umsatz wächst von 51 T€ in 2027 auf 3,15 Mio. € in 2031; das EBITDA wird 2028 positiv und bleibt es ab Monat 22. Konservativ sind es 602 T€ Umsatz in 2031, optimistisch 7,44 Mio. € – die Jahre 4 und 5 sind fortgeschrieben. Runway: Ganz ohne Umsatz reichen die 250 T€ 18 Monate. In Monat 18 erwarten wir je nach Szenario 49 bis 369 T€ Kasse – und holen nach Gate 2 eine Seed-Runde von etwa 350 T€. Bewertung: Unser Angebot sind 250.000 € für 10 %, also 2,25 Mio. € Pre-Money und 2,5 Mio. € Post-Money. Die vier üblichen Methoden ohne Umsatz ergeben 2,35 bis 3,0 Mio. € – Berkus 2,35 Mio. €, Scorecard 2,95 Mio. € auf einer Referenz im unteren Teil der DACH-Spanne, VC-Methode 2,43 Mio. € im Upside-Szenario, Risk Factor Summation 3,0 Mio. €; gewichtet 2,71 Mio. €. Das Angebot ist also ein fairer, investorenfreundlicher Einstiegspreis unter jeder Referenzmethode. Warum: funktionsfähiges Produkt mit 575+ automatisierten Tests, eigenes IP und eigene Inhalte, drei Sprachen inklusive türkischer Nische, vier Vision-Optionen auf einer Engine und Kapitaleffizienz – bis v2.1 ohne externes Kapital gebaut. Ehrlich dagegen: Solo-Gründer, noch kein Umsatz. Alternativ ein SAFE mit 2,25 Mio. € Cap und 20 % Discount, ohne Zins. Verhandlungsbasis, mit Steuer- und Rechtsberater zu prüfen.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Gates in 18 Monaten – jedes gibt das nächste Budget frei. Monat 3: Pro-Abo live und Entwickler:in an Bord. Monat 6: 10.000 registrierte Nutzer und 400 zahlende Pro als Ziel; die Schwelle liegt bei 4.000 und 120. Monat 12: 20.000 Nutzer, 800 Pro, 8.073 € MRR, ein Plattform- oder Bildungspilot läuft. Monat 18 ist Gate 2: 50.000 Nutzer, 2.000 Pro, 22.586 € MRR, fünf zahlende Schulen oder Kurse für WortBild. Das ist die Grundlage für die Seed-Runde. Alles das sind Ziele – erreicht ist davon noch nichts.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Konkret enden: Wir brauchen einen Kontakt im Live-Team und einen 8-Wochen-Pilot mit 20 Creatorn. Wir liefern Overlay, Pakete, Support und die Messung (Watchtime, Gifts, Clips aus Lives). Für WortBild suchen wir einen zweiten Pilot mit Bildungsträgern, Sprachlern-Plattformen oder Verlagen – der erste Verlagsfall ist die eigene Kinderbuchreihe. Zur Runde: 250.000 € Pre-Seed für 18 Monate. Mittelverwendung (Vorschlag): Team und Produkt 125 T€, Markteintritt und Piloten 50 T€, WortBild 37,5 T€, Recht/Marke/Datenschutz 25 T€, Reserve 12,5 T€. Ganz ohne Umsatz reicht das 18 Monate. Unser Angebot: 10 % für die 250.000 € – 2,25 Mio. € Pre-Money, 2,5 Mio. € Post-Money, unter jeder üblichen Referenzmethode – oder ein SAFE mit 2,25 Mio. € Cap und 20 % Discount; Verhandlungsbasis, mit Steuer- und Rechtsberater zu prüfen. Story-Engine, Auto-Edit und VR/AR folgen mit einer Seed-Runde von etwa 350 T€ nach Gate 2. Ansprechpartnerin für Investoren: Gönül Demet. Dieses Deck gibt es auch auf Türkisch und Englisch.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309360" y="0"/>
            <a:ext cx="5882335" cy="3310128"/>
          </a:xfrm>
          <a:prstGeom prst="rect">
            <a:avLst/>
          </a:prstGeom>
        </p:spPr>
      </p:pic>
      <p:pic>
        <p:nvPicPr>
          <p:cNvPr id="3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3310128"/>
            <a:ext cx="1993392" cy="3547872"/>
          </a:xfrm>
          <a:prstGeom prst="rect">
            <a:avLst/>
          </a:prstGeom>
        </p:spPr>
      </p:pic>
      <p:pic>
        <p:nvPicPr>
          <p:cNvPr id="4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10128"/>
            <a:ext cx="1636776" cy="3547872"/>
          </a:xfrm>
          <a:prstGeom prst="rect">
            <a:avLst/>
          </a:prstGeom>
        </p:spPr>
      </p:pic>
      <p:pic>
        <p:nvPicPr>
          <p:cNvPr id="5" name="Image 3" descr="/home/user/Notion/live-fx/business/landing-assets/pane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136" y="3310128"/>
            <a:ext cx="1563624" cy="978408"/>
          </a:xfrm>
          <a:prstGeom prst="rect">
            <a:avLst/>
          </a:prstGeom>
        </p:spPr>
      </p:pic>
      <p:pic>
        <p:nvPicPr>
          <p:cNvPr id="6" name="Image 4" descr="/home/user/Notion/live-fx/business/landing-assets/demo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6136" y="4288536"/>
            <a:ext cx="1563624" cy="877824"/>
          </a:xfrm>
          <a:prstGeom prst="rect">
            <a:avLst/>
          </a:prstGeom>
        </p:spPr>
      </p:pic>
      <p:sp>
        <p:nvSpPr>
          <p:cNvPr id="7" name="Shape 0"/>
          <p:cNvSpPr/>
          <p:nvPr/>
        </p:nvSpPr>
        <p:spPr>
          <a:xfrm>
            <a:off x="7946136" y="5166360"/>
            <a:ext cx="1563624" cy="1691640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Shape 1"/>
          <p:cNvSpPr/>
          <p:nvPr/>
        </p:nvSpPr>
        <p:spPr>
          <a:xfrm>
            <a:off x="11503152" y="3310128"/>
            <a:ext cx="688543" cy="3547872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Text 2"/>
          <p:cNvSpPr txBox="1"/>
          <p:nvPr/>
        </p:nvSpPr>
        <p:spPr>
          <a:xfrm>
            <a:off x="54864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MEME ENGINE  ·  v2.1</a:t>
            </a:r>
            <a:endParaRPr lang="en-US" sz="1100" dirty="0"/>
          </a:p>
        </p:txBody>
      </p:sp>
      <p:sp>
        <p:nvSpPr>
          <p:cNvPr id="10" name="Text 3"/>
          <p:cNvSpPr txBox="1"/>
          <p:nvPr/>
        </p:nvSpPr>
        <p:spPr>
          <a:xfrm>
            <a:off x="548640" y="15087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7200" dirty="0"/>
          </a:p>
        </p:txBody>
      </p:sp>
      <p:sp>
        <p:nvSpPr>
          <p:cNvPr id="11" name="Text 4"/>
          <p:cNvSpPr txBox="1"/>
          <p:nvPr/>
        </p:nvSpPr>
        <p:spPr>
          <a:xfrm>
            <a:off x="548640" y="265176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Deine Stimme wird zum Effekt.</a:t>
            </a:r>
            <a:endParaRPr lang="en-US" sz="2800" dirty="0"/>
          </a:p>
        </p:txBody>
      </p:sp>
      <p:sp>
        <p:nvSpPr>
          <p:cNvPr id="12" name="Text 5"/>
          <p:cNvSpPr txBox="1"/>
          <p:nvPr/>
        </p:nvSpPr>
        <p:spPr>
          <a:xfrm>
            <a:off x="548640" y="34747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 und Szenen in Echtzeit – ausgelöst durch das, was der Creator sagt. In unter einer Sekunde, hands-free, auf TikTok LIVE, Instagram, YouTube und Twitch.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548640" y="48006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morgen: Du redest. Es wird Bild.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778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Gründer &amp; Erfinder, Geschäftsführer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Relations: Gönül Demet  ·  [E-Mail]  ·  Oktober 2026  ·  Vertraulich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roh. Der Schnitt kommt zu spät.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66420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5453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Alles, was Kurzvideos viral macht, entsteht danach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192938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Sounds, Zooms, Sticker – im Schnitt, nach der Aufnahme. Live gibt es davon nichts.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🎛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273405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ist Moderator, Regisseur und Cutter zugleich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11810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zwei Händen, einer Kamera und einem Chat, der nicht wartet.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04164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92277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Bestehende Tools reagieren auf Zuschauer oder Tasten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30682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und Follows, Soundboards per Hotkey. Beides braucht einen Klick.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80960" y="1417320"/>
            <a:ext cx="3959352" cy="3429000"/>
          </a:xfrm>
          <a:prstGeom prst="roundRect">
            <a:avLst>
              <a:gd name="adj" fmla="val 32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55280" y="16916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reagiert auf das gesprochene Wort.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74904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Auto-Untertitel haben gezeigt: Echtzeit-Text aus Sprache funktioniert. Echtzeit-Effekte aus Sprache gibt es noch nicht.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sage ‚krass‘ – und nichts passiert, außer dass ich selbst zur Tastatur greife.“  – Tuncay Sancak, aus dem eigenen Stream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 → Effekt in unter einer Sekunde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spricht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81178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1178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290322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0322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/ TR / EN automatisch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0517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07492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7492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16636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Dialekt-tolerant, sofort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06831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33806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3806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42950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42950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Browser-Quelle in OBS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33145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960120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969264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69264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· IG · YouTube · Twitch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„Krass“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🤯 Neon-Text + Airhorn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29768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52628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„Yok artık“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452628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Meme-Karte + Vine-Boom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4672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7532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regnete…“</a:t>
            </a:r>
            <a:endParaRPr lang="en-US" sz="2100" dirty="0"/>
          </a:p>
        </p:txBody>
      </p:sp>
      <p:sp>
        <p:nvSpPr>
          <p:cNvPr id="38" name="Text 35"/>
          <p:cNvSpPr txBox="1"/>
          <p:nvPr/>
        </p:nvSpPr>
        <p:spPr>
          <a:xfrm>
            <a:off x="827532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Regen-Szene + Atmosphäre-Loop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800600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296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 Reaktion – Treffer schon auf Zwischenergebnissen der Erkennung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172200" y="4800600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44652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Hands-free – keine Taste, kein Klick, kein zweiter Monitor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422392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auf dem Rechner der Creatorin – Datenschutz eingebaut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6172200" y="5422392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4652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 (optional) fängt Sätze ohne Stichwort: „das war so peinlich“ → Awkward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ES IM STREAM AUS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4</a:t>
            </a:r>
            <a:endParaRPr lang="en-US" sz="900" dirty="0"/>
          </a:p>
        </p:txBody>
      </p:sp>
      <p:pic>
        <p:nvPicPr>
          <p:cNvPr id="6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16:9 – „Krass!“ → Neon-Text + Konfetti</a:t>
            </a:r>
            <a:endParaRPr lang="en-US" sz="1150" dirty="0"/>
          </a:p>
        </p:txBody>
      </p:sp>
      <p:pic>
        <p:nvPicPr>
          <p:cNvPr id="8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25880"/>
            <a:ext cx="2084832" cy="3703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406640" y="5074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Hochkant 9:16 – Story-Modus: „Es regnete…“</a:t>
            </a:r>
            <a:endParaRPr lang="en-US" sz="1100" dirty="0"/>
          </a:p>
        </p:txBody>
      </p:sp>
      <p:pic>
        <p:nvPicPr>
          <p:cNvPr id="10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325880"/>
            <a:ext cx="1709928" cy="3703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784080" y="5074920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</a:t>
            </a:r>
            <a:endParaRPr lang="en-US" sz="1100" dirty="0"/>
          </a:p>
        </p:txBody>
      </p:sp>
      <p:sp>
        <p:nvSpPr>
          <p:cNvPr id="12" name="Shape 6"/>
          <p:cNvSpPr/>
          <p:nvPr/>
        </p:nvSpPr>
        <p:spPr>
          <a:xfrm>
            <a:off x="548640" y="5623560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22960" y="5669280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Trailer (30 s): video/LiveFX_Trailer_16x9.mp4  ·  Live-Demo: Mikro starten, „das ist ja krass“ sagen – oder Story-Modus an und einen Absatz vorlesen.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PROTOTYP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 heute – Version 2.1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Browser-ASR, Auto-Sprache DE/TR/EN, Dialekt-Toleranz, Lernfunktion, Selbsttest; extern via Whisper/Deepgram, Offline-Whisper (experimentell)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64992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7872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Effekte &amp; Leistung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47872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Canvas-Partikel (60 fps), Neon/Glitch/Sticker-Text, Bauchbinden, Kombis, 4 Themes; Leistungsmodus: Bildzeit −63 bis −69 %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81344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64224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364224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Story-Modus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Vollbild-Szenen, 12 Atmosphäre-Loops, Geschichten-Pakete DE/TR/EN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997696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80576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180576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180576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85 · Deutsch 49 · English 50 · Familie &amp; Kinder 27 · Gaming 27 – plus Text-Sticker-Pakete TR/DE/EN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Sticker &amp; GIFs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kostenlose Sticker (MIT-Lizenz, 119 animiert) · sichere GIF-Suche KLIPY/GIPHY mit Inhaltsfilter, GIFs verlinkt statt gespeichert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64992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547872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3547872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Sound-Engine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547872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synthetische Sounds (keine Lizenzkosten), Mixer mit Limiter, Ducking, Stereo, Hall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181344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64224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6364224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&amp; Plattformen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364224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(PWA), OBS/Streamlabs, TikTok LIVE Studio, IG Live Producer, Demo ohne OBS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97696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180576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9180576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 &amp; offene API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180576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Twitch-/YouTube-Chat, Geschenke-Webhook (TikFinity / Streamer.bot), HTTP-API mit Token, 575+ automatisierte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jetzt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~50 %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Einkommens von Live-Streamern kommt aus Geschenken; 20–100 T Follower: 500–3.000 USD/Monat [Quelle 5, 6]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100 Mio.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gingen 2025 allein in Südostasien, im Kaukasus und in Zentralasien auf TikTok LIVE, +77 % [Quelle 2]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14 %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Economy (~216–260 Mrd. USD 2026) entfallen auf Live [Quelle 3, 4]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Umsatzkanal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Live-Commerce und Gifting (TikTok LIVE, IG Badges, Super Chat) machen Live zum Geschäft – nicht zum Nebenformat.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4340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 ist reif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Streaming-ASR &lt; 300 ms, Modelle im Browser, WebGPU in allen großen Browsern [Quelle 27], KI-Klassifikation für &lt; 1 USD/Stunde.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3816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6676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Plattformen konkurrieren über Creator-Tools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36676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CapCut ↔ TikTok, Edits ↔ Instagram. Live-Tools sind der nächste Schritt – und niemand hat Sprach-Effekte.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053328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(Recherche 30.09.2026 und 03.10.2026) – [Quelle 2–6, 27]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SAM · SOM · ANGRENZENDE MÄRKTE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– Spannen statt Punktzahlen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7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280160"/>
          <a:ext cx="60350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812280" y="128016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95160" y="13898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14356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Live-Streaming-Markt [Quelle 1, 2]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6995160" y="17922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97–157 Mrd. USD (2026) → 250–345 Mrd. USD (2030), CAGR ~27 %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12280" y="246888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9516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2624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Live-Creator-Tools · Schätzung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995160" y="29809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Mrd. USD – abgeleitet aus Streamlabs-/StreamYard-/Voicemod-Preisen × aktive Live-Creator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12280" y="365760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95160" y="376732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130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 3 · Schätzung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995160" y="41696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5.000–15.000 zahlende Pro-Nutzer × 9,99 €/Monat ≈ 0,6–1,8 Mio. € ARR (wie Businessplan; DACH + Türkei + EN-Nische)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56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Angrenzende Märkte der Vision (Folien 12–15)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3,67 Mrd. USD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13232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KI-Videogenerierung und -schnitt 2026 [Quelle 23]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3356534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21126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1,54 Mrd. USD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521126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Sprachlern-Apps, In-App-Umsatz 2025 [Quelle 33]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164428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29020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2,68 Mrd. USD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6329020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Videoschnitt-Software 2026 [Quelle 51]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8972321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36913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374 Mio. €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9136913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Hörbuchmarkt Deutschland 2025, +13 % [Quelle 19]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6126480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[Quelle 1–4, 19, 23, 33, 51] · SAM/SOM sind eigene Schätzungen, keine Studie.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→ PRO → PACKS → B2B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Geschäftsmodell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Kernfunktionen, Standard-Pakete, OBS-Overlay. Verbreitung und Community.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227832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93592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93592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9,99 €/Monat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593592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KI-Modus, alle Szenen und Themes, Handy-Fernbedienung, Cloud-Sync, Priorität-Support.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44184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81344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944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Creator-Packs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409944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30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 für Meme- und Story-Pakete von Creatorn für Creator. Nutzer werden Lieferanten.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0536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997696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226296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B2B-Lizenz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Anfrage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White-Label für Streaming-Software, Agenturen, Plattform-Integration.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4828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Preis-Anker im Markt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14807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27 USD/Monat  ·  StreamYard Core 35 USD/Monat  ·  Restream 16 USD/Monat  ·  Voicemod Pro 10 USD/Monat [Quelle 11, 12, 13]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liegt bewusst auf Voicemod-Niveau und deutlich unter Streamlabs. Vision (Schätzung): Pro+ „Studio &amp; Szenen“ 14,99 €, WortBild Familie 4,99 €, Schul- und Verlagslizenzen – siehe Folien 13–15.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ECHTEN STREAMS GEREIFT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9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Live-Streams mit LiveFX seit [Monat/Jahr] – [Zahl] Stunden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3756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aktuelle Version (Releases 0.1 → 2.1), 575+ automatisierte Tests, Anleitungen DE/TR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in 5 Paketen + 143 freie Sticker, 38 Sounds, 13 Szenen – in 3 Sprachen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Follower · [Zahl] Creator auf der Warteliste · [Zahl] Downloads</a:t>
            </a:r>
            <a:endParaRPr lang="en-US" sz="1200" dirty="0"/>
          </a:p>
        </p:txBody>
      </p:sp>
      <p:pic>
        <p:nvPicPr>
          <p:cNvPr id="14" name="Image 0" descr="/home/user/Notion/live-fx/business/landing-assets/pan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4389120" cy="2743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212080" y="3246120"/>
            <a:ext cx="6428232" cy="2788920"/>
          </a:xfrm>
          <a:prstGeom prst="roundRect">
            <a:avLst>
              <a:gd name="adj" fmla="val 393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40680" y="3383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aus der Praxis kam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40680" y="379476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Echo-Problem (Panel + OBS) → stumme Vorschau, Ton-Check-Karte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Dialekte („grass“ → krass, „helal olsn“) → Toleranz + Lernfunktion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TikTok-/IG-Chat verdeckt das untere Drittel → Hochkant-Safe-Zones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Vorlesen im Stream → Story-Modus mit Szenen und Atmosphäre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440680" y="53492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60 Tage: 10 Creator-Tests TR/DE · Landingpage + Trailer · Community-Launch · erste Pro-Abos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 – der leere Quadrant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8836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1031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Plattform-Effekte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Sticker-Gifting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840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035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/ StreamElements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&amp; Follows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8836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031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· Soundboards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Deck (Hotkey)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840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2A1530"/>
          </a:solidFill>
          <a:ln w="25400">
            <a:solidFill>
              <a:srgbClr val="FF2D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52395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einziger Anbieter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1145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Zuschauer-gesteuert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862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Sprach-gesteuert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879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Bedienung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595360" y="1463040"/>
            <a:ext cx="3044952" cy="4343400"/>
          </a:xfrm>
          <a:prstGeom prst="roundRect">
            <a:avLst>
              <a:gd name="adj" fmla="val 360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16276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bei LiveFX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796528" y="2240280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34272" y="212140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Reagiert auf das gesprochene Wort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796528" y="2807208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34272" y="2688336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Türkçe-Pakete (85 Trigger) + Story-Pakete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96528" y="3374136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34272" y="3255264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Story-Szenen mit Atmosphäre-Loops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796528" y="39410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3822192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 für Zuschauer- &amp; externe Trigger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796528" y="4507992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4272" y="4389120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– keine Cloud, kein Login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796528" y="5074920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34272" y="495604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Sounds – keine Copyright-Strikes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MONATE, MIT GATES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Roadmap: schlank bis Gate 2, dann die Seed-Runde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10545775" cy="0"/>
          </a:xfrm>
          <a:prstGeom prst="line">
            <a:avLst/>
          </a:prstGeom>
          <a:noFill/>
          <a:ln w="25400">
            <a:solidFill>
              <a:srgbClr val="2A2F3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048256"/>
            <a:ext cx="201168" cy="20116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 · Monat 1–3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Pro-Abo live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abgeschlossen · Mobile-/Web-Entwickler:in an Bord (Monat 3) · TR-Launch · Gate G0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47872" y="2048256"/>
            <a:ext cx="201168" cy="20116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47872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 · Monat 4–6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64992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93592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Mobile-App/PWA + WortBild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 mit 300 Wörtern und Lesehilfe · 20 Beta-Creator TR/DE · Gate G1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64224" y="204825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4224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Q3–Q4 2027 · Monat 7–12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81344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9944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DE/EN + Piloten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09944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DE/EN-Launch · Marktplätze · Agentur-Lizenz · Plattform- oder Bildungspilot · Gate G2a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80576" y="2048256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0576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2028 · Monat 13–18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997696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26296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2 → Seed-Runde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26296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WortBild-Pilot ausgewertet · Seed-Runde ~350 T€ · ab Monat 19: Story-Engine, Studio, Räume, Ausbau-Team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Schlank bis Monat 18: eine Entwickler:in, Pro-Abo, Mobile-App/PWA, WortBild. Story-Engine (Erzählfilm), Auto-Edit (Studio) und VR/AR (Räume) werden aus der Folgerunde nach Gate 2 finanziert.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VISION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Live-Video aus Worten: Du redest. Es wird Bild.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Mikro, Vorlesen oder eine fertige Videodatei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98216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8256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82848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195496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582848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Lexikon DE/TR/EN, Dialekt-tolerant, KI optional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67832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7872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52464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7065112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Szene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52464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Weltzustand ≤ 1 KB, eine gemeinsame Zeitleiste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837447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57487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322079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4727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9322079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Browser gezeichnet, 60 fps, auf dem eigenen Gerät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8640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🌳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1234440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Erzählfilm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jedem Satz wächst ein fortlaufender Bilderbuch-Film – unter oder neben dem Live-Bild.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356534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9414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4042334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3539414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Gesprochenes Wort → Bild, Wort in der Zielsprache und Aussprache. Lernen und Lesehilfe.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64428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5AD1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47308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850228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Räume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6347308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Bühne, Klassenzimmer, Hörbuch mit Bildern, AR am Handy, VR und Display-Brille.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972321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155201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658121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9155201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Live-Editor und Auto-Edit: Video rein, fertig geschnitten raus – ohne Upload.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48640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Stimme wird in unter einer Sekunde Meme, Sound oder Szene – in den eigenen Streams des Gründers im Einsatz.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164428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93028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MORGEN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393028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Stimme wird ein Film, ein Wortbild mit Aussprache oder ein fertiger Clip – im Stream, in der Schule, auf der Bühne, in der Brille.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89788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Zeichnen statt generieren – mit dem Rechenbudget eines Untertitels, nicht eines Rechenzentrums.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A · ERZÄHLFILM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Scene Engine: Live-Video aus Worten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13</a:t>
            </a:r>
            <a:endParaRPr lang="en-US" sz="900" dirty="0"/>
          </a:p>
        </p:txBody>
      </p:sp>
      <p:sp>
        <p:nvSpPr>
          <p:cNvPr id="8" name="Szene-Himmel"/>
          <p:cNvSpPr/>
          <p:nvPr/>
        </p:nvSpPr>
        <p:spPr>
          <a:xfrm>
            <a:off x="548640" y="1298448"/>
            <a:ext cx="5486400" cy="3017520"/>
          </a:xfrm>
          <a:prstGeom prst="rect">
            <a:avLst/>
          </a:prstGeom>
          <a:solidFill>
            <a:srgbClr val="121838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958084"/>
            <a:ext cx="5486400" cy="1357884"/>
          </a:xfrm>
          <a:prstGeom prst="rect">
            <a:avLst/>
          </a:prstGeom>
          <a:solidFill>
            <a:srgbClr val="1A2348">
              <a:alpha val="7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937760" y="1847088"/>
            <a:ext cx="566928" cy="566928"/>
          </a:xfrm>
          <a:prstGeom prst="ellipse">
            <a:avLst/>
          </a:prstGeom>
          <a:solidFill>
            <a:srgbClr val="F4F1DE"/>
          </a:solidFill>
          <a:ln/>
        </p:spPr>
      </p:sp>
      <p:sp>
        <p:nvSpPr>
          <p:cNvPr id="11" name="Shape 8"/>
          <p:cNvSpPr/>
          <p:nvPr/>
        </p:nvSpPr>
        <p:spPr>
          <a:xfrm>
            <a:off x="5074920" y="1773936"/>
            <a:ext cx="502920" cy="502920"/>
          </a:xfrm>
          <a:prstGeom prst="ellipse">
            <a:avLst/>
          </a:prstGeom>
          <a:solidFill>
            <a:srgbClr val="121838"/>
          </a:solidFill>
          <a:ln/>
        </p:spPr>
      </p:sp>
      <p:sp>
        <p:nvSpPr>
          <p:cNvPr id="12" name="Shape 9"/>
          <p:cNvSpPr/>
          <p:nvPr/>
        </p:nvSpPr>
        <p:spPr>
          <a:xfrm>
            <a:off x="3557402" y="1963237"/>
            <a:ext cx="45369" cy="45369"/>
          </a:xfrm>
          <a:prstGeom prst="ellipse">
            <a:avLst/>
          </a:prstGeom>
          <a:solidFill>
            <a:srgbClr val="FFFFFF">
              <a:alpha val="68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3278804" y="1926105"/>
            <a:ext cx="43643" cy="43643"/>
          </a:xfrm>
          <a:prstGeom prst="ellipse">
            <a:avLst/>
          </a:prstGeom>
          <a:solidFill>
            <a:srgbClr val="FFFFFF">
              <a:alpha val="37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2789481" y="2133188"/>
            <a:ext cx="48991" cy="48991"/>
          </a:xfrm>
          <a:prstGeom prst="ellipse">
            <a:avLst/>
          </a:prstGeom>
          <a:solidFill>
            <a:srgbClr val="FFFFFF">
              <a:alpha val="41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077948" y="2348551"/>
            <a:ext cx="51479" cy="51479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494746" y="2410760"/>
            <a:ext cx="52010" cy="52010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942205" y="2791693"/>
            <a:ext cx="33877" cy="33877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960521" y="2808371"/>
            <a:ext cx="31849" cy="31849"/>
          </a:xfrm>
          <a:prstGeom prst="ellipse">
            <a:avLst/>
          </a:prstGeom>
          <a:solidFill>
            <a:srgbClr val="FFFFFF">
              <a:alpha val="71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3503754" y="2522882"/>
            <a:ext cx="42766" cy="42766"/>
          </a:xfrm>
          <a:prstGeom prst="ellipse">
            <a:avLst/>
          </a:prstGeom>
          <a:solidFill>
            <a:srgbClr val="FFFFFF">
              <a:alpha val="66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732796" y="2295344"/>
            <a:ext cx="33664" cy="33664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2377600" y="2001577"/>
            <a:ext cx="47441" cy="47441"/>
          </a:xfrm>
          <a:prstGeom prst="ellipse">
            <a:avLst/>
          </a:prstGeom>
          <a:solidFill>
            <a:srgbClr val="FFFFFF">
              <a:alpha val="4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2478309" y="1927191"/>
            <a:ext cx="40296" cy="40296"/>
          </a:xfrm>
          <a:prstGeom prst="ellipse">
            <a:avLst/>
          </a:prstGeom>
          <a:solidFill>
            <a:srgbClr val="FFFFFF">
              <a:alpha val="34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5213093" y="2320542"/>
            <a:ext cx="36161" cy="36161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742946" y="2610411"/>
            <a:ext cx="49486" cy="49486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832171" y="2300087"/>
            <a:ext cx="32407" cy="32407"/>
          </a:xfrm>
          <a:prstGeom prst="ellipse">
            <a:avLst/>
          </a:prstGeom>
          <a:solidFill>
            <a:srgbClr val="FFFFFF">
              <a:alpha val="76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796857" y="2532006"/>
            <a:ext cx="29175" cy="29175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349679" y="2287910"/>
            <a:ext cx="62369" cy="62369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4979099" y="2300449"/>
            <a:ext cx="43483" cy="43483"/>
          </a:xfrm>
          <a:prstGeom prst="ellipse">
            <a:avLst/>
          </a:prstGeom>
          <a:solidFill>
            <a:srgbClr val="FFFFFF">
              <a:alpha val="59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897847" y="2594457"/>
            <a:ext cx="37090" cy="37090"/>
          </a:xfrm>
          <a:prstGeom prst="ellipse">
            <a:avLst/>
          </a:prstGeom>
          <a:solidFill>
            <a:srgbClr val="FFFFFF">
              <a:alpha val="74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4611558" y="2710477"/>
            <a:ext cx="37320" cy="37320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5091574" y="2598838"/>
            <a:ext cx="61333" cy="61333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9184" y="2172615"/>
            <a:ext cx="47715" cy="47715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701064" y="2536990"/>
            <a:ext cx="35302" cy="35302"/>
          </a:xfrm>
          <a:prstGeom prst="ellipse">
            <a:avLst/>
          </a:prstGeom>
          <a:solidFill>
            <a:srgbClr val="FFFFFF">
              <a:alpha val="44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5583356" y="1854133"/>
            <a:ext cx="37187" cy="37187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944628" y="1937039"/>
            <a:ext cx="48857" cy="48857"/>
          </a:xfrm>
          <a:prstGeom prst="ellipse">
            <a:avLst/>
          </a:prstGeom>
          <a:solidFill>
            <a:srgbClr val="FFFFFF">
              <a:alpha val="31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5152597" y="2438010"/>
            <a:ext cx="44120" cy="44120"/>
          </a:xfrm>
          <a:prstGeom prst="ellipse">
            <a:avLst/>
          </a:prstGeom>
          <a:solidFill>
            <a:srgbClr val="FFFFFF">
              <a:alpha val="57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747564" y="2748576"/>
            <a:ext cx="32008" cy="32008"/>
          </a:xfrm>
          <a:prstGeom prst="ellipse">
            <a:avLst/>
          </a:prstGeom>
          <a:solidFill>
            <a:srgbClr val="FFFFFF">
              <a:alpha val="67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73152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1600" y="2167128"/>
            <a:ext cx="685800" cy="17373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11680" y="2624328"/>
            <a:ext cx="685800" cy="12801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2441448"/>
            <a:ext cx="685800" cy="146304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754880" y="2075688"/>
            <a:ext cx="685800" cy="18288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34924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48640" y="3877056"/>
            <a:ext cx="5486400" cy="438912"/>
          </a:xfrm>
          <a:prstGeom prst="rect">
            <a:avLst/>
          </a:prstGeom>
          <a:solidFill>
            <a:srgbClr val="0B2A22"/>
          </a:solidFill>
          <a:ln/>
        </p:spPr>
      </p:sp>
      <p:sp>
        <p:nvSpPr>
          <p:cNvPr id="45" name="Shape 42"/>
          <p:cNvSpPr/>
          <p:nvPr/>
        </p:nvSpPr>
        <p:spPr>
          <a:xfrm>
            <a:off x="765023" y="209794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60747" y="314114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021353" y="347118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816940" y="33962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503793" y="187318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058942" y="184169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390405" y="339657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957986" y="208096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169757" y="190130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071655" y="27390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8286" y="24843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819399" y="236985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688213" y="206376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482852" y="1803105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3835387" y="196719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2705677" y="201076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087925" y="2597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83323" y="3253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951568" y="322015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2369745" y="358772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311365" y="302875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012125" y="249152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035191" y="349324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64473" y="193266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594229" y="238518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91144" y="295426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2890808" y="252568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3404760" y="354123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3344484" y="261086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255970" y="352763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029958" y="27592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281450" y="310311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987479" y="365836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5176702" y="259958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423160" y="3172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👧</a:t>
            </a:r>
            <a:endParaRPr lang="en-US" sz="4000" dirty="0"/>
          </a:p>
        </p:txBody>
      </p:sp>
      <p:sp>
        <p:nvSpPr>
          <p:cNvPr id="80" name="Text 77"/>
          <p:cNvSpPr txBox="1"/>
          <p:nvPr/>
        </p:nvSpPr>
        <p:spPr>
          <a:xfrm>
            <a:off x="3291840" y="239572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🐉</a:t>
            </a:r>
            <a:endParaRPr lang="en-US" sz="6600" dirty="0"/>
          </a:p>
        </p:txBody>
      </p:sp>
      <p:sp>
        <p:nvSpPr>
          <p:cNvPr id="81" name="Shape 78"/>
          <p:cNvSpPr/>
          <p:nvPr/>
        </p:nvSpPr>
        <p:spPr>
          <a:xfrm>
            <a:off x="548640" y="1298448"/>
            <a:ext cx="5486400" cy="438912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713232" y="133502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war Nacht … ein Mädchen ging in den Wald … es begann zu regnen … plötzlich ein Drache!“</a:t>
            </a:r>
            <a:endParaRPr lang="en-US" sz="1150" dirty="0"/>
          </a:p>
        </p:txBody>
      </p:sp>
      <p:sp>
        <p:nvSpPr>
          <p:cNvPr id="83" name="Shape 80"/>
          <p:cNvSpPr/>
          <p:nvPr/>
        </p:nvSpPr>
        <p:spPr>
          <a:xfrm>
            <a:off x="713232" y="3931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13232" y="3931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🌧 Atmo: Regen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548640" y="4425696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713232" y="4453128"/>
            <a:ext cx="5157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F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{ort: "wald", zeit: "nacht", wetter: "regen", figuren: [👧, 🐉], stimmung: "spannend"}</a:t>
            </a:r>
            <a:endParaRPr lang="en-US" sz="1000" dirty="0"/>
          </a:p>
        </p:txBody>
      </p:sp>
      <p:sp>
        <p:nvSpPr>
          <p:cNvPr id="87" name="Text 84"/>
          <p:cNvSpPr txBox="1"/>
          <p:nvPr/>
        </p:nvSpPr>
        <p:spPr>
          <a:xfrm>
            <a:off x="548640" y="4965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pro Stunde Begleitvideo</a:t>
            </a:r>
            <a:endParaRPr lang="en-US" sz="1100" dirty="0"/>
          </a:p>
        </p:txBody>
      </p:sp>
      <p:sp>
        <p:nvSpPr>
          <p:cNvPr id="88" name="Text 85"/>
          <p:cNvSpPr txBox="1"/>
          <p:nvPr/>
        </p:nvSpPr>
        <p:spPr>
          <a:xfrm>
            <a:off x="548640" y="52852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Video-KI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2468880" y="5312664"/>
            <a:ext cx="1885193" cy="164592"/>
          </a:xfrm>
          <a:prstGeom prst="rect">
            <a:avLst/>
          </a:prstGeom>
          <a:solidFill>
            <a:srgbClr val="FF2D75"/>
          </a:solidFill>
          <a:ln/>
        </p:spPr>
      </p:sp>
      <p:sp>
        <p:nvSpPr>
          <p:cNvPr id="90" name="Shape 87"/>
          <p:cNvSpPr/>
          <p:nvPr/>
        </p:nvSpPr>
        <p:spPr>
          <a:xfrm>
            <a:off x="4354073" y="5312664"/>
            <a:ext cx="681098" cy="164592"/>
          </a:xfrm>
          <a:prstGeom prst="rect">
            <a:avLst/>
          </a:prstGeom>
          <a:solidFill>
            <a:srgbClr val="FF2D75">
              <a:alpha val="45000"/>
            </a:srgbClr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5108323" y="52852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180–2.700 USD</a:t>
            </a:r>
            <a:endParaRPr lang="en-US" sz="950" dirty="0"/>
          </a:p>
        </p:txBody>
      </p:sp>
      <p:sp>
        <p:nvSpPr>
          <p:cNvPr id="92" name="Text 89"/>
          <p:cNvSpPr txBox="1"/>
          <p:nvPr/>
        </p:nvSpPr>
        <p:spPr>
          <a:xfrm>
            <a:off x="548640" y="55321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mit Text-KI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2468880" y="5559552"/>
            <a:ext cx="230455" cy="16459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94" name="Shape 91"/>
          <p:cNvSpPr/>
          <p:nvPr/>
        </p:nvSpPr>
        <p:spPr>
          <a:xfrm>
            <a:off x="2699335" y="5559552"/>
            <a:ext cx="276310" cy="164592"/>
          </a:xfrm>
          <a:prstGeom prst="rect">
            <a:avLst/>
          </a:prstGeom>
          <a:solidFill>
            <a:srgbClr val="FFD166">
              <a:alpha val="45000"/>
            </a:srgbClr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3048797" y="55321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0,25–0,75 USD</a:t>
            </a:r>
            <a:endParaRPr lang="en-US" sz="950" dirty="0"/>
          </a:p>
        </p:txBody>
      </p:sp>
      <p:sp>
        <p:nvSpPr>
          <p:cNvPr id="96" name="Text 93"/>
          <p:cNvSpPr txBox="1"/>
          <p:nvPr/>
        </p:nvSpPr>
        <p:spPr>
          <a:xfrm>
            <a:off x="548640" y="5779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ohne KI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2468880" y="5806440"/>
            <a:ext cx="54864" cy="164592"/>
          </a:xfrm>
          <a:prstGeom prst="rect">
            <a:avLst/>
          </a:prstGeom>
          <a:solidFill>
            <a:srgbClr val="2DFFB5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2596896" y="5779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950" dirty="0"/>
          </a:p>
        </p:txBody>
      </p:sp>
      <p:sp>
        <p:nvSpPr>
          <p:cNvPr id="99" name="Text 96"/>
          <p:cNvSpPr txBox="1"/>
          <p:nvPr/>
        </p:nvSpPr>
        <p:spPr>
          <a:xfrm>
            <a:off x="548640" y="60441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logarithmische Skala · Video-KI nach Listenpreis 0,05–0,75 USD/s [Quelle 24, 25] · KI-Kosten LiveFX: Projektmessung</a:t>
            </a:r>
            <a:endParaRPr lang="en-US" sz="1000" dirty="0"/>
          </a:p>
        </p:txBody>
      </p:sp>
      <p:sp>
        <p:nvSpPr>
          <p:cNvPr id="100" name="Text 97"/>
          <p:cNvSpPr txBox="1"/>
          <p:nvPr/>
        </p:nvSpPr>
        <p:spPr>
          <a:xfrm>
            <a:off x="6355080" y="1325880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Satz verändert den Weltzustand:</a:t>
            </a:r>
            <a:endParaRPr lang="en-US" sz="1100" dirty="0"/>
          </a:p>
        </p:txBody>
      </p:sp>
      <p:sp>
        <p:nvSpPr>
          <p:cNvPr id="101" name="Shape 98"/>
          <p:cNvSpPr/>
          <p:nvPr/>
        </p:nvSpPr>
        <p:spPr>
          <a:xfrm>
            <a:off x="635508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635508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713232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713232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790956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790956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Wetter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8869680" y="164592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886968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973836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973836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1069848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069848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</a:t>
            </a:r>
            <a:endParaRPr lang="en-US" sz="950" dirty="0"/>
          </a:p>
        </p:txBody>
      </p:sp>
      <p:sp>
        <p:nvSpPr>
          <p:cNvPr id="113" name="Shape 110"/>
          <p:cNvSpPr/>
          <p:nvPr/>
        </p:nvSpPr>
        <p:spPr>
          <a:xfrm>
            <a:off x="6355080" y="20116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6355080" y="2011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Stimmung</a:t>
            </a:r>
            <a:endParaRPr lang="en-US" sz="950" dirty="0"/>
          </a:p>
        </p:txBody>
      </p:sp>
      <p:sp>
        <p:nvSpPr>
          <p:cNvPr id="115" name="Text 112"/>
          <p:cNvSpPr txBox="1"/>
          <p:nvPr/>
        </p:nvSpPr>
        <p:spPr>
          <a:xfrm>
            <a:off x="6355080" y="2514600"/>
            <a:ext cx="52879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Streamerin liest vor oder erzählt – darunter entsteht Satz für Satz ein animierter Film: Nacht, Wald, Regen, Drache.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mit 60 fps im Browser neben OBS, offline und deterministisch: gleiche Zeitleiste, gleiches Bild – jede Erzählung wird sofort zum Clip.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240- bis über 10.000-mal günstiger als Video-KI – und live überhaupt erst möglich.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Vorlese-, Hörbuch- und Podcast-Formate: Hörbuch DE 374 Mio. €, +13 % [Quelle 19]; YouTube &gt; 1 Mrd. Podcast-Zuschauer pro Monat [Quelle 21].</a:t>
            </a:r>
            <a:endParaRPr lang="en-US" sz="1400" dirty="0"/>
          </a:p>
        </p:txBody>
      </p:sp>
      <p:sp>
        <p:nvSpPr>
          <p:cNvPr id="116" name="Shape 113"/>
          <p:cNvSpPr/>
          <p:nvPr/>
        </p:nvSpPr>
        <p:spPr>
          <a:xfrm>
            <a:off x="6355080" y="5120640"/>
            <a:ext cx="5287975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17" name="Text 114"/>
          <p:cNvSpPr txBox="1"/>
          <p:nvPr/>
        </p:nvSpPr>
        <p:spPr>
          <a:xfrm>
            <a:off x="6556248" y="5193792"/>
            <a:ext cx="4885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 Bilderbuch, kein Fotorealismus</a:t>
            </a:r>
            <a:endParaRPr lang="en-US" sz="1100" dirty="0"/>
          </a:p>
        </p:txBody>
      </p:sp>
      <p:sp>
        <p:nvSpPr>
          <p:cNvPr id="118" name="Text 115"/>
          <p:cNvSpPr txBox="1"/>
          <p:nvPr/>
        </p:nvSpPr>
        <p:spPr>
          <a:xfrm>
            <a:off x="6556248" y="5468112"/>
            <a:ext cx="48856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Stilisierte Welt aus Emoji/SVG und Partikeln – gerade deshalb live, billig und kinderfreundlich. Optionale KI wählt nur die Szene, sie erzeugt keine Bilder.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B · WORTBILD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Sprachenlernen &amp; Bildung: jedes Wort ein Bild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14</a:t>
            </a:r>
            <a:endParaRPr lang="en-US" sz="900" dirty="0"/>
          </a:p>
        </p:txBody>
      </p:sp>
      <p:sp>
        <p:nvSpPr>
          <p:cNvPr id="8" name="WortBild-Karte"/>
          <p:cNvSpPr/>
          <p:nvPr/>
        </p:nvSpPr>
        <p:spPr>
          <a:xfrm>
            <a:off x="548640" y="1325880"/>
            <a:ext cx="4846320" cy="3520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1750">
            <a:solidFill>
              <a:srgbClr val="FFD1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43560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8775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elma</a:t>
            </a:r>
            <a:endParaRPr lang="en-US" sz="5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3375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· ma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7216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algn="ctr" indent="0" marL="0">
              <a:buNone/>
            </a:pPr>
            <a:r>
              <a:rPr lang="en-US" sz="2000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Apfel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011680" y="4206240"/>
            <a:ext cx="457200" cy="45720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11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„elma“ – tr-TR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41732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1732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51460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1460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1188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1188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413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Modi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Übersetzen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19456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9456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Lesehilfe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Nachsprechen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806440" y="1325880"/>
            <a:ext cx="58366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Kind sagt „Apfel“ – sofort: 🍎, „elma“ in der Zielsprache, „der Apfel“ mit farbigem Artikel und die Aussprache. Ohne Klick.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Lesehilfe in der eigenen Sprache: für Kinder vor dem Lesealter, DaZ, Integrationskurse und neurodiverse Lernende.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Lokal, ohne Konto, offline – Schul-Datenschutz als Verkaufsargument. Aussprache über die Systemstimmen des Geräts [Quelle 29].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806440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71032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12,7 Mio.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5971032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zahlende Duolingo-Abonnenten, Q2 2026 [Quelle 32]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797698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62290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307.000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7962290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Teilnehmende in Integrationskursen 2025 [Quelle 36]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9788957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953549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Mrd. €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9953549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DigitalPakt 2.0 über fünf Jahre, Start 1.9.2026 [Quelle 40]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5806440" y="5349240"/>
            <a:ext cx="5836615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07608" y="5394960"/>
            <a:ext cx="54342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Erlöse (Schätzung): WortBild Familie 4,99 €/Monat · Schullizenz 300–800 €/Jahr · Kurslizenz 49 € pro Lehrkraft und Jahr · Verlags-Edition für zweisprachige Bücher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LINIEN D + C · STUDIO UND RÄUME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Auto-Edit, Editor, VR/AR – und ein größerer Markt</a:t>
            </a:r>
            <a:endParaRPr lang="en-US" sz="31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98448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Studio: Live-Schnitt und Auto-Edit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→ Highlights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Stream 3–5 Clips im Format 9:16 – dort, wo Memes, Geschenke und Chat am dichtesten waren. Ohne Upload.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4048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2336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rein → fertig raus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ziehen → lokales Transkript → Effekte, Szenen, Schnitte als Chips → MP4 per Hardware-Encoder [Quelle 57, 59].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6446520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0040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🎞 Video.mp4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„Höre zu … (lokal)“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103120" y="3291840"/>
            <a:ext cx="4754880" cy="274320"/>
          </a:xfrm>
          <a:prstGeom prst="rect">
            <a:avLst/>
          </a:prstGeom>
          <a:solidFill>
            <a:srgbClr val="262B38"/>
          </a:solidFill>
          <a:ln/>
        </p:spPr>
      </p:sp>
      <p:sp>
        <p:nvSpPr>
          <p:cNvPr id="18" name="Shape 15"/>
          <p:cNvSpPr/>
          <p:nvPr/>
        </p:nvSpPr>
        <p:spPr>
          <a:xfrm>
            <a:off x="2198218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19" name="Shape 16"/>
          <p:cNvSpPr/>
          <p:nvPr/>
        </p:nvSpPr>
        <p:spPr>
          <a:xfrm>
            <a:off x="2626157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0" name="Shape 17"/>
          <p:cNvSpPr/>
          <p:nvPr/>
        </p:nvSpPr>
        <p:spPr>
          <a:xfrm>
            <a:off x="3054096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1" name="Shape 18"/>
          <p:cNvSpPr/>
          <p:nvPr/>
        </p:nvSpPr>
        <p:spPr>
          <a:xfrm>
            <a:off x="3482035" y="3310128"/>
            <a:ext cx="95098" cy="237744"/>
          </a:xfrm>
          <a:prstGeom prst="roundRect">
            <a:avLst>
              <a:gd name="adj" fmla="val 57692"/>
            </a:avLst>
          </a:prstGeom>
          <a:solidFill>
            <a:srgbClr val="FF2D75"/>
          </a:solidFill>
          <a:ln/>
        </p:spPr>
      </p:sp>
      <p:sp>
        <p:nvSpPr>
          <p:cNvPr id="22" name="Shape 19"/>
          <p:cNvSpPr/>
          <p:nvPr/>
        </p:nvSpPr>
        <p:spPr>
          <a:xfrm>
            <a:off x="3814877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3" name="Shape 20"/>
          <p:cNvSpPr/>
          <p:nvPr/>
        </p:nvSpPr>
        <p:spPr>
          <a:xfrm>
            <a:off x="4385462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4" name="Shape 21"/>
          <p:cNvSpPr/>
          <p:nvPr/>
        </p:nvSpPr>
        <p:spPr>
          <a:xfrm>
            <a:off x="4860950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5" name="Shape 22"/>
          <p:cNvSpPr/>
          <p:nvPr/>
        </p:nvSpPr>
        <p:spPr>
          <a:xfrm>
            <a:off x="5241341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6" name="Shape 23"/>
          <p:cNvSpPr/>
          <p:nvPr/>
        </p:nvSpPr>
        <p:spPr>
          <a:xfrm>
            <a:off x="5621731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7" name="Shape 24"/>
          <p:cNvSpPr/>
          <p:nvPr/>
        </p:nvSpPr>
        <p:spPr>
          <a:xfrm>
            <a:off x="6097219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8" name="Shape 25"/>
          <p:cNvSpPr/>
          <p:nvPr/>
        </p:nvSpPr>
        <p:spPr>
          <a:xfrm>
            <a:off x="6525158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9" name="Shape 26"/>
          <p:cNvSpPr/>
          <p:nvPr/>
        </p:nvSpPr>
        <p:spPr>
          <a:xfrm>
            <a:off x="2103120" y="3712464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26771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3291840" y="37124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5643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Szene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480560" y="3712464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64515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669280" y="3712464"/>
            <a:ext cx="109728" cy="109728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3387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Schnitt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1480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Räume: ein Zustand, viele Bildschirme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54864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Bühne &amp; Events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heute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274320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8036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 Klassenzimmer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288036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heute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93776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7492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Hörbuch mit Bildern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07492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Folgerunde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AR am Handy</a:t>
            </a:r>
            <a:endParaRPr lang="en-US" sz="1150" dirty="0"/>
          </a:p>
        </p:txBody>
      </p:sp>
      <p:sp>
        <p:nvSpPr>
          <p:cNvPr id="49" name="Text 46"/>
          <p:cNvSpPr txBox="1"/>
          <p:nvPr/>
        </p:nvSpPr>
        <p:spPr>
          <a:xfrm>
            <a:off x="68580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Folgerunde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274320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88036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 WebXR / VR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288036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2029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493776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07492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👓 Display-Brille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507492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2029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269480" y="1298448"/>
            <a:ext cx="4373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Erweiterter Markt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645920"/>
          <a:ext cx="4373575" cy="914400"/>
        </p:xfrm>
        <a:graphic>
          <a:graphicData uri="http://schemas.openxmlformats.org/drawingml/2006/table">
            <a:tbl>
              <a:tblPr/>
              <a:tblGrid>
                <a:gridCol w="2186788"/>
                <a:gridCol w="218678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Videoschnitt-Software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2,68 Mrd. USD [Quelle 51]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KI-Video (Generierung + Schnitt)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3,67 Mrd. USD [Quelle 23]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Sprachlern-Apps (In-App)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Mrd. USD [Quelle 33]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Hörbuch Deutschland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 Mio. € [Quelle 19]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 Glasses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 Mio. Geräte / 5,1 Mrd. USD [Quelle 45]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Live-Streaming (Kern)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97–157 Mrd. USD [Quelle 1, 2]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</a:tr>
            </a:tbl>
          </a:graphicData>
        </a:graphic>
      </p:graphicFrame>
      <p:sp>
        <p:nvSpPr>
          <p:cNvPr id="58" name="Text 54"/>
          <p:cNvSpPr txBox="1"/>
          <p:nvPr/>
        </p:nvSpPr>
        <p:spPr>
          <a:xfrm>
            <a:off x="7269480" y="4983480"/>
            <a:ext cx="4373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Preis-Anker: OpusClip 15–29 USD, Descript 16–65 USD pro Monat [Quelle 54, 55]. LiveFX Pro+ 14,99 € (Schätzung) – ohne Cloud-Kosten, ohne Minutenlimit. XR und Brille: Schaufenster, keine Umsatzlinie.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GRÜNDER, ERFINDER, NUTZER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120640" cy="3246120"/>
          </a:xfrm>
          <a:prstGeom prst="roundRect">
            <a:avLst>
              <a:gd name="adj" fmla="val 338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737360"/>
            <a:ext cx="1188720" cy="1188720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 &amp; Erfinder · Geschäftsführer · deutsch-türkischer Autor &amp; Live-Streamer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10896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Produkt, Inhalte, Community – und die eigenen Streams als Testlabor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 und Story-Pakete in TR / DE / EN aus erster Hand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Kinderbuchreihe zu Neurodiversität – Brücke zu WortBild und Erzählfilm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Bücher: [Titel] · Streams: [Plattform / @handle] · [E-Mail]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4956048"/>
            <a:ext cx="731520" cy="731520"/>
          </a:xfrm>
          <a:prstGeom prst="ellipse">
            <a:avLst/>
          </a:prstGeom>
          <a:solidFill>
            <a:srgbClr val="181B23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49560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874520" y="488289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874520" y="523036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874520" y="550468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Ansprechpartnerin für Investoren und die Pre-Seed-Runde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43600" y="1371600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72200" y="1746504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2DFFB5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6172200" y="17465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162763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Mobile-/Web-Entwickler:in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06654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Einstellung aus dem Pre-Seed (Monat 3): iOS/Android, PWA, später SDK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43600" y="2907792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72200" y="3282696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FFD166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6172200" y="32826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316382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Creator-Partnerschaften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360273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TR + DACH, Creator-Programm, Bildungsvertrieb – mit der Seed-Runde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943600" y="4443984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2200" y="4818888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9AA3B5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172200" y="4818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470001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Beirat / Partner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513892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Gesucht: Creator-Management TR · Ex-Produktverantwortung „Live“ einer Plattform · Edtech/Didaktik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FINANZEN &amp; BEWERTUNG · SCHÄTZUNG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T€ für 18 Monate – dann die Seed-Runde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17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9844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GuV 5 Jahre, Basis-Szenario (T€)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5836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96696"/>
                <a:gridCol w="996696"/>
                <a:gridCol w="996696"/>
                <a:gridCol w="996696"/>
                <a:gridCol w="996696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A3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A3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A3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+1.661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A3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 Jahresende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3529584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Umsatz 2031: konservativ 602 T€ · optimistisch 7,44 Mio. €. Jahre 4–5 fortgeschrieben; noch kein Umsatz.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416052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3232" y="4270248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Monate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13232" y="4818888"/>
            <a:ext cx="17739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Runway ganz ohne Umsatz – Ø Kosten 13.444 € pro Monat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788920" y="416052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53512" y="4270248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· 146 · 369 T€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53512" y="4818888"/>
            <a:ext cx="17739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Kasse in Monat 18: konservativ · Basis · optimistisch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416052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93792" y="4270248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~350 T€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193792" y="4818888"/>
            <a:ext cx="17739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Seed-Runde nach Gate 2 (Monat 15–18)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1298448"/>
            <a:ext cx="4236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Referenzmethoden (Pre-Money)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0" y="1691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Berkus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641080" y="1737360"/>
            <a:ext cx="1671081" cy="201168"/>
          </a:xfrm>
          <a:prstGeom prst="rect">
            <a:avLst/>
          </a:prstGeom>
          <a:solidFill>
            <a:srgbClr val="2DFFB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10385313" y="16916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2,35 Mio. €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0" y="2075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Scorecard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641080" y="2121408"/>
            <a:ext cx="2097740" cy="201168"/>
          </a:xfrm>
          <a:prstGeom prst="rect">
            <a:avLst/>
          </a:prstGeom>
          <a:solidFill>
            <a:srgbClr val="5AD1F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10811972" y="20756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2,95 Mio. €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0" y="24597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VC-Methode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8641080" y="2505456"/>
            <a:ext cx="1727969" cy="201168"/>
          </a:xfrm>
          <a:prstGeom prst="rect">
            <a:avLst/>
          </a:prstGeom>
          <a:solidFill>
            <a:srgbClr val="9AA3B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442201" y="245973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2,43 Mio. €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06640" y="284378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 Sum.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641080" y="2889504"/>
            <a:ext cx="2133295" cy="201168"/>
          </a:xfrm>
          <a:prstGeom prst="rect">
            <a:avLst/>
          </a:prstGeom>
          <a:solidFill>
            <a:srgbClr val="2DFFB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847527" y="28437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 Mio. €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406640" y="3337560"/>
            <a:ext cx="4236415" cy="1325880"/>
          </a:xfrm>
          <a:prstGeom prst="roundRect">
            <a:avLst>
              <a:gd name="adj" fmla="val 8276"/>
            </a:avLst>
          </a:prstGeom>
          <a:solidFill>
            <a:srgbClr val="1F23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607808" y="3429000"/>
            <a:ext cx="3834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 der Gründer · unter jeder Referenzmethode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607808" y="3685032"/>
            <a:ext cx="3834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2,25 Mio. €</a:t>
            </a:r>
            <a:endParaRPr lang="en-US" sz="3200" dirty="0"/>
          </a:p>
        </p:txBody>
      </p:sp>
      <p:sp>
        <p:nvSpPr>
          <p:cNvPr id="34" name="Text 30"/>
          <p:cNvSpPr txBox="1"/>
          <p:nvPr/>
        </p:nvSpPr>
        <p:spPr>
          <a:xfrm>
            <a:off x="7607808" y="4233672"/>
            <a:ext cx="3834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Pre-Money · 250 T€ für 10,0 % · Post-Money 2,5 Mio. €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7406640" y="4800600"/>
            <a:ext cx="4236415" cy="777240"/>
          </a:xfrm>
          <a:prstGeom prst="roundRect">
            <a:avLst>
              <a:gd name="adj" fmla="val 14118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607808" y="4892040"/>
            <a:ext cx="3834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Alternative: SAFE / Wandeldarlehen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607808" y="5184648"/>
            <a:ext cx="3834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Cap 2,25 Mio. € · 20 % Discount (15–20 % verhandelbar) · ohne Zins · Wandlung in der Seed-Runde – max. 10 %</a:t>
            </a:r>
            <a:endParaRPr lang="en-US" sz="95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76072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Verhandlungsbasis – mit Steuer-/Rechtsberater prüfen. Alle Zahlen sind Schätzungen aus LiveFX_Finanzmodell.xlsx (gewichteter Referenzwert 2,71 Mio. €).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MEILENSTEINE · 18 MONATE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Gates: was die 250 T€ beweisen müssen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22960" y="1618488"/>
            <a:ext cx="10545775" cy="0"/>
          </a:xfrm>
          <a:prstGeom prst="line">
            <a:avLst/>
          </a:prstGeom>
          <a:noFill/>
          <a:ln w="25400">
            <a:solidFill>
              <a:srgbClr val="2A2F3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444752"/>
            <a:ext cx="2487854" cy="347472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44752"/>
            <a:ext cx="24878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  ·  Monat 3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1938528"/>
            <a:ext cx="2670734" cy="37033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" y="2048256"/>
            <a:ext cx="2268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468880"/>
            <a:ext cx="22683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Pro-Abo live (Zahlung)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Mobile-/Web-Entwickler:in an Bord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9808" y="4846320"/>
            <a:ext cx="2268398" cy="0"/>
          </a:xfrm>
          <a:prstGeom prst="line">
            <a:avLst/>
          </a:prstGeom>
          <a:noFill/>
          <a:ln w="12700">
            <a:solidFill>
              <a:srgbClr val="2A2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910328"/>
            <a:ext cx="22683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GIBT FREI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49808" y="5148072"/>
            <a:ext cx="2268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Markteintritt Phase 2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47974" y="1444752"/>
            <a:ext cx="2487854" cy="347472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47974" y="1444752"/>
            <a:ext cx="24878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  ·  Monat 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356534" y="1938528"/>
            <a:ext cx="2670734" cy="37033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57702" y="2048256"/>
            <a:ext cx="2268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Aktivierung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557702" y="2468880"/>
            <a:ext cx="22683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registrierte Nutzer (Schwelle 4.000)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zahlende Pro (Schwelle 120)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Beta-Creator TR/DE, 10–20 Botschafter:innen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 mit 300 Wörtern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Woche-4-Retention ≥ 30 %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557702" y="4846320"/>
            <a:ext cx="2268398" cy="0"/>
          </a:xfrm>
          <a:prstGeom prst="line">
            <a:avLst/>
          </a:prstGeom>
          <a:noFill/>
          <a:ln w="12700">
            <a:solidFill>
              <a:srgbClr val="2A2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557702" y="4910328"/>
            <a:ext cx="22683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GIBT FREI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557702" y="5148072"/>
            <a:ext cx="2268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Mobile-App/PWA-Release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55868" y="1444752"/>
            <a:ext cx="2487854" cy="347472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55868" y="1444752"/>
            <a:ext cx="24878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G2a  ·  Monat 12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64428" y="1938528"/>
            <a:ext cx="2670734" cy="37033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5596" y="2048256"/>
            <a:ext cx="2268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Traktion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65596" y="2468880"/>
            <a:ext cx="22683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20.000 Nutzer (Schwelle 8.000)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zahlende Pro (Schwelle 240)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8.073 € (Schwelle 2.500 €)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Plattform- oder Bildungspilot; WortBild in ≥ 3 Kursen/Klassen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365596" y="4846320"/>
            <a:ext cx="2268398" cy="0"/>
          </a:xfrm>
          <a:prstGeom prst="line">
            <a:avLst/>
          </a:prstGeom>
          <a:noFill/>
          <a:ln w="12700">
            <a:solidFill>
              <a:srgbClr val="2A2F3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65596" y="4910328"/>
            <a:ext cx="22683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GIBT FREI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65596" y="5148072"/>
            <a:ext cx="2268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DE/EN-Ausbau, Plattform-Gespräche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063761" y="1444752"/>
            <a:ext cx="2487854" cy="347472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63761" y="1444752"/>
            <a:ext cx="24878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 ·  Monat 18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972321" y="1938528"/>
            <a:ext cx="2670734" cy="37033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73489" y="2048256"/>
            <a:ext cx="2268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Folgerunde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9173489" y="2468880"/>
            <a:ext cx="22683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50.000 Nutzer (Schwelle 19.000)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2.000 zahlende Pro (Schwelle 570)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22.586 € (Schwelle 6.495 €)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Monat-3-Retention Pro ≥ 75 %; Conversion ≥ 3 % / 4 %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5 zahlende Schulen oder Kurse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9173489" y="4846320"/>
            <a:ext cx="2268398" cy="0"/>
          </a:xfrm>
          <a:prstGeom prst="line">
            <a:avLst/>
          </a:prstGeom>
          <a:noFill/>
          <a:ln w="12700">
            <a:solidFill>
              <a:srgbClr val="2A2F3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73489" y="4910328"/>
            <a:ext cx="22683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GIBT FREI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9173489" y="5148072"/>
            <a:ext cx="2268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Seed-Runde, Ausbau-Team ab Monat 19, Story-Engine/Studio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580644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Werte sind Ziele (nicht erreicht): Ziel = Basis-Szenario, Schwelle = konservatives Szenario. Ein Gate gilt als erfüllt, wenn die Schwelle erreicht ist. Vorschlag – mit Investor:innen abstimmen.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ASK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Lasst uns Live-Streams zuhören lassen.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Plattform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als Feature in TikTok LIVE Studio, Instagram Live Producer oder YouTube Live. Browser-Quelle läuft heute. 8 Wochen, 20 Creator, gemessene Watchtime, Gifts und Clips.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56534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85134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Bildung &amp; Sprachen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3585134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Bildungsträger, Integrationskurse, Schulen, Sprachlern-Plattformen und Verlage: WortBild und Erzählfilm in [Zahl] Kursen/Klassen bzw. mit [Zahl] Titeln testen.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64428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3028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Streaming-Software (OBS-Plug-in, Streamlabs), Creator-Agenturen TR / DACH, Audio- und ASR-Anbieter, Editor-Anbieter (Studio-SDK).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72321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5875">
            <a:solidFill>
              <a:srgbClr val="5AD1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00921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Pre-Seed: 250.000 €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200921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10 % (Pre-Money 2,25 Mio. €, Post 2,5 Mio. €) oder SAFE mit 2,25 Mio. € Cap. 18 Monate, schlank: Pro-Abo, Mobile-App/PWA, TR → DE/EN-Launch, WortBild.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005072"/>
            <a:ext cx="11094415" cy="1207008"/>
          </a:xfrm>
          <a:prstGeom prst="roundRect">
            <a:avLst>
              <a:gd name="adj" fmla="val 909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087368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 Pre-Seed · 18 Monate · Mittelverwendung – Vorschlag – mit Steuer-/Rechtsberater prüfen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407408"/>
            <a:ext cx="5245456" cy="219456"/>
          </a:xfrm>
          <a:prstGeom prst="rect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95848" y="4407408"/>
            <a:ext cx="2081723" cy="219456"/>
          </a:xfrm>
          <a:prstGeom prst="rect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5003" y="4407408"/>
            <a:ext cx="1554434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786869" y="4407408"/>
            <a:ext cx="1027146" cy="219456"/>
          </a:xfrm>
          <a:prstGeom prst="rect">
            <a:avLst/>
          </a:prstGeom>
          <a:solidFill>
            <a:srgbClr val="5AD1FF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841446" y="4407408"/>
            <a:ext cx="499857" cy="219456"/>
          </a:xfrm>
          <a:prstGeom prst="rect">
            <a:avLst/>
          </a:prstGeom>
          <a:solidFill>
            <a:srgbClr val="9AA3B5"/>
          </a:solidFill>
          <a:ln w="12700">
            <a:solidFill>
              <a:srgbClr val="9AA3B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" y="4773168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Produkt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 T€ · 50 %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932115" y="4773168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114995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Markteintritt &amp; Piloten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3114995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T€ · 20 %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041270" y="4773168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224150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 (Linie B)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224150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37,5 T€ · 15 %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150425" y="4773168"/>
            <a:ext cx="109728" cy="109728"/>
          </a:xfrm>
          <a:prstGeom prst="ellipse">
            <a:avLst/>
          </a:prstGeom>
          <a:solidFill>
            <a:srgbClr val="5AD1FF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33305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Recht, Marke, Datenschutz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333305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T€ · 10 %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59580" y="4773168"/>
            <a:ext cx="109728" cy="109728"/>
          </a:xfrm>
          <a:prstGeom prst="ellipse">
            <a:avLst/>
          </a:prstGeom>
          <a:solidFill>
            <a:srgbClr val="9AA3B5"/>
          </a:solidFill>
          <a:ln w="12700">
            <a:solidFill>
              <a:srgbClr val="9AA3B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442460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9442460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 T€ · 5 %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5303520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2960" y="5321808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Sancak, Gründer &amp; Geschäftsführer   ·   Investor Relations: Gönül Demet   ·   [E-Mail]   ·   Demo: [Link]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6144768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Dieses Deck gibt es auch auf Türkisch und Englisch: LiveFX_Pitch_TR.pptx · LiveFX_Pitch_EN.pptx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Pitch</dc:title>
  <dc:subject>LiveFX: Deine Stimme wird zum Effekt – und zum Bild</dc:subject>
  <dc:creator>Tuncay Sancak</dc:creator>
  <cp:lastModifiedBy>Tuncay Sancak</cp:lastModifiedBy>
  <cp:revision>1</cp:revision>
  <dcterms:created xsi:type="dcterms:W3CDTF">2026-10-04T19:58:27Z</dcterms:created>
  <dcterms:modified xsi:type="dcterms:W3CDTF">2026-10-04T19:58:27Z</dcterms:modified>
</cp:coreProperties>
</file>