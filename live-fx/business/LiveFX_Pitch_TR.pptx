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ugün: LiveFX 2.1" id="{289d13c8-e197-a19e-330d-f765c58d7e57}">
          <p14:sldIdLst>
            <p14:sldId id="256"/>
            <p14:sldId id="257"/>
            <p14:sldId id="258"/>
            <p14:sldId id="259"/>
            <p14:sldId id="260"/>
            <p14:sldId id="261"/>
            <p14:sldId id="262"/>
            <p14:sldId id="263"/>
            <p14:sldId id="264"/>
            <p14:sldId id="265"/>
            <p14:sldId id="266"/>
          </p14:sldIdLst>
        </p14:section>
        <p14:section name="Vizyon 2027–2029" id="{1a17b2a7-b126-1fa3-18b3-661115ade20d}">
          <p14:sldIdLst>
            <p14:sldId id="267"/>
            <p14:sldId id="268"/>
            <p14:sldId id="269"/>
            <p14:sldId id="270"/>
          </p14:sldIdLst>
        </p14:section>
        <p14:section name="Ekip ve talep" id="{7bb417d3-51e7-73e3-0228-de58a3d64c97}">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Arial"/>
              </a:defRPr>
            </a:pPr>
            <a:r>
              <a:rPr sz="1100" b="0" i="0" u="none" strike="noStrike">
                <a:solidFill>
                  <a:srgbClr val="FFFFFF"/>
                </a:solidFill>
                <a:latin typeface="Arial"/>
              </a:rPr>
              <a:t>Pazar büyüklüğü, milyar USD (ikincil kaynaklardan aralıklar)</a:t>
            </a:r>
          </a:p>
        </c:rich>
      </c:tx>
      <c:layout/>
      <c:overlay val="0"/>
    </c:title>
    <c:autoTitleDeleted val="0"/>
    <c:plotArea>
      <c:layout/>
      <c:barChart>
        <c:barDir val="col"/>
        <c:grouping val="clustered"/>
        <c:varyColors val="0"/>
        <c:ser>
          <c:idx val="0"/>
          <c:order val="0"/>
          <c:tx>
            <c:strRef>
              <c:f>Sheet1!$B$1</c:f>
              <c:strCache>
                <c:ptCount val="1"/>
                <c:pt idx="0">
                  <c:v>alt tahmin</c:v>
                </c:pt>
              </c:strCache>
            </c:strRef>
          </c:tx>
          <c:spPr>
            <a:solidFill>
              <a:srgbClr val="FF2D75"/>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Canlı yayın 2026</c:v>
                  </c:pt>
                  <c:pt idx="1">
                    <c:v>Canlı yayın 2030</c:v>
                  </c:pt>
                  <c:pt idx="2">
                    <c:v>Üretici ekonomisi 2026</c:v>
                  </c:pt>
                  <c:pt idx="3">
                    <c:v>canlı payı (≈ %14)</c:v>
                  </c:pt>
                </c:lvl>
              </c:multiLvlStrCache>
            </c:multiLvlStrRef>
          </c:cat>
          <c:val>
            <c:numRef>
              <c:f>Sheet1!$B$2:$B$5</c:f>
              <c:numCache>
                <c:formatCode>General</c:formatCode>
                <c:ptCount val="4"/>
                <c:pt idx="0">
                  <c:v>97</c:v>
                </c:pt>
                <c:pt idx="1">
                  <c:v>250</c:v>
                </c:pt>
                <c:pt idx="2">
                  <c:v>216</c:v>
                </c:pt>
                <c:pt idx="3">
                  <c:v>30</c:v>
                </c:pt>
              </c:numCache>
            </c:numRef>
          </c:val>
        </c:ser>
        <c:ser>
          <c:idx val="1"/>
          <c:order val="1"/>
          <c:tx>
            <c:strRef>
              <c:f>Sheet1!$C$1</c:f>
              <c:strCache>
                <c:ptCount val="1"/>
                <c:pt idx="0">
                  <c:v>üst tahmin</c:v>
                </c:pt>
              </c:strCache>
            </c:strRef>
          </c:tx>
          <c:spPr>
            <a:solidFill>
              <a:srgbClr val="2DFFB5"/>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Canlı yayın 2026</c:v>
                  </c:pt>
                  <c:pt idx="1">
                    <c:v>Canlı yayın 2030</c:v>
                  </c:pt>
                  <c:pt idx="2">
                    <c:v>Üretici ekonomisi 2026</c:v>
                  </c:pt>
                  <c:pt idx="3">
                    <c:v>canlı payı (≈ %14)</c:v>
                  </c:pt>
                </c:lvl>
              </c:multiLvlStrCache>
            </c:multiLvlStrRef>
          </c:cat>
          <c:val>
            <c:numRef>
              <c:f>Sheet1!$C$2:$C$5</c:f>
              <c:numCache>
                <c:formatCode>General</c:formatCode>
                <c:ptCount val="4"/>
                <c:pt idx="0">
                  <c:v>157</c:v>
                </c:pt>
                <c:pt idx="1">
                  <c:v>345</c:v>
                </c:pt>
                <c:pt idx="2">
                  <c:v>260</c:v>
                </c:pt>
                <c:pt idx="3">
                  <c:v>36</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A3B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2F3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6B7280"/>
                </a:solidFill>
                <a:latin typeface="Arial"/>
              </a:defRPr>
            </a:pPr>
            <a:endParaRPr lang="en-US"/>
          </a:p>
        </c:txPr>
        <c:crossAx val="2094734554"/>
        <c:crosses val="autoZero"/>
        <c:crossBetween val="between"/>
      </c:valAx>
      <c:spPr>
        <a:solidFill>
          <a:srgbClr val="0F1115"/>
        </a:solidFill>
        <a:ln>
          <a:noFill/>
        </a:ln>
        <a:effectLst/>
      </c:spPr>
    </c:plotArea>
    <c:legend>
      <c:legendPos val="b"/>
      <c:overlay val="0"/>
      <c:txPr>
        <a:bodyPr/>
        <a:lstStyle/>
        <a:p>
          <a:pPr>
            <a:defRPr sz="900">
              <a:solidFill>
                <a:srgbClr val="9AA3B5"/>
              </a:solidFill>
              <a:latin typeface="Arial"/>
              <a:cs typeface="Arial"/>
            </a:defRPr>
          </a:pPr>
          <a:endParaRPr lang="en-US"/>
        </a:p>
      </c:txPr>
    </c:legend>
    <c:plotVisOnly val="1"/>
    <c:dispBlanksAs val="span"/>
  </c:chart>
  <c:spPr>
    <a:solidFill>
      <a:srgbClr val="0F1115"/>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kendimi tanıtıyorum: Kendim yayın yapıyorum, kitap yazıyorum ve LiveFX'i, her kısa videoda olup da canlı yayında tam olarak eksik olan şey için geliştirdim. Bugün gördükleriniz kendi yayınlarımda çalışıyor. Sonunda nereye gittiğimizi göstereceğim: meme katmanından, konuşulan her şeyin görsel diline. 30 saniye, sonra doğrudan soruna geçiyoruz.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Otomatik altyazılar, sesten gerçek zamanlı metnin çalıştığını ve platformların bunu yerleşik olarak sunduğunu kanıtladı. Sesten gerçek zamanlı efekt ise yok. Tam bu boşluğu dolduruyoruz. Yayınımdan bir örnek: “Efsane” diyorum – ve klavyeye kendim uzanmazsam hiçbir şey olmuyor.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Önemli: Anahtar kelime eşleştirme anında gerçekleşiyor (tanımanın ara sonuçları), bulut gerekmiyor. İsteğe bağlı yapay zekâ modu anahtar kelime içermeyen cümleleri de yakalıyor (“onun için çok utanç vericiydi” → Awkward). Her şey yayıncının kendi bilgisayarında çalışıyor – veri koruma sonradan eklenmedi, baştan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Mümkünse canlı gösterin: Mikrofonu açın, “bu çok fena… efsane!” deyin, efekt beliriyor. İkinci deneme: Hikâye modunu açın, bir paragraf okuyun – “yağmur yağıyordu”, “gece”, “ejderha” – ve sahneler değişiyor. Yedek plan fragman. Akılda kalacak cümle: Meme'lerin konuşmama tepki verdiği ilk video beni her slayttan daha çok ikna etti.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artık bir prototip değil: 0.1'den 2.1'e sürümler, birim ve uçtan uca testler, Almanca ve Türkçe kılavuzlar. Sürüm 2.1 ürünü daha hafif ve daha güvenli yaptı: ortalama %63–69 daha az kare süresiyle performans modu, MIT lisanslı 143 ücretsiz çıkartma, üç dilde metin çıkartma paketleri ve gençleri koruma filtreli KLIPY ve GIPHY ile güvenli GIF arama – Google, Tenor API'sini Haziran 2026'da kapattı. İki noktayı vurgulayın: (1) kendi seslerimiz, ücretsiz çıkartmalar ve bağlantılı GIF'ler telif ihlali uyarısı yok demek, (2) izleyici tetikleyicileri gelire giden köprü – bir hediye bugün bile efekt tetikleyebiliyor.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Canlı yayın artık yan kanal değil, bir gelir kanalı. Ayrıca: Türkiye, yerelleştirilmiş araçların neredeyse hiç olmadığı, genç ve meme'e yatkın bir TikTok pazarı – en büyük paketimizin Türkçe olması tesadüf değil. Teknoloji: Üç yıl önce sunucu gerektiren şey bugün tarayıcıda çalışıyor – bu, 12. slayttan itibaren anlatacağım vizyonun da temeli.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Dürüstçe söyleyin: TAM geniş aralıklı ikincil kaynaklardan geliyor; SAM ve SOM bir araştırma değil, bizim tahminimiz. Mesele tam rakam değil: Ödeme yapan canlı yayıncıların küçük bir payı bile bir ekibi taşır – ve asıl kaldıraç abonelik değil, platform entegrasyonu. Altta yeni: Vizyon komşu pazarlar açıyor – yapay zekâ video 3,67 milyar USD [Kaynak 23], dil öğrenme uygulamaları 1,54 milyar USD [Kaynak 33], video kurgu 2,68 milyar USD [Kaynak 51], Almanya sesli kitap 374 milyon € [Kaynak 19]. Bunları SOM'a bilerek katmıyoruz. SOM iş planıyla aynı (bölüm 6): 3. yılda 5.000–15.000 ücretli kullanıcı; temel senaryo ortalama 7.500 Pro kullanıcıyla hesaplıyor.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9,99 € bilerek Streamlabs Ultra'nın altında ve Voicemod seviyesinde – içerik üreticileri bu fiyat noktasını tanıyor. Pazaryeri kullanıcıları tedarikçiye dönüştürüyor: Türkçe bir meme paketi hazırlayan, onu satıyor. B2B platforma giden yol: Aynı motor, TikTok LIVE Studio'da tarayıcı kaynağı olarak çalışıyor. Vizyon Pro+ ve eğitim lisanslarını ekliyor – oradaki tüm fiyatlar tahmin.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Rakamları görüşmeden önce girin – yalnızca gerçek olanları. Hikâye şu: Ürün gerçek yayınlarda olgunlaştı (yankı sorunu, şiveler, dikey güvenli alanlar – hepsi pratikten geldi). Şimdi sıra ilk 10 dış içerik üreticisinde ve ölçülebilir izlenme süresi etkisinde.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 alt çeyrek boş – şimdilik. Onu doldurabilecek olanlar platformların kendisi; bu yüzden onlarla konuşuyoruz. Streamlabs ve benzerleri rakip değil, ev sahibi: LiveFX her birinde tarayıcı kaynağı olarak çalışıyor.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ve kanıta göre sıralı: 250 bin € bizi bir geliştiriciyle 18 ay taşıyor. Önce Pro aboneliği ve mobil uygulama/PWA, paralelde ilk vizyon hattı olarak Kelime-Resim, ardından DE/EN ve bir platform ya da eğitim pilotu. Her adımın bir kapısı var (sonraki slaytlar). 18. ayda yaklaşık 350 bin €'luk tohum turunu topluyoruz – hikâye motoru, otomatik kurgu ve VR/AR ancak o zaman başlıyor. Böylece küçük ekip odaklı kalıyor.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Canlı altyazılar, platformların sesi gerçek zamanlı işlemek istediğini gösterdi – ücretsiz ve milyarlarca cihazda. Biz bir sonraki aşamayız: metin yerine görüntü. Tek motor, tek zaman çizelgesi, dört hat: Anlatı Filmi, Kelime-Resim, Mekânlar, Studio. Her şey kişinin kendi cihazındaki tarayıcıda çalışıyor: Bir cümle birkaç yüz baytlık bir durum farkına dönüşüyor ve tek bir Canvas'ta çiziliyor. Video difüzyon modeli yok, GPU sunucusu yok. Dürüst olalım: Bu 2027–2029 vizyonu – rozet bu yüzden orada. Temeli bugün çalışan kod (hikâye modu, efekt motoru, çevrimdışı tanıma). WebGPU artık tüm büyük tarayıcılarda var [Kaynak 27] – onu yalnızca isteğe bağlı kullanıyoruz.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Şöyle görünüyor: Yayıncı konuşmaktan başka bir şey yapmıyor. “Geceydi” – gökyüzü kararıyor. “Bir kız ormana gitti” – ağaçlar büyüyor, karakter içeri yürüyor. “Yağmur başladı” – yağmur yağıyor, atmosfer döngüsü değişiyor. “Birden bir ejderha” – şimşek, kamera sarsıntısı, ejderha. Teknik olarak: Bir cümle 200–500 baytlık bir fark üretiyor, sahneler dakikada 1–3 kez değişiyor, çizim en fazla 1.200 parçacıklı tek bir Canvas'ta – efekt motorumuz bu bütçeyi bugün bile OBS'in yanında tutuyor. Maliyet: Video yapay zekâsı liste fiyatıyla saniyesi 0,05 USD (Veo 3.1 Lite, 720p) ile 0,75 USD arasında [Kaynak 24, 25], yani saati 180–2.700 USD – ve canlı hiç mümkün değil. LiveFX: yapay zekâsız 0 €, isteğe bağlı metin yapay zekâsıyla saati 0,25–0,75 USD. Pazar: Almanya sesli kitap 374 milyon € [Kaynak 19], Almanya'da 23,8 milyon kişi her hafta podcast dinliyor [Kaynak 20], YouTube'da 1 milyardan fazla podcast izleyicisi [Kaynak 21]; yapay zekâ video pazarı 2036'ya kadar 3,67'den 24,89 milyar USD'ye büyüyor [Kaynak 23]. Takvim: hikâye motoru 2. kapıdan sonra sonraki turdan finanse ediliyor – 19. aydan itibaren (2028 2. yarı) Almanca MVP, ardından TR/EN ve dünya paketleri. İlk yayınevi örneği: kurucunun kendi çocuk kitabı serisi.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kişisel kısım: Nöroçeşitlilik üzerine çocuk kitapları yazıyorum ve Alman-Türk'üm. Öğretmen üç şey seçiyor – “Konuştuğum dil: Almanca”, “Göster: Türkçe” ve mod – sonra kitap okuyor. Öğrenme listesindeki her kelime resme, kelimeye ve telaffuza dönüşüyor. Tekrar et modu bilerek bir telaffuz puanlaması değil, yeşil bir onay işareti. Teknik: Kelime → resim bir tablo araması, telaffuzu işletim sistemi sağlıyor (speechSynthesis) [Kaynak 29], bir okul tableti yetiyor, çocuk başına sunucu maliyeti: sıfır. Pazar: Duolingo'nun 58,7 milyon günlük kullanıcısı ve 12,7 milyon ücretli abonesi var [Kaynak 32], dil öğrenme uygulamaları uygulama içi 1,54 milyar USD [Kaynak 33]; Almanya'da 16 yaş altı öğrencilerin %20,4'ü evde ağırlıklı olarak başka bir dil konuşuyor [Kaynak 37], Türkiye kökenli göç geçmişine sahip 2,65 milyon kişi [Kaynak 38], dördüncü sınıfların %25'i okumada asgari standardın altında [Kaynak 39]. Fiyat çıpası: ANTON okul lisansı 250–700 € [Kaynak 41]. Dürüst olalım: Uyum alanı euro olarak küçük, ama güvenilirlik ve destek fonlarına erişim sağlıyor; hacim ailelerde, yayınevlerinde ve platformlarda. “İki kat hızlı” değil, “kelime öğrenmeyi destekler” diyoruz.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araca açılan iki kapı. Birincisi, canlı → öne çıkanlar: Sunucumuz bugün bile her tetikleyiciyi, her hediyeyi, her sohbet mesajını zaman damgasıyla biliyor – bundan yayın başına 3–5 klip çıkıyor. İkincisi, otomatik kurgu: 20 dakikalık bir MP4 pencereye sürükleniyor, Whisper tarayıcıda yerel olarak transkript çıkarıyor [Kaynak 60], LiveFX efektleri, sahneleri ve kesmeleri taşınabilir çipler olarak yerleştiriyor, dışa aktarım WebCodecs ve cihazın donanım kodlayıcısıyla yapılıyor [Kaynak 57, 58, 59]. Dosya bilgisayardan hiç çıkmıyor, video başına marjinal maliyet sıfır. Mekânlar: Sahne ve sınıf bugün bile çalışıyor (tam ekran, telefon reji masası olarak). Resimli sesli kitap ve telefonda AR, 2. kapıdan sonra sonraki turla geliyor. WebXR [Kaynak 47, 48] ve Meta Ray-Ban Display gibi ekranlı gözlükler [Kaynak 46] vizyon – IDC 2026 için 13,6 milyon akıllı gözlük bekliyor [Kaynak 45], ekranlı gözlükler bunun yalnızca küçük bir kısmı. Rekabete dürüst bakış: CapCut'ın 736 milyon aylık aktif kullanıcısı var [Kaynak 52]; evrensel bir editör olarak değil, ses → efekt, sahneler, TR/DE ve yerel işlemeyle yarışıyoruz. Alıcı sinyali: Canva 2026'da Cavalry ve MangoAI'ı satın aldı [Kaynak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Kurucu tek kişide kullanıcı, içerik sağlayıcı ve ürün sorumlusu – ürünün şivelerde, dikey formatta ve Türkçede çalışmasının nedeni bu. Çocuk kitabı yazarı olarak ilk yayınevi ve eğitim örneğini de kendisi getiriyor. Gönül Demet yatırımcı ilişkilerinden (Investor Relations) sorumlu ve ön tohum turu için iletişim kişisi. Ön tohum yatırım (250.000 €) bir işe alımı finanse ediyor – 3. aydan itibaren bir mobil/web geliştirici; diğer işe alımlar 2. kapıdan sonra tohum turuyla geliyor; Kelime-Resim için içerik kontrolünü bir eğitim teknolojisi danışma kurulu üstleniyor.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Rakamlar tek slaytta. Temel senaryo: gelir 2027'deki 51 bin €'dan 2031'de 3,15 milyon €'ya çıkıyor; FAVÖK 2028'de pozitife dönüyor ve 22. aydan itibaren kalıcı. Temkinli senaryoda 2031 geliri 602 bin €, iyimserde 7,44 milyon € – 4. ve 5. yıllar ileriye taşındı. Nakit ömrü: hiç gelir olmasa bile 250 bin € 18 ay yetiyor. 18. ayda senaryoya göre 49 ile 369 bin € arasında nakit bekliyoruz – ve 2. kapıdan sonra yaklaşık 350 bin €'luk bir tohum turu topluyoruz. Değerleme: teklifimiz %10 karşılığında 250.000 €, yani 2,25 milyon € yatırım öncesi ve 2,5 milyon € yatırım sonrası değer. Gelir öncesi dört yaygın yöntem 2,35 ile 3,0 milyon € arasında sonuç veriyor – Berkus 2,35 milyon €, DACH aralığının alt kısmındaki bir referansla Scorecard 2,95 milyon €, yukarı potansiyel senaryosunda VC yöntemi 2,43 milyon €, Risk Faktörü Toplamı 3,0 milyon €; ağırlıklı 2,71 milyon €. Yani teklif, her referans yönteminin altında adil ve yatırımcı dostu bir giriş fiyatı. Neden: 575+ otomatik testli çalışan ürün, kendi fikrî mülkiyeti ve içeriği, Türkçe niş dahil üç dil, tek motor üzerinde dört vizyon seçeneği ve sermaye verimliliği – v2.1'e kadar dış sermaye olmadan geliştirildi. Dürüst olmak gerekirse aleyhte: tek kurucu, henüz gelir yok. Alternatif olarak 2,25 milyon € tavanlı, %20 iskontolu, faizsiz bir SAFE. Müzakere temeli, vergi ve hukuk danışmanıyla kontrol edilecek.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ayda dört kapı – her biri bir sonraki bütçeyi açıyor. 3. ay: Pro aboneliği yayında ve geliştirici ekipte. 6. ay: hedef 10.000 kayıtlı kullanıcı ve 400 ödeme yapan Pro; eşik 4.000 ve 120. 12. ay: 20.000 kullanıcı, 800 Pro, 8.073 € MRR, çalışan bir platform ya da eğitim pilotu. 18. ay 2. kapı: 50.000 kullanıcı, 2.000 Pro, 22.586 € MRR, Kelime-Resim için beş ödeme yapan okul ya da kurs. Tohum turunun temeli bu. Bunların hepsi hedef – henüz hiçbirine ulaşılmadı.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Somut bitirin: canlı yayın ekibinde bir muhatap ve 20 içerik üreticisiyle 8 haftalık bir pilot istiyoruz. Overlay'i, paketleri, desteği ve ölçümü (izlenme süresi, hediyeler, canlı yayınlardan klipler) biz sağlıyoruz. Kelime-Resim için eğitim kurumları, dil öğrenme platformları ya da yayınevleriyle ikinci bir pilot arıyoruz – ilk yayınevi örneği kurucunun kendi çocuk kitabı serisi. Tura gelince: 18 ay için 250.000 € ön tohum. Önerilen fon kullanımı: ekip ve ürün 125 bin €, pazara giriş ve pilotlar 50 bin €, Kelime-Resim 37,5 bin €, hukuk/marka/veri koruma 25 bin €, yedek 12,5 bin €. Hiç gelir olmasa bile bu 18 ay yetiyor. Teklifimiz: 250.000 € karşılığında %10 – 2,25 milyon € yatırım öncesi, 2,5 milyon € yatırım sonrası değer, her yaygın referans yönteminin altında – ya da 2,25 milyon € tavanlı ve %20 iskontolu bir SAFE; müzakere temeli, vergi ve hukuk danışmanıyla kontrol edilecek. Hikâye motoru, otomatik kurgu ve VR/AR, 2. kapıdan sonra yaklaşık 350 bin €'luk tohum turuyla geliyor. Yatırımcı iletişimi: Gönül Demet. Bu sunum Almanca ve İngilizce olarak da mevcut.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5"/>
        </a:solidFill>
      </p:bgPr>
    </p:bg>
    <p:spTree>
      <p:nvGrpSpPr>
        <p:cNvPr id="1" name=""/>
        <p:cNvGrpSpPr/>
        <p:nvPr/>
      </p:nvGrpSpPr>
      <p:grpSpPr>
        <a:xfrm>
          <a:off x="0" y="0"/>
          <a:ext cx="0" cy="0"/>
          <a:chOff x="0" y="0"/>
          <a:chExt cx="0" cy="0"/>
        </a:xfrm>
      </p:grpSpPr>
      <p:pic>
        <p:nvPicPr>
          <p:cNvPr id="2" name="Image 0" descr="/home/user/Notion/live-fx/business/video/stills/tr-16x9-6_9s.jpg">    </p:cNvPr>
          <p:cNvPicPr>
            <a:picLocks noChangeAspect="1"/>
          </p:cNvPicPr>
          <p:nvPr/>
        </p:nvPicPr>
        <p:blipFill>
          <a:blip r:embed="rId1">
            <a:alphaModFix amt="90000"/>
          </a:blip>
          <a:stretch>
            <a:fillRect/>
          </a:stretch>
        </p:blipFill>
        <p:spPr>
          <a:xfrm>
            <a:off x="6309360" y="0"/>
            <a:ext cx="5882335" cy="3310128"/>
          </a:xfrm>
          <a:prstGeom prst="rect">
            <a:avLst/>
          </a:prstGeom>
        </p:spPr>
      </p:pic>
      <p:pic>
        <p:nvPicPr>
          <p:cNvPr id="3" name="Image 1" descr="/home/user/Notion/live-fx/business/video/stills/tr-9x16-29_6s.jpg">    </p:cNvPr>
          <p:cNvPicPr>
            <a:picLocks noChangeAspect="1"/>
          </p:cNvPicPr>
          <p:nvPr/>
        </p:nvPicPr>
        <p:blipFill>
          <a:blip r:embed="rId2"/>
          <a:stretch>
            <a:fillRect/>
          </a:stretch>
        </p:blipFill>
        <p:spPr>
          <a:xfrm>
            <a:off x="9509760" y="3310128"/>
            <a:ext cx="1993392" cy="3547872"/>
          </a:xfrm>
          <a:prstGeom prst="rect">
            <a:avLst/>
          </a:prstGeom>
        </p:spPr>
      </p:pic>
      <p:pic>
        <p:nvPicPr>
          <p:cNvPr id="4" name="Image 2" descr="/home/user/Notion/live-fx/business/landing-assets/mobile.jpg">    </p:cNvPr>
          <p:cNvPicPr>
            <a:picLocks noChangeAspect="1"/>
          </p:cNvPicPr>
          <p:nvPr/>
        </p:nvPicPr>
        <p:blipFill>
          <a:blip r:embed="rId3"/>
          <a:stretch>
            <a:fillRect/>
          </a:stretch>
        </p:blipFill>
        <p:spPr>
          <a:xfrm>
            <a:off x="6309360" y="3310128"/>
            <a:ext cx="1636776" cy="3547872"/>
          </a:xfrm>
          <a:prstGeom prst="rect">
            <a:avLst/>
          </a:prstGeom>
        </p:spPr>
      </p:pic>
      <p:pic>
        <p:nvPicPr>
          <p:cNvPr id="5" name="Image 3" descr="/home/user/Notion/live-fx/business/landing-assets/panel.jpg">    </p:cNvPr>
          <p:cNvPicPr>
            <a:picLocks noChangeAspect="1"/>
          </p:cNvPicPr>
          <p:nvPr/>
        </p:nvPicPr>
        <p:blipFill>
          <a:blip r:embed="rId4"/>
          <a:stretch>
            <a:fillRect/>
          </a:stretch>
        </p:blipFill>
        <p:spPr>
          <a:xfrm>
            <a:off x="7946136" y="3310128"/>
            <a:ext cx="1563624" cy="978408"/>
          </a:xfrm>
          <a:prstGeom prst="rect">
            <a:avLst/>
          </a:prstGeom>
        </p:spPr>
      </p:pic>
      <p:pic>
        <p:nvPicPr>
          <p:cNvPr id="6" name="Image 4" descr="/home/user/Notion/live-fx/business/landing-assets/demo.jpg">    </p:cNvPr>
          <p:cNvPicPr>
            <a:picLocks noChangeAspect="1"/>
          </p:cNvPicPr>
          <p:nvPr/>
        </p:nvPicPr>
        <p:blipFill>
          <a:blip r:embed="rId5"/>
          <a:stretch>
            <a:fillRect/>
          </a:stretch>
        </p:blipFill>
        <p:spPr>
          <a:xfrm>
            <a:off x="7946136" y="4288536"/>
            <a:ext cx="1563624" cy="877824"/>
          </a:xfrm>
          <a:prstGeom prst="rect">
            <a:avLst/>
          </a:prstGeom>
        </p:spPr>
      </p:pic>
      <p:sp>
        <p:nvSpPr>
          <p:cNvPr id="7" name="Shape 0"/>
          <p:cNvSpPr/>
          <p:nvPr/>
        </p:nvSpPr>
        <p:spPr>
          <a:xfrm>
            <a:off x="7946136" y="5166360"/>
            <a:ext cx="1563624" cy="1691640"/>
          </a:xfrm>
          <a:prstGeom prst="rect">
            <a:avLst/>
          </a:prstGeom>
          <a:solidFill>
            <a:srgbClr val="181B23"/>
          </a:solidFill>
          <a:ln w="12700">
            <a:solidFill>
              <a:srgbClr val="181B23"/>
            </a:solidFill>
            <a:prstDash val="solid"/>
          </a:ln>
        </p:spPr>
      </p:sp>
      <p:sp>
        <p:nvSpPr>
          <p:cNvPr id="8" name="Shape 1"/>
          <p:cNvSpPr/>
          <p:nvPr/>
        </p:nvSpPr>
        <p:spPr>
          <a:xfrm>
            <a:off x="11503152" y="3310128"/>
            <a:ext cx="688543" cy="3547872"/>
          </a:xfrm>
          <a:prstGeom prst="rect">
            <a:avLst/>
          </a:prstGeom>
          <a:solidFill>
            <a:srgbClr val="181B23"/>
          </a:solidFill>
          <a:ln w="12700">
            <a:solidFill>
              <a:srgbClr val="181B23"/>
            </a:solidFill>
            <a:prstDash val="solid"/>
          </a:ln>
        </p:spPr>
      </p:sp>
      <p:sp>
        <p:nvSpPr>
          <p:cNvPr id="9" name="Text 2"/>
          <p:cNvSpPr txBox="1"/>
          <p:nvPr/>
        </p:nvSpPr>
        <p:spPr>
          <a:xfrm>
            <a:off x="548640" y="1188720"/>
            <a:ext cx="5486400" cy="274320"/>
          </a:xfrm>
          <a:prstGeom prst="rect">
            <a:avLst/>
          </a:prstGeom>
          <a:noFill/>
          <a:ln/>
        </p:spPr>
        <p:txBody>
          <a:bodyPr wrap="square" lIns="0" tIns="0" rIns="0" bIns="0" rtlCol="0" anchor="t">
            <a:normAutofit/>
          </a:bodyPr>
          <a:lstStyle/>
          <a:p>
            <a:pPr indent="0" marL="0">
              <a:buNone/>
            </a:pPr>
            <a:r>
              <a:rPr lang="en-US" sz="1100" b="1" spc="400" kern="0" dirty="0">
                <a:solidFill>
                  <a:srgbClr val="2DFFB5"/>
                </a:solidFill>
                <a:latin typeface="Arial" pitchFamily="34" charset="0"/>
                <a:ea typeface="Arial" pitchFamily="34" charset="-122"/>
                <a:cs typeface="Arial" pitchFamily="34" charset="-120"/>
              </a:rPr>
              <a:t>LIVE MEME ENGINE  ·  v2.1</a:t>
            </a:r>
            <a:endParaRPr lang="en-US" sz="1100" dirty="0"/>
          </a:p>
        </p:txBody>
      </p:sp>
      <p:sp>
        <p:nvSpPr>
          <p:cNvPr id="10" name="Text 3"/>
          <p:cNvSpPr txBox="1"/>
          <p:nvPr/>
        </p:nvSpPr>
        <p:spPr>
          <a:xfrm>
            <a:off x="548640" y="1508760"/>
            <a:ext cx="5486400" cy="1097280"/>
          </a:xfrm>
          <a:prstGeom prst="rect">
            <a:avLst/>
          </a:prstGeom>
          <a:noFill/>
          <a:ln/>
        </p:spPr>
        <p:txBody>
          <a:bodyPr wrap="square" lIns="0" tIns="0" rIns="0" bIns="0" rtlCol="0" anchor="t">
            <a:normAutofit/>
          </a:bodyPr>
          <a:lstStyle/>
          <a:p>
            <a:pPr indent="0" marL="0">
              <a:buNone/>
            </a:pPr>
            <a:r>
              <a:rPr lang="en-US" sz="7200" b="1" dirty="0">
                <a:solidFill>
                  <a:srgbClr val="FFFFFF"/>
                </a:solidFill>
                <a:latin typeface="Arial" pitchFamily="34" charset="0"/>
                <a:ea typeface="Arial" pitchFamily="34" charset="-122"/>
                <a:cs typeface="Arial" pitchFamily="34" charset="-120"/>
              </a:rPr>
              <a:t>LiveFX</a:t>
            </a:r>
            <a:endParaRPr lang="en-US" sz="7200" dirty="0"/>
          </a:p>
        </p:txBody>
      </p:sp>
      <p:sp>
        <p:nvSpPr>
          <p:cNvPr id="11" name="Text 4"/>
          <p:cNvSpPr txBox="1"/>
          <p:nvPr/>
        </p:nvSpPr>
        <p:spPr>
          <a:xfrm>
            <a:off x="548640" y="2651760"/>
            <a:ext cx="5577840" cy="731520"/>
          </a:xfrm>
          <a:prstGeom prst="rect">
            <a:avLst/>
          </a:prstGeom>
          <a:noFill/>
          <a:ln/>
        </p:spPr>
        <p:txBody>
          <a:bodyPr wrap="square" lIns="0" tIns="0" rIns="0" bIns="0" rtlCol="0" anchor="t">
            <a:normAutofit/>
          </a:bodyPr>
          <a:lstStyle/>
          <a:p>
            <a:pPr indent="0" marL="0">
              <a:buNone/>
            </a:pPr>
            <a:r>
              <a:rPr lang="en-US" sz="2800" b="1" dirty="0">
                <a:solidFill>
                  <a:srgbClr val="FF2D75"/>
                </a:solidFill>
                <a:latin typeface="Arial" pitchFamily="34" charset="0"/>
                <a:ea typeface="Arial" pitchFamily="34" charset="-122"/>
                <a:cs typeface="Arial" pitchFamily="34" charset="-120"/>
              </a:rPr>
              <a:t>Sesin efekte dönüşür.</a:t>
            </a:r>
            <a:endParaRPr lang="en-US" sz="2800" dirty="0"/>
          </a:p>
        </p:txBody>
      </p:sp>
      <p:sp>
        <p:nvSpPr>
          <p:cNvPr id="12" name="Text 5"/>
          <p:cNvSpPr txBox="1"/>
          <p:nvPr/>
        </p:nvSpPr>
        <p:spPr>
          <a:xfrm>
            <a:off x="548640" y="3474720"/>
            <a:ext cx="5394960" cy="1280160"/>
          </a:xfrm>
          <a:prstGeom prst="rect">
            <a:avLst/>
          </a:prstGeom>
          <a:noFill/>
          <a:ln/>
        </p:spPr>
        <p:txBody>
          <a:bodyPr wrap="square" lIns="0" tIns="0" rIns="0" bIns="0" rtlCol="0" anchor="t">
            <a:normAutofit/>
          </a:bodyPr>
          <a:lstStyle/>
          <a:p>
            <a:pPr indent="0" marL="0">
              <a:buNone/>
            </a:pPr>
            <a:r>
              <a:rPr lang="en-US" sz="1500" dirty="0">
                <a:solidFill>
                  <a:srgbClr val="9AA3B5"/>
                </a:solidFill>
                <a:latin typeface="Arial" pitchFamily="34" charset="0"/>
                <a:ea typeface="Arial" pitchFamily="34" charset="-122"/>
                <a:cs typeface="Arial" pitchFamily="34" charset="-120"/>
              </a:rPr>
              <a:t>Yayıncının söylediklerine göre gerçek zamanlı meme'ler, sesler ve sahneler. Bir saniyeden kısa sürede, eller serbest – TikTok LIVE, Instagram, YouTube ve Twitch'te.</a:t>
            </a:r>
            <a:endParaRPr lang="en-US" sz="1500" dirty="0"/>
          </a:p>
        </p:txBody>
      </p:sp>
      <p:sp>
        <p:nvSpPr>
          <p:cNvPr id="13" name="Text 6"/>
          <p:cNvSpPr txBox="1"/>
          <p:nvPr/>
        </p:nvSpPr>
        <p:spPr>
          <a:xfrm>
            <a:off x="548640" y="4800600"/>
            <a:ext cx="5394960" cy="548640"/>
          </a:xfrm>
          <a:prstGeom prst="rect">
            <a:avLst/>
          </a:prstGeom>
          <a:noFill/>
          <a:ln/>
        </p:spPr>
        <p:txBody>
          <a:bodyPr wrap="square" lIns="0" tIns="0" rIns="0" bIns="0" rtlCol="0" anchor="t">
            <a:normAutofit/>
          </a:bodyPr>
          <a:lstStyle/>
          <a:p>
            <a:pPr indent="0" marL="0">
              <a:buNone/>
            </a:pPr>
            <a:r>
              <a:rPr lang="en-US" sz="1300" i="1" dirty="0">
                <a:solidFill>
                  <a:srgbClr val="FFD166"/>
                </a:solidFill>
                <a:latin typeface="Arial" pitchFamily="34" charset="0"/>
                <a:ea typeface="Arial" pitchFamily="34" charset="-122"/>
                <a:cs typeface="Arial" pitchFamily="34" charset="-120"/>
              </a:rPr>
              <a:t>Ve yarın: Sen anlat – sahne oluşsun.</a:t>
            </a:r>
            <a:endParaRPr lang="en-US" sz="1300" dirty="0"/>
          </a:p>
        </p:txBody>
      </p:sp>
      <p:sp>
        <p:nvSpPr>
          <p:cNvPr id="14" name="Text 7"/>
          <p:cNvSpPr txBox="1"/>
          <p:nvPr/>
        </p:nvSpPr>
        <p:spPr>
          <a:xfrm>
            <a:off x="548640" y="5577840"/>
            <a:ext cx="5577840" cy="7315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Tuncay Sancak</a:t>
            </a:r>
            <a:pPr indent="0" marL="0">
              <a:buNone/>
            </a:pPr>
            <a:r>
              <a:rPr lang="en-US" sz="1300" dirty="0">
                <a:solidFill>
                  <a:srgbClr val="9AA3B5"/>
                </a:solidFill>
                <a:latin typeface="Arial" pitchFamily="34" charset="0"/>
                <a:ea typeface="Arial" pitchFamily="34" charset="-122"/>
                <a:cs typeface="Arial" pitchFamily="34" charset="-120"/>
              </a:rPr>
              <a:t>  ·  Kurucu &amp; Mucit, Genel Müdür</a:t>
            </a:r>
            <a:endParaRPr lang="en-US" sz="1300" dirty="0"/>
          </a:p>
          <a:p>
            <a:pPr indent="0" marL="0">
              <a:buNone/>
            </a:pPr>
            <a:r>
              <a:rPr lang="en-US" sz="1300" dirty="0">
                <a:solidFill>
                  <a:srgbClr val="9AA3B5"/>
                </a:solidFill>
                <a:latin typeface="Arial" pitchFamily="34" charset="0"/>
                <a:ea typeface="Arial" pitchFamily="34" charset="-122"/>
                <a:cs typeface="Arial" pitchFamily="34" charset="-120"/>
              </a:rPr>
              <a:t>Investor Relations: Gönül Demet  ·  [E-posta]  ·  Ekim 2026  ·  Gizli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SORUN</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Canlı yayın ham. Kurgu hep geç kalıyor.</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2</a:t>
            </a:r>
            <a:endParaRPr lang="en-US" sz="900" dirty="0"/>
          </a:p>
        </p:txBody>
      </p:sp>
      <p:sp>
        <p:nvSpPr>
          <p:cNvPr id="6" name="Shape 3"/>
          <p:cNvSpPr/>
          <p:nvPr/>
        </p:nvSpPr>
        <p:spPr>
          <a:xfrm>
            <a:off x="548640" y="1417320"/>
            <a:ext cx="6766560" cy="1051560"/>
          </a:xfrm>
          <a:prstGeom prst="roundRect">
            <a:avLst>
              <a:gd name="adj" fmla="val 10435"/>
            </a:avLst>
          </a:prstGeom>
          <a:solidFill>
            <a:srgbClr val="181B23"/>
          </a:solidFill>
          <a:ln w="12700">
            <a:solidFill>
              <a:srgbClr val="181B23"/>
            </a:solidFill>
            <a:prstDash val="solid"/>
          </a:ln>
        </p:spPr>
      </p:sp>
      <p:sp>
        <p:nvSpPr>
          <p:cNvPr id="7" name="Shape 4"/>
          <p:cNvSpPr/>
          <p:nvPr/>
        </p:nvSpPr>
        <p:spPr>
          <a:xfrm>
            <a:off x="731520" y="1664208"/>
            <a:ext cx="548640" cy="548640"/>
          </a:xfrm>
          <a:prstGeom prst="ellipse">
            <a:avLst/>
          </a:prstGeom>
          <a:solidFill>
            <a:srgbClr val="1F2330"/>
          </a:solidFill>
          <a:ln w="12700">
            <a:solidFill>
              <a:srgbClr val="1F2330"/>
            </a:solidFill>
            <a:prstDash val="solid"/>
          </a:ln>
        </p:spPr>
      </p:sp>
      <p:sp>
        <p:nvSpPr>
          <p:cNvPr id="8" name="Text 5"/>
          <p:cNvSpPr txBox="1"/>
          <p:nvPr/>
        </p:nvSpPr>
        <p:spPr>
          <a:xfrm>
            <a:off x="731520" y="1664208"/>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9" name="Text 6"/>
          <p:cNvSpPr txBox="1"/>
          <p:nvPr/>
        </p:nvSpPr>
        <p:spPr>
          <a:xfrm>
            <a:off x="1463040" y="1545336"/>
            <a:ext cx="5669280" cy="38404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Kısa videoları viral yapan her şey sonradan ekleniyor</a:t>
            </a:r>
            <a:endParaRPr lang="en-US" sz="1500" dirty="0"/>
          </a:p>
        </p:txBody>
      </p:sp>
      <p:sp>
        <p:nvSpPr>
          <p:cNvPr id="10" name="Text 7"/>
          <p:cNvSpPr txBox="1"/>
          <p:nvPr/>
        </p:nvSpPr>
        <p:spPr>
          <a:xfrm>
            <a:off x="1463040" y="1929384"/>
            <a:ext cx="5669280" cy="5029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Meme'ler, sesler, zoom'lar, çıkartmalar – kayıttan sonra, kurguda. Canlıda bunların hiçbiri yok.</a:t>
            </a:r>
            <a:endParaRPr lang="en-US" sz="1200" dirty="0"/>
          </a:p>
        </p:txBody>
      </p:sp>
      <p:sp>
        <p:nvSpPr>
          <p:cNvPr id="11" name="Shape 8"/>
          <p:cNvSpPr/>
          <p:nvPr/>
        </p:nvSpPr>
        <p:spPr>
          <a:xfrm>
            <a:off x="548640" y="2606040"/>
            <a:ext cx="6766560" cy="1051560"/>
          </a:xfrm>
          <a:prstGeom prst="roundRect">
            <a:avLst>
              <a:gd name="adj" fmla="val 10435"/>
            </a:avLst>
          </a:prstGeom>
          <a:solidFill>
            <a:srgbClr val="181B23"/>
          </a:solidFill>
          <a:ln w="12700">
            <a:solidFill>
              <a:srgbClr val="181B23"/>
            </a:solidFill>
            <a:prstDash val="solid"/>
          </a:ln>
        </p:spPr>
      </p:sp>
      <p:sp>
        <p:nvSpPr>
          <p:cNvPr id="12" name="Shape 9"/>
          <p:cNvSpPr/>
          <p:nvPr/>
        </p:nvSpPr>
        <p:spPr>
          <a:xfrm>
            <a:off x="731520" y="2852928"/>
            <a:ext cx="548640" cy="548640"/>
          </a:xfrm>
          <a:prstGeom prst="ellipse">
            <a:avLst/>
          </a:prstGeom>
          <a:solidFill>
            <a:srgbClr val="1F2330"/>
          </a:solidFill>
          <a:ln w="12700">
            <a:solidFill>
              <a:srgbClr val="1F2330"/>
            </a:solidFill>
            <a:prstDash val="solid"/>
          </a:ln>
        </p:spPr>
      </p:sp>
      <p:sp>
        <p:nvSpPr>
          <p:cNvPr id="13" name="Text 10"/>
          <p:cNvSpPr txBox="1"/>
          <p:nvPr/>
        </p:nvSpPr>
        <p:spPr>
          <a:xfrm>
            <a:off x="731520" y="2852928"/>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14" name="Text 11"/>
          <p:cNvSpPr txBox="1"/>
          <p:nvPr/>
        </p:nvSpPr>
        <p:spPr>
          <a:xfrm>
            <a:off x="1463040" y="2734056"/>
            <a:ext cx="5669280" cy="38404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Yayıncı aynı anda sunucu, yönetmen ve kurgucu</a:t>
            </a:r>
            <a:endParaRPr lang="en-US" sz="1500" dirty="0"/>
          </a:p>
        </p:txBody>
      </p:sp>
      <p:sp>
        <p:nvSpPr>
          <p:cNvPr id="15" name="Text 12"/>
          <p:cNvSpPr txBox="1"/>
          <p:nvPr/>
        </p:nvSpPr>
        <p:spPr>
          <a:xfrm>
            <a:off x="1463040" y="3118104"/>
            <a:ext cx="5669280" cy="5029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İki el, bir kamera ve beklemeyen bir sohbetle.</a:t>
            </a:r>
            <a:endParaRPr lang="en-US" sz="1200" dirty="0"/>
          </a:p>
        </p:txBody>
      </p:sp>
      <p:sp>
        <p:nvSpPr>
          <p:cNvPr id="16" name="Shape 13"/>
          <p:cNvSpPr/>
          <p:nvPr/>
        </p:nvSpPr>
        <p:spPr>
          <a:xfrm>
            <a:off x="548640" y="3794760"/>
            <a:ext cx="6766560" cy="1051560"/>
          </a:xfrm>
          <a:prstGeom prst="roundRect">
            <a:avLst>
              <a:gd name="adj" fmla="val 10435"/>
            </a:avLst>
          </a:prstGeom>
          <a:solidFill>
            <a:srgbClr val="181B23"/>
          </a:solidFill>
          <a:ln w="12700">
            <a:solidFill>
              <a:srgbClr val="181B23"/>
            </a:solidFill>
            <a:prstDash val="solid"/>
          </a:ln>
        </p:spPr>
      </p:sp>
      <p:sp>
        <p:nvSpPr>
          <p:cNvPr id="17" name="Shape 14"/>
          <p:cNvSpPr/>
          <p:nvPr/>
        </p:nvSpPr>
        <p:spPr>
          <a:xfrm>
            <a:off x="731520" y="4041648"/>
            <a:ext cx="548640" cy="548640"/>
          </a:xfrm>
          <a:prstGeom prst="ellipse">
            <a:avLst/>
          </a:prstGeom>
          <a:solidFill>
            <a:srgbClr val="1F2330"/>
          </a:solidFill>
          <a:ln w="12700">
            <a:solidFill>
              <a:srgbClr val="1F2330"/>
            </a:solidFill>
            <a:prstDash val="solid"/>
          </a:ln>
        </p:spPr>
      </p:sp>
      <p:sp>
        <p:nvSpPr>
          <p:cNvPr id="18" name="Text 15"/>
          <p:cNvSpPr txBox="1"/>
          <p:nvPr/>
        </p:nvSpPr>
        <p:spPr>
          <a:xfrm>
            <a:off x="731520" y="4041648"/>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19" name="Text 16"/>
          <p:cNvSpPr txBox="1"/>
          <p:nvPr/>
        </p:nvSpPr>
        <p:spPr>
          <a:xfrm>
            <a:off x="1463040" y="3922776"/>
            <a:ext cx="5669280" cy="38404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Mevcut araçlar izleyiciye ya da tuşlara tepki veriyor</a:t>
            </a:r>
            <a:endParaRPr lang="en-US" sz="1500" dirty="0"/>
          </a:p>
        </p:txBody>
      </p:sp>
      <p:sp>
        <p:nvSpPr>
          <p:cNvPr id="20" name="Text 17"/>
          <p:cNvSpPr txBox="1"/>
          <p:nvPr/>
        </p:nvSpPr>
        <p:spPr>
          <a:xfrm>
            <a:off x="1463040" y="4306824"/>
            <a:ext cx="5669280" cy="5029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Bağış ve takipte uyarılar, kısayol tuşlu ses panoları. İkisi de bir tıklama istiyor.</a:t>
            </a:r>
            <a:endParaRPr lang="en-US" sz="1200" dirty="0"/>
          </a:p>
        </p:txBody>
      </p:sp>
      <p:sp>
        <p:nvSpPr>
          <p:cNvPr id="21" name="Shape 18"/>
          <p:cNvSpPr/>
          <p:nvPr/>
        </p:nvSpPr>
        <p:spPr>
          <a:xfrm>
            <a:off x="7680960" y="1417320"/>
            <a:ext cx="3959352" cy="3429000"/>
          </a:xfrm>
          <a:prstGeom prst="roundRect">
            <a:avLst>
              <a:gd name="adj" fmla="val 3200"/>
            </a:avLst>
          </a:prstGeom>
          <a:solidFill>
            <a:srgbClr val="1F2330"/>
          </a:solidFill>
          <a:ln w="12700">
            <a:solidFill>
              <a:srgbClr val="1F2330"/>
            </a:solidFill>
            <a:prstDash val="solid"/>
          </a:ln>
        </p:spPr>
      </p:sp>
      <p:sp>
        <p:nvSpPr>
          <p:cNvPr id="22" name="Text 19"/>
          <p:cNvSpPr txBox="1"/>
          <p:nvPr/>
        </p:nvSpPr>
        <p:spPr>
          <a:xfrm>
            <a:off x="7955280" y="1691640"/>
            <a:ext cx="3429000" cy="2011680"/>
          </a:xfrm>
          <a:prstGeom prst="rect">
            <a:avLst/>
          </a:prstGeom>
          <a:noFill/>
          <a:ln/>
        </p:spPr>
        <p:txBody>
          <a:bodyPr wrap="square" lIns="0" tIns="0" rIns="0" bIns="0" rtlCol="0" anchor="ctr">
            <a:normAutofit/>
          </a:bodyPr>
          <a:lstStyle/>
          <a:p>
            <a:pPr indent="0" marL="0">
              <a:buNone/>
            </a:pPr>
            <a:r>
              <a:rPr lang="en-US" sz="2600" b="1" dirty="0">
                <a:solidFill>
                  <a:srgbClr val="FFD166"/>
                </a:solidFill>
                <a:latin typeface="Arial" pitchFamily="34" charset="0"/>
                <a:ea typeface="Arial" pitchFamily="34" charset="-122"/>
                <a:cs typeface="Arial" pitchFamily="34" charset="-120"/>
              </a:rPr>
              <a:t>Söylenen söze kimse tepki vermiyor.</a:t>
            </a:r>
            <a:endParaRPr lang="en-US" sz="2600" dirty="0"/>
          </a:p>
        </p:txBody>
      </p:sp>
      <p:sp>
        <p:nvSpPr>
          <p:cNvPr id="23" name="Text 20"/>
          <p:cNvSpPr txBox="1"/>
          <p:nvPr/>
        </p:nvSpPr>
        <p:spPr>
          <a:xfrm>
            <a:off x="7955280" y="3749040"/>
            <a:ext cx="3429000" cy="10058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Otomatik altyazılar gösterdi: Sesten gerçek zamanlı metin çalışıyor. Sesten gerçek zamanlı efekt ise henüz yok.</a:t>
            </a:r>
            <a:endParaRPr lang="en-US" sz="1200" dirty="0"/>
          </a:p>
        </p:txBody>
      </p:sp>
      <p:sp>
        <p:nvSpPr>
          <p:cNvPr id="24" name="Text 21"/>
          <p:cNvSpPr txBox="1"/>
          <p:nvPr/>
        </p:nvSpPr>
        <p:spPr>
          <a:xfrm>
            <a:off x="548640" y="5166360"/>
            <a:ext cx="11094415" cy="640080"/>
          </a:xfrm>
          <a:prstGeom prst="rect">
            <a:avLst/>
          </a:prstGeom>
          <a:noFill/>
          <a:ln/>
        </p:spPr>
        <p:txBody>
          <a:bodyPr wrap="square" lIns="0" tIns="0" rIns="0" bIns="0" rtlCol="0" anchor="t">
            <a:normAutofit/>
          </a:bodyPr>
          <a:lstStyle/>
          <a:p>
            <a:pPr indent="0" marL="0">
              <a:buNone/>
            </a:pPr>
            <a:r>
              <a:rPr lang="en-US" sz="1400" i="1" dirty="0">
                <a:solidFill>
                  <a:srgbClr val="2DFFB5"/>
                </a:solidFill>
                <a:latin typeface="Arial" pitchFamily="34" charset="0"/>
                <a:ea typeface="Arial" pitchFamily="34" charset="-122"/>
                <a:cs typeface="Arial" pitchFamily="34" charset="-120"/>
              </a:rPr>
              <a:t>“‘Efsane’ diyorum – ve hiçbir şey olmuyor, klavyeye kendim uzanmazsam.”  – Tuncay Sancak, kendi yayınından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ÇÖZÜM</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Ses → efekt, bir saniyeden kısa sürede</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3</a:t>
            </a:r>
            <a:endParaRPr lang="en-US" sz="900" dirty="0"/>
          </a:p>
        </p:txBody>
      </p:sp>
      <p:sp>
        <p:nvSpPr>
          <p:cNvPr id="6" name="Shape 3"/>
          <p:cNvSpPr/>
          <p:nvPr/>
        </p:nvSpPr>
        <p:spPr>
          <a:xfrm>
            <a:off x="548640" y="1417320"/>
            <a:ext cx="2011680" cy="1463040"/>
          </a:xfrm>
          <a:prstGeom prst="roundRect">
            <a:avLst>
              <a:gd name="adj" fmla="val 7500"/>
            </a:avLst>
          </a:prstGeom>
          <a:solidFill>
            <a:srgbClr val="181B23"/>
          </a:solidFill>
          <a:ln w="12700">
            <a:solidFill>
              <a:srgbClr val="181B23"/>
            </a:solidFill>
            <a:prstDash val="solid"/>
          </a:ln>
        </p:spPr>
      </p:sp>
      <p:sp>
        <p:nvSpPr>
          <p:cNvPr id="7" name="Text 4"/>
          <p:cNvSpPr txBox="1"/>
          <p:nvPr/>
        </p:nvSpPr>
        <p:spPr>
          <a:xfrm>
            <a:off x="54864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8" name="Text 5"/>
          <p:cNvSpPr txBox="1"/>
          <p:nvPr/>
        </p:nvSpPr>
        <p:spPr>
          <a:xfrm>
            <a:off x="64008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Mikrofon</a:t>
            </a:r>
            <a:endParaRPr lang="en-US" sz="1500" dirty="0"/>
          </a:p>
        </p:txBody>
      </p:sp>
      <p:sp>
        <p:nvSpPr>
          <p:cNvPr id="9" name="Text 6"/>
          <p:cNvSpPr txBox="1"/>
          <p:nvPr/>
        </p:nvSpPr>
        <p:spPr>
          <a:xfrm>
            <a:off x="64008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Yayıncı konuşur</a:t>
            </a:r>
            <a:endParaRPr lang="en-US" sz="1100" dirty="0"/>
          </a:p>
        </p:txBody>
      </p:sp>
      <p:sp>
        <p:nvSpPr>
          <p:cNvPr id="10" name="Text 7"/>
          <p:cNvSpPr txBox="1"/>
          <p:nvPr/>
        </p:nvSpPr>
        <p:spPr>
          <a:xfrm>
            <a:off x="2542032" y="1874520"/>
            <a:ext cx="288036" cy="457200"/>
          </a:xfrm>
          <a:prstGeom prst="rect">
            <a:avLst/>
          </a:prstGeom>
          <a:noFill/>
          <a:ln/>
        </p:spPr>
        <p:txBody>
          <a:bodyPr wrap="square" lIns="0" tIns="0" rIns="0" bIns="0" rtlCol="0" anchor="t"/>
          <a:lstStyle/>
          <a:p>
            <a:pPr algn="ctr" indent="0" marL="0">
              <a:buNone/>
            </a:pPr>
            <a:r>
              <a:rPr lang="en-US" sz="2200" b="1" dirty="0">
                <a:solidFill>
                  <a:srgbClr val="FF2D75"/>
                </a:solidFill>
                <a:latin typeface="Arial" pitchFamily="34" charset="0"/>
                <a:ea typeface="Arial" pitchFamily="34" charset="-122"/>
                <a:cs typeface="Arial" pitchFamily="34" charset="-120"/>
              </a:rPr>
              <a:t>›</a:t>
            </a:r>
            <a:endParaRPr lang="en-US" sz="2200" dirty="0"/>
          </a:p>
        </p:txBody>
      </p:sp>
      <p:sp>
        <p:nvSpPr>
          <p:cNvPr id="11" name="Shape 8"/>
          <p:cNvSpPr/>
          <p:nvPr/>
        </p:nvSpPr>
        <p:spPr>
          <a:xfrm>
            <a:off x="2811780" y="1417320"/>
            <a:ext cx="2011680" cy="1463040"/>
          </a:xfrm>
          <a:prstGeom prst="roundRect">
            <a:avLst>
              <a:gd name="adj" fmla="val 7500"/>
            </a:avLst>
          </a:prstGeom>
          <a:solidFill>
            <a:srgbClr val="181B23"/>
          </a:solidFill>
          <a:ln w="12700">
            <a:solidFill>
              <a:srgbClr val="181B23"/>
            </a:solidFill>
            <a:prstDash val="solid"/>
          </a:ln>
        </p:spPr>
      </p:sp>
      <p:sp>
        <p:nvSpPr>
          <p:cNvPr id="12" name="Text 9"/>
          <p:cNvSpPr txBox="1"/>
          <p:nvPr/>
        </p:nvSpPr>
        <p:spPr>
          <a:xfrm>
            <a:off x="281178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13" name="Text 10"/>
          <p:cNvSpPr txBox="1"/>
          <p:nvPr/>
        </p:nvSpPr>
        <p:spPr>
          <a:xfrm>
            <a:off x="290322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Tanıma</a:t>
            </a:r>
            <a:endParaRPr lang="en-US" sz="1500" dirty="0"/>
          </a:p>
        </p:txBody>
      </p:sp>
      <p:sp>
        <p:nvSpPr>
          <p:cNvPr id="14" name="Text 11"/>
          <p:cNvSpPr txBox="1"/>
          <p:nvPr/>
        </p:nvSpPr>
        <p:spPr>
          <a:xfrm>
            <a:off x="290322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DE / TR / EN otomatik</a:t>
            </a:r>
            <a:endParaRPr lang="en-US" sz="1100" dirty="0"/>
          </a:p>
        </p:txBody>
      </p:sp>
      <p:sp>
        <p:nvSpPr>
          <p:cNvPr id="15" name="Text 12"/>
          <p:cNvSpPr txBox="1"/>
          <p:nvPr/>
        </p:nvSpPr>
        <p:spPr>
          <a:xfrm>
            <a:off x="4805172" y="1874520"/>
            <a:ext cx="288036" cy="457200"/>
          </a:xfrm>
          <a:prstGeom prst="rect">
            <a:avLst/>
          </a:prstGeom>
          <a:noFill/>
          <a:ln/>
        </p:spPr>
        <p:txBody>
          <a:bodyPr wrap="square" lIns="0" tIns="0" rIns="0" bIns="0" rtlCol="0" anchor="t"/>
          <a:lstStyle/>
          <a:p>
            <a:pPr algn="ctr" indent="0" marL="0">
              <a:buNone/>
            </a:pPr>
            <a:r>
              <a:rPr lang="en-US" sz="2200" b="1" dirty="0">
                <a:solidFill>
                  <a:srgbClr val="FF2D75"/>
                </a:solidFill>
                <a:latin typeface="Arial" pitchFamily="34" charset="0"/>
                <a:ea typeface="Arial" pitchFamily="34" charset="-122"/>
                <a:cs typeface="Arial" pitchFamily="34" charset="-120"/>
              </a:rPr>
              <a:t>›</a:t>
            </a:r>
            <a:endParaRPr lang="en-US" sz="2200" dirty="0"/>
          </a:p>
        </p:txBody>
      </p:sp>
      <p:sp>
        <p:nvSpPr>
          <p:cNvPr id="16" name="Shape 13"/>
          <p:cNvSpPr/>
          <p:nvPr/>
        </p:nvSpPr>
        <p:spPr>
          <a:xfrm>
            <a:off x="5074920" y="1417320"/>
            <a:ext cx="2011680" cy="1463040"/>
          </a:xfrm>
          <a:prstGeom prst="roundRect">
            <a:avLst>
              <a:gd name="adj" fmla="val 7500"/>
            </a:avLst>
          </a:prstGeom>
          <a:solidFill>
            <a:srgbClr val="181B23"/>
          </a:solidFill>
          <a:ln w="12700">
            <a:solidFill>
              <a:srgbClr val="181B23"/>
            </a:solidFill>
            <a:prstDash val="solid"/>
          </a:ln>
        </p:spPr>
      </p:sp>
      <p:sp>
        <p:nvSpPr>
          <p:cNvPr id="17" name="Text 14"/>
          <p:cNvSpPr txBox="1"/>
          <p:nvPr/>
        </p:nvSpPr>
        <p:spPr>
          <a:xfrm>
            <a:off x="507492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18" name="Text 15"/>
          <p:cNvSpPr txBox="1"/>
          <p:nvPr/>
        </p:nvSpPr>
        <p:spPr>
          <a:xfrm>
            <a:off x="516636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Eşleştirici</a:t>
            </a:r>
            <a:endParaRPr lang="en-US" sz="1500" dirty="0"/>
          </a:p>
        </p:txBody>
      </p:sp>
      <p:sp>
        <p:nvSpPr>
          <p:cNvPr id="19" name="Text 16"/>
          <p:cNvSpPr txBox="1"/>
          <p:nvPr/>
        </p:nvSpPr>
        <p:spPr>
          <a:xfrm>
            <a:off x="516636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Şiveye toleranslı, anında</a:t>
            </a:r>
            <a:endParaRPr lang="en-US" sz="1100" dirty="0"/>
          </a:p>
        </p:txBody>
      </p:sp>
      <p:sp>
        <p:nvSpPr>
          <p:cNvPr id="20" name="Text 17"/>
          <p:cNvSpPr txBox="1"/>
          <p:nvPr/>
        </p:nvSpPr>
        <p:spPr>
          <a:xfrm>
            <a:off x="7068312" y="1874520"/>
            <a:ext cx="288036" cy="457200"/>
          </a:xfrm>
          <a:prstGeom prst="rect">
            <a:avLst/>
          </a:prstGeom>
          <a:noFill/>
          <a:ln/>
        </p:spPr>
        <p:txBody>
          <a:bodyPr wrap="square" lIns="0" tIns="0" rIns="0" bIns="0" rtlCol="0" anchor="t"/>
          <a:lstStyle/>
          <a:p>
            <a:pPr algn="ctr" indent="0" marL="0">
              <a:buNone/>
            </a:pPr>
            <a:r>
              <a:rPr lang="en-US" sz="2200" b="1" dirty="0">
                <a:solidFill>
                  <a:srgbClr val="FF2D75"/>
                </a:solidFill>
                <a:latin typeface="Arial" pitchFamily="34" charset="0"/>
                <a:ea typeface="Arial" pitchFamily="34" charset="-122"/>
                <a:cs typeface="Arial" pitchFamily="34" charset="-120"/>
              </a:rPr>
              <a:t>›</a:t>
            </a:r>
            <a:endParaRPr lang="en-US" sz="2200" dirty="0"/>
          </a:p>
        </p:txBody>
      </p:sp>
      <p:sp>
        <p:nvSpPr>
          <p:cNvPr id="21" name="Shape 18"/>
          <p:cNvSpPr/>
          <p:nvPr/>
        </p:nvSpPr>
        <p:spPr>
          <a:xfrm>
            <a:off x="7338060" y="1417320"/>
            <a:ext cx="2011680" cy="1463040"/>
          </a:xfrm>
          <a:prstGeom prst="roundRect">
            <a:avLst>
              <a:gd name="adj" fmla="val 7500"/>
            </a:avLst>
          </a:prstGeom>
          <a:solidFill>
            <a:srgbClr val="181B23"/>
          </a:solidFill>
          <a:ln w="12700">
            <a:solidFill>
              <a:srgbClr val="181B23"/>
            </a:solidFill>
            <a:prstDash val="solid"/>
          </a:ln>
        </p:spPr>
      </p:sp>
      <p:sp>
        <p:nvSpPr>
          <p:cNvPr id="22" name="Text 19"/>
          <p:cNvSpPr txBox="1"/>
          <p:nvPr/>
        </p:nvSpPr>
        <p:spPr>
          <a:xfrm>
            <a:off x="733806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23" name="Text 20"/>
          <p:cNvSpPr txBox="1"/>
          <p:nvPr/>
        </p:nvSpPr>
        <p:spPr>
          <a:xfrm>
            <a:off x="742950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Katman</a:t>
            </a:r>
            <a:endParaRPr lang="en-US" sz="1500" dirty="0"/>
          </a:p>
        </p:txBody>
      </p:sp>
      <p:sp>
        <p:nvSpPr>
          <p:cNvPr id="24" name="Text 21"/>
          <p:cNvSpPr txBox="1"/>
          <p:nvPr/>
        </p:nvSpPr>
        <p:spPr>
          <a:xfrm>
            <a:off x="742950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OBS'te tarayıcı kaynağı</a:t>
            </a:r>
            <a:endParaRPr lang="en-US" sz="1100" dirty="0"/>
          </a:p>
        </p:txBody>
      </p:sp>
      <p:sp>
        <p:nvSpPr>
          <p:cNvPr id="25" name="Text 22"/>
          <p:cNvSpPr txBox="1"/>
          <p:nvPr/>
        </p:nvSpPr>
        <p:spPr>
          <a:xfrm>
            <a:off x="9331452" y="1874520"/>
            <a:ext cx="288036" cy="457200"/>
          </a:xfrm>
          <a:prstGeom prst="rect">
            <a:avLst/>
          </a:prstGeom>
          <a:noFill/>
          <a:ln/>
        </p:spPr>
        <p:txBody>
          <a:bodyPr wrap="square" lIns="0" tIns="0" rIns="0" bIns="0" rtlCol="0" anchor="t"/>
          <a:lstStyle/>
          <a:p>
            <a:pPr algn="ctr" indent="0" marL="0">
              <a:buNone/>
            </a:pPr>
            <a:r>
              <a:rPr lang="en-US" sz="2200" b="1" dirty="0">
                <a:solidFill>
                  <a:srgbClr val="FF2D75"/>
                </a:solidFill>
                <a:latin typeface="Arial" pitchFamily="34" charset="0"/>
                <a:ea typeface="Arial" pitchFamily="34" charset="-122"/>
                <a:cs typeface="Arial" pitchFamily="34" charset="-120"/>
              </a:rPr>
              <a:t>›</a:t>
            </a:r>
            <a:endParaRPr lang="en-US" sz="2200" dirty="0"/>
          </a:p>
        </p:txBody>
      </p:sp>
      <p:sp>
        <p:nvSpPr>
          <p:cNvPr id="26" name="Shape 23"/>
          <p:cNvSpPr/>
          <p:nvPr/>
        </p:nvSpPr>
        <p:spPr>
          <a:xfrm>
            <a:off x="9601200" y="1417320"/>
            <a:ext cx="2011680" cy="1463040"/>
          </a:xfrm>
          <a:prstGeom prst="roundRect">
            <a:avLst>
              <a:gd name="adj" fmla="val 7500"/>
            </a:avLst>
          </a:prstGeom>
          <a:solidFill>
            <a:srgbClr val="181B23"/>
          </a:solidFill>
          <a:ln w="12700">
            <a:solidFill>
              <a:srgbClr val="181B23"/>
            </a:solidFill>
            <a:prstDash val="solid"/>
          </a:ln>
        </p:spPr>
      </p:sp>
      <p:sp>
        <p:nvSpPr>
          <p:cNvPr id="27" name="Text 24"/>
          <p:cNvSpPr txBox="1"/>
          <p:nvPr/>
        </p:nvSpPr>
        <p:spPr>
          <a:xfrm>
            <a:off x="9601200" y="1517904"/>
            <a:ext cx="2011680" cy="502920"/>
          </a:xfrm>
          <a:prstGeom prst="rect">
            <a:avLst/>
          </a:prstGeom>
          <a:noFill/>
          <a:ln/>
        </p:spPr>
        <p:txBody>
          <a:bodyPr wrap="square" lIns="0" tIns="0" rIns="0" bIns="0" rtlCol="0" anchor="t"/>
          <a:lstStyle/>
          <a:p>
            <a:pPr algn="ctr" indent="0" marL="0">
              <a:buNone/>
            </a:pPr>
            <a:r>
              <a:rPr lang="en-US" sz="2600" dirty="0">
                <a:solidFill>
                  <a:srgbClr val="FFFFFF"/>
                </a:solidFill>
                <a:latin typeface="Arial" pitchFamily="34" charset="0"/>
                <a:ea typeface="Arial" pitchFamily="34" charset="-122"/>
                <a:cs typeface="Arial" pitchFamily="34" charset="-120"/>
              </a:rPr>
              <a:t>📺</a:t>
            </a:r>
            <a:endParaRPr lang="en-US" sz="2600" dirty="0"/>
          </a:p>
        </p:txBody>
      </p:sp>
      <p:sp>
        <p:nvSpPr>
          <p:cNvPr id="28" name="Text 25"/>
          <p:cNvSpPr txBox="1"/>
          <p:nvPr/>
        </p:nvSpPr>
        <p:spPr>
          <a:xfrm>
            <a:off x="9692640" y="2029968"/>
            <a:ext cx="1828800" cy="329184"/>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Yayın</a:t>
            </a:r>
            <a:endParaRPr lang="en-US" sz="1500" dirty="0"/>
          </a:p>
        </p:txBody>
      </p:sp>
      <p:sp>
        <p:nvSpPr>
          <p:cNvPr id="29" name="Text 26"/>
          <p:cNvSpPr txBox="1"/>
          <p:nvPr/>
        </p:nvSpPr>
        <p:spPr>
          <a:xfrm>
            <a:off x="9692640" y="2377440"/>
            <a:ext cx="1828800" cy="438912"/>
          </a:xfrm>
          <a:prstGeom prst="rect">
            <a:avLst/>
          </a:prstGeom>
          <a:noFill/>
          <a:ln/>
        </p:spPr>
        <p:txBody>
          <a:bodyPr wrap="square" lIns="0" tIns="0" rIns="0" bIns="0" rtlCol="0" anchor="t">
            <a:normAutofit/>
          </a:bodyPr>
          <a:lstStyle/>
          <a:p>
            <a:pPr algn="ctr" indent="0" marL="0">
              <a:buNone/>
            </a:pPr>
            <a:r>
              <a:rPr lang="en-US" sz="1100" dirty="0">
                <a:solidFill>
                  <a:srgbClr val="9AA3B5"/>
                </a:solidFill>
                <a:latin typeface="Arial" pitchFamily="34" charset="0"/>
                <a:ea typeface="Arial" pitchFamily="34" charset="-122"/>
                <a:cs typeface="Arial" pitchFamily="34" charset="-120"/>
              </a:rPr>
              <a:t>TikTok · IG · YouTube · Twitch</a:t>
            </a:r>
            <a:endParaRPr lang="en-US" sz="1100" dirty="0"/>
          </a:p>
        </p:txBody>
      </p:sp>
      <p:sp>
        <p:nvSpPr>
          <p:cNvPr id="30" name="Shape 27"/>
          <p:cNvSpPr/>
          <p:nvPr/>
        </p:nvSpPr>
        <p:spPr>
          <a:xfrm>
            <a:off x="548640" y="3154680"/>
            <a:ext cx="3520440" cy="1280160"/>
          </a:xfrm>
          <a:prstGeom prst="roundRect">
            <a:avLst>
              <a:gd name="adj" fmla="val 8571"/>
            </a:avLst>
          </a:prstGeom>
          <a:solidFill>
            <a:srgbClr val="1F2330"/>
          </a:solidFill>
          <a:ln w="12700">
            <a:solidFill>
              <a:srgbClr val="1F2330"/>
            </a:solidFill>
            <a:prstDash val="solid"/>
          </a:ln>
        </p:spPr>
      </p:sp>
      <p:sp>
        <p:nvSpPr>
          <p:cNvPr id="31" name="Text 28"/>
          <p:cNvSpPr txBox="1"/>
          <p:nvPr/>
        </p:nvSpPr>
        <p:spPr>
          <a:xfrm>
            <a:off x="777240" y="3273552"/>
            <a:ext cx="3108960" cy="457200"/>
          </a:xfrm>
          <a:prstGeom prst="rect">
            <a:avLst/>
          </a:prstGeom>
          <a:noFill/>
          <a:ln/>
        </p:spPr>
        <p:txBody>
          <a:bodyPr wrap="square" lIns="0" tIns="0" rIns="0" bIns="0" rtlCol="0" anchor="t">
            <a:normAutofit/>
          </a:bodyPr>
          <a:lstStyle/>
          <a:p>
            <a:pPr indent="0" marL="0">
              <a:buNone/>
            </a:pPr>
            <a:r>
              <a:rPr lang="en-US" sz="2100" b="1" dirty="0">
                <a:solidFill>
                  <a:srgbClr val="FF2D75"/>
                </a:solidFill>
                <a:latin typeface="Arial" pitchFamily="34" charset="0"/>
                <a:ea typeface="Arial" pitchFamily="34" charset="-122"/>
                <a:cs typeface="Arial" pitchFamily="34" charset="-120"/>
              </a:rPr>
              <a:t>“Krass”</a:t>
            </a:r>
            <a:endParaRPr lang="en-US" sz="2100" dirty="0"/>
          </a:p>
        </p:txBody>
      </p:sp>
      <p:sp>
        <p:nvSpPr>
          <p:cNvPr id="32" name="Text 29"/>
          <p:cNvSpPr txBox="1"/>
          <p:nvPr/>
        </p:nvSpPr>
        <p:spPr>
          <a:xfrm>
            <a:off x="777240" y="3767328"/>
            <a:ext cx="3108960" cy="594360"/>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 Neon yazı + Airhorn</a:t>
            </a:r>
            <a:endParaRPr lang="en-US" sz="1300" dirty="0"/>
          </a:p>
        </p:txBody>
      </p:sp>
      <p:sp>
        <p:nvSpPr>
          <p:cNvPr id="33" name="Shape 30"/>
          <p:cNvSpPr/>
          <p:nvPr/>
        </p:nvSpPr>
        <p:spPr>
          <a:xfrm>
            <a:off x="4297680" y="3154680"/>
            <a:ext cx="3520440" cy="1280160"/>
          </a:xfrm>
          <a:prstGeom prst="roundRect">
            <a:avLst>
              <a:gd name="adj" fmla="val 8571"/>
            </a:avLst>
          </a:prstGeom>
          <a:solidFill>
            <a:srgbClr val="1F2330"/>
          </a:solidFill>
          <a:ln w="12700">
            <a:solidFill>
              <a:srgbClr val="1F2330"/>
            </a:solidFill>
            <a:prstDash val="solid"/>
          </a:ln>
        </p:spPr>
      </p:sp>
      <p:sp>
        <p:nvSpPr>
          <p:cNvPr id="34" name="Text 31"/>
          <p:cNvSpPr txBox="1"/>
          <p:nvPr/>
        </p:nvSpPr>
        <p:spPr>
          <a:xfrm>
            <a:off x="4526280" y="3273552"/>
            <a:ext cx="3108960" cy="457200"/>
          </a:xfrm>
          <a:prstGeom prst="rect">
            <a:avLst/>
          </a:prstGeom>
          <a:noFill/>
          <a:ln/>
        </p:spPr>
        <p:txBody>
          <a:bodyPr wrap="square" lIns="0" tIns="0" rIns="0" bIns="0" rtlCol="0" anchor="t">
            <a:normAutofit/>
          </a:bodyPr>
          <a:lstStyle/>
          <a:p>
            <a:pPr indent="0" marL="0">
              <a:buNone/>
            </a:pPr>
            <a:r>
              <a:rPr lang="en-US" sz="2100" b="1" dirty="0">
                <a:solidFill>
                  <a:srgbClr val="FFD166"/>
                </a:solidFill>
                <a:latin typeface="Arial" pitchFamily="34" charset="0"/>
                <a:ea typeface="Arial" pitchFamily="34" charset="-122"/>
                <a:cs typeface="Arial" pitchFamily="34" charset="-120"/>
              </a:rPr>
              <a:t>“Yok artık”</a:t>
            </a:r>
            <a:endParaRPr lang="en-US" sz="2100" dirty="0"/>
          </a:p>
        </p:txBody>
      </p:sp>
      <p:sp>
        <p:nvSpPr>
          <p:cNvPr id="35" name="Text 32"/>
          <p:cNvSpPr txBox="1"/>
          <p:nvPr/>
        </p:nvSpPr>
        <p:spPr>
          <a:xfrm>
            <a:off x="4526280" y="3767328"/>
            <a:ext cx="3108960" cy="594360"/>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Meme kartı + Vine-Boom</a:t>
            </a:r>
            <a:endParaRPr lang="en-US" sz="1300" dirty="0"/>
          </a:p>
        </p:txBody>
      </p:sp>
      <p:sp>
        <p:nvSpPr>
          <p:cNvPr id="36" name="Shape 33"/>
          <p:cNvSpPr/>
          <p:nvPr/>
        </p:nvSpPr>
        <p:spPr>
          <a:xfrm>
            <a:off x="8046720" y="3154680"/>
            <a:ext cx="3520440" cy="1280160"/>
          </a:xfrm>
          <a:prstGeom prst="roundRect">
            <a:avLst>
              <a:gd name="adj" fmla="val 8571"/>
            </a:avLst>
          </a:prstGeom>
          <a:solidFill>
            <a:srgbClr val="1F2330"/>
          </a:solidFill>
          <a:ln w="12700">
            <a:solidFill>
              <a:srgbClr val="1F2330"/>
            </a:solidFill>
            <a:prstDash val="solid"/>
          </a:ln>
        </p:spPr>
      </p:sp>
      <p:sp>
        <p:nvSpPr>
          <p:cNvPr id="37" name="Text 34"/>
          <p:cNvSpPr txBox="1"/>
          <p:nvPr/>
        </p:nvSpPr>
        <p:spPr>
          <a:xfrm>
            <a:off x="8275320" y="3273552"/>
            <a:ext cx="3108960" cy="457200"/>
          </a:xfrm>
          <a:prstGeom prst="rect">
            <a:avLst/>
          </a:prstGeom>
          <a:noFill/>
          <a:ln/>
        </p:spPr>
        <p:txBody>
          <a:bodyPr wrap="square" lIns="0" tIns="0" rIns="0" bIns="0" rtlCol="0" anchor="t">
            <a:normAutofit/>
          </a:bodyPr>
          <a:lstStyle/>
          <a:p>
            <a:pPr indent="0" marL="0">
              <a:buNone/>
            </a:pPr>
            <a:r>
              <a:rPr lang="en-US" sz="2100" b="1" dirty="0">
                <a:solidFill>
                  <a:srgbClr val="2DFFB5"/>
                </a:solidFill>
                <a:latin typeface="Arial" pitchFamily="34" charset="0"/>
                <a:ea typeface="Arial" pitchFamily="34" charset="-122"/>
                <a:cs typeface="Arial" pitchFamily="34" charset="-120"/>
              </a:rPr>
              <a:t>“Yağmur yağıyordu…”</a:t>
            </a:r>
            <a:endParaRPr lang="en-US" sz="2100" dirty="0"/>
          </a:p>
        </p:txBody>
      </p:sp>
      <p:sp>
        <p:nvSpPr>
          <p:cNvPr id="38" name="Text 35"/>
          <p:cNvSpPr txBox="1"/>
          <p:nvPr/>
        </p:nvSpPr>
        <p:spPr>
          <a:xfrm>
            <a:off x="8275320" y="3767328"/>
            <a:ext cx="3108960" cy="594360"/>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Yağmur sahnesi + atmosfer döngüsü</a:t>
            </a:r>
            <a:endParaRPr lang="en-US" sz="1300" dirty="0"/>
          </a:p>
        </p:txBody>
      </p:sp>
      <p:sp>
        <p:nvSpPr>
          <p:cNvPr id="39" name="Shape 36"/>
          <p:cNvSpPr/>
          <p:nvPr/>
        </p:nvSpPr>
        <p:spPr>
          <a:xfrm>
            <a:off x="548640" y="4800600"/>
            <a:ext cx="128016" cy="128016"/>
          </a:xfrm>
          <a:prstGeom prst="ellipse">
            <a:avLst/>
          </a:prstGeom>
          <a:solidFill>
            <a:srgbClr val="FF2D75"/>
          </a:solidFill>
          <a:ln w="12700">
            <a:solidFill>
              <a:srgbClr val="FF2D75"/>
            </a:solidFill>
            <a:prstDash val="solid"/>
          </a:ln>
        </p:spPr>
      </p:sp>
      <p:sp>
        <p:nvSpPr>
          <p:cNvPr id="40" name="Text 37"/>
          <p:cNvSpPr txBox="1"/>
          <p:nvPr/>
        </p:nvSpPr>
        <p:spPr>
          <a:xfrm>
            <a:off x="822960" y="4709160"/>
            <a:ext cx="5257800" cy="566928"/>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&lt; 1 sn tepki – eşleşme, tanımanın ara sonuçlarında bile</a:t>
            </a:r>
            <a:endParaRPr lang="en-US" sz="1300" dirty="0"/>
          </a:p>
        </p:txBody>
      </p:sp>
      <p:sp>
        <p:nvSpPr>
          <p:cNvPr id="41" name="Shape 38"/>
          <p:cNvSpPr/>
          <p:nvPr/>
        </p:nvSpPr>
        <p:spPr>
          <a:xfrm>
            <a:off x="6172200" y="4800600"/>
            <a:ext cx="128016" cy="128016"/>
          </a:xfrm>
          <a:prstGeom prst="ellipse">
            <a:avLst/>
          </a:prstGeom>
          <a:solidFill>
            <a:srgbClr val="2DFFB5"/>
          </a:solidFill>
          <a:ln w="12700">
            <a:solidFill>
              <a:srgbClr val="2DFFB5"/>
            </a:solidFill>
            <a:prstDash val="solid"/>
          </a:ln>
        </p:spPr>
      </p:sp>
      <p:sp>
        <p:nvSpPr>
          <p:cNvPr id="42" name="Text 39"/>
          <p:cNvSpPr txBox="1"/>
          <p:nvPr/>
        </p:nvSpPr>
        <p:spPr>
          <a:xfrm>
            <a:off x="6446520" y="4709160"/>
            <a:ext cx="5257800" cy="566928"/>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Eller serbest – tuş yok, tıklama yok, ikinci ekran yok</a:t>
            </a:r>
            <a:endParaRPr lang="en-US" sz="1300" dirty="0"/>
          </a:p>
        </p:txBody>
      </p:sp>
      <p:sp>
        <p:nvSpPr>
          <p:cNvPr id="43" name="Shape 40"/>
          <p:cNvSpPr/>
          <p:nvPr/>
        </p:nvSpPr>
        <p:spPr>
          <a:xfrm>
            <a:off x="548640" y="5422392"/>
            <a:ext cx="128016" cy="128016"/>
          </a:xfrm>
          <a:prstGeom prst="ellipse">
            <a:avLst/>
          </a:prstGeom>
          <a:solidFill>
            <a:srgbClr val="FF2D75"/>
          </a:solidFill>
          <a:ln w="12700">
            <a:solidFill>
              <a:srgbClr val="FF2D75"/>
            </a:solidFill>
            <a:prstDash val="solid"/>
          </a:ln>
        </p:spPr>
      </p:sp>
      <p:sp>
        <p:nvSpPr>
          <p:cNvPr id="44" name="Text 41"/>
          <p:cNvSpPr txBox="1"/>
          <p:nvPr/>
        </p:nvSpPr>
        <p:spPr>
          <a:xfrm>
            <a:off x="822960" y="5330952"/>
            <a:ext cx="5257800" cy="566928"/>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Yayıncının kendi bilgisayarında, yerel çalışır – veri koruma baştan</a:t>
            </a:r>
            <a:endParaRPr lang="en-US" sz="1300" dirty="0"/>
          </a:p>
        </p:txBody>
      </p:sp>
      <p:sp>
        <p:nvSpPr>
          <p:cNvPr id="45" name="Shape 42"/>
          <p:cNvSpPr/>
          <p:nvPr/>
        </p:nvSpPr>
        <p:spPr>
          <a:xfrm>
            <a:off x="6172200" y="5422392"/>
            <a:ext cx="128016" cy="128016"/>
          </a:xfrm>
          <a:prstGeom prst="ellipse">
            <a:avLst/>
          </a:prstGeom>
          <a:solidFill>
            <a:srgbClr val="2DFFB5"/>
          </a:solidFill>
          <a:ln w="12700">
            <a:solidFill>
              <a:srgbClr val="2DFFB5"/>
            </a:solidFill>
            <a:prstDash val="solid"/>
          </a:ln>
        </p:spPr>
      </p:sp>
      <p:sp>
        <p:nvSpPr>
          <p:cNvPr id="46" name="Text 43"/>
          <p:cNvSpPr txBox="1"/>
          <p:nvPr/>
        </p:nvSpPr>
        <p:spPr>
          <a:xfrm>
            <a:off x="6446520" y="5330952"/>
            <a:ext cx="5257800" cy="566928"/>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Arial" pitchFamily="34" charset="0"/>
                <a:ea typeface="Arial" pitchFamily="34" charset="-122"/>
                <a:cs typeface="Arial" pitchFamily="34" charset="-120"/>
              </a:rPr>
              <a:t>Yapay zekâ modu (isteğe bağlı) anahtar kelimesiz cümleleri yakalar: “çok utanç vericiydi” → Awkward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YAYINDA BÖYLE GÖRÜNÜYOR</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Demo</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4</a:t>
            </a:r>
            <a:endParaRPr lang="en-US" sz="900" dirty="0"/>
          </a:p>
        </p:txBody>
      </p:sp>
      <p:pic>
        <p:nvPicPr>
          <p:cNvPr id="6" name="Image 0" descr="/home/user/Notion/live-fx/business/video/stills/tr-16x9-6_9s.jpg">    </p:cNvPr>
          <p:cNvPicPr>
            <a:picLocks noChangeAspect="1"/>
          </p:cNvPicPr>
          <p:nvPr/>
        </p:nvPicPr>
        <p:blipFill>
          <a:blip r:embed="rId1"/>
          <a:stretch>
            <a:fillRect/>
          </a:stretch>
        </p:blipFill>
        <p:spPr>
          <a:xfrm>
            <a:off x="548640" y="1325880"/>
            <a:ext cx="6583680" cy="3703320"/>
          </a:xfrm>
          <a:prstGeom prst="rect">
            <a:avLst/>
          </a:prstGeom>
        </p:spPr>
      </p:pic>
      <p:sp>
        <p:nvSpPr>
          <p:cNvPr id="7" name="Text 3"/>
          <p:cNvSpPr txBox="1"/>
          <p:nvPr/>
        </p:nvSpPr>
        <p:spPr>
          <a:xfrm>
            <a:off x="548640" y="5074920"/>
            <a:ext cx="6583680" cy="457200"/>
          </a:xfrm>
          <a:prstGeom prst="rect">
            <a:avLst/>
          </a:prstGeom>
          <a:noFill/>
          <a:ln/>
        </p:spPr>
        <p:txBody>
          <a:bodyPr wrap="square" lIns="0" tIns="0" rIns="0" bIns="0" rtlCol="0" anchor="t">
            <a:normAutofit/>
          </a:bodyPr>
          <a:lstStyle/>
          <a:p>
            <a:pPr indent="0" marL="0">
              <a:buNone/>
            </a:pPr>
            <a:r>
              <a:rPr lang="en-US" sz="1150" dirty="0">
                <a:solidFill>
                  <a:srgbClr val="9AA3B5"/>
                </a:solidFill>
                <a:latin typeface="Arial" pitchFamily="34" charset="0"/>
                <a:ea typeface="Arial" pitchFamily="34" charset="-122"/>
                <a:cs typeface="Arial" pitchFamily="34" charset="-120"/>
              </a:rPr>
              <a:t>Katman 16:9 – “Efsane!” → neon yazı + konfeti</a:t>
            </a:r>
            <a:endParaRPr lang="en-US" sz="1150" dirty="0"/>
          </a:p>
        </p:txBody>
      </p:sp>
      <p:pic>
        <p:nvPicPr>
          <p:cNvPr id="8" name="Image 1" descr="/home/user/Notion/live-fx/business/video/stills/tr-9x16-29_6s.jpg">    </p:cNvPr>
          <p:cNvPicPr>
            <a:picLocks noChangeAspect="1"/>
          </p:cNvPicPr>
          <p:nvPr/>
        </p:nvPicPr>
        <p:blipFill>
          <a:blip r:embed="rId2"/>
          <a:stretch>
            <a:fillRect/>
          </a:stretch>
        </p:blipFill>
        <p:spPr>
          <a:xfrm>
            <a:off x="7406640" y="1325880"/>
            <a:ext cx="2084832" cy="3703320"/>
          </a:xfrm>
          <a:prstGeom prst="rect">
            <a:avLst/>
          </a:prstGeom>
        </p:spPr>
      </p:pic>
      <p:sp>
        <p:nvSpPr>
          <p:cNvPr id="9" name="Text 4"/>
          <p:cNvSpPr txBox="1"/>
          <p:nvPr/>
        </p:nvSpPr>
        <p:spPr>
          <a:xfrm>
            <a:off x="7406640" y="5074920"/>
            <a:ext cx="2194560" cy="548640"/>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Dikey 9:16 – hikâye modu: “Gece yağmur yağıyordu…”</a:t>
            </a:r>
            <a:endParaRPr lang="en-US" sz="1100" dirty="0"/>
          </a:p>
        </p:txBody>
      </p:sp>
      <p:pic>
        <p:nvPicPr>
          <p:cNvPr id="10" name="Image 2" descr="/home/user/Notion/live-fx/business/landing-assets/mobile.jpg">    </p:cNvPr>
          <p:cNvPicPr>
            <a:picLocks noChangeAspect="1"/>
          </p:cNvPicPr>
          <p:nvPr/>
        </p:nvPicPr>
        <p:blipFill>
          <a:blip r:embed="rId3"/>
          <a:stretch>
            <a:fillRect/>
          </a:stretch>
        </p:blipFill>
        <p:spPr>
          <a:xfrm>
            <a:off x="9784080" y="1325880"/>
            <a:ext cx="1709928" cy="3703320"/>
          </a:xfrm>
          <a:prstGeom prst="rect">
            <a:avLst/>
          </a:prstGeom>
        </p:spPr>
      </p:pic>
      <p:sp>
        <p:nvSpPr>
          <p:cNvPr id="11" name="Text 5"/>
          <p:cNvSpPr txBox="1"/>
          <p:nvPr/>
        </p:nvSpPr>
        <p:spPr>
          <a:xfrm>
            <a:off x="9784080" y="5074920"/>
            <a:ext cx="1856232" cy="548640"/>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Telefondan kumanda (PWA)</a:t>
            </a:r>
            <a:endParaRPr lang="en-US" sz="1100" dirty="0"/>
          </a:p>
        </p:txBody>
      </p:sp>
      <p:sp>
        <p:nvSpPr>
          <p:cNvPr id="12" name="Shape 6"/>
          <p:cNvSpPr/>
          <p:nvPr/>
        </p:nvSpPr>
        <p:spPr>
          <a:xfrm>
            <a:off x="548640" y="5623560"/>
            <a:ext cx="11094415" cy="749808"/>
          </a:xfrm>
          <a:prstGeom prst="roundRect">
            <a:avLst>
              <a:gd name="adj" fmla="val 14634"/>
            </a:avLst>
          </a:prstGeom>
          <a:solidFill>
            <a:srgbClr val="1F2330"/>
          </a:solidFill>
          <a:ln w="12700">
            <a:solidFill>
              <a:srgbClr val="1F2330"/>
            </a:solidFill>
            <a:prstDash val="solid"/>
          </a:ln>
        </p:spPr>
      </p:sp>
      <p:sp>
        <p:nvSpPr>
          <p:cNvPr id="13" name="Text 7"/>
          <p:cNvSpPr txBox="1"/>
          <p:nvPr/>
        </p:nvSpPr>
        <p:spPr>
          <a:xfrm>
            <a:off x="822960" y="5669280"/>
            <a:ext cx="10545775" cy="658368"/>
          </a:xfrm>
          <a:prstGeom prst="rect">
            <a:avLst/>
          </a:prstGeom>
          <a:noFill/>
          <a:ln/>
        </p:spPr>
        <p:txBody>
          <a:bodyPr wrap="square" lIns="0" tIns="0" rIns="0" bIns="0" rtlCol="0" anchor="ctr">
            <a:normAutofit/>
          </a:bodyPr>
          <a:lstStyle/>
          <a:p>
            <a:pPr indent="0" marL="0">
              <a:buNone/>
            </a:pPr>
            <a:r>
              <a:rPr lang="en-US" sz="1250" dirty="0">
                <a:solidFill>
                  <a:srgbClr val="FFFFFF"/>
                </a:solidFill>
                <a:latin typeface="Arial" pitchFamily="34" charset="0"/>
                <a:ea typeface="Arial" pitchFamily="34" charset="-122"/>
                <a:cs typeface="Arial" pitchFamily="34" charset="-120"/>
              </a:rPr>
              <a:t>▶  Fragman (30 sn): video/LiveFX_Trailer_tr_16x9.mp4  ·  Canlı demo: mikrofonu aç, “bu çok fena… efsane!” de – ya da hikâye modunu aç ve bir paragraf oku.</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PROTOTİP DEĞİL</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Bugünkü ürün – sürüm 2.1</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5</a:t>
            </a:r>
            <a:endParaRPr lang="en-US" sz="900" dirty="0"/>
          </a:p>
        </p:txBody>
      </p:sp>
      <p:sp>
        <p:nvSpPr>
          <p:cNvPr id="6" name="Shape 3"/>
          <p:cNvSpPr/>
          <p:nvPr/>
        </p:nvSpPr>
        <p:spPr>
          <a:xfrm>
            <a:off x="548640" y="1371600"/>
            <a:ext cx="2679192" cy="2194560"/>
          </a:xfrm>
          <a:prstGeom prst="roundRect">
            <a:avLst>
              <a:gd name="adj" fmla="val 5000"/>
            </a:avLst>
          </a:prstGeom>
          <a:solidFill>
            <a:srgbClr val="181B23"/>
          </a:solidFill>
          <a:ln w="12700">
            <a:solidFill>
              <a:srgbClr val="181B23"/>
            </a:solidFill>
            <a:prstDash val="solid"/>
          </a:ln>
        </p:spPr>
      </p:sp>
      <p:sp>
        <p:nvSpPr>
          <p:cNvPr id="7" name="Text 4"/>
          <p:cNvSpPr txBox="1"/>
          <p:nvPr/>
        </p:nvSpPr>
        <p:spPr>
          <a:xfrm>
            <a:off x="731520" y="151790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8" name="Text 5"/>
          <p:cNvSpPr txBox="1"/>
          <p:nvPr/>
        </p:nvSpPr>
        <p:spPr>
          <a:xfrm>
            <a:off x="731520" y="1956816"/>
            <a:ext cx="2313432" cy="347472"/>
          </a:xfrm>
          <a:prstGeom prst="rect">
            <a:avLst/>
          </a:prstGeom>
          <a:noFill/>
          <a:ln/>
        </p:spPr>
        <p:txBody>
          <a:bodyPr wrap="square" lIns="0" tIns="0" rIns="0" bIns="0" rtlCol="0" anchor="t">
            <a:normAutofit/>
          </a:bodyPr>
          <a:lstStyle/>
          <a:p>
            <a:pPr indent="0" marL="0">
              <a:buNone/>
            </a:pPr>
            <a:r>
              <a:rPr lang="en-US" sz="1400" b="1" dirty="0">
                <a:solidFill>
                  <a:srgbClr val="FF2D75"/>
                </a:solidFill>
                <a:latin typeface="Arial" pitchFamily="34" charset="0"/>
                <a:ea typeface="Arial" pitchFamily="34" charset="-122"/>
                <a:cs typeface="Arial" pitchFamily="34" charset="-120"/>
              </a:rPr>
              <a:t>Tanıma</a:t>
            </a:r>
            <a:endParaRPr lang="en-US" sz="1400" dirty="0"/>
          </a:p>
        </p:txBody>
      </p:sp>
      <p:sp>
        <p:nvSpPr>
          <p:cNvPr id="9" name="Text 6"/>
          <p:cNvSpPr txBox="1"/>
          <p:nvPr/>
        </p:nvSpPr>
        <p:spPr>
          <a:xfrm>
            <a:off x="731520" y="232257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Tarayıcı ASR, otomatik dil DE/TR/EN, lehçe toleransı, öğrenme işlevi, öz test; Whisper/Deepgram ile harici, çevrimdışı Whisper (deneysel)</a:t>
            </a:r>
            <a:endParaRPr lang="en-US" sz="1100" dirty="0"/>
          </a:p>
        </p:txBody>
      </p:sp>
      <p:sp>
        <p:nvSpPr>
          <p:cNvPr id="10" name="Shape 7"/>
          <p:cNvSpPr/>
          <p:nvPr/>
        </p:nvSpPr>
        <p:spPr>
          <a:xfrm>
            <a:off x="3364992" y="1371600"/>
            <a:ext cx="2679192" cy="2194560"/>
          </a:xfrm>
          <a:prstGeom prst="roundRect">
            <a:avLst>
              <a:gd name="adj" fmla="val 5000"/>
            </a:avLst>
          </a:prstGeom>
          <a:solidFill>
            <a:srgbClr val="181B23"/>
          </a:solidFill>
          <a:ln w="12700">
            <a:solidFill>
              <a:srgbClr val="181B23"/>
            </a:solidFill>
            <a:prstDash val="solid"/>
          </a:ln>
        </p:spPr>
      </p:sp>
      <p:sp>
        <p:nvSpPr>
          <p:cNvPr id="11" name="Text 8"/>
          <p:cNvSpPr txBox="1"/>
          <p:nvPr/>
        </p:nvSpPr>
        <p:spPr>
          <a:xfrm>
            <a:off x="3547872" y="151790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12" name="Text 9"/>
          <p:cNvSpPr txBox="1"/>
          <p:nvPr/>
        </p:nvSpPr>
        <p:spPr>
          <a:xfrm>
            <a:off x="3547872" y="1956816"/>
            <a:ext cx="2313432" cy="347472"/>
          </a:xfrm>
          <a:prstGeom prst="rect">
            <a:avLst/>
          </a:prstGeom>
          <a:noFill/>
          <a:ln/>
        </p:spPr>
        <p:txBody>
          <a:bodyPr wrap="square" lIns="0" tIns="0" rIns="0" bIns="0" rtlCol="0" anchor="t">
            <a:normAutofit/>
          </a:bodyPr>
          <a:lstStyle/>
          <a:p>
            <a:pPr indent="0" marL="0">
              <a:buNone/>
            </a:pPr>
            <a:r>
              <a:rPr lang="en-US" sz="1400" b="1" dirty="0">
                <a:solidFill>
                  <a:srgbClr val="2DFFB5"/>
                </a:solidFill>
                <a:latin typeface="Arial" pitchFamily="34" charset="0"/>
                <a:ea typeface="Arial" pitchFamily="34" charset="-122"/>
                <a:cs typeface="Arial" pitchFamily="34" charset="-120"/>
              </a:rPr>
              <a:t>Efektler ve performans</a:t>
            </a:r>
            <a:endParaRPr lang="en-US" sz="1400" dirty="0"/>
          </a:p>
        </p:txBody>
      </p:sp>
      <p:sp>
        <p:nvSpPr>
          <p:cNvPr id="13" name="Text 10"/>
          <p:cNvSpPr txBox="1"/>
          <p:nvPr/>
        </p:nvSpPr>
        <p:spPr>
          <a:xfrm>
            <a:off x="3547872" y="232257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Canvas parçacıkları (60 fps), neon/glitch/çıkartma metni, alt bant, kombolar, 4 tema; performans modu: kare süresi −%63 ile −%69</a:t>
            </a:r>
            <a:endParaRPr lang="en-US" sz="1100" dirty="0"/>
          </a:p>
        </p:txBody>
      </p:sp>
      <p:sp>
        <p:nvSpPr>
          <p:cNvPr id="14" name="Shape 11"/>
          <p:cNvSpPr/>
          <p:nvPr/>
        </p:nvSpPr>
        <p:spPr>
          <a:xfrm>
            <a:off x="6181344" y="1371600"/>
            <a:ext cx="2679192" cy="2194560"/>
          </a:xfrm>
          <a:prstGeom prst="roundRect">
            <a:avLst>
              <a:gd name="adj" fmla="val 5000"/>
            </a:avLst>
          </a:prstGeom>
          <a:solidFill>
            <a:srgbClr val="181B23"/>
          </a:solidFill>
          <a:ln w="12700">
            <a:solidFill>
              <a:srgbClr val="181B23"/>
            </a:solidFill>
            <a:prstDash val="solid"/>
          </a:ln>
        </p:spPr>
      </p:sp>
      <p:sp>
        <p:nvSpPr>
          <p:cNvPr id="15" name="Text 12"/>
          <p:cNvSpPr txBox="1"/>
          <p:nvPr/>
        </p:nvSpPr>
        <p:spPr>
          <a:xfrm>
            <a:off x="6364224" y="151790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16" name="Text 13"/>
          <p:cNvSpPr txBox="1"/>
          <p:nvPr/>
        </p:nvSpPr>
        <p:spPr>
          <a:xfrm>
            <a:off x="6364224" y="1956816"/>
            <a:ext cx="2313432" cy="347472"/>
          </a:xfrm>
          <a:prstGeom prst="rect">
            <a:avLst/>
          </a:prstGeom>
          <a:noFill/>
          <a:ln/>
        </p:spPr>
        <p:txBody>
          <a:bodyPr wrap="square" lIns="0" tIns="0" rIns="0" bIns="0" rtlCol="0" anchor="t">
            <a:normAutofit/>
          </a:bodyPr>
          <a:lstStyle/>
          <a:p>
            <a:pPr indent="0" marL="0">
              <a:buNone/>
            </a:pPr>
            <a:r>
              <a:rPr lang="en-US" sz="1400" b="1" dirty="0">
                <a:solidFill>
                  <a:srgbClr val="FFD166"/>
                </a:solidFill>
                <a:latin typeface="Arial" pitchFamily="34" charset="0"/>
                <a:ea typeface="Arial" pitchFamily="34" charset="-122"/>
                <a:cs typeface="Arial" pitchFamily="34" charset="-120"/>
              </a:rPr>
              <a:t>Hikâye modu</a:t>
            </a:r>
            <a:endParaRPr lang="en-US" sz="1400" dirty="0"/>
          </a:p>
        </p:txBody>
      </p:sp>
      <p:sp>
        <p:nvSpPr>
          <p:cNvPr id="17" name="Text 14"/>
          <p:cNvSpPr txBox="1"/>
          <p:nvPr/>
        </p:nvSpPr>
        <p:spPr>
          <a:xfrm>
            <a:off x="6364224" y="232257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13 tam ekran sahne, 12 atmosfer döngüsü, DE/TR/EN hikâye paketleri</a:t>
            </a:r>
            <a:endParaRPr lang="en-US" sz="1100" dirty="0"/>
          </a:p>
        </p:txBody>
      </p:sp>
      <p:sp>
        <p:nvSpPr>
          <p:cNvPr id="18" name="Shape 15"/>
          <p:cNvSpPr/>
          <p:nvPr/>
        </p:nvSpPr>
        <p:spPr>
          <a:xfrm>
            <a:off x="8997696" y="1371600"/>
            <a:ext cx="2679192" cy="2194560"/>
          </a:xfrm>
          <a:prstGeom prst="roundRect">
            <a:avLst>
              <a:gd name="adj" fmla="val 5000"/>
            </a:avLst>
          </a:prstGeom>
          <a:solidFill>
            <a:srgbClr val="181B23"/>
          </a:solidFill>
          <a:ln w="12700">
            <a:solidFill>
              <a:srgbClr val="181B23"/>
            </a:solidFill>
            <a:prstDash val="solid"/>
          </a:ln>
        </p:spPr>
      </p:sp>
      <p:sp>
        <p:nvSpPr>
          <p:cNvPr id="19" name="Text 16"/>
          <p:cNvSpPr txBox="1"/>
          <p:nvPr/>
        </p:nvSpPr>
        <p:spPr>
          <a:xfrm>
            <a:off x="9180576" y="151790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20" name="Text 17"/>
          <p:cNvSpPr txBox="1"/>
          <p:nvPr/>
        </p:nvSpPr>
        <p:spPr>
          <a:xfrm>
            <a:off x="9180576" y="1956816"/>
            <a:ext cx="2313432" cy="347472"/>
          </a:xfrm>
          <a:prstGeom prst="rect">
            <a:avLst/>
          </a:prstGeom>
          <a:noFill/>
          <a:ln/>
        </p:spPr>
        <p:txBody>
          <a:bodyPr wrap="square" lIns="0" tIns="0" rIns="0" bIns="0" rtlCol="0" anchor="t">
            <a:normAutofit/>
          </a:bodyPr>
          <a:lstStyle/>
          <a:p>
            <a:pPr indent="0" marL="0">
              <a:buNone/>
            </a:pPr>
            <a:r>
              <a:rPr lang="en-US" sz="1400" b="1" dirty="0">
                <a:solidFill>
                  <a:srgbClr val="FF2D75"/>
                </a:solidFill>
                <a:latin typeface="Arial" pitchFamily="34" charset="0"/>
                <a:ea typeface="Arial" pitchFamily="34" charset="-122"/>
                <a:cs typeface="Arial" pitchFamily="34" charset="-120"/>
              </a:rPr>
              <a:t>Paketler</a:t>
            </a:r>
            <a:endParaRPr lang="en-US" sz="1400" dirty="0"/>
          </a:p>
        </p:txBody>
      </p:sp>
      <p:sp>
        <p:nvSpPr>
          <p:cNvPr id="21" name="Text 18"/>
          <p:cNvSpPr txBox="1"/>
          <p:nvPr/>
        </p:nvSpPr>
        <p:spPr>
          <a:xfrm>
            <a:off x="9180576" y="232257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Türkçe 85 · Deutsch 49 · English 50 · Aile ve Çocuk 27 · Gaming 27 – ayrıca TR/DE/EN metin çıkartma paketleri</a:t>
            </a:r>
            <a:endParaRPr lang="en-US" sz="1100" dirty="0"/>
          </a:p>
        </p:txBody>
      </p:sp>
      <p:sp>
        <p:nvSpPr>
          <p:cNvPr id="22" name="Shape 19"/>
          <p:cNvSpPr/>
          <p:nvPr/>
        </p:nvSpPr>
        <p:spPr>
          <a:xfrm>
            <a:off x="548640" y="3703320"/>
            <a:ext cx="2679192" cy="2194560"/>
          </a:xfrm>
          <a:prstGeom prst="roundRect">
            <a:avLst>
              <a:gd name="adj" fmla="val 5000"/>
            </a:avLst>
          </a:prstGeom>
          <a:solidFill>
            <a:srgbClr val="181B23"/>
          </a:solidFill>
          <a:ln w="12700">
            <a:solidFill>
              <a:srgbClr val="181B23"/>
            </a:solidFill>
            <a:prstDash val="solid"/>
          </a:ln>
        </p:spPr>
      </p:sp>
      <p:sp>
        <p:nvSpPr>
          <p:cNvPr id="23" name="Text 20"/>
          <p:cNvSpPr txBox="1"/>
          <p:nvPr/>
        </p:nvSpPr>
        <p:spPr>
          <a:xfrm>
            <a:off x="731520" y="384962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24" name="Text 21"/>
          <p:cNvSpPr txBox="1"/>
          <p:nvPr/>
        </p:nvSpPr>
        <p:spPr>
          <a:xfrm>
            <a:off x="731520" y="4288536"/>
            <a:ext cx="2313432" cy="347472"/>
          </a:xfrm>
          <a:prstGeom prst="rect">
            <a:avLst/>
          </a:prstGeom>
          <a:noFill/>
          <a:ln/>
        </p:spPr>
        <p:txBody>
          <a:bodyPr wrap="square" lIns="0" tIns="0" rIns="0" bIns="0" rtlCol="0" anchor="t">
            <a:normAutofit/>
          </a:bodyPr>
          <a:lstStyle/>
          <a:p>
            <a:pPr indent="0" marL="0">
              <a:buNone/>
            </a:pPr>
            <a:r>
              <a:rPr lang="en-US" sz="1400" b="1" dirty="0">
                <a:solidFill>
                  <a:srgbClr val="2DFFB5"/>
                </a:solidFill>
                <a:latin typeface="Arial" pitchFamily="34" charset="0"/>
                <a:ea typeface="Arial" pitchFamily="34" charset="-122"/>
                <a:cs typeface="Arial" pitchFamily="34" charset="-120"/>
              </a:rPr>
              <a:t>Çıkartmalar ve GIF'ler</a:t>
            </a:r>
            <a:endParaRPr lang="en-US" sz="1400" dirty="0"/>
          </a:p>
        </p:txBody>
      </p:sp>
      <p:sp>
        <p:nvSpPr>
          <p:cNvPr id="25" name="Text 22"/>
          <p:cNvSpPr txBox="1"/>
          <p:nvPr/>
        </p:nvSpPr>
        <p:spPr>
          <a:xfrm>
            <a:off x="731520" y="465429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143 ücretsiz çıkartma (MIT lisansı, 119 animasyonlu) · içerik filtreli güvenli GIF arama KLIPY/GIPHY, GIF'ler kaydedilmeden bağlantıyla</a:t>
            </a:r>
            <a:endParaRPr lang="en-US" sz="1100" dirty="0"/>
          </a:p>
        </p:txBody>
      </p:sp>
      <p:sp>
        <p:nvSpPr>
          <p:cNvPr id="26" name="Shape 23"/>
          <p:cNvSpPr/>
          <p:nvPr/>
        </p:nvSpPr>
        <p:spPr>
          <a:xfrm>
            <a:off x="3364992" y="3703320"/>
            <a:ext cx="2679192" cy="2194560"/>
          </a:xfrm>
          <a:prstGeom prst="roundRect">
            <a:avLst>
              <a:gd name="adj" fmla="val 5000"/>
            </a:avLst>
          </a:prstGeom>
          <a:solidFill>
            <a:srgbClr val="181B23"/>
          </a:solidFill>
          <a:ln w="12700">
            <a:solidFill>
              <a:srgbClr val="181B23"/>
            </a:solidFill>
            <a:prstDash val="solid"/>
          </a:ln>
        </p:spPr>
      </p:sp>
      <p:sp>
        <p:nvSpPr>
          <p:cNvPr id="27" name="Text 24"/>
          <p:cNvSpPr txBox="1"/>
          <p:nvPr/>
        </p:nvSpPr>
        <p:spPr>
          <a:xfrm>
            <a:off x="3547872" y="384962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28" name="Text 25"/>
          <p:cNvSpPr txBox="1"/>
          <p:nvPr/>
        </p:nvSpPr>
        <p:spPr>
          <a:xfrm>
            <a:off x="3547872" y="4288536"/>
            <a:ext cx="2313432" cy="347472"/>
          </a:xfrm>
          <a:prstGeom prst="rect">
            <a:avLst/>
          </a:prstGeom>
          <a:noFill/>
          <a:ln/>
        </p:spPr>
        <p:txBody>
          <a:bodyPr wrap="square" lIns="0" tIns="0" rIns="0" bIns="0" rtlCol="0" anchor="t">
            <a:normAutofit/>
          </a:bodyPr>
          <a:lstStyle/>
          <a:p>
            <a:pPr indent="0" marL="0">
              <a:buNone/>
            </a:pPr>
            <a:r>
              <a:rPr lang="en-US" sz="1400" b="1" dirty="0">
                <a:solidFill>
                  <a:srgbClr val="FFD166"/>
                </a:solidFill>
                <a:latin typeface="Arial" pitchFamily="34" charset="0"/>
                <a:ea typeface="Arial" pitchFamily="34" charset="-122"/>
                <a:cs typeface="Arial" pitchFamily="34" charset="-120"/>
              </a:rPr>
              <a:t>Ses motoru</a:t>
            </a:r>
            <a:endParaRPr lang="en-US" sz="1400" dirty="0"/>
          </a:p>
        </p:txBody>
      </p:sp>
      <p:sp>
        <p:nvSpPr>
          <p:cNvPr id="29" name="Text 26"/>
          <p:cNvSpPr txBox="1"/>
          <p:nvPr/>
        </p:nvSpPr>
        <p:spPr>
          <a:xfrm>
            <a:off x="3547872" y="465429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38 sentetik ses (lisans ücreti yok), limiter'lı mikser, ducking, stereo, yankı</a:t>
            </a:r>
            <a:endParaRPr lang="en-US" sz="1100" dirty="0"/>
          </a:p>
        </p:txBody>
      </p:sp>
      <p:sp>
        <p:nvSpPr>
          <p:cNvPr id="30" name="Shape 27"/>
          <p:cNvSpPr/>
          <p:nvPr/>
        </p:nvSpPr>
        <p:spPr>
          <a:xfrm>
            <a:off x="6181344" y="3703320"/>
            <a:ext cx="2679192" cy="2194560"/>
          </a:xfrm>
          <a:prstGeom prst="roundRect">
            <a:avLst>
              <a:gd name="adj" fmla="val 5000"/>
            </a:avLst>
          </a:prstGeom>
          <a:solidFill>
            <a:srgbClr val="181B23"/>
          </a:solidFill>
          <a:ln w="12700">
            <a:solidFill>
              <a:srgbClr val="181B23"/>
            </a:solidFill>
            <a:prstDash val="solid"/>
          </a:ln>
        </p:spPr>
      </p:sp>
      <p:sp>
        <p:nvSpPr>
          <p:cNvPr id="31" name="Text 28"/>
          <p:cNvSpPr txBox="1"/>
          <p:nvPr/>
        </p:nvSpPr>
        <p:spPr>
          <a:xfrm>
            <a:off x="6364224" y="384962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32" name="Text 29"/>
          <p:cNvSpPr txBox="1"/>
          <p:nvPr/>
        </p:nvSpPr>
        <p:spPr>
          <a:xfrm>
            <a:off x="6364224" y="4288536"/>
            <a:ext cx="2313432" cy="347472"/>
          </a:xfrm>
          <a:prstGeom prst="rect">
            <a:avLst/>
          </a:prstGeom>
          <a:noFill/>
          <a:ln/>
        </p:spPr>
        <p:txBody>
          <a:bodyPr wrap="square" lIns="0" tIns="0" rIns="0" bIns="0" rtlCol="0" anchor="t">
            <a:normAutofit/>
          </a:bodyPr>
          <a:lstStyle/>
          <a:p>
            <a:pPr indent="0" marL="0">
              <a:buNone/>
            </a:pPr>
            <a:r>
              <a:rPr lang="en-US" sz="1400" b="1" dirty="0">
                <a:solidFill>
                  <a:srgbClr val="FF2D75"/>
                </a:solidFill>
                <a:latin typeface="Arial" pitchFamily="34" charset="0"/>
                <a:ea typeface="Arial" pitchFamily="34" charset="-122"/>
                <a:cs typeface="Arial" pitchFamily="34" charset="-120"/>
              </a:rPr>
              <a:t>Telefon ve platformlar</a:t>
            </a:r>
            <a:endParaRPr lang="en-US" sz="1400" dirty="0"/>
          </a:p>
        </p:txBody>
      </p:sp>
      <p:sp>
        <p:nvSpPr>
          <p:cNvPr id="33" name="Text 30"/>
          <p:cNvSpPr txBox="1"/>
          <p:nvPr/>
        </p:nvSpPr>
        <p:spPr>
          <a:xfrm>
            <a:off x="6364224" y="465429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Telefon uzaktan kumandası (PWA), OBS/Streamlabs, TikTok LIVE Studio, IG Live Producer, OBS'siz demo</a:t>
            </a:r>
            <a:endParaRPr lang="en-US" sz="1100" dirty="0"/>
          </a:p>
        </p:txBody>
      </p:sp>
      <p:sp>
        <p:nvSpPr>
          <p:cNvPr id="34" name="Shape 31"/>
          <p:cNvSpPr/>
          <p:nvPr/>
        </p:nvSpPr>
        <p:spPr>
          <a:xfrm>
            <a:off x="8997696" y="3703320"/>
            <a:ext cx="2679192" cy="2194560"/>
          </a:xfrm>
          <a:prstGeom prst="roundRect">
            <a:avLst>
              <a:gd name="adj" fmla="val 5000"/>
            </a:avLst>
          </a:prstGeom>
          <a:solidFill>
            <a:srgbClr val="181B23"/>
          </a:solidFill>
          <a:ln w="12700">
            <a:solidFill>
              <a:srgbClr val="181B23"/>
            </a:solidFill>
            <a:prstDash val="solid"/>
          </a:ln>
        </p:spPr>
      </p:sp>
      <p:sp>
        <p:nvSpPr>
          <p:cNvPr id="35" name="Text 32"/>
          <p:cNvSpPr txBox="1"/>
          <p:nvPr/>
        </p:nvSpPr>
        <p:spPr>
          <a:xfrm>
            <a:off x="9180576" y="3849624"/>
            <a:ext cx="54864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36" name="Text 33"/>
          <p:cNvSpPr txBox="1"/>
          <p:nvPr/>
        </p:nvSpPr>
        <p:spPr>
          <a:xfrm>
            <a:off x="9180576" y="4288536"/>
            <a:ext cx="2313432" cy="347472"/>
          </a:xfrm>
          <a:prstGeom prst="rect">
            <a:avLst/>
          </a:prstGeom>
          <a:noFill/>
          <a:ln/>
        </p:spPr>
        <p:txBody>
          <a:bodyPr wrap="square" lIns="0" tIns="0" rIns="0" bIns="0" rtlCol="0" anchor="t">
            <a:normAutofit/>
          </a:bodyPr>
          <a:lstStyle/>
          <a:p>
            <a:pPr indent="0" marL="0">
              <a:buNone/>
            </a:pPr>
            <a:r>
              <a:rPr lang="en-US" sz="1400" b="1" dirty="0">
                <a:solidFill>
                  <a:srgbClr val="2DFFB5"/>
                </a:solidFill>
                <a:latin typeface="Arial" pitchFamily="34" charset="0"/>
                <a:ea typeface="Arial" pitchFamily="34" charset="-122"/>
                <a:cs typeface="Arial" pitchFamily="34" charset="-120"/>
              </a:rPr>
              <a:t>İzleyiciler ve açık API</a:t>
            </a:r>
            <a:endParaRPr lang="en-US" sz="1400" dirty="0"/>
          </a:p>
        </p:txBody>
      </p:sp>
      <p:sp>
        <p:nvSpPr>
          <p:cNvPr id="37" name="Text 34"/>
          <p:cNvSpPr txBox="1"/>
          <p:nvPr/>
        </p:nvSpPr>
        <p:spPr>
          <a:xfrm>
            <a:off x="9180576" y="4654296"/>
            <a:ext cx="2313432" cy="117043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Twitch/YouTube sohbeti, hediye webhook'u (TikFinity / Streamer.bot), token korumalı HTTP API, 575+ otomatik test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ZAMANLAMA</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Neden şimdi</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6</a:t>
            </a:r>
            <a:endParaRPr lang="en-US" sz="900" dirty="0"/>
          </a:p>
        </p:txBody>
      </p:sp>
      <p:sp>
        <p:nvSpPr>
          <p:cNvPr id="6" name="Text 3"/>
          <p:cNvSpPr txBox="1"/>
          <p:nvPr/>
        </p:nvSpPr>
        <p:spPr>
          <a:xfrm>
            <a:off x="548640" y="1325880"/>
            <a:ext cx="3474720" cy="731520"/>
          </a:xfrm>
          <a:prstGeom prst="rect">
            <a:avLst/>
          </a:prstGeom>
          <a:noFill/>
          <a:ln/>
        </p:spPr>
        <p:txBody>
          <a:bodyPr wrap="square" lIns="0" tIns="0" rIns="0" bIns="0" rtlCol="0" anchor="t">
            <a:normAutofit/>
          </a:bodyPr>
          <a:lstStyle/>
          <a:p>
            <a:pPr indent="0" marL="0">
              <a:buNone/>
            </a:pPr>
            <a:r>
              <a:rPr lang="en-US" sz="3800" b="1" dirty="0">
                <a:solidFill>
                  <a:srgbClr val="FF2D75"/>
                </a:solidFill>
                <a:latin typeface="Arial" pitchFamily="34" charset="0"/>
                <a:ea typeface="Arial" pitchFamily="34" charset="-122"/>
                <a:cs typeface="Arial" pitchFamily="34" charset="-120"/>
              </a:rPr>
              <a:t>~%50</a:t>
            </a:r>
            <a:endParaRPr lang="en-US" sz="3800" dirty="0"/>
          </a:p>
        </p:txBody>
      </p:sp>
      <p:sp>
        <p:nvSpPr>
          <p:cNvPr id="7" name="Text 4"/>
          <p:cNvSpPr txBox="1"/>
          <p:nvPr/>
        </p:nvSpPr>
        <p:spPr>
          <a:xfrm>
            <a:off x="548640" y="2075688"/>
            <a:ext cx="3474720" cy="10058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canlı yayıncı gelirinin hediyelerden geliyor; 20–100 bin takipçi: ayda 500–3.000 USD [Kaynak 5, 6]</a:t>
            </a:r>
            <a:endParaRPr lang="en-US" sz="1200" dirty="0"/>
          </a:p>
        </p:txBody>
      </p:sp>
      <p:sp>
        <p:nvSpPr>
          <p:cNvPr id="8" name="Text 5"/>
          <p:cNvSpPr txBox="1"/>
          <p:nvPr/>
        </p:nvSpPr>
        <p:spPr>
          <a:xfrm>
            <a:off x="4343400" y="1325880"/>
            <a:ext cx="3474720" cy="731520"/>
          </a:xfrm>
          <a:prstGeom prst="rect">
            <a:avLst/>
          </a:prstGeom>
          <a:noFill/>
          <a:ln/>
        </p:spPr>
        <p:txBody>
          <a:bodyPr wrap="square" lIns="0" tIns="0" rIns="0" bIns="0" rtlCol="0" anchor="t">
            <a:normAutofit/>
          </a:bodyPr>
          <a:lstStyle/>
          <a:p>
            <a:pPr indent="0" marL="0">
              <a:buNone/>
            </a:pPr>
            <a:r>
              <a:rPr lang="en-US" sz="3800" b="1" dirty="0">
                <a:solidFill>
                  <a:srgbClr val="2DFFB5"/>
                </a:solidFill>
                <a:latin typeface="Arial" pitchFamily="34" charset="0"/>
                <a:ea typeface="Arial" pitchFamily="34" charset="-122"/>
                <a:cs typeface="Arial" pitchFamily="34" charset="-120"/>
              </a:rPr>
              <a:t>&gt; 100 milyon</a:t>
            </a:r>
            <a:endParaRPr lang="en-US" sz="3800" dirty="0"/>
          </a:p>
        </p:txBody>
      </p:sp>
      <p:sp>
        <p:nvSpPr>
          <p:cNvPr id="9" name="Text 6"/>
          <p:cNvSpPr txBox="1"/>
          <p:nvPr/>
        </p:nvSpPr>
        <p:spPr>
          <a:xfrm>
            <a:off x="4343400" y="2075688"/>
            <a:ext cx="3474720" cy="10058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içerik üreticisi 2025'te yalnızca Güneydoğu Asya, Kafkasya ve Orta Asya'da TikTok LIVE'a çıktı – %77 artış [Kaynak 2]</a:t>
            </a:r>
            <a:endParaRPr lang="en-US" sz="1200" dirty="0"/>
          </a:p>
        </p:txBody>
      </p:sp>
      <p:sp>
        <p:nvSpPr>
          <p:cNvPr id="10" name="Text 7"/>
          <p:cNvSpPr txBox="1"/>
          <p:nvPr/>
        </p:nvSpPr>
        <p:spPr>
          <a:xfrm>
            <a:off x="8138160" y="1325880"/>
            <a:ext cx="3474720" cy="731520"/>
          </a:xfrm>
          <a:prstGeom prst="rect">
            <a:avLst/>
          </a:prstGeom>
          <a:noFill/>
          <a:ln/>
        </p:spPr>
        <p:txBody>
          <a:bodyPr wrap="square" lIns="0" tIns="0" rIns="0" bIns="0" rtlCol="0" anchor="t">
            <a:normAutofit/>
          </a:bodyPr>
          <a:lstStyle/>
          <a:p>
            <a:pPr indent="0" marL="0">
              <a:buNone/>
            </a:pPr>
            <a:r>
              <a:rPr lang="en-US" sz="3800" b="1" dirty="0">
                <a:solidFill>
                  <a:srgbClr val="FFD166"/>
                </a:solidFill>
                <a:latin typeface="Arial" pitchFamily="34" charset="0"/>
                <a:ea typeface="Arial" pitchFamily="34" charset="-122"/>
                <a:cs typeface="Arial" pitchFamily="34" charset="-120"/>
              </a:rPr>
              <a:t>≈ %14</a:t>
            </a:r>
            <a:endParaRPr lang="en-US" sz="3800" dirty="0"/>
          </a:p>
        </p:txBody>
      </p:sp>
      <p:sp>
        <p:nvSpPr>
          <p:cNvPr id="11" name="Text 8"/>
          <p:cNvSpPr txBox="1"/>
          <p:nvPr/>
        </p:nvSpPr>
        <p:spPr>
          <a:xfrm>
            <a:off x="8138160" y="2075688"/>
            <a:ext cx="3474720" cy="10058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içerik üreticisi ekonomisinin (2026'da ~216–260 milyar USD) payı canlı yayına ait [Kaynak 3, 4]</a:t>
            </a:r>
            <a:endParaRPr lang="en-US" sz="1200" dirty="0"/>
          </a:p>
        </p:txBody>
      </p:sp>
      <p:sp>
        <p:nvSpPr>
          <p:cNvPr id="12" name="Shape 9"/>
          <p:cNvSpPr/>
          <p:nvPr/>
        </p:nvSpPr>
        <p:spPr>
          <a:xfrm>
            <a:off x="548640" y="3429000"/>
            <a:ext cx="3520440" cy="2331720"/>
          </a:xfrm>
          <a:prstGeom prst="roundRect">
            <a:avLst>
              <a:gd name="adj" fmla="val 4706"/>
            </a:avLst>
          </a:prstGeom>
          <a:solidFill>
            <a:srgbClr val="181B23"/>
          </a:solidFill>
          <a:ln w="12700">
            <a:solidFill>
              <a:srgbClr val="181B23"/>
            </a:solidFill>
            <a:prstDash val="solid"/>
          </a:ln>
        </p:spPr>
      </p:sp>
      <p:sp>
        <p:nvSpPr>
          <p:cNvPr id="13" name="Text 10"/>
          <p:cNvSpPr txBox="1"/>
          <p:nvPr/>
        </p:nvSpPr>
        <p:spPr>
          <a:xfrm>
            <a:off x="777240" y="3584448"/>
            <a:ext cx="3108960" cy="56692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Canlı yayın bir gelir kanalı</a:t>
            </a:r>
            <a:endParaRPr lang="en-US" sz="1500" dirty="0"/>
          </a:p>
        </p:txBody>
      </p:sp>
      <p:sp>
        <p:nvSpPr>
          <p:cNvPr id="14" name="Text 11"/>
          <p:cNvSpPr txBox="1"/>
          <p:nvPr/>
        </p:nvSpPr>
        <p:spPr>
          <a:xfrm>
            <a:off x="777240" y="4187952"/>
            <a:ext cx="3108960" cy="1481328"/>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Canlı ticaret ve hediyeler (TikTok LIVE, IG Badges, Super Chat) canlı yayını yan format değil, işin kendisi yapıyor.</a:t>
            </a:r>
            <a:endParaRPr lang="en-US" sz="1200" dirty="0"/>
          </a:p>
        </p:txBody>
      </p:sp>
      <p:sp>
        <p:nvSpPr>
          <p:cNvPr id="15" name="Shape 12"/>
          <p:cNvSpPr/>
          <p:nvPr/>
        </p:nvSpPr>
        <p:spPr>
          <a:xfrm>
            <a:off x="4343400" y="3429000"/>
            <a:ext cx="3520440" cy="2331720"/>
          </a:xfrm>
          <a:prstGeom prst="roundRect">
            <a:avLst>
              <a:gd name="adj" fmla="val 4706"/>
            </a:avLst>
          </a:prstGeom>
          <a:solidFill>
            <a:srgbClr val="181B23"/>
          </a:solidFill>
          <a:ln w="12700">
            <a:solidFill>
              <a:srgbClr val="181B23"/>
            </a:solidFill>
            <a:prstDash val="solid"/>
          </a:ln>
        </p:spPr>
      </p:sp>
      <p:sp>
        <p:nvSpPr>
          <p:cNvPr id="16" name="Text 13"/>
          <p:cNvSpPr txBox="1"/>
          <p:nvPr/>
        </p:nvSpPr>
        <p:spPr>
          <a:xfrm>
            <a:off x="4572000" y="3584448"/>
            <a:ext cx="3108960" cy="56692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Teknoloji olgun</a:t>
            </a:r>
            <a:endParaRPr lang="en-US" sz="1500" dirty="0"/>
          </a:p>
        </p:txBody>
      </p:sp>
      <p:sp>
        <p:nvSpPr>
          <p:cNvPr id="17" name="Text 14"/>
          <p:cNvSpPr txBox="1"/>
          <p:nvPr/>
        </p:nvSpPr>
        <p:spPr>
          <a:xfrm>
            <a:off x="4572000" y="4187952"/>
            <a:ext cx="3108960" cy="1481328"/>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Akışlı ASR &lt; 300 ms, tarayıcıda modeller, tüm büyük tarayıcılarda WebGPU [Kaynak 27], saati &lt; 1 USD'ye yapay zekâ sınıflandırması.</a:t>
            </a:r>
            <a:endParaRPr lang="en-US" sz="1200" dirty="0"/>
          </a:p>
        </p:txBody>
      </p:sp>
      <p:sp>
        <p:nvSpPr>
          <p:cNvPr id="18" name="Shape 15"/>
          <p:cNvSpPr/>
          <p:nvPr/>
        </p:nvSpPr>
        <p:spPr>
          <a:xfrm>
            <a:off x="8138160" y="3429000"/>
            <a:ext cx="3520440" cy="2331720"/>
          </a:xfrm>
          <a:prstGeom prst="roundRect">
            <a:avLst>
              <a:gd name="adj" fmla="val 4706"/>
            </a:avLst>
          </a:prstGeom>
          <a:solidFill>
            <a:srgbClr val="181B23"/>
          </a:solidFill>
          <a:ln w="12700">
            <a:solidFill>
              <a:srgbClr val="181B23"/>
            </a:solidFill>
            <a:prstDash val="solid"/>
          </a:ln>
        </p:spPr>
      </p:sp>
      <p:sp>
        <p:nvSpPr>
          <p:cNvPr id="19" name="Text 16"/>
          <p:cNvSpPr txBox="1"/>
          <p:nvPr/>
        </p:nvSpPr>
        <p:spPr>
          <a:xfrm>
            <a:off x="8366760" y="3584448"/>
            <a:ext cx="3108960" cy="566928"/>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Platformlar üretici araçlarıyla yarışıyor</a:t>
            </a:r>
            <a:endParaRPr lang="en-US" sz="1500" dirty="0"/>
          </a:p>
        </p:txBody>
      </p:sp>
      <p:sp>
        <p:nvSpPr>
          <p:cNvPr id="20" name="Text 17"/>
          <p:cNvSpPr txBox="1"/>
          <p:nvPr/>
        </p:nvSpPr>
        <p:spPr>
          <a:xfrm>
            <a:off x="8366760" y="4187952"/>
            <a:ext cx="3108960" cy="1481328"/>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CapCut ↔ TikTok, Edits ↔ Instagram. Sıradaki adım canlı yayın araçları – ve kimsede sesle tetiklenen efekt yok.</a:t>
            </a:r>
            <a:endParaRPr lang="en-US" sz="1200" dirty="0"/>
          </a:p>
        </p:txBody>
      </p:sp>
      <p:sp>
        <p:nvSpPr>
          <p:cNvPr id="21" name="Text 18"/>
          <p:cNvSpPr txBox="1"/>
          <p:nvPr/>
        </p:nvSpPr>
        <p:spPr>
          <a:xfrm>
            <a:off x="548640" y="6053328"/>
            <a:ext cx="9997135" cy="329184"/>
          </a:xfrm>
          <a:prstGeom prst="rect">
            <a:avLst/>
          </a:prstGeom>
          <a:noFill/>
          <a:ln/>
        </p:spPr>
        <p:txBody>
          <a:bodyPr wrap="square" lIns="0" tIns="0" rIns="0" bIns="0" rtlCol="0" anchor="t">
            <a:normAutofit/>
          </a:bodyPr>
          <a:lstStyle/>
          <a:p>
            <a:pPr indent="0" marL="0">
              <a:buNone/>
            </a:pPr>
            <a:r>
              <a:rPr lang="en-US" sz="950" dirty="0">
                <a:solidFill>
                  <a:srgbClr val="6B7280"/>
                </a:solidFill>
                <a:latin typeface="Arial" pitchFamily="34" charset="0"/>
                <a:ea typeface="Arial" pitchFamily="34" charset="-122"/>
                <a:cs typeface="Arial" pitchFamily="34" charset="-120"/>
              </a:rPr>
              <a:t>Kaynaklar: QUELLEN.tr.md (araştırma 30.09.2026 ve 03.10.2026) – [Kaynak 2–6, 27]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TAM · SAM · SOM · KOMŞU PAZARLAR</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Pazar – tek rakam değil, aralıklar</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7</a:t>
            </a:r>
            <a:endParaRPr lang="en-US" sz="900" dirty="0"/>
          </a:p>
        </p:txBody>
      </p:sp>
      <p:graphicFrame>
        <p:nvGraphicFramePr>
          <p:cNvPr id="6" name="Chart 0" descr=""/>
          <p:cNvGraphicFramePr/>
          <p:nvPr/>
        </p:nvGraphicFramePr>
        <p:xfrm>
          <a:off x="548640" y="1280160"/>
          <a:ext cx="6035040" cy="35204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812280" y="1280160"/>
            <a:ext cx="4828032" cy="1097280"/>
          </a:xfrm>
          <a:prstGeom prst="roundRect">
            <a:avLst>
              <a:gd name="adj" fmla="val 10000"/>
            </a:avLst>
          </a:prstGeom>
          <a:solidFill>
            <a:srgbClr val="181B23"/>
          </a:solidFill>
          <a:ln w="12700">
            <a:solidFill>
              <a:srgbClr val="181B23"/>
            </a:solidFill>
            <a:prstDash val="solid"/>
          </a:ln>
        </p:spPr>
      </p:sp>
      <p:sp>
        <p:nvSpPr>
          <p:cNvPr id="8" name="Text 4"/>
          <p:cNvSpPr txBox="1"/>
          <p:nvPr/>
        </p:nvSpPr>
        <p:spPr>
          <a:xfrm>
            <a:off x="6995160" y="1389888"/>
            <a:ext cx="822960" cy="411480"/>
          </a:xfrm>
          <a:prstGeom prst="rect">
            <a:avLst/>
          </a:prstGeom>
          <a:noFill/>
          <a:ln/>
        </p:spPr>
        <p:txBody>
          <a:bodyPr wrap="square" lIns="0" tIns="0" rIns="0" bIns="0" rtlCol="0" anchor="t">
            <a:normAutofit/>
          </a:bodyPr>
          <a:lstStyle/>
          <a:p>
            <a:pPr indent="0" marL="0">
              <a:buNone/>
            </a:pPr>
            <a:r>
              <a:rPr lang="en-US" sz="1900" b="1" dirty="0">
                <a:solidFill>
                  <a:srgbClr val="FF2D75"/>
                </a:solidFill>
                <a:latin typeface="Arial" pitchFamily="34" charset="0"/>
                <a:ea typeface="Arial" pitchFamily="34" charset="-122"/>
                <a:cs typeface="Arial" pitchFamily="34" charset="-120"/>
              </a:rPr>
              <a:t>TAM</a:t>
            </a:r>
            <a:endParaRPr lang="en-US" sz="1900" dirty="0"/>
          </a:p>
        </p:txBody>
      </p:sp>
      <p:sp>
        <p:nvSpPr>
          <p:cNvPr id="9" name="Text 5"/>
          <p:cNvSpPr txBox="1"/>
          <p:nvPr/>
        </p:nvSpPr>
        <p:spPr>
          <a:xfrm>
            <a:off x="7818120" y="1435608"/>
            <a:ext cx="3657600" cy="329184"/>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Canlı yayın pazarı [Kaynak 1, 2]</a:t>
            </a:r>
            <a:endParaRPr lang="en-US" sz="1150" dirty="0"/>
          </a:p>
        </p:txBody>
      </p:sp>
      <p:sp>
        <p:nvSpPr>
          <p:cNvPr id="10" name="Text 6"/>
          <p:cNvSpPr txBox="1"/>
          <p:nvPr/>
        </p:nvSpPr>
        <p:spPr>
          <a:xfrm>
            <a:off x="6995160" y="1792224"/>
            <a:ext cx="4480560" cy="548640"/>
          </a:xfrm>
          <a:prstGeom prst="rect">
            <a:avLst/>
          </a:prstGeom>
          <a:noFill/>
          <a:ln/>
        </p:spPr>
        <p:txBody>
          <a:bodyPr wrap="square" lIns="0" tIns="0" rIns="0" bIns="0" rtlCol="0" anchor="t">
            <a:normAutofit/>
          </a:bodyPr>
          <a:lstStyle/>
          <a:p>
            <a:pPr indent="0" marL="0">
              <a:buNone/>
            </a:pPr>
            <a:r>
              <a:rPr lang="en-US" sz="1050" dirty="0">
                <a:solidFill>
                  <a:srgbClr val="FFFFFF"/>
                </a:solidFill>
                <a:latin typeface="Arial" pitchFamily="34" charset="0"/>
                <a:ea typeface="Arial" pitchFamily="34" charset="-122"/>
                <a:cs typeface="Arial" pitchFamily="34" charset="-120"/>
              </a:rPr>
              <a:t>97–157 milyar USD (2026) → 250–345 milyar USD (2030), yıllık büyüme yaklaşık %27</a:t>
            </a:r>
            <a:endParaRPr lang="en-US" sz="1050" dirty="0"/>
          </a:p>
        </p:txBody>
      </p:sp>
      <p:sp>
        <p:nvSpPr>
          <p:cNvPr id="11" name="Shape 7"/>
          <p:cNvSpPr/>
          <p:nvPr/>
        </p:nvSpPr>
        <p:spPr>
          <a:xfrm>
            <a:off x="6812280" y="2468880"/>
            <a:ext cx="4828032" cy="1097280"/>
          </a:xfrm>
          <a:prstGeom prst="roundRect">
            <a:avLst>
              <a:gd name="adj" fmla="val 10000"/>
            </a:avLst>
          </a:prstGeom>
          <a:solidFill>
            <a:srgbClr val="181B23"/>
          </a:solidFill>
          <a:ln w="12700">
            <a:solidFill>
              <a:srgbClr val="181B23"/>
            </a:solidFill>
            <a:prstDash val="solid"/>
          </a:ln>
        </p:spPr>
      </p:sp>
      <p:sp>
        <p:nvSpPr>
          <p:cNvPr id="12" name="Text 8"/>
          <p:cNvSpPr txBox="1"/>
          <p:nvPr/>
        </p:nvSpPr>
        <p:spPr>
          <a:xfrm>
            <a:off x="6995160" y="2578608"/>
            <a:ext cx="822960" cy="411480"/>
          </a:xfrm>
          <a:prstGeom prst="rect">
            <a:avLst/>
          </a:prstGeom>
          <a:noFill/>
          <a:ln/>
        </p:spPr>
        <p:txBody>
          <a:bodyPr wrap="square" lIns="0" tIns="0" rIns="0" bIns="0" rtlCol="0" anchor="t">
            <a:normAutofit/>
          </a:bodyPr>
          <a:lstStyle/>
          <a:p>
            <a:pPr indent="0" marL="0">
              <a:buNone/>
            </a:pPr>
            <a:r>
              <a:rPr lang="en-US" sz="1900" b="1" dirty="0">
                <a:solidFill>
                  <a:srgbClr val="2DFFB5"/>
                </a:solidFill>
                <a:latin typeface="Arial" pitchFamily="34" charset="0"/>
                <a:ea typeface="Arial" pitchFamily="34" charset="-122"/>
                <a:cs typeface="Arial" pitchFamily="34" charset="-120"/>
              </a:rPr>
              <a:t>SAM</a:t>
            </a:r>
            <a:endParaRPr lang="en-US" sz="1900" dirty="0"/>
          </a:p>
        </p:txBody>
      </p:sp>
      <p:sp>
        <p:nvSpPr>
          <p:cNvPr id="13" name="Text 9"/>
          <p:cNvSpPr txBox="1"/>
          <p:nvPr/>
        </p:nvSpPr>
        <p:spPr>
          <a:xfrm>
            <a:off x="7818120" y="2624328"/>
            <a:ext cx="3657600" cy="329184"/>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Canlı yayın araçları · tahmin</a:t>
            </a:r>
            <a:endParaRPr lang="en-US" sz="1150" dirty="0"/>
          </a:p>
        </p:txBody>
      </p:sp>
      <p:sp>
        <p:nvSpPr>
          <p:cNvPr id="14" name="Text 10"/>
          <p:cNvSpPr txBox="1"/>
          <p:nvPr/>
        </p:nvSpPr>
        <p:spPr>
          <a:xfrm>
            <a:off x="6995160" y="2980944"/>
            <a:ext cx="4480560" cy="548640"/>
          </a:xfrm>
          <a:prstGeom prst="rect">
            <a:avLst/>
          </a:prstGeom>
          <a:noFill/>
          <a:ln/>
        </p:spPr>
        <p:txBody>
          <a:bodyPr wrap="square" lIns="0" tIns="0" rIns="0" bIns="0" rtlCol="0" anchor="t">
            <a:normAutofit/>
          </a:bodyPr>
          <a:lstStyle/>
          <a:p>
            <a:pPr indent="0" marL="0">
              <a:buNone/>
            </a:pPr>
            <a:r>
              <a:rPr lang="en-US" sz="1050" dirty="0">
                <a:solidFill>
                  <a:srgbClr val="FFFFFF"/>
                </a:solidFill>
                <a:latin typeface="Arial" pitchFamily="34" charset="0"/>
                <a:ea typeface="Arial" pitchFamily="34" charset="-122"/>
                <a:cs typeface="Arial" pitchFamily="34" charset="-120"/>
              </a:rPr>
              <a:t>1–3 milyar USD – Streamlabs/StreamYard/Voicemod fiyatları × aktif canlı yayıncılar</a:t>
            </a:r>
            <a:endParaRPr lang="en-US" sz="1050" dirty="0"/>
          </a:p>
        </p:txBody>
      </p:sp>
      <p:sp>
        <p:nvSpPr>
          <p:cNvPr id="15" name="Shape 11"/>
          <p:cNvSpPr/>
          <p:nvPr/>
        </p:nvSpPr>
        <p:spPr>
          <a:xfrm>
            <a:off x="6812280" y="3657600"/>
            <a:ext cx="4828032" cy="1097280"/>
          </a:xfrm>
          <a:prstGeom prst="roundRect">
            <a:avLst>
              <a:gd name="adj" fmla="val 10000"/>
            </a:avLst>
          </a:prstGeom>
          <a:solidFill>
            <a:srgbClr val="181B23"/>
          </a:solidFill>
          <a:ln w="12700">
            <a:solidFill>
              <a:srgbClr val="181B23"/>
            </a:solidFill>
            <a:prstDash val="solid"/>
          </a:ln>
        </p:spPr>
      </p:sp>
      <p:sp>
        <p:nvSpPr>
          <p:cNvPr id="16" name="Text 12"/>
          <p:cNvSpPr txBox="1"/>
          <p:nvPr/>
        </p:nvSpPr>
        <p:spPr>
          <a:xfrm>
            <a:off x="6995160" y="3767328"/>
            <a:ext cx="822960" cy="411480"/>
          </a:xfrm>
          <a:prstGeom prst="rect">
            <a:avLst/>
          </a:prstGeom>
          <a:noFill/>
          <a:ln/>
        </p:spPr>
        <p:txBody>
          <a:bodyPr wrap="square" lIns="0" tIns="0" rIns="0" bIns="0" rtlCol="0" anchor="t">
            <a:normAutofit/>
          </a:bodyPr>
          <a:lstStyle/>
          <a:p>
            <a:pPr indent="0" marL="0">
              <a:buNone/>
            </a:pPr>
            <a:r>
              <a:rPr lang="en-US" sz="1900" b="1" dirty="0">
                <a:solidFill>
                  <a:srgbClr val="FFD166"/>
                </a:solidFill>
                <a:latin typeface="Arial" pitchFamily="34" charset="0"/>
                <a:ea typeface="Arial" pitchFamily="34" charset="-122"/>
                <a:cs typeface="Arial" pitchFamily="34" charset="-120"/>
              </a:rPr>
              <a:t>SOM</a:t>
            </a:r>
            <a:endParaRPr lang="en-US" sz="1900" dirty="0"/>
          </a:p>
        </p:txBody>
      </p:sp>
      <p:sp>
        <p:nvSpPr>
          <p:cNvPr id="17" name="Text 13"/>
          <p:cNvSpPr txBox="1"/>
          <p:nvPr/>
        </p:nvSpPr>
        <p:spPr>
          <a:xfrm>
            <a:off x="7818120" y="3813048"/>
            <a:ext cx="3657600" cy="329184"/>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3. yıl · tahmin</a:t>
            </a:r>
            <a:endParaRPr lang="en-US" sz="1150" dirty="0"/>
          </a:p>
        </p:txBody>
      </p:sp>
      <p:sp>
        <p:nvSpPr>
          <p:cNvPr id="18" name="Text 14"/>
          <p:cNvSpPr txBox="1"/>
          <p:nvPr/>
        </p:nvSpPr>
        <p:spPr>
          <a:xfrm>
            <a:off x="6995160" y="4169664"/>
            <a:ext cx="4480560" cy="548640"/>
          </a:xfrm>
          <a:prstGeom prst="rect">
            <a:avLst/>
          </a:prstGeom>
          <a:noFill/>
          <a:ln/>
        </p:spPr>
        <p:txBody>
          <a:bodyPr wrap="square" lIns="0" tIns="0" rIns="0" bIns="0" rtlCol="0" anchor="t">
            <a:normAutofit/>
          </a:bodyPr>
          <a:lstStyle/>
          <a:p>
            <a:pPr indent="0" marL="0">
              <a:buNone/>
            </a:pPr>
            <a:r>
              <a:rPr lang="en-US" sz="1050" dirty="0">
                <a:solidFill>
                  <a:srgbClr val="FFFFFF"/>
                </a:solidFill>
                <a:latin typeface="Arial" pitchFamily="34" charset="0"/>
                <a:ea typeface="Arial" pitchFamily="34" charset="-122"/>
                <a:cs typeface="Arial" pitchFamily="34" charset="-120"/>
              </a:rPr>
              <a:t>5.000–15.000 ücretli Pro kullanıcı × ayda 9,99 € ≈ 0,6–1,8 milyon € ARR (iş planıyla aynı; DACH + Türkiye + EN niş)</a:t>
            </a:r>
            <a:endParaRPr lang="en-US" sz="1050" dirty="0"/>
          </a:p>
        </p:txBody>
      </p:sp>
      <p:sp>
        <p:nvSpPr>
          <p:cNvPr id="19" name="Text 15"/>
          <p:cNvSpPr txBox="1"/>
          <p:nvPr/>
        </p:nvSpPr>
        <p:spPr>
          <a:xfrm>
            <a:off x="548640" y="4956048"/>
            <a:ext cx="11094415" cy="274320"/>
          </a:xfrm>
          <a:prstGeom prst="rect">
            <a:avLst/>
          </a:prstGeom>
          <a:noFill/>
          <a:ln/>
        </p:spPr>
        <p:txBody>
          <a:bodyPr wrap="square" lIns="0" tIns="0" rIns="0" bIns="0" rtlCol="0" anchor="t">
            <a:normAutofit/>
          </a:bodyPr>
          <a:lstStyle/>
          <a:p>
            <a:pPr indent="0" marL="0">
              <a:buNone/>
            </a:pPr>
            <a:r>
              <a:rPr lang="en-US" sz="1100" b="1" dirty="0">
                <a:solidFill>
                  <a:srgbClr val="5AD1FF"/>
                </a:solidFill>
                <a:latin typeface="Arial" pitchFamily="34" charset="0"/>
                <a:ea typeface="Arial" pitchFamily="34" charset="-122"/>
                <a:cs typeface="Arial" pitchFamily="34" charset="-120"/>
              </a:rPr>
              <a:t>Vizyonun komşu pazarları (slayt 12–15)</a:t>
            </a:r>
            <a:endParaRPr lang="en-US" sz="1100" dirty="0"/>
          </a:p>
        </p:txBody>
      </p:sp>
      <p:sp>
        <p:nvSpPr>
          <p:cNvPr id="20" name="Shape 16"/>
          <p:cNvSpPr/>
          <p:nvPr/>
        </p:nvSpPr>
        <p:spPr>
          <a:xfrm>
            <a:off x="548640" y="5266944"/>
            <a:ext cx="2670734" cy="749808"/>
          </a:xfrm>
          <a:prstGeom prst="roundRect">
            <a:avLst>
              <a:gd name="adj" fmla="val 14634"/>
            </a:avLst>
          </a:prstGeom>
          <a:solidFill>
            <a:srgbClr val="1F2330"/>
          </a:solidFill>
          <a:ln w="12700">
            <a:solidFill>
              <a:srgbClr val="1F2330"/>
            </a:solidFill>
            <a:prstDash val="solid"/>
          </a:ln>
        </p:spPr>
      </p:sp>
      <p:sp>
        <p:nvSpPr>
          <p:cNvPr id="21" name="Text 17"/>
          <p:cNvSpPr txBox="1"/>
          <p:nvPr/>
        </p:nvSpPr>
        <p:spPr>
          <a:xfrm>
            <a:off x="713232" y="5303520"/>
            <a:ext cx="2396414" cy="347472"/>
          </a:xfrm>
          <a:prstGeom prst="rect">
            <a:avLst/>
          </a:prstGeom>
          <a:noFill/>
          <a:ln/>
        </p:spPr>
        <p:txBody>
          <a:bodyPr wrap="square" lIns="0" tIns="0" rIns="0" bIns="0" rtlCol="0" anchor="t">
            <a:normAutofit/>
          </a:bodyPr>
          <a:lstStyle/>
          <a:p>
            <a:pPr indent="0" marL="0">
              <a:buNone/>
            </a:pPr>
            <a:r>
              <a:rPr lang="en-US" sz="1500" b="1" dirty="0">
                <a:solidFill>
                  <a:srgbClr val="2DFFB5"/>
                </a:solidFill>
                <a:latin typeface="Arial" pitchFamily="34" charset="0"/>
                <a:ea typeface="Arial" pitchFamily="34" charset="-122"/>
                <a:cs typeface="Arial" pitchFamily="34" charset="-120"/>
              </a:rPr>
              <a:t>3,67 milyar USD</a:t>
            </a:r>
            <a:endParaRPr lang="en-US" sz="1500" dirty="0"/>
          </a:p>
        </p:txBody>
      </p:sp>
      <p:sp>
        <p:nvSpPr>
          <p:cNvPr id="22" name="Text 18"/>
          <p:cNvSpPr txBox="1"/>
          <p:nvPr/>
        </p:nvSpPr>
        <p:spPr>
          <a:xfrm>
            <a:off x="713232" y="5650992"/>
            <a:ext cx="2396414" cy="329184"/>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Yapay zekâ ile video üretimi ve kurgusu, 2026 [Kaynak 23]</a:t>
            </a:r>
            <a:endParaRPr lang="en-US" sz="1000" dirty="0"/>
          </a:p>
        </p:txBody>
      </p:sp>
      <p:sp>
        <p:nvSpPr>
          <p:cNvPr id="23" name="Shape 19"/>
          <p:cNvSpPr/>
          <p:nvPr/>
        </p:nvSpPr>
        <p:spPr>
          <a:xfrm>
            <a:off x="3356534" y="5266944"/>
            <a:ext cx="2670734" cy="749808"/>
          </a:xfrm>
          <a:prstGeom prst="roundRect">
            <a:avLst>
              <a:gd name="adj" fmla="val 14634"/>
            </a:avLst>
          </a:prstGeom>
          <a:solidFill>
            <a:srgbClr val="1F2330"/>
          </a:solidFill>
          <a:ln w="12700">
            <a:solidFill>
              <a:srgbClr val="1F2330"/>
            </a:solidFill>
            <a:prstDash val="solid"/>
          </a:ln>
        </p:spPr>
      </p:sp>
      <p:sp>
        <p:nvSpPr>
          <p:cNvPr id="24" name="Text 20"/>
          <p:cNvSpPr txBox="1"/>
          <p:nvPr/>
        </p:nvSpPr>
        <p:spPr>
          <a:xfrm>
            <a:off x="3521126" y="5303520"/>
            <a:ext cx="2396414" cy="347472"/>
          </a:xfrm>
          <a:prstGeom prst="rect">
            <a:avLst/>
          </a:prstGeom>
          <a:noFill/>
          <a:ln/>
        </p:spPr>
        <p:txBody>
          <a:bodyPr wrap="square" lIns="0" tIns="0" rIns="0" bIns="0" rtlCol="0" anchor="t">
            <a:normAutofit/>
          </a:bodyPr>
          <a:lstStyle/>
          <a:p>
            <a:pPr indent="0" marL="0">
              <a:buNone/>
            </a:pPr>
            <a:r>
              <a:rPr lang="en-US" sz="1500" b="1" dirty="0">
                <a:solidFill>
                  <a:srgbClr val="FFD166"/>
                </a:solidFill>
                <a:latin typeface="Arial" pitchFamily="34" charset="0"/>
                <a:ea typeface="Arial" pitchFamily="34" charset="-122"/>
                <a:cs typeface="Arial" pitchFamily="34" charset="-120"/>
              </a:rPr>
              <a:t>1,54 milyar USD</a:t>
            </a:r>
            <a:endParaRPr lang="en-US" sz="1500" dirty="0"/>
          </a:p>
        </p:txBody>
      </p:sp>
      <p:sp>
        <p:nvSpPr>
          <p:cNvPr id="25" name="Text 21"/>
          <p:cNvSpPr txBox="1"/>
          <p:nvPr/>
        </p:nvSpPr>
        <p:spPr>
          <a:xfrm>
            <a:off x="3521126" y="5650992"/>
            <a:ext cx="2396414" cy="329184"/>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Dil öğrenme uygulamaları, uygulama içi gelir 2025 [Kaynak 33]</a:t>
            </a:r>
            <a:endParaRPr lang="en-US" sz="1000" dirty="0"/>
          </a:p>
        </p:txBody>
      </p:sp>
      <p:sp>
        <p:nvSpPr>
          <p:cNvPr id="26" name="Shape 22"/>
          <p:cNvSpPr/>
          <p:nvPr/>
        </p:nvSpPr>
        <p:spPr>
          <a:xfrm>
            <a:off x="6164428" y="5266944"/>
            <a:ext cx="2670734" cy="749808"/>
          </a:xfrm>
          <a:prstGeom prst="roundRect">
            <a:avLst>
              <a:gd name="adj" fmla="val 14634"/>
            </a:avLst>
          </a:prstGeom>
          <a:solidFill>
            <a:srgbClr val="1F2330"/>
          </a:solidFill>
          <a:ln w="12700">
            <a:solidFill>
              <a:srgbClr val="1F2330"/>
            </a:solidFill>
            <a:prstDash val="solid"/>
          </a:ln>
        </p:spPr>
      </p:sp>
      <p:sp>
        <p:nvSpPr>
          <p:cNvPr id="27" name="Text 23"/>
          <p:cNvSpPr txBox="1"/>
          <p:nvPr/>
        </p:nvSpPr>
        <p:spPr>
          <a:xfrm>
            <a:off x="6329020" y="5303520"/>
            <a:ext cx="2396414" cy="347472"/>
          </a:xfrm>
          <a:prstGeom prst="rect">
            <a:avLst/>
          </a:prstGeom>
          <a:noFill/>
          <a:ln/>
        </p:spPr>
        <p:txBody>
          <a:bodyPr wrap="square" lIns="0" tIns="0" rIns="0" bIns="0" rtlCol="0" anchor="t">
            <a:normAutofit/>
          </a:bodyPr>
          <a:lstStyle/>
          <a:p>
            <a:pPr indent="0" marL="0">
              <a:buNone/>
            </a:pPr>
            <a:r>
              <a:rPr lang="en-US" sz="1500" b="1" dirty="0">
                <a:solidFill>
                  <a:srgbClr val="5AD1FF"/>
                </a:solidFill>
                <a:latin typeface="Arial" pitchFamily="34" charset="0"/>
                <a:ea typeface="Arial" pitchFamily="34" charset="-122"/>
                <a:cs typeface="Arial" pitchFamily="34" charset="-120"/>
              </a:rPr>
              <a:t>2,68 milyar USD</a:t>
            </a:r>
            <a:endParaRPr lang="en-US" sz="1500" dirty="0"/>
          </a:p>
        </p:txBody>
      </p:sp>
      <p:sp>
        <p:nvSpPr>
          <p:cNvPr id="28" name="Text 24"/>
          <p:cNvSpPr txBox="1"/>
          <p:nvPr/>
        </p:nvSpPr>
        <p:spPr>
          <a:xfrm>
            <a:off x="6329020" y="5650992"/>
            <a:ext cx="2396414" cy="329184"/>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Video kurgu yazılımı, 2026 [Kaynak 51]</a:t>
            </a:r>
            <a:endParaRPr lang="en-US" sz="1000" dirty="0"/>
          </a:p>
        </p:txBody>
      </p:sp>
      <p:sp>
        <p:nvSpPr>
          <p:cNvPr id="29" name="Shape 25"/>
          <p:cNvSpPr/>
          <p:nvPr/>
        </p:nvSpPr>
        <p:spPr>
          <a:xfrm>
            <a:off x="8972321" y="5266944"/>
            <a:ext cx="2670734" cy="749808"/>
          </a:xfrm>
          <a:prstGeom prst="roundRect">
            <a:avLst>
              <a:gd name="adj" fmla="val 14634"/>
            </a:avLst>
          </a:prstGeom>
          <a:solidFill>
            <a:srgbClr val="1F2330"/>
          </a:solidFill>
          <a:ln w="12700">
            <a:solidFill>
              <a:srgbClr val="1F2330"/>
            </a:solidFill>
            <a:prstDash val="solid"/>
          </a:ln>
        </p:spPr>
      </p:sp>
      <p:sp>
        <p:nvSpPr>
          <p:cNvPr id="30" name="Text 26"/>
          <p:cNvSpPr txBox="1"/>
          <p:nvPr/>
        </p:nvSpPr>
        <p:spPr>
          <a:xfrm>
            <a:off x="9136913" y="5303520"/>
            <a:ext cx="2396414" cy="347472"/>
          </a:xfrm>
          <a:prstGeom prst="rect">
            <a:avLst/>
          </a:prstGeom>
          <a:noFill/>
          <a:ln/>
        </p:spPr>
        <p:txBody>
          <a:bodyPr wrap="square" lIns="0" tIns="0" rIns="0" bIns="0" rtlCol="0" anchor="t">
            <a:normAutofit/>
          </a:bodyPr>
          <a:lstStyle/>
          <a:p>
            <a:pPr indent="0" marL="0">
              <a:buNone/>
            </a:pPr>
            <a:r>
              <a:rPr lang="en-US" sz="1500" b="1" dirty="0">
                <a:solidFill>
                  <a:srgbClr val="FF2D75"/>
                </a:solidFill>
                <a:latin typeface="Arial" pitchFamily="34" charset="0"/>
                <a:ea typeface="Arial" pitchFamily="34" charset="-122"/>
                <a:cs typeface="Arial" pitchFamily="34" charset="-120"/>
              </a:rPr>
              <a:t>374 milyon €</a:t>
            </a:r>
            <a:endParaRPr lang="en-US" sz="1500" dirty="0"/>
          </a:p>
        </p:txBody>
      </p:sp>
      <p:sp>
        <p:nvSpPr>
          <p:cNvPr id="31" name="Text 27"/>
          <p:cNvSpPr txBox="1"/>
          <p:nvPr/>
        </p:nvSpPr>
        <p:spPr>
          <a:xfrm>
            <a:off x="9136913" y="5650992"/>
            <a:ext cx="2396414" cy="329184"/>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Almanya sesli kitap pazarı 2025, +%13 [Kaynak 19]</a:t>
            </a:r>
            <a:endParaRPr lang="en-US" sz="1000" dirty="0"/>
          </a:p>
        </p:txBody>
      </p:sp>
      <p:sp>
        <p:nvSpPr>
          <p:cNvPr id="32" name="Text 28"/>
          <p:cNvSpPr txBox="1"/>
          <p:nvPr/>
        </p:nvSpPr>
        <p:spPr>
          <a:xfrm>
            <a:off x="548640" y="6126480"/>
            <a:ext cx="9997135" cy="329184"/>
          </a:xfrm>
          <a:prstGeom prst="rect">
            <a:avLst/>
          </a:prstGeom>
          <a:noFill/>
          <a:ln/>
        </p:spPr>
        <p:txBody>
          <a:bodyPr wrap="square" lIns="0" tIns="0" rIns="0" bIns="0" rtlCol="0" anchor="t">
            <a:normAutofit/>
          </a:bodyPr>
          <a:lstStyle/>
          <a:p>
            <a:pPr indent="0" marL="0">
              <a:buNone/>
            </a:pPr>
            <a:r>
              <a:rPr lang="en-US" sz="950" dirty="0">
                <a:solidFill>
                  <a:srgbClr val="6B7280"/>
                </a:solidFill>
                <a:latin typeface="Arial" pitchFamily="34" charset="0"/>
                <a:ea typeface="Arial" pitchFamily="34" charset="-122"/>
                <a:cs typeface="Arial" pitchFamily="34" charset="-120"/>
              </a:rPr>
              <a:t>Kaynaklar: QUELLEN.tr.md [Kaynak 1–4, 19, 23, 33, 51] · SAM/SOM kendi tahminimizdir, bir araştırma değildir.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FREE → PRO → PAKETLER → B2B</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İş modeli</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8</a:t>
            </a:r>
            <a:endParaRPr lang="en-US" sz="900" dirty="0"/>
          </a:p>
        </p:txBody>
      </p:sp>
      <p:sp>
        <p:nvSpPr>
          <p:cNvPr id="6" name="Shape 3"/>
          <p:cNvSpPr/>
          <p:nvPr/>
        </p:nvSpPr>
        <p:spPr>
          <a:xfrm>
            <a:off x="548640" y="1371600"/>
            <a:ext cx="2679192" cy="3154680"/>
          </a:xfrm>
          <a:prstGeom prst="roundRect">
            <a:avLst>
              <a:gd name="adj" fmla="val 4096"/>
            </a:avLst>
          </a:prstGeom>
          <a:solidFill>
            <a:srgbClr val="181B23"/>
          </a:solidFill>
          <a:ln w="12700">
            <a:solidFill>
              <a:srgbClr val="181B23"/>
            </a:solidFill>
            <a:prstDash val="solid"/>
          </a:ln>
        </p:spPr>
      </p:sp>
      <p:sp>
        <p:nvSpPr>
          <p:cNvPr id="7" name="Text 4"/>
          <p:cNvSpPr txBox="1"/>
          <p:nvPr/>
        </p:nvSpPr>
        <p:spPr>
          <a:xfrm>
            <a:off x="777240" y="1572768"/>
            <a:ext cx="2221992" cy="365760"/>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Free</a:t>
            </a:r>
            <a:endParaRPr lang="en-US" sz="1600" dirty="0"/>
          </a:p>
        </p:txBody>
      </p:sp>
      <p:sp>
        <p:nvSpPr>
          <p:cNvPr id="8" name="Text 5"/>
          <p:cNvSpPr txBox="1"/>
          <p:nvPr/>
        </p:nvSpPr>
        <p:spPr>
          <a:xfrm>
            <a:off x="777240" y="1965960"/>
            <a:ext cx="2221992" cy="64008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Arial" pitchFamily="34" charset="0"/>
                <a:ea typeface="Arial" pitchFamily="34" charset="-122"/>
                <a:cs typeface="Arial" pitchFamily="34" charset="-120"/>
              </a:rPr>
              <a:t>0 €</a:t>
            </a:r>
            <a:endParaRPr lang="en-US" sz="2400" dirty="0"/>
          </a:p>
        </p:txBody>
      </p:sp>
      <p:sp>
        <p:nvSpPr>
          <p:cNvPr id="9" name="Text 6"/>
          <p:cNvSpPr txBox="1"/>
          <p:nvPr/>
        </p:nvSpPr>
        <p:spPr>
          <a:xfrm>
            <a:off x="777240" y="2697480"/>
            <a:ext cx="2221992" cy="173736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Temel işlevler, standart paketler, OBS katmanı. Yaygınlık ve topluluk.</a:t>
            </a:r>
            <a:endParaRPr lang="en-US" sz="1200" dirty="0"/>
          </a:p>
        </p:txBody>
      </p:sp>
      <p:sp>
        <p:nvSpPr>
          <p:cNvPr id="10" name="Text 7"/>
          <p:cNvSpPr txBox="1"/>
          <p:nvPr/>
        </p:nvSpPr>
        <p:spPr>
          <a:xfrm>
            <a:off x="3227832" y="2697480"/>
            <a:ext cx="137160" cy="36576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11" name="Shape 8"/>
          <p:cNvSpPr/>
          <p:nvPr/>
        </p:nvSpPr>
        <p:spPr>
          <a:xfrm>
            <a:off x="3364992" y="1371600"/>
            <a:ext cx="2679192" cy="3154680"/>
          </a:xfrm>
          <a:prstGeom prst="roundRect">
            <a:avLst>
              <a:gd name="adj" fmla="val 4096"/>
            </a:avLst>
          </a:prstGeom>
          <a:solidFill>
            <a:srgbClr val="1F2330"/>
          </a:solidFill>
          <a:ln w="12700">
            <a:solidFill>
              <a:srgbClr val="1F2330"/>
            </a:solidFill>
            <a:prstDash val="solid"/>
          </a:ln>
        </p:spPr>
      </p:sp>
      <p:sp>
        <p:nvSpPr>
          <p:cNvPr id="12" name="Text 9"/>
          <p:cNvSpPr txBox="1"/>
          <p:nvPr/>
        </p:nvSpPr>
        <p:spPr>
          <a:xfrm>
            <a:off x="3593592" y="1572768"/>
            <a:ext cx="2221992" cy="365760"/>
          </a:xfrm>
          <a:prstGeom prst="rect">
            <a:avLst/>
          </a:prstGeom>
          <a:noFill/>
          <a:ln/>
        </p:spPr>
        <p:txBody>
          <a:bodyPr wrap="square" lIns="0" tIns="0" rIns="0" bIns="0" rtlCol="0" anchor="t">
            <a:normAutofit/>
          </a:bodyPr>
          <a:lstStyle/>
          <a:p>
            <a:pPr indent="0" marL="0">
              <a:buNone/>
            </a:pPr>
            <a:r>
              <a:rPr lang="en-US" sz="1600" b="1" dirty="0">
                <a:solidFill>
                  <a:srgbClr val="FF2D75"/>
                </a:solidFill>
                <a:latin typeface="Arial" pitchFamily="34" charset="0"/>
                <a:ea typeface="Arial" pitchFamily="34" charset="-122"/>
                <a:cs typeface="Arial" pitchFamily="34" charset="-120"/>
              </a:rPr>
              <a:t>Pro</a:t>
            </a:r>
            <a:endParaRPr lang="en-US" sz="1600" dirty="0"/>
          </a:p>
        </p:txBody>
      </p:sp>
      <p:sp>
        <p:nvSpPr>
          <p:cNvPr id="13" name="Text 10"/>
          <p:cNvSpPr txBox="1"/>
          <p:nvPr/>
        </p:nvSpPr>
        <p:spPr>
          <a:xfrm>
            <a:off x="3593592" y="1965960"/>
            <a:ext cx="2221992" cy="64008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Arial" pitchFamily="34" charset="0"/>
                <a:ea typeface="Arial" pitchFamily="34" charset="-122"/>
                <a:cs typeface="Arial" pitchFamily="34" charset="-120"/>
              </a:rPr>
              <a:t>aylık 9,99 €</a:t>
            </a:r>
            <a:endParaRPr lang="en-US" sz="2400" dirty="0"/>
          </a:p>
        </p:txBody>
      </p:sp>
      <p:sp>
        <p:nvSpPr>
          <p:cNvPr id="14" name="Text 11"/>
          <p:cNvSpPr txBox="1"/>
          <p:nvPr/>
        </p:nvSpPr>
        <p:spPr>
          <a:xfrm>
            <a:off x="3593592" y="2697480"/>
            <a:ext cx="2221992" cy="173736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Yapay zekâ modu, tüm sahneler ve temalar, telefondan kumanda, bulut senkronu, öncelikli destek.</a:t>
            </a:r>
            <a:endParaRPr lang="en-US" sz="1200" dirty="0"/>
          </a:p>
        </p:txBody>
      </p:sp>
      <p:sp>
        <p:nvSpPr>
          <p:cNvPr id="15" name="Text 12"/>
          <p:cNvSpPr txBox="1"/>
          <p:nvPr/>
        </p:nvSpPr>
        <p:spPr>
          <a:xfrm>
            <a:off x="6044184" y="2697480"/>
            <a:ext cx="137160" cy="36576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16" name="Shape 13"/>
          <p:cNvSpPr/>
          <p:nvPr/>
        </p:nvSpPr>
        <p:spPr>
          <a:xfrm>
            <a:off x="6181344" y="1371600"/>
            <a:ext cx="2679192" cy="3154680"/>
          </a:xfrm>
          <a:prstGeom prst="roundRect">
            <a:avLst>
              <a:gd name="adj" fmla="val 4096"/>
            </a:avLst>
          </a:prstGeom>
          <a:solidFill>
            <a:srgbClr val="181B23"/>
          </a:solidFill>
          <a:ln w="12700">
            <a:solidFill>
              <a:srgbClr val="181B23"/>
            </a:solidFill>
            <a:prstDash val="solid"/>
          </a:ln>
        </p:spPr>
      </p:sp>
      <p:sp>
        <p:nvSpPr>
          <p:cNvPr id="17" name="Text 14"/>
          <p:cNvSpPr txBox="1"/>
          <p:nvPr/>
        </p:nvSpPr>
        <p:spPr>
          <a:xfrm>
            <a:off x="6409944" y="1572768"/>
            <a:ext cx="2221992" cy="365760"/>
          </a:xfrm>
          <a:prstGeom prst="rect">
            <a:avLst/>
          </a:prstGeom>
          <a:noFill/>
          <a:ln/>
        </p:spPr>
        <p:txBody>
          <a:bodyPr wrap="square" lIns="0" tIns="0" rIns="0" bIns="0" rtlCol="0" anchor="t">
            <a:normAutofit/>
          </a:bodyPr>
          <a:lstStyle/>
          <a:p>
            <a:pPr indent="0" marL="0">
              <a:buNone/>
            </a:pPr>
            <a:r>
              <a:rPr lang="en-US" sz="1600" b="1" dirty="0">
                <a:solidFill>
                  <a:srgbClr val="2DFFB5"/>
                </a:solidFill>
                <a:latin typeface="Arial" pitchFamily="34" charset="0"/>
                <a:ea typeface="Arial" pitchFamily="34" charset="-122"/>
                <a:cs typeface="Arial" pitchFamily="34" charset="-120"/>
              </a:rPr>
              <a:t>Üretici paketleri</a:t>
            </a:r>
            <a:endParaRPr lang="en-US" sz="1600" dirty="0"/>
          </a:p>
        </p:txBody>
      </p:sp>
      <p:sp>
        <p:nvSpPr>
          <p:cNvPr id="18" name="Text 15"/>
          <p:cNvSpPr txBox="1"/>
          <p:nvPr/>
        </p:nvSpPr>
        <p:spPr>
          <a:xfrm>
            <a:off x="6409944" y="1965960"/>
            <a:ext cx="2221992" cy="64008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Arial" pitchFamily="34" charset="0"/>
                <a:ea typeface="Arial" pitchFamily="34" charset="-122"/>
                <a:cs typeface="Arial" pitchFamily="34" charset="-120"/>
              </a:rPr>
              <a:t>70 / 30</a:t>
            </a:r>
            <a:endParaRPr lang="en-US" sz="2400" dirty="0"/>
          </a:p>
        </p:txBody>
      </p:sp>
      <p:sp>
        <p:nvSpPr>
          <p:cNvPr id="19" name="Text 16"/>
          <p:cNvSpPr txBox="1"/>
          <p:nvPr/>
        </p:nvSpPr>
        <p:spPr>
          <a:xfrm>
            <a:off x="6409944" y="2697480"/>
            <a:ext cx="2221992" cy="173736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Üreticiden üreticiye meme ve hikâye paketleri pazaryeri. Kullanıcılar tedarikçiye dönüşür.</a:t>
            </a:r>
            <a:endParaRPr lang="en-US" sz="1200" dirty="0"/>
          </a:p>
        </p:txBody>
      </p:sp>
      <p:sp>
        <p:nvSpPr>
          <p:cNvPr id="20" name="Text 17"/>
          <p:cNvSpPr txBox="1"/>
          <p:nvPr/>
        </p:nvSpPr>
        <p:spPr>
          <a:xfrm>
            <a:off x="8860536" y="2697480"/>
            <a:ext cx="137160" cy="36576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21" name="Shape 18"/>
          <p:cNvSpPr/>
          <p:nvPr/>
        </p:nvSpPr>
        <p:spPr>
          <a:xfrm>
            <a:off x="8997696" y="1371600"/>
            <a:ext cx="2679192" cy="3154680"/>
          </a:xfrm>
          <a:prstGeom prst="roundRect">
            <a:avLst>
              <a:gd name="adj" fmla="val 4096"/>
            </a:avLst>
          </a:prstGeom>
          <a:solidFill>
            <a:srgbClr val="181B23"/>
          </a:solidFill>
          <a:ln w="12700">
            <a:solidFill>
              <a:srgbClr val="181B23"/>
            </a:solidFill>
            <a:prstDash val="solid"/>
          </a:ln>
        </p:spPr>
      </p:sp>
      <p:sp>
        <p:nvSpPr>
          <p:cNvPr id="22" name="Text 19"/>
          <p:cNvSpPr txBox="1"/>
          <p:nvPr/>
        </p:nvSpPr>
        <p:spPr>
          <a:xfrm>
            <a:off x="9226296" y="1572768"/>
            <a:ext cx="2221992" cy="365760"/>
          </a:xfrm>
          <a:prstGeom prst="rect">
            <a:avLst/>
          </a:prstGeom>
          <a:noFill/>
          <a:ln/>
        </p:spPr>
        <p:txBody>
          <a:bodyPr wrap="square" lIns="0" tIns="0" rIns="0" bIns="0" rtlCol="0" anchor="t">
            <a:normAutofit/>
          </a:bodyPr>
          <a:lstStyle/>
          <a:p>
            <a:pPr indent="0" marL="0">
              <a:buNone/>
            </a:pPr>
            <a:r>
              <a:rPr lang="en-US" sz="1600" b="1" dirty="0">
                <a:solidFill>
                  <a:srgbClr val="FFD166"/>
                </a:solidFill>
                <a:latin typeface="Arial" pitchFamily="34" charset="0"/>
                <a:ea typeface="Arial" pitchFamily="34" charset="-122"/>
                <a:cs typeface="Arial" pitchFamily="34" charset="-120"/>
              </a:rPr>
              <a:t>B2B lisansı</a:t>
            </a:r>
            <a:endParaRPr lang="en-US" sz="1600" dirty="0"/>
          </a:p>
        </p:txBody>
      </p:sp>
      <p:sp>
        <p:nvSpPr>
          <p:cNvPr id="23" name="Text 20"/>
          <p:cNvSpPr txBox="1"/>
          <p:nvPr/>
        </p:nvSpPr>
        <p:spPr>
          <a:xfrm>
            <a:off x="9226296" y="1965960"/>
            <a:ext cx="2221992" cy="64008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Arial" pitchFamily="34" charset="0"/>
                <a:ea typeface="Arial" pitchFamily="34" charset="-122"/>
                <a:cs typeface="Arial" pitchFamily="34" charset="-120"/>
              </a:rPr>
              <a:t>talep üzerine</a:t>
            </a:r>
            <a:endParaRPr lang="en-US" sz="2400" dirty="0"/>
          </a:p>
        </p:txBody>
      </p:sp>
      <p:sp>
        <p:nvSpPr>
          <p:cNvPr id="24" name="Text 21"/>
          <p:cNvSpPr txBox="1"/>
          <p:nvPr/>
        </p:nvSpPr>
        <p:spPr>
          <a:xfrm>
            <a:off x="9226296" y="2697480"/>
            <a:ext cx="2221992" cy="173736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Yayın yazılımları, ajanslar ve platform entegrasyonu için SDK / white-label.</a:t>
            </a:r>
            <a:endParaRPr lang="en-US" sz="1200" dirty="0"/>
          </a:p>
        </p:txBody>
      </p:sp>
      <p:sp>
        <p:nvSpPr>
          <p:cNvPr id="25" name="Shape 22"/>
          <p:cNvSpPr/>
          <p:nvPr/>
        </p:nvSpPr>
        <p:spPr>
          <a:xfrm>
            <a:off x="548640" y="4709160"/>
            <a:ext cx="11094415" cy="1463040"/>
          </a:xfrm>
          <a:prstGeom prst="roundRect">
            <a:avLst>
              <a:gd name="adj" fmla="val 7500"/>
            </a:avLst>
          </a:prstGeom>
          <a:solidFill>
            <a:srgbClr val="1F2330"/>
          </a:solidFill>
          <a:ln w="12700">
            <a:solidFill>
              <a:srgbClr val="1F2330"/>
            </a:solidFill>
            <a:prstDash val="solid"/>
          </a:ln>
        </p:spPr>
      </p:sp>
      <p:sp>
        <p:nvSpPr>
          <p:cNvPr id="26" name="Text 23"/>
          <p:cNvSpPr txBox="1"/>
          <p:nvPr/>
        </p:nvSpPr>
        <p:spPr>
          <a:xfrm>
            <a:off x="822960" y="4828032"/>
            <a:ext cx="7315200" cy="320040"/>
          </a:xfrm>
          <a:prstGeom prst="rect">
            <a:avLst/>
          </a:prstGeom>
          <a:noFill/>
          <a:ln/>
        </p:spPr>
        <p:txBody>
          <a:bodyPr wrap="square" lIns="0" tIns="0" rIns="0" bIns="0" rtlCol="0" anchor="t">
            <a:normAutofit/>
          </a:bodyPr>
          <a:lstStyle/>
          <a:p>
            <a:pPr indent="0" marL="0">
              <a:buNone/>
            </a:pPr>
            <a:r>
              <a:rPr lang="en-US" sz="1200" b="1" dirty="0">
                <a:solidFill>
                  <a:srgbClr val="FFD166"/>
                </a:solidFill>
                <a:latin typeface="Arial" pitchFamily="34" charset="0"/>
                <a:ea typeface="Arial" pitchFamily="34" charset="-122"/>
                <a:cs typeface="Arial" pitchFamily="34" charset="-120"/>
              </a:rPr>
              <a:t>Pazardaki fiyat çıpaları</a:t>
            </a:r>
            <a:endParaRPr lang="en-US" sz="1200" dirty="0"/>
          </a:p>
        </p:txBody>
      </p:sp>
      <p:sp>
        <p:nvSpPr>
          <p:cNvPr id="27" name="Text 24"/>
          <p:cNvSpPr txBox="1"/>
          <p:nvPr/>
        </p:nvSpPr>
        <p:spPr>
          <a:xfrm>
            <a:off x="822960" y="5148072"/>
            <a:ext cx="10545775" cy="96012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Streamlabs Ultra aylık 27 USD  ·  StreamYard Core aylık 35 USD  ·  Restream aylık 16 USD  ·  Voicemod Pro aylık 10 USD [Kaynak 11, 12, 13]</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Pro bilerek Voicemod seviyesinde ve Streamlabs'in belirgin biçimde altında. Vizyon (tahmin): Pro+ “Studio &amp; Sahneler” 14,99 €, Kelime-Resim Aile 4,99 €, okul ve yayınevi lisansları – bkz. slayt 13–15.</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GERÇEK YAYINLARDA OLGUNLAŞTI</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Traction</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9</a:t>
            </a:r>
            <a:endParaRPr lang="en-US" sz="900" dirty="0"/>
          </a:p>
        </p:txBody>
      </p:sp>
      <p:sp>
        <p:nvSpPr>
          <p:cNvPr id="6" name="Text 3"/>
          <p:cNvSpPr txBox="1"/>
          <p:nvPr/>
        </p:nvSpPr>
        <p:spPr>
          <a:xfrm>
            <a:off x="548640" y="1325880"/>
            <a:ext cx="2651760" cy="731520"/>
          </a:xfrm>
          <a:prstGeom prst="rect">
            <a:avLst/>
          </a:prstGeom>
          <a:noFill/>
          <a:ln/>
        </p:spPr>
        <p:txBody>
          <a:bodyPr wrap="square" lIns="0" tIns="0" rIns="0" bIns="0" rtlCol="0" anchor="t">
            <a:normAutofit/>
          </a:bodyPr>
          <a:lstStyle/>
          <a:p>
            <a:pPr indent="0" marL="0">
              <a:buNone/>
            </a:pPr>
            <a:r>
              <a:rPr lang="en-US" sz="3800" b="1" dirty="0">
                <a:solidFill>
                  <a:srgbClr val="FF2D75"/>
                </a:solidFill>
                <a:latin typeface="Arial" pitchFamily="34" charset="0"/>
                <a:ea typeface="Arial" pitchFamily="34" charset="-122"/>
                <a:cs typeface="Arial" pitchFamily="34" charset="-120"/>
              </a:rPr>
              <a:t>[Sayı]</a:t>
            </a:r>
            <a:endParaRPr lang="en-US" sz="3800" dirty="0"/>
          </a:p>
        </p:txBody>
      </p:sp>
      <p:sp>
        <p:nvSpPr>
          <p:cNvPr id="7" name="Text 4"/>
          <p:cNvSpPr txBox="1"/>
          <p:nvPr/>
        </p:nvSpPr>
        <p:spPr>
          <a:xfrm>
            <a:off x="548640" y="2075688"/>
            <a:ext cx="2651760" cy="86868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LiveFX'li kendi canlı yayını, [Ay/Yıl]'dan beri – [Sayı] saat</a:t>
            </a:r>
            <a:endParaRPr lang="en-US" sz="1200" dirty="0"/>
          </a:p>
        </p:txBody>
      </p:sp>
      <p:sp>
        <p:nvSpPr>
          <p:cNvPr id="8" name="Text 5"/>
          <p:cNvSpPr txBox="1"/>
          <p:nvPr/>
        </p:nvSpPr>
        <p:spPr>
          <a:xfrm>
            <a:off x="3337560" y="1325880"/>
            <a:ext cx="2651760" cy="731520"/>
          </a:xfrm>
          <a:prstGeom prst="rect">
            <a:avLst/>
          </a:prstGeom>
          <a:noFill/>
          <a:ln/>
        </p:spPr>
        <p:txBody>
          <a:bodyPr wrap="square" lIns="0" tIns="0" rIns="0" bIns="0" rtlCol="0" anchor="t">
            <a:normAutofit/>
          </a:bodyPr>
          <a:lstStyle/>
          <a:p>
            <a:pPr indent="0" marL="0">
              <a:buNone/>
            </a:pPr>
            <a:r>
              <a:rPr lang="en-US" sz="3800" b="1" dirty="0">
                <a:solidFill>
                  <a:srgbClr val="2DFFB5"/>
                </a:solidFill>
                <a:latin typeface="Arial" pitchFamily="34" charset="0"/>
                <a:ea typeface="Arial" pitchFamily="34" charset="-122"/>
                <a:cs typeface="Arial" pitchFamily="34" charset="-120"/>
              </a:rPr>
              <a:t>2.1</a:t>
            </a:r>
            <a:endParaRPr lang="en-US" sz="3800" dirty="0"/>
          </a:p>
        </p:txBody>
      </p:sp>
      <p:sp>
        <p:nvSpPr>
          <p:cNvPr id="9" name="Text 6"/>
          <p:cNvSpPr txBox="1"/>
          <p:nvPr/>
        </p:nvSpPr>
        <p:spPr>
          <a:xfrm>
            <a:off x="3337560" y="2075688"/>
            <a:ext cx="2651760" cy="86868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güncel sürüm (0.1 → 2.1), 575+ otomatik test, DE/TR kılavuzlar</a:t>
            </a:r>
            <a:endParaRPr lang="en-US" sz="1200" dirty="0"/>
          </a:p>
        </p:txBody>
      </p:sp>
      <p:sp>
        <p:nvSpPr>
          <p:cNvPr id="10" name="Text 7"/>
          <p:cNvSpPr txBox="1"/>
          <p:nvPr/>
        </p:nvSpPr>
        <p:spPr>
          <a:xfrm>
            <a:off x="6126480" y="1325880"/>
            <a:ext cx="2651760" cy="731520"/>
          </a:xfrm>
          <a:prstGeom prst="rect">
            <a:avLst/>
          </a:prstGeom>
          <a:noFill/>
          <a:ln/>
        </p:spPr>
        <p:txBody>
          <a:bodyPr wrap="square" lIns="0" tIns="0" rIns="0" bIns="0" rtlCol="0" anchor="t">
            <a:normAutofit/>
          </a:bodyPr>
          <a:lstStyle/>
          <a:p>
            <a:pPr indent="0" marL="0">
              <a:buNone/>
            </a:pPr>
            <a:r>
              <a:rPr lang="en-US" sz="3800" b="1" dirty="0">
                <a:solidFill>
                  <a:srgbClr val="FFD166"/>
                </a:solidFill>
                <a:latin typeface="Arial" pitchFamily="34" charset="0"/>
                <a:ea typeface="Arial" pitchFamily="34" charset="-122"/>
                <a:cs typeface="Arial" pitchFamily="34" charset="-120"/>
              </a:rPr>
              <a:t>238</a:t>
            </a:r>
            <a:endParaRPr lang="en-US" sz="3800" dirty="0"/>
          </a:p>
        </p:txBody>
      </p:sp>
      <p:sp>
        <p:nvSpPr>
          <p:cNvPr id="11" name="Text 8"/>
          <p:cNvSpPr txBox="1"/>
          <p:nvPr/>
        </p:nvSpPr>
        <p:spPr>
          <a:xfrm>
            <a:off x="6126480" y="2075688"/>
            <a:ext cx="2651760" cy="86868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tetikleyici, 5 pakette + 143 ücretsiz çıkartma, 38 ses, 13 sahne – 3 dilde</a:t>
            </a:r>
            <a:endParaRPr lang="en-US" sz="1200" dirty="0"/>
          </a:p>
        </p:txBody>
      </p:sp>
      <p:sp>
        <p:nvSpPr>
          <p:cNvPr id="12" name="Text 9"/>
          <p:cNvSpPr txBox="1"/>
          <p:nvPr/>
        </p:nvSpPr>
        <p:spPr>
          <a:xfrm>
            <a:off x="8915400" y="1325880"/>
            <a:ext cx="2651760" cy="73152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Arial" pitchFamily="34" charset="0"/>
                <a:ea typeface="Arial" pitchFamily="34" charset="-122"/>
                <a:cs typeface="Arial" pitchFamily="34" charset="-120"/>
              </a:rPr>
              <a:t>[Sayı]</a:t>
            </a:r>
            <a:endParaRPr lang="en-US" sz="3800" dirty="0"/>
          </a:p>
        </p:txBody>
      </p:sp>
      <p:sp>
        <p:nvSpPr>
          <p:cNvPr id="13" name="Text 10"/>
          <p:cNvSpPr txBox="1"/>
          <p:nvPr/>
        </p:nvSpPr>
        <p:spPr>
          <a:xfrm>
            <a:off x="8915400" y="2075688"/>
            <a:ext cx="2651760" cy="86868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takipçi · bekleme listesinde [Sayı] üretici · [Sayı] indirme</a:t>
            </a:r>
            <a:endParaRPr lang="en-US" sz="1200" dirty="0"/>
          </a:p>
        </p:txBody>
      </p:sp>
      <p:pic>
        <p:nvPicPr>
          <p:cNvPr id="14" name="Image 0" descr="/home/user/Notion/live-fx/business/landing-assets/panel.jpg">    </p:cNvPr>
          <p:cNvPicPr>
            <a:picLocks noChangeAspect="1"/>
          </p:cNvPicPr>
          <p:nvPr/>
        </p:nvPicPr>
        <p:blipFill>
          <a:blip r:embed="rId1"/>
          <a:stretch>
            <a:fillRect/>
          </a:stretch>
        </p:blipFill>
        <p:spPr>
          <a:xfrm>
            <a:off x="548640" y="3246120"/>
            <a:ext cx="4389120" cy="2743200"/>
          </a:xfrm>
          <a:prstGeom prst="rect">
            <a:avLst/>
          </a:prstGeom>
        </p:spPr>
      </p:pic>
      <p:sp>
        <p:nvSpPr>
          <p:cNvPr id="15" name="Shape 11"/>
          <p:cNvSpPr/>
          <p:nvPr/>
        </p:nvSpPr>
        <p:spPr>
          <a:xfrm>
            <a:off x="5212080" y="3246120"/>
            <a:ext cx="6428232" cy="2788920"/>
          </a:xfrm>
          <a:prstGeom prst="roundRect">
            <a:avLst>
              <a:gd name="adj" fmla="val 3934"/>
            </a:avLst>
          </a:prstGeom>
          <a:solidFill>
            <a:srgbClr val="181B23"/>
          </a:solidFill>
          <a:ln w="12700">
            <a:solidFill>
              <a:srgbClr val="181B23"/>
            </a:solidFill>
            <a:prstDash val="solid"/>
          </a:ln>
        </p:spPr>
      </p:sp>
      <p:sp>
        <p:nvSpPr>
          <p:cNvPr id="16" name="Text 12"/>
          <p:cNvSpPr txBox="1"/>
          <p:nvPr/>
        </p:nvSpPr>
        <p:spPr>
          <a:xfrm>
            <a:off x="5440680" y="3383280"/>
            <a:ext cx="5943600" cy="36576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Pratikten gelenler</a:t>
            </a:r>
            <a:endParaRPr lang="en-US" sz="1500" dirty="0"/>
          </a:p>
        </p:txBody>
      </p:sp>
      <p:sp>
        <p:nvSpPr>
          <p:cNvPr id="17" name="Text 13"/>
          <p:cNvSpPr txBox="1"/>
          <p:nvPr/>
        </p:nvSpPr>
        <p:spPr>
          <a:xfrm>
            <a:off x="5440680" y="3794760"/>
            <a:ext cx="5943600" cy="1463040"/>
          </a:xfrm>
          <a:prstGeom prst="rect">
            <a:avLst/>
          </a:prstGeom>
          <a:noFill/>
          <a:ln/>
        </p:spPr>
        <p:txBody>
          <a:bodyPr wrap="square" lIns="0" tIns="0" rIns="0" bIns="0" rtlCol="0" anchor="t">
            <a:normAutofit/>
          </a:bodyPr>
          <a:lstStyle/>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Yankı sorunu (panel + OBS) → sessiz önizleme, ses kontrol kartı</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Şiveler (“grass” → krass, “helal olsn”) → tolerans + öğrenme işlevi</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TikTok/IG sohbeti alt üçte biri kapatıyor → dikey güvenli alanlar</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Yayında kitap okuma → sahneli ve atmosferli hikâye modu</a:t>
            </a:r>
            <a:endParaRPr lang="en-US" sz="1200" dirty="0"/>
          </a:p>
        </p:txBody>
      </p:sp>
      <p:sp>
        <p:nvSpPr>
          <p:cNvPr id="18" name="Text 14"/>
          <p:cNvSpPr txBox="1"/>
          <p:nvPr/>
        </p:nvSpPr>
        <p:spPr>
          <a:xfrm>
            <a:off x="5440680" y="5349240"/>
            <a:ext cx="5943600" cy="594360"/>
          </a:xfrm>
          <a:prstGeom prst="rect">
            <a:avLst/>
          </a:prstGeom>
          <a:noFill/>
          <a:ln/>
        </p:spPr>
        <p:txBody>
          <a:bodyPr wrap="square" lIns="0" tIns="0" rIns="0" bIns="0" rtlCol="0" anchor="t">
            <a:normAutofit/>
          </a:bodyPr>
          <a:lstStyle/>
          <a:p>
            <a:pPr indent="0" marL="0">
              <a:buNone/>
            </a:pPr>
            <a:r>
              <a:rPr lang="en-US" sz="1150" b="1" dirty="0">
                <a:solidFill>
                  <a:srgbClr val="FFD166"/>
                </a:solidFill>
                <a:latin typeface="Arial" pitchFamily="34" charset="0"/>
                <a:ea typeface="Arial" pitchFamily="34" charset="-122"/>
                <a:cs typeface="Arial" pitchFamily="34" charset="-120"/>
              </a:rPr>
              <a:t>Sonraki 60 gün: 10 üretici testi TR/DE · açılış sayfası + fragman · topluluk lansmanı · ilk Pro abonelikleri</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2×2</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Rekabet – boş kalan çeyrek</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10</a:t>
            </a:r>
            <a:endParaRPr lang="en-US" sz="900" dirty="0"/>
          </a:p>
        </p:txBody>
      </p:sp>
      <p:sp>
        <p:nvSpPr>
          <p:cNvPr id="6" name="Shape 3"/>
          <p:cNvSpPr/>
          <p:nvPr/>
        </p:nvSpPr>
        <p:spPr>
          <a:xfrm>
            <a:off x="1883664" y="1517904"/>
            <a:ext cx="3090672" cy="2061972"/>
          </a:xfrm>
          <a:prstGeom prst="roundRect">
            <a:avLst>
              <a:gd name="adj" fmla="val 4435"/>
            </a:avLst>
          </a:prstGeom>
          <a:solidFill>
            <a:srgbClr val="181B23"/>
          </a:solidFill>
          <a:ln w="9525">
            <a:solidFill>
              <a:srgbClr val="2A2F3C"/>
            </a:solidFill>
            <a:prstDash val="solid"/>
          </a:ln>
        </p:spPr>
      </p:sp>
      <p:sp>
        <p:nvSpPr>
          <p:cNvPr id="7" name="Text 4"/>
          <p:cNvSpPr txBox="1"/>
          <p:nvPr/>
        </p:nvSpPr>
        <p:spPr>
          <a:xfrm>
            <a:off x="2103120" y="1737360"/>
            <a:ext cx="2651760" cy="1485900"/>
          </a:xfrm>
          <a:prstGeom prst="rect">
            <a:avLst/>
          </a:prstGeom>
          <a:noFill/>
          <a:ln/>
        </p:spPr>
        <p:txBody>
          <a:bodyPr wrap="square" lIns="0" tIns="0" rIns="0" bIns="0" rtlCol="0" anchor="ctr">
            <a:normAutofit/>
          </a:bodyPr>
          <a:lstStyle/>
          <a:p>
            <a:pPr algn="ctr" indent="0" marL="0">
              <a:buNone/>
            </a:pPr>
            <a:r>
              <a:rPr lang="en-US" sz="1400" b="1" dirty="0">
                <a:solidFill>
                  <a:srgbClr val="9AA3B5"/>
                </a:solidFill>
                <a:latin typeface="Arial" pitchFamily="34" charset="0"/>
                <a:ea typeface="Arial" pitchFamily="34" charset="-122"/>
                <a:cs typeface="Arial" pitchFamily="34" charset="-120"/>
              </a:rPr>
              <a:t>Platformların yerel efektleri</a:t>
            </a:r>
            <a:endParaRPr lang="en-US" sz="1400" dirty="0"/>
          </a:p>
          <a:p>
            <a:pPr algn="ctr" indent="0" marL="0">
              <a:buNone/>
            </a:pPr>
            <a:r>
              <a:rPr lang="en-US" sz="1400" b="1" dirty="0">
                <a:solidFill>
                  <a:srgbClr val="9AA3B5"/>
                </a:solidFill>
                <a:latin typeface="Arial" pitchFamily="34" charset="0"/>
                <a:ea typeface="Arial" pitchFamily="34" charset="-122"/>
                <a:cs typeface="Arial" pitchFamily="34" charset="-120"/>
              </a:rPr>
              <a:t>Çıkartma hediyeleri</a:t>
            </a:r>
            <a:endParaRPr lang="en-US" sz="1400" dirty="0"/>
          </a:p>
        </p:txBody>
      </p:sp>
      <p:sp>
        <p:nvSpPr>
          <p:cNvPr id="8" name="Shape 5"/>
          <p:cNvSpPr/>
          <p:nvPr/>
        </p:nvSpPr>
        <p:spPr>
          <a:xfrm>
            <a:off x="5084064" y="1517904"/>
            <a:ext cx="3090672" cy="2061972"/>
          </a:xfrm>
          <a:prstGeom prst="roundRect">
            <a:avLst>
              <a:gd name="adj" fmla="val 4435"/>
            </a:avLst>
          </a:prstGeom>
          <a:solidFill>
            <a:srgbClr val="181B23"/>
          </a:solidFill>
          <a:ln w="9525">
            <a:solidFill>
              <a:srgbClr val="2A2F3C"/>
            </a:solidFill>
            <a:prstDash val="solid"/>
          </a:ln>
        </p:spPr>
      </p:sp>
      <p:sp>
        <p:nvSpPr>
          <p:cNvPr id="9" name="Text 6"/>
          <p:cNvSpPr txBox="1"/>
          <p:nvPr/>
        </p:nvSpPr>
        <p:spPr>
          <a:xfrm>
            <a:off x="5303520" y="1737360"/>
            <a:ext cx="2651760" cy="1485900"/>
          </a:xfrm>
          <a:prstGeom prst="rect">
            <a:avLst/>
          </a:prstGeom>
          <a:noFill/>
          <a:ln/>
        </p:spPr>
        <p:txBody>
          <a:bodyPr wrap="square" lIns="0" tIns="0" rIns="0" bIns="0" rtlCol="0" anchor="ctr">
            <a:normAutofit/>
          </a:bodyPr>
          <a:lstStyle/>
          <a:p>
            <a:pPr algn="ctr" indent="0" marL="0">
              <a:buNone/>
            </a:pPr>
            <a:r>
              <a:rPr lang="en-US" sz="1400" b="1" dirty="0">
                <a:solidFill>
                  <a:srgbClr val="9AA3B5"/>
                </a:solidFill>
                <a:latin typeface="Arial" pitchFamily="34" charset="0"/>
                <a:ea typeface="Arial" pitchFamily="34" charset="-122"/>
                <a:cs typeface="Arial" pitchFamily="34" charset="-120"/>
              </a:rPr>
              <a:t>Streamlabs / StreamElements</a:t>
            </a:r>
            <a:endParaRPr lang="en-US" sz="1400" dirty="0"/>
          </a:p>
          <a:p>
            <a:pPr algn="ctr" indent="0" marL="0">
              <a:buNone/>
            </a:pPr>
            <a:r>
              <a:rPr lang="en-US" sz="1400" b="1" dirty="0">
                <a:solidFill>
                  <a:srgbClr val="9AA3B5"/>
                </a:solidFill>
                <a:latin typeface="Arial" pitchFamily="34" charset="0"/>
                <a:ea typeface="Arial" pitchFamily="34" charset="-122"/>
                <a:cs typeface="Arial" pitchFamily="34" charset="-120"/>
              </a:rPr>
              <a:t>Bağış ve takip uyarıları</a:t>
            </a:r>
            <a:endParaRPr lang="en-US" sz="1400" dirty="0"/>
          </a:p>
        </p:txBody>
      </p:sp>
      <p:sp>
        <p:nvSpPr>
          <p:cNvPr id="10" name="Shape 7"/>
          <p:cNvSpPr/>
          <p:nvPr/>
        </p:nvSpPr>
        <p:spPr>
          <a:xfrm>
            <a:off x="1883664" y="3689604"/>
            <a:ext cx="3090672" cy="2061972"/>
          </a:xfrm>
          <a:prstGeom prst="roundRect">
            <a:avLst>
              <a:gd name="adj" fmla="val 4435"/>
            </a:avLst>
          </a:prstGeom>
          <a:solidFill>
            <a:srgbClr val="181B23"/>
          </a:solidFill>
          <a:ln w="9525">
            <a:solidFill>
              <a:srgbClr val="2A2F3C"/>
            </a:solidFill>
            <a:prstDash val="solid"/>
          </a:ln>
        </p:spPr>
      </p:sp>
      <p:sp>
        <p:nvSpPr>
          <p:cNvPr id="11" name="Text 8"/>
          <p:cNvSpPr txBox="1"/>
          <p:nvPr/>
        </p:nvSpPr>
        <p:spPr>
          <a:xfrm>
            <a:off x="2103120" y="3909060"/>
            <a:ext cx="2651760" cy="1485900"/>
          </a:xfrm>
          <a:prstGeom prst="rect">
            <a:avLst/>
          </a:prstGeom>
          <a:noFill/>
          <a:ln/>
        </p:spPr>
        <p:txBody>
          <a:bodyPr wrap="square" lIns="0" tIns="0" rIns="0" bIns="0" rtlCol="0" anchor="ctr">
            <a:normAutofit/>
          </a:bodyPr>
          <a:lstStyle/>
          <a:p>
            <a:pPr algn="ctr" indent="0" marL="0">
              <a:buNone/>
            </a:pPr>
            <a:r>
              <a:rPr lang="en-US" sz="1400" b="1" dirty="0">
                <a:solidFill>
                  <a:srgbClr val="9AA3B5"/>
                </a:solidFill>
                <a:latin typeface="Arial" pitchFamily="34" charset="0"/>
                <a:ea typeface="Arial" pitchFamily="34" charset="-122"/>
                <a:cs typeface="Arial" pitchFamily="34" charset="-120"/>
              </a:rPr>
              <a:t>Voicemod · ses panoları</a:t>
            </a:r>
            <a:endParaRPr lang="en-US" sz="1400" dirty="0"/>
          </a:p>
          <a:p>
            <a:pPr algn="ctr" indent="0" marL="0">
              <a:buNone/>
            </a:pPr>
            <a:r>
              <a:rPr lang="en-US" sz="1400" b="1" dirty="0">
                <a:solidFill>
                  <a:srgbClr val="9AA3B5"/>
                </a:solidFill>
                <a:latin typeface="Arial" pitchFamily="34" charset="0"/>
                <a:ea typeface="Arial" pitchFamily="34" charset="-122"/>
                <a:cs typeface="Arial" pitchFamily="34" charset="-120"/>
              </a:rPr>
              <a:t>Stream Deck (kısayol)</a:t>
            </a:r>
            <a:endParaRPr lang="en-US" sz="1400" dirty="0"/>
          </a:p>
        </p:txBody>
      </p:sp>
      <p:sp>
        <p:nvSpPr>
          <p:cNvPr id="12" name="Shape 9"/>
          <p:cNvSpPr/>
          <p:nvPr/>
        </p:nvSpPr>
        <p:spPr>
          <a:xfrm>
            <a:off x="5084064" y="3689604"/>
            <a:ext cx="3090672" cy="2061972"/>
          </a:xfrm>
          <a:prstGeom prst="roundRect">
            <a:avLst>
              <a:gd name="adj" fmla="val 4435"/>
            </a:avLst>
          </a:prstGeom>
          <a:solidFill>
            <a:srgbClr val="2A1530"/>
          </a:solidFill>
          <a:ln w="25400">
            <a:solidFill>
              <a:srgbClr val="FF2D75"/>
            </a:solidFill>
            <a:prstDash val="solid"/>
          </a:ln>
        </p:spPr>
      </p:sp>
      <p:sp>
        <p:nvSpPr>
          <p:cNvPr id="13" name="Text 10"/>
          <p:cNvSpPr txBox="1"/>
          <p:nvPr/>
        </p:nvSpPr>
        <p:spPr>
          <a:xfrm>
            <a:off x="5303520" y="3909060"/>
            <a:ext cx="2651760" cy="1485900"/>
          </a:xfrm>
          <a:prstGeom prst="rect">
            <a:avLst/>
          </a:prstGeom>
          <a:noFill/>
          <a:ln/>
        </p:spPr>
        <p:txBody>
          <a:bodyPr wrap="square" lIns="0" tIns="0" rIns="0" bIns="0" rtlCol="0" anchor="ctr">
            <a:normAutofit/>
          </a:bodyPr>
          <a:lstStyle/>
          <a:p>
            <a:pPr algn="ctr" indent="0" marL="0">
              <a:buNone/>
            </a:pPr>
            <a:r>
              <a:rPr lang="en-US" sz="3400" b="1" dirty="0">
                <a:solidFill>
                  <a:srgbClr val="FF2D75"/>
                </a:solidFill>
                <a:latin typeface="Arial" pitchFamily="34" charset="0"/>
                <a:ea typeface="Arial" pitchFamily="34" charset="-122"/>
                <a:cs typeface="Arial" pitchFamily="34" charset="-120"/>
              </a:rPr>
              <a:t>LiveFX</a:t>
            </a:r>
            <a:endParaRPr lang="en-US" sz="3400" dirty="0"/>
          </a:p>
        </p:txBody>
      </p:sp>
      <p:sp>
        <p:nvSpPr>
          <p:cNvPr id="14" name="Text 11"/>
          <p:cNvSpPr txBox="1"/>
          <p:nvPr/>
        </p:nvSpPr>
        <p:spPr>
          <a:xfrm>
            <a:off x="5303520" y="5239512"/>
            <a:ext cx="2651760" cy="365760"/>
          </a:xfrm>
          <a:prstGeom prst="rect">
            <a:avLst/>
          </a:prstGeom>
          <a:noFill/>
          <a:ln/>
        </p:spPr>
        <p:txBody>
          <a:bodyPr wrap="square" lIns="0" tIns="0" rIns="0" bIns="0" rtlCol="0" anchor="t">
            <a:normAutofit/>
          </a:bodyPr>
          <a:lstStyle/>
          <a:p>
            <a:pPr algn="ctr" indent="0" marL="0">
              <a:buNone/>
            </a:pPr>
            <a:r>
              <a:rPr lang="en-US" sz="1200" i="1" dirty="0">
                <a:solidFill>
                  <a:srgbClr val="2DFFB5"/>
                </a:solidFill>
                <a:latin typeface="Arial" pitchFamily="34" charset="0"/>
                <a:ea typeface="Arial" pitchFamily="34" charset="-122"/>
                <a:cs typeface="Arial" pitchFamily="34" charset="-120"/>
              </a:rPr>
              <a:t>tek sağlayıcı</a:t>
            </a:r>
            <a:endParaRPr lang="en-US" sz="1200" dirty="0"/>
          </a:p>
        </p:txBody>
      </p:sp>
      <p:sp>
        <p:nvSpPr>
          <p:cNvPr id="15" name="Text 12"/>
          <p:cNvSpPr txBox="1"/>
          <p:nvPr/>
        </p:nvSpPr>
        <p:spPr>
          <a:xfrm>
            <a:off x="1828800" y="1133856"/>
            <a:ext cx="3200400" cy="274320"/>
          </a:xfrm>
          <a:prstGeom prst="rect">
            <a:avLst/>
          </a:prstGeom>
          <a:noFill/>
          <a:ln/>
        </p:spPr>
        <p:txBody>
          <a:bodyPr wrap="square" lIns="0" tIns="0" rIns="0" bIns="0" rtlCol="0" anchor="t">
            <a:normAutofit/>
          </a:bodyPr>
          <a:lstStyle/>
          <a:p>
            <a:pPr algn="ctr" indent="0" marL="0">
              <a:buNone/>
            </a:pPr>
            <a:r>
              <a:rPr lang="en-US" sz="1100" b="1" dirty="0">
                <a:solidFill>
                  <a:srgbClr val="9AA3B5"/>
                </a:solidFill>
                <a:latin typeface="Arial" pitchFamily="34" charset="0"/>
                <a:ea typeface="Arial" pitchFamily="34" charset="-122"/>
                <a:cs typeface="Arial" pitchFamily="34" charset="-120"/>
              </a:rPr>
              <a:t>manuel</a:t>
            </a:r>
            <a:endParaRPr lang="en-US" sz="1100" dirty="0"/>
          </a:p>
        </p:txBody>
      </p:sp>
      <p:sp>
        <p:nvSpPr>
          <p:cNvPr id="16" name="Text 13"/>
          <p:cNvSpPr txBox="1"/>
          <p:nvPr/>
        </p:nvSpPr>
        <p:spPr>
          <a:xfrm>
            <a:off x="5029200" y="1133856"/>
            <a:ext cx="3200400" cy="274320"/>
          </a:xfrm>
          <a:prstGeom prst="rect">
            <a:avLst/>
          </a:prstGeom>
          <a:noFill/>
          <a:ln/>
        </p:spPr>
        <p:txBody>
          <a:bodyPr wrap="square" lIns="0" tIns="0" rIns="0" bIns="0" rtlCol="0" anchor="t">
            <a:normAutofit/>
          </a:bodyPr>
          <a:lstStyle/>
          <a:p>
            <a:pPr algn="ctr" indent="0" marL="0">
              <a:buNone/>
            </a:pPr>
            <a:r>
              <a:rPr lang="en-US" sz="1100" b="1" dirty="0">
                <a:solidFill>
                  <a:srgbClr val="9AA3B5"/>
                </a:solidFill>
                <a:latin typeface="Arial" pitchFamily="34" charset="0"/>
                <a:ea typeface="Arial" pitchFamily="34" charset="-122"/>
                <a:cs typeface="Arial" pitchFamily="34" charset="-120"/>
              </a:rPr>
              <a:t>otomatik</a:t>
            </a:r>
            <a:endParaRPr lang="en-US" sz="1100" dirty="0"/>
          </a:p>
        </p:txBody>
      </p:sp>
      <p:sp>
        <p:nvSpPr>
          <p:cNvPr id="17" name="Text 14"/>
          <p:cNvSpPr txBox="1"/>
          <p:nvPr/>
        </p:nvSpPr>
        <p:spPr>
          <a:xfrm>
            <a:off x="457200" y="2114550"/>
            <a:ext cx="1325880" cy="822960"/>
          </a:xfrm>
          <a:prstGeom prst="rect">
            <a:avLst/>
          </a:prstGeom>
          <a:noFill/>
          <a:ln/>
        </p:spPr>
        <p:txBody>
          <a:bodyPr wrap="square" lIns="0" tIns="0" rIns="0" bIns="0" rtlCol="0" anchor="ctr">
            <a:normAutofit/>
          </a:bodyPr>
          <a:lstStyle/>
          <a:p>
            <a:pPr algn="r" indent="0" marL="0">
              <a:buNone/>
            </a:pPr>
            <a:r>
              <a:rPr lang="en-US" sz="1100" b="1" dirty="0">
                <a:solidFill>
                  <a:srgbClr val="9AA3B5"/>
                </a:solidFill>
                <a:latin typeface="Arial" pitchFamily="34" charset="0"/>
                <a:ea typeface="Arial" pitchFamily="34" charset="-122"/>
                <a:cs typeface="Arial" pitchFamily="34" charset="-120"/>
              </a:rPr>
              <a:t>izleyici kontrollü</a:t>
            </a:r>
            <a:endParaRPr lang="en-US" sz="1100" dirty="0"/>
          </a:p>
        </p:txBody>
      </p:sp>
      <p:sp>
        <p:nvSpPr>
          <p:cNvPr id="18" name="Text 15"/>
          <p:cNvSpPr txBox="1"/>
          <p:nvPr/>
        </p:nvSpPr>
        <p:spPr>
          <a:xfrm>
            <a:off x="457200" y="4286250"/>
            <a:ext cx="1325880" cy="822960"/>
          </a:xfrm>
          <a:prstGeom prst="rect">
            <a:avLst/>
          </a:prstGeom>
          <a:noFill/>
          <a:ln/>
        </p:spPr>
        <p:txBody>
          <a:bodyPr wrap="square" lIns="0" tIns="0" rIns="0" bIns="0" rtlCol="0" anchor="ctr">
            <a:normAutofit/>
          </a:bodyPr>
          <a:lstStyle/>
          <a:p>
            <a:pPr algn="r" indent="0" marL="0">
              <a:buNone/>
            </a:pPr>
            <a:r>
              <a:rPr lang="en-US" sz="1100" b="1" dirty="0">
                <a:solidFill>
                  <a:srgbClr val="9AA3B5"/>
                </a:solidFill>
                <a:latin typeface="Arial" pitchFamily="34" charset="0"/>
                <a:ea typeface="Arial" pitchFamily="34" charset="-122"/>
                <a:cs typeface="Arial" pitchFamily="34" charset="-120"/>
              </a:rPr>
              <a:t>ses kontrollü</a:t>
            </a:r>
            <a:endParaRPr lang="en-US" sz="1100" dirty="0"/>
          </a:p>
        </p:txBody>
      </p:sp>
      <p:sp>
        <p:nvSpPr>
          <p:cNvPr id="19" name="Text 16"/>
          <p:cNvSpPr txBox="1"/>
          <p:nvPr/>
        </p:nvSpPr>
        <p:spPr>
          <a:xfrm>
            <a:off x="1828800" y="5879592"/>
            <a:ext cx="6400800" cy="274320"/>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Arial" pitchFamily="34" charset="0"/>
                <a:ea typeface="Arial" pitchFamily="34" charset="-122"/>
                <a:cs typeface="Arial" pitchFamily="34" charset="-120"/>
              </a:rPr>
              <a:t>Kullanım →</a:t>
            </a:r>
            <a:endParaRPr lang="en-US" sz="1000" dirty="0"/>
          </a:p>
        </p:txBody>
      </p:sp>
      <p:sp>
        <p:nvSpPr>
          <p:cNvPr id="20" name="Shape 17"/>
          <p:cNvSpPr/>
          <p:nvPr/>
        </p:nvSpPr>
        <p:spPr>
          <a:xfrm>
            <a:off x="8595360" y="1463040"/>
            <a:ext cx="3044952" cy="4343400"/>
          </a:xfrm>
          <a:prstGeom prst="roundRect">
            <a:avLst>
              <a:gd name="adj" fmla="val 3604"/>
            </a:avLst>
          </a:prstGeom>
          <a:solidFill>
            <a:srgbClr val="181B23"/>
          </a:solidFill>
          <a:ln w="12700">
            <a:solidFill>
              <a:srgbClr val="181B23"/>
            </a:solidFill>
            <a:prstDash val="solid"/>
          </a:ln>
        </p:spPr>
      </p:sp>
      <p:sp>
        <p:nvSpPr>
          <p:cNvPr id="21" name="Text 18"/>
          <p:cNvSpPr txBox="1"/>
          <p:nvPr/>
        </p:nvSpPr>
        <p:spPr>
          <a:xfrm>
            <a:off x="8796528" y="1627632"/>
            <a:ext cx="2697480" cy="365760"/>
          </a:xfrm>
          <a:prstGeom prst="rect">
            <a:avLst/>
          </a:prstGeom>
          <a:noFill/>
          <a:ln/>
        </p:spPr>
        <p:txBody>
          <a:bodyPr wrap="square" lIns="0" tIns="0" rIns="0" bIns="0" rtlCol="0" anchor="t">
            <a:normAutofit/>
          </a:bodyPr>
          <a:lstStyle/>
          <a:p>
            <a:pPr indent="0" marL="0">
              <a:buNone/>
            </a:pPr>
            <a:r>
              <a:rPr lang="en-US" sz="1500" b="1" dirty="0">
                <a:solidFill>
                  <a:srgbClr val="FFD166"/>
                </a:solidFill>
                <a:latin typeface="Arial" pitchFamily="34" charset="0"/>
                <a:ea typeface="Arial" pitchFamily="34" charset="-122"/>
                <a:cs typeface="Arial" pitchFamily="34" charset="-120"/>
              </a:rPr>
              <a:t>Yalnızca LiveFX'te</a:t>
            </a:r>
            <a:endParaRPr lang="en-US" sz="1500" dirty="0"/>
          </a:p>
        </p:txBody>
      </p:sp>
      <p:sp>
        <p:nvSpPr>
          <p:cNvPr id="22" name="Shape 19"/>
          <p:cNvSpPr/>
          <p:nvPr/>
        </p:nvSpPr>
        <p:spPr>
          <a:xfrm>
            <a:off x="8796528" y="2240280"/>
            <a:ext cx="109728" cy="109728"/>
          </a:xfrm>
          <a:prstGeom prst="ellipse">
            <a:avLst/>
          </a:prstGeom>
          <a:solidFill>
            <a:srgbClr val="FF2D75"/>
          </a:solidFill>
          <a:ln w="12700">
            <a:solidFill>
              <a:srgbClr val="FF2D75"/>
            </a:solidFill>
            <a:prstDash val="solid"/>
          </a:ln>
        </p:spPr>
      </p:sp>
      <p:sp>
        <p:nvSpPr>
          <p:cNvPr id="23" name="Text 20"/>
          <p:cNvSpPr txBox="1"/>
          <p:nvPr/>
        </p:nvSpPr>
        <p:spPr>
          <a:xfrm>
            <a:off x="9034272" y="2121408"/>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Söylenen söze tepki verir</a:t>
            </a:r>
            <a:endParaRPr lang="en-US" sz="1100" dirty="0"/>
          </a:p>
        </p:txBody>
      </p:sp>
      <p:sp>
        <p:nvSpPr>
          <p:cNvPr id="24" name="Shape 21"/>
          <p:cNvSpPr/>
          <p:nvPr/>
        </p:nvSpPr>
        <p:spPr>
          <a:xfrm>
            <a:off x="8796528" y="2807208"/>
            <a:ext cx="109728" cy="109728"/>
          </a:xfrm>
          <a:prstGeom prst="ellipse">
            <a:avLst/>
          </a:prstGeom>
          <a:solidFill>
            <a:srgbClr val="2DFFB5"/>
          </a:solidFill>
          <a:ln w="12700">
            <a:solidFill>
              <a:srgbClr val="2DFFB5"/>
            </a:solidFill>
            <a:prstDash val="solid"/>
          </a:ln>
        </p:spPr>
      </p:sp>
      <p:sp>
        <p:nvSpPr>
          <p:cNvPr id="25" name="Text 22"/>
          <p:cNvSpPr txBox="1"/>
          <p:nvPr/>
        </p:nvSpPr>
        <p:spPr>
          <a:xfrm>
            <a:off x="9034272" y="2688336"/>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Türkçe paketler (85 tetikleyici) + hikâye paketleri</a:t>
            </a:r>
            <a:endParaRPr lang="en-US" sz="1100" dirty="0"/>
          </a:p>
        </p:txBody>
      </p:sp>
      <p:sp>
        <p:nvSpPr>
          <p:cNvPr id="26" name="Shape 23"/>
          <p:cNvSpPr/>
          <p:nvPr/>
        </p:nvSpPr>
        <p:spPr>
          <a:xfrm>
            <a:off x="8796528" y="3374136"/>
            <a:ext cx="109728" cy="109728"/>
          </a:xfrm>
          <a:prstGeom prst="ellipse">
            <a:avLst/>
          </a:prstGeom>
          <a:solidFill>
            <a:srgbClr val="FF2D75"/>
          </a:solidFill>
          <a:ln w="12700">
            <a:solidFill>
              <a:srgbClr val="FF2D75"/>
            </a:solidFill>
            <a:prstDash val="solid"/>
          </a:ln>
        </p:spPr>
      </p:sp>
      <p:sp>
        <p:nvSpPr>
          <p:cNvPr id="27" name="Text 24"/>
          <p:cNvSpPr txBox="1"/>
          <p:nvPr/>
        </p:nvSpPr>
        <p:spPr>
          <a:xfrm>
            <a:off x="9034272" y="3255264"/>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Atmosfer döngülü hikâye sahneleri</a:t>
            </a:r>
            <a:endParaRPr lang="en-US" sz="1100" dirty="0"/>
          </a:p>
        </p:txBody>
      </p:sp>
      <p:sp>
        <p:nvSpPr>
          <p:cNvPr id="28" name="Shape 25"/>
          <p:cNvSpPr/>
          <p:nvPr/>
        </p:nvSpPr>
        <p:spPr>
          <a:xfrm>
            <a:off x="8796528" y="3941064"/>
            <a:ext cx="109728" cy="109728"/>
          </a:xfrm>
          <a:prstGeom prst="ellipse">
            <a:avLst/>
          </a:prstGeom>
          <a:solidFill>
            <a:srgbClr val="2DFFB5"/>
          </a:solidFill>
          <a:ln w="12700">
            <a:solidFill>
              <a:srgbClr val="2DFFB5"/>
            </a:solidFill>
            <a:prstDash val="solid"/>
          </a:ln>
        </p:spPr>
      </p:sp>
      <p:sp>
        <p:nvSpPr>
          <p:cNvPr id="29" name="Text 26"/>
          <p:cNvSpPr txBox="1"/>
          <p:nvPr/>
        </p:nvSpPr>
        <p:spPr>
          <a:xfrm>
            <a:off x="9034272" y="3822192"/>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İzleyici ve harici tetikleyiciler için açık API</a:t>
            </a:r>
            <a:endParaRPr lang="en-US" sz="1100" dirty="0"/>
          </a:p>
        </p:txBody>
      </p:sp>
      <p:sp>
        <p:nvSpPr>
          <p:cNvPr id="30" name="Shape 27"/>
          <p:cNvSpPr/>
          <p:nvPr/>
        </p:nvSpPr>
        <p:spPr>
          <a:xfrm>
            <a:off x="8796528" y="4507992"/>
            <a:ext cx="109728" cy="109728"/>
          </a:xfrm>
          <a:prstGeom prst="ellipse">
            <a:avLst/>
          </a:prstGeom>
          <a:solidFill>
            <a:srgbClr val="FF2D75"/>
          </a:solidFill>
          <a:ln w="12700">
            <a:solidFill>
              <a:srgbClr val="FF2D75"/>
            </a:solidFill>
            <a:prstDash val="solid"/>
          </a:ln>
        </p:spPr>
      </p:sp>
      <p:sp>
        <p:nvSpPr>
          <p:cNvPr id="31" name="Text 28"/>
          <p:cNvSpPr txBox="1"/>
          <p:nvPr/>
        </p:nvSpPr>
        <p:spPr>
          <a:xfrm>
            <a:off x="9034272" y="4389120"/>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Yerel çalışır – bulut yok, giriş yok</a:t>
            </a:r>
            <a:endParaRPr lang="en-US" sz="1100" dirty="0"/>
          </a:p>
        </p:txBody>
      </p:sp>
      <p:sp>
        <p:nvSpPr>
          <p:cNvPr id="32" name="Shape 29"/>
          <p:cNvSpPr/>
          <p:nvPr/>
        </p:nvSpPr>
        <p:spPr>
          <a:xfrm>
            <a:off x="8796528" y="5074920"/>
            <a:ext cx="109728" cy="109728"/>
          </a:xfrm>
          <a:prstGeom prst="ellipse">
            <a:avLst/>
          </a:prstGeom>
          <a:solidFill>
            <a:srgbClr val="2DFFB5"/>
          </a:solidFill>
          <a:ln w="12700">
            <a:solidFill>
              <a:srgbClr val="2DFFB5"/>
            </a:solidFill>
            <a:prstDash val="solid"/>
          </a:ln>
        </p:spPr>
      </p:sp>
      <p:sp>
        <p:nvSpPr>
          <p:cNvPr id="33" name="Text 30"/>
          <p:cNvSpPr txBox="1"/>
          <p:nvPr/>
        </p:nvSpPr>
        <p:spPr>
          <a:xfrm>
            <a:off x="9034272" y="4956048"/>
            <a:ext cx="2487168" cy="530352"/>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Kendi seslerimiz – telif ihlali yok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18 AY, KAPILARLA</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Yol haritası: 2. kapıya kadar yalın, sonra tohum turu</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11</a:t>
            </a:r>
            <a:endParaRPr lang="en-US" sz="900" dirty="0"/>
          </a:p>
        </p:txBody>
      </p:sp>
      <p:sp>
        <p:nvSpPr>
          <p:cNvPr id="6" name="Shape 3"/>
          <p:cNvSpPr/>
          <p:nvPr/>
        </p:nvSpPr>
        <p:spPr>
          <a:xfrm>
            <a:off x="822960" y="2148840"/>
            <a:ext cx="10545775" cy="0"/>
          </a:xfrm>
          <a:prstGeom prst="line">
            <a:avLst/>
          </a:prstGeom>
          <a:noFill/>
          <a:ln w="25400">
            <a:solidFill>
              <a:srgbClr val="2A2F3C"/>
            </a:solidFill>
            <a:prstDash val="solid"/>
          </a:ln>
        </p:spPr>
      </p:sp>
      <p:sp>
        <p:nvSpPr>
          <p:cNvPr id="7" name="Shape 4"/>
          <p:cNvSpPr/>
          <p:nvPr/>
        </p:nvSpPr>
        <p:spPr>
          <a:xfrm>
            <a:off x="731520" y="2048256"/>
            <a:ext cx="201168" cy="201168"/>
          </a:xfrm>
          <a:prstGeom prst="ellipse">
            <a:avLst/>
          </a:prstGeom>
          <a:solidFill>
            <a:srgbClr val="FF2D75"/>
          </a:solidFill>
          <a:ln w="12700">
            <a:solidFill>
              <a:srgbClr val="FF2D75"/>
            </a:solidFill>
            <a:prstDash val="solid"/>
          </a:ln>
        </p:spPr>
      </p:sp>
      <p:sp>
        <p:nvSpPr>
          <p:cNvPr id="8" name="Text 5"/>
          <p:cNvSpPr txBox="1"/>
          <p:nvPr/>
        </p:nvSpPr>
        <p:spPr>
          <a:xfrm>
            <a:off x="731520" y="1463040"/>
            <a:ext cx="2313432" cy="365760"/>
          </a:xfrm>
          <a:prstGeom prst="rect">
            <a:avLst/>
          </a:prstGeom>
          <a:noFill/>
          <a:ln/>
        </p:spPr>
        <p:txBody>
          <a:bodyPr wrap="square" lIns="0" tIns="0" rIns="0" bIns="0" rtlCol="0" anchor="t">
            <a:normAutofit/>
          </a:bodyPr>
          <a:lstStyle/>
          <a:p>
            <a:pPr indent="0" marL="0">
              <a:buNone/>
            </a:pPr>
            <a:r>
              <a:rPr lang="en-US" sz="1300" b="1" dirty="0">
                <a:solidFill>
                  <a:srgbClr val="FF2D75"/>
                </a:solidFill>
                <a:latin typeface="Arial" pitchFamily="34" charset="0"/>
                <a:ea typeface="Arial" pitchFamily="34" charset="-122"/>
                <a:cs typeface="Arial" pitchFamily="34" charset="-120"/>
              </a:rPr>
              <a:t>2027 1. çeyrek · 1.–3. ay</a:t>
            </a:r>
            <a:endParaRPr lang="en-US" sz="1300" dirty="0"/>
          </a:p>
        </p:txBody>
      </p:sp>
      <p:sp>
        <p:nvSpPr>
          <p:cNvPr id="9" name="Shape 6"/>
          <p:cNvSpPr/>
          <p:nvPr/>
        </p:nvSpPr>
        <p:spPr>
          <a:xfrm>
            <a:off x="548640" y="2514600"/>
            <a:ext cx="2679192" cy="2788920"/>
          </a:xfrm>
          <a:prstGeom prst="roundRect">
            <a:avLst>
              <a:gd name="adj" fmla="val 4096"/>
            </a:avLst>
          </a:prstGeom>
          <a:solidFill>
            <a:srgbClr val="181B23"/>
          </a:solidFill>
          <a:ln w="12700">
            <a:solidFill>
              <a:srgbClr val="181B23"/>
            </a:solidFill>
            <a:prstDash val="solid"/>
          </a:ln>
        </p:spPr>
      </p:sp>
      <p:sp>
        <p:nvSpPr>
          <p:cNvPr id="10" name="Text 7"/>
          <p:cNvSpPr txBox="1"/>
          <p:nvPr/>
        </p:nvSpPr>
        <p:spPr>
          <a:xfrm>
            <a:off x="777240" y="2670048"/>
            <a:ext cx="2221992" cy="658368"/>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Pro aboneliği yayında</a:t>
            </a:r>
            <a:endParaRPr lang="en-US" sz="1600" dirty="0"/>
          </a:p>
        </p:txBody>
      </p:sp>
      <p:sp>
        <p:nvSpPr>
          <p:cNvPr id="11" name="Text 8"/>
          <p:cNvSpPr txBox="1"/>
          <p:nvPr/>
        </p:nvSpPr>
        <p:spPr>
          <a:xfrm>
            <a:off x="777240" y="3364992"/>
            <a:ext cx="2221992" cy="18745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Ön tohum tamamlandı · mobil/web geliştirici ekipte (3. ay) · TR lansmanı · G0 kapısı</a:t>
            </a:r>
            <a:endParaRPr lang="en-US" sz="1200" dirty="0"/>
          </a:p>
        </p:txBody>
      </p:sp>
      <p:sp>
        <p:nvSpPr>
          <p:cNvPr id="12" name="Shape 9"/>
          <p:cNvSpPr/>
          <p:nvPr/>
        </p:nvSpPr>
        <p:spPr>
          <a:xfrm>
            <a:off x="3547872" y="2048256"/>
            <a:ext cx="201168" cy="201168"/>
          </a:xfrm>
          <a:prstGeom prst="ellipse">
            <a:avLst/>
          </a:prstGeom>
          <a:solidFill>
            <a:srgbClr val="2DFFB5"/>
          </a:solidFill>
          <a:ln w="12700">
            <a:solidFill>
              <a:srgbClr val="2DFFB5"/>
            </a:solidFill>
            <a:prstDash val="solid"/>
          </a:ln>
        </p:spPr>
      </p:sp>
      <p:sp>
        <p:nvSpPr>
          <p:cNvPr id="13" name="Text 10"/>
          <p:cNvSpPr txBox="1"/>
          <p:nvPr/>
        </p:nvSpPr>
        <p:spPr>
          <a:xfrm>
            <a:off x="3547872" y="1463040"/>
            <a:ext cx="2313432" cy="365760"/>
          </a:xfrm>
          <a:prstGeom prst="rect">
            <a:avLst/>
          </a:prstGeom>
          <a:noFill/>
          <a:ln/>
        </p:spPr>
        <p:txBody>
          <a:bodyPr wrap="square" lIns="0" tIns="0" rIns="0" bIns="0" rtlCol="0" anchor="t">
            <a:normAutofit/>
          </a:bodyPr>
          <a:lstStyle/>
          <a:p>
            <a:pPr indent="0" marL="0">
              <a:buNone/>
            </a:pPr>
            <a:r>
              <a:rPr lang="en-US" sz="1300" b="1" dirty="0">
                <a:solidFill>
                  <a:srgbClr val="2DFFB5"/>
                </a:solidFill>
                <a:latin typeface="Arial" pitchFamily="34" charset="0"/>
                <a:ea typeface="Arial" pitchFamily="34" charset="-122"/>
                <a:cs typeface="Arial" pitchFamily="34" charset="-120"/>
              </a:rPr>
              <a:t>2027 2. çeyrek · 4.–6. ay</a:t>
            </a:r>
            <a:endParaRPr lang="en-US" sz="1300" dirty="0"/>
          </a:p>
        </p:txBody>
      </p:sp>
      <p:sp>
        <p:nvSpPr>
          <p:cNvPr id="14" name="Shape 11"/>
          <p:cNvSpPr/>
          <p:nvPr/>
        </p:nvSpPr>
        <p:spPr>
          <a:xfrm>
            <a:off x="3364992" y="2514600"/>
            <a:ext cx="2679192" cy="2788920"/>
          </a:xfrm>
          <a:prstGeom prst="roundRect">
            <a:avLst>
              <a:gd name="adj" fmla="val 4096"/>
            </a:avLst>
          </a:prstGeom>
          <a:solidFill>
            <a:srgbClr val="181B23"/>
          </a:solidFill>
          <a:ln w="12700">
            <a:solidFill>
              <a:srgbClr val="181B23"/>
            </a:solidFill>
            <a:prstDash val="solid"/>
          </a:ln>
        </p:spPr>
      </p:sp>
      <p:sp>
        <p:nvSpPr>
          <p:cNvPr id="15" name="Text 12"/>
          <p:cNvSpPr txBox="1"/>
          <p:nvPr/>
        </p:nvSpPr>
        <p:spPr>
          <a:xfrm>
            <a:off x="3593592" y="2670048"/>
            <a:ext cx="2221992" cy="658368"/>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Mobil uygulama/PWA + Kelime-Resim</a:t>
            </a:r>
            <a:endParaRPr lang="en-US" sz="1600" dirty="0"/>
          </a:p>
        </p:txBody>
      </p:sp>
      <p:sp>
        <p:nvSpPr>
          <p:cNvPr id="16" name="Text 13"/>
          <p:cNvSpPr txBox="1"/>
          <p:nvPr/>
        </p:nvSpPr>
        <p:spPr>
          <a:xfrm>
            <a:off x="3593592" y="3364992"/>
            <a:ext cx="2221992" cy="18745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300 kelimeli ve okuma destekli Kelime-Resim · 20 beta içerik üreticisi TR/DE · G1 kapısı</a:t>
            </a:r>
            <a:endParaRPr lang="en-US" sz="1200" dirty="0"/>
          </a:p>
        </p:txBody>
      </p:sp>
      <p:sp>
        <p:nvSpPr>
          <p:cNvPr id="17" name="Shape 14"/>
          <p:cNvSpPr/>
          <p:nvPr/>
        </p:nvSpPr>
        <p:spPr>
          <a:xfrm>
            <a:off x="6364224" y="2048256"/>
            <a:ext cx="201168" cy="201168"/>
          </a:xfrm>
          <a:prstGeom prst="ellipse">
            <a:avLst/>
          </a:prstGeom>
          <a:solidFill>
            <a:srgbClr val="FFD166"/>
          </a:solidFill>
          <a:ln w="12700">
            <a:solidFill>
              <a:srgbClr val="FFD166"/>
            </a:solidFill>
            <a:prstDash val="solid"/>
          </a:ln>
        </p:spPr>
      </p:sp>
      <p:sp>
        <p:nvSpPr>
          <p:cNvPr id="18" name="Text 15"/>
          <p:cNvSpPr txBox="1"/>
          <p:nvPr/>
        </p:nvSpPr>
        <p:spPr>
          <a:xfrm>
            <a:off x="6364224" y="1463040"/>
            <a:ext cx="2313432" cy="365760"/>
          </a:xfrm>
          <a:prstGeom prst="rect">
            <a:avLst/>
          </a:prstGeom>
          <a:noFill/>
          <a:ln/>
        </p:spPr>
        <p:txBody>
          <a:bodyPr wrap="square" lIns="0" tIns="0" rIns="0" bIns="0" rtlCol="0" anchor="t">
            <a:normAutofit/>
          </a:bodyPr>
          <a:lstStyle/>
          <a:p>
            <a:pPr indent="0" marL="0">
              <a:buNone/>
            </a:pPr>
            <a:r>
              <a:rPr lang="en-US" sz="1250" b="1" dirty="0">
                <a:solidFill>
                  <a:srgbClr val="FFD166"/>
                </a:solidFill>
                <a:latin typeface="Arial" pitchFamily="34" charset="0"/>
                <a:ea typeface="Arial" pitchFamily="34" charset="-122"/>
                <a:cs typeface="Arial" pitchFamily="34" charset="-120"/>
              </a:rPr>
              <a:t>2027 3.–4. çeyrek · 7.–12. ay</a:t>
            </a:r>
            <a:endParaRPr lang="en-US" sz="1250" dirty="0"/>
          </a:p>
        </p:txBody>
      </p:sp>
      <p:sp>
        <p:nvSpPr>
          <p:cNvPr id="19" name="Shape 16"/>
          <p:cNvSpPr/>
          <p:nvPr/>
        </p:nvSpPr>
        <p:spPr>
          <a:xfrm>
            <a:off x="6181344" y="2514600"/>
            <a:ext cx="2679192" cy="2788920"/>
          </a:xfrm>
          <a:prstGeom prst="roundRect">
            <a:avLst>
              <a:gd name="adj" fmla="val 4096"/>
            </a:avLst>
          </a:prstGeom>
          <a:solidFill>
            <a:srgbClr val="181B23"/>
          </a:solidFill>
          <a:ln w="12700">
            <a:solidFill>
              <a:srgbClr val="181B23"/>
            </a:solidFill>
            <a:prstDash val="solid"/>
          </a:ln>
        </p:spPr>
      </p:sp>
      <p:sp>
        <p:nvSpPr>
          <p:cNvPr id="20" name="Text 17"/>
          <p:cNvSpPr txBox="1"/>
          <p:nvPr/>
        </p:nvSpPr>
        <p:spPr>
          <a:xfrm>
            <a:off x="6409944" y="2670048"/>
            <a:ext cx="2221992" cy="658368"/>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DE/EN + pilotlar</a:t>
            </a:r>
            <a:endParaRPr lang="en-US" sz="1600" dirty="0"/>
          </a:p>
        </p:txBody>
      </p:sp>
      <p:sp>
        <p:nvSpPr>
          <p:cNvPr id="21" name="Text 18"/>
          <p:cNvSpPr txBox="1"/>
          <p:nvPr/>
        </p:nvSpPr>
        <p:spPr>
          <a:xfrm>
            <a:off x="6409944" y="3364992"/>
            <a:ext cx="2221992" cy="18745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DE/EN lansmanı · pazar yerleri · ajans lisansı · platform ya da eğitim pilotu · G2a kapısı</a:t>
            </a:r>
            <a:endParaRPr lang="en-US" sz="1200" dirty="0"/>
          </a:p>
        </p:txBody>
      </p:sp>
      <p:sp>
        <p:nvSpPr>
          <p:cNvPr id="22" name="Shape 19"/>
          <p:cNvSpPr/>
          <p:nvPr/>
        </p:nvSpPr>
        <p:spPr>
          <a:xfrm>
            <a:off x="9180576" y="2048256"/>
            <a:ext cx="201168" cy="201168"/>
          </a:xfrm>
          <a:prstGeom prst="ellipse">
            <a:avLst/>
          </a:prstGeom>
          <a:solidFill>
            <a:srgbClr val="FFFFFF"/>
          </a:solidFill>
          <a:ln w="12700">
            <a:solidFill>
              <a:srgbClr val="FFFFFF"/>
            </a:solidFill>
            <a:prstDash val="solid"/>
          </a:ln>
        </p:spPr>
      </p:sp>
      <p:sp>
        <p:nvSpPr>
          <p:cNvPr id="23" name="Text 20"/>
          <p:cNvSpPr txBox="1"/>
          <p:nvPr/>
        </p:nvSpPr>
        <p:spPr>
          <a:xfrm>
            <a:off x="9180576" y="1463040"/>
            <a:ext cx="2313432" cy="36576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2028 1. yarı · 13.–18. ay</a:t>
            </a:r>
            <a:endParaRPr lang="en-US" sz="1300" dirty="0"/>
          </a:p>
        </p:txBody>
      </p:sp>
      <p:sp>
        <p:nvSpPr>
          <p:cNvPr id="24" name="Shape 21"/>
          <p:cNvSpPr/>
          <p:nvPr/>
        </p:nvSpPr>
        <p:spPr>
          <a:xfrm>
            <a:off x="8997696" y="2514600"/>
            <a:ext cx="2679192" cy="2788920"/>
          </a:xfrm>
          <a:prstGeom prst="roundRect">
            <a:avLst>
              <a:gd name="adj" fmla="val 4096"/>
            </a:avLst>
          </a:prstGeom>
          <a:solidFill>
            <a:srgbClr val="181B23"/>
          </a:solidFill>
          <a:ln w="12700">
            <a:solidFill>
              <a:srgbClr val="181B23"/>
            </a:solidFill>
            <a:prstDash val="solid"/>
          </a:ln>
        </p:spPr>
      </p:sp>
      <p:sp>
        <p:nvSpPr>
          <p:cNvPr id="25" name="Text 22"/>
          <p:cNvSpPr txBox="1"/>
          <p:nvPr/>
        </p:nvSpPr>
        <p:spPr>
          <a:xfrm>
            <a:off x="9226296" y="2670048"/>
            <a:ext cx="2221992" cy="658368"/>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2. kapı → tohum turu</a:t>
            </a:r>
            <a:endParaRPr lang="en-US" sz="1600" dirty="0"/>
          </a:p>
        </p:txBody>
      </p:sp>
      <p:sp>
        <p:nvSpPr>
          <p:cNvPr id="26" name="Text 23"/>
          <p:cNvSpPr txBox="1"/>
          <p:nvPr/>
        </p:nvSpPr>
        <p:spPr>
          <a:xfrm>
            <a:off x="9226296" y="3364992"/>
            <a:ext cx="2221992" cy="187452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Kelime-Resim pilotu değerlendirildi · ~350 bin € tohum turu · 19. aydan itibaren: hikâye motoru, Studio, Mekânlar, büyüme ekibi</a:t>
            </a:r>
            <a:endParaRPr lang="en-US" sz="1200" dirty="0"/>
          </a:p>
        </p:txBody>
      </p:sp>
      <p:sp>
        <p:nvSpPr>
          <p:cNvPr id="27" name="Text 24"/>
          <p:cNvSpPr txBox="1"/>
          <p:nvPr/>
        </p:nvSpPr>
        <p:spPr>
          <a:xfrm>
            <a:off x="548640" y="5532120"/>
            <a:ext cx="11094415" cy="685800"/>
          </a:xfrm>
          <a:prstGeom prst="rect">
            <a:avLst/>
          </a:prstGeom>
          <a:noFill/>
          <a:ln/>
        </p:spPr>
        <p:txBody>
          <a:bodyPr wrap="square" lIns="0" tIns="0" rIns="0" bIns="0" rtlCol="0" anchor="t">
            <a:normAutofit/>
          </a:bodyPr>
          <a:lstStyle/>
          <a:p>
            <a:pPr indent="0" marL="0">
              <a:buNone/>
            </a:pPr>
            <a:r>
              <a:rPr lang="en-US" sz="1200" i="1" dirty="0">
                <a:solidFill>
                  <a:srgbClr val="9AA3B5"/>
                </a:solidFill>
                <a:latin typeface="Arial" pitchFamily="34" charset="0"/>
                <a:ea typeface="Arial" pitchFamily="34" charset="-122"/>
                <a:cs typeface="Arial" pitchFamily="34" charset="-120"/>
              </a:rPr>
              <a:t>18. aya kadar yalın: bir geliştirici, Pro aboneliği, mobil uygulama/PWA, Kelime-Resim. Hikâye motoru (Anlatı Filmi), otomatik kurgu (Studio) ve VR/AR (Mekânlar) 2. kapıdan sonra sonraki turdan finanse ediliyor.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VİZYON</a:t>
            </a:r>
            <a:endParaRPr lang="en-US" sz="1000" dirty="0"/>
          </a:p>
        </p:txBody>
      </p:sp>
      <p:sp>
        <p:nvSpPr>
          <p:cNvPr id="3" name="Titel"/>
          <p:cNvSpPr txBox="1"/>
          <p:nvPr/>
        </p:nvSpPr>
        <p:spPr>
          <a:xfrm>
            <a:off x="548640" y="438912"/>
            <a:ext cx="9631375" cy="777240"/>
          </a:xfrm>
          <a:prstGeom prst="rect">
            <a:avLst/>
          </a:prstGeom>
          <a:noFill/>
          <a:ln/>
        </p:spPr>
        <p:txBody>
          <a:bodyPr wrap="square" lIns="0" tIns="0" rIns="0" bIns="0" rtlCol="0" anchor="t">
            <a:normAutofit/>
          </a:bodyPr>
          <a:lstStyle/>
          <a:p>
            <a:pPr indent="0" marL="0">
              <a:buNone/>
            </a:pPr>
            <a:r>
              <a:rPr lang="en-US" sz="2900" b="1" dirty="0">
                <a:solidFill>
                  <a:srgbClr val="FFFFFF"/>
                </a:solidFill>
                <a:latin typeface="Arial" pitchFamily="34" charset="0"/>
                <a:ea typeface="Arial" pitchFamily="34" charset="-122"/>
                <a:cs typeface="Arial" pitchFamily="34" charset="-120"/>
              </a:rPr>
              <a:t>Kelimelerden canlı video: Sen anlat – sahne oluşsun.</a:t>
            </a:r>
            <a:endParaRPr lang="en-US" sz="2900" dirty="0"/>
          </a:p>
        </p:txBody>
      </p:sp>
      <p:sp>
        <p:nvSpPr>
          <p:cNvPr id="4" name="Vision-Badge"/>
          <p:cNvSpPr/>
          <p:nvPr/>
        </p:nvSpPr>
        <p:spPr>
          <a:xfrm>
            <a:off x="10472623" y="182880"/>
            <a:ext cx="1170432" cy="310896"/>
          </a:xfrm>
          <a:prstGeom prst="roundRect">
            <a:avLst>
              <a:gd name="adj" fmla="val 50000"/>
            </a:avLst>
          </a:prstGeom>
          <a:solidFill>
            <a:srgbClr val="2A1530"/>
          </a:solidFill>
          <a:ln w="15875">
            <a:solidFill>
              <a:srgbClr val="FF2D75"/>
            </a:solidFill>
            <a:prstDash val="solid"/>
          </a:ln>
        </p:spPr>
      </p:sp>
      <p:sp>
        <p:nvSpPr>
          <p:cNvPr id="5" name="Text 3"/>
          <p:cNvSpPr txBox="1"/>
          <p:nvPr/>
        </p:nvSpPr>
        <p:spPr>
          <a:xfrm>
            <a:off x="10472623" y="182880"/>
            <a:ext cx="1170432" cy="310896"/>
          </a:xfrm>
          <a:prstGeom prst="rect">
            <a:avLst/>
          </a:prstGeom>
          <a:noFill/>
          <a:ln/>
        </p:spPr>
        <p:txBody>
          <a:bodyPr wrap="square" lIns="0" tIns="0" rIns="0" bIns="0" rtlCol="0" anchor="ctr"/>
          <a:lstStyle/>
          <a:p>
            <a:pPr algn="ctr" indent="0" marL="0">
              <a:buNone/>
            </a:pPr>
            <a:r>
              <a:rPr lang="en-US" sz="1000" b="1" spc="200" kern="0" dirty="0">
                <a:solidFill>
                  <a:srgbClr val="FF2D75"/>
                </a:solidFill>
                <a:latin typeface="Arial" pitchFamily="34" charset="0"/>
                <a:ea typeface="Arial" pitchFamily="34" charset="-122"/>
                <a:cs typeface="Arial" pitchFamily="34" charset="-120"/>
              </a:rPr>
              <a:t>✦ VİZYON</a:t>
            </a:r>
            <a:endParaRPr lang="en-US" sz="1000" dirty="0"/>
          </a:p>
        </p:txBody>
      </p:sp>
      <p:sp>
        <p:nvSpPr>
          <p:cNvPr id="6"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12</a:t>
            </a:r>
            <a:endParaRPr lang="en-US" sz="900" dirty="0"/>
          </a:p>
        </p:txBody>
      </p:sp>
      <p:sp>
        <p:nvSpPr>
          <p:cNvPr id="8" name="Shape 5"/>
          <p:cNvSpPr/>
          <p:nvPr/>
        </p:nvSpPr>
        <p:spPr>
          <a:xfrm>
            <a:off x="548640" y="1371600"/>
            <a:ext cx="2485568" cy="1143000"/>
          </a:xfrm>
          <a:prstGeom prst="roundRect">
            <a:avLst>
              <a:gd name="adj" fmla="val 9600"/>
            </a:avLst>
          </a:prstGeom>
          <a:solidFill>
            <a:srgbClr val="1F2330"/>
          </a:solidFill>
          <a:ln w="12700">
            <a:solidFill>
              <a:srgbClr val="1F2330"/>
            </a:solidFill>
            <a:prstDash val="solid"/>
          </a:ln>
        </p:spPr>
      </p:sp>
      <p:sp>
        <p:nvSpPr>
          <p:cNvPr id="9" name="Text 6"/>
          <p:cNvSpPr txBox="1"/>
          <p:nvPr/>
        </p:nvSpPr>
        <p:spPr>
          <a:xfrm>
            <a:off x="713232" y="1481328"/>
            <a:ext cx="548640" cy="5029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10" name="Text 7"/>
          <p:cNvSpPr txBox="1"/>
          <p:nvPr/>
        </p:nvSpPr>
        <p:spPr>
          <a:xfrm>
            <a:off x="1325880" y="1499616"/>
            <a:ext cx="1571168" cy="384048"/>
          </a:xfrm>
          <a:prstGeom prst="rect">
            <a:avLst/>
          </a:prstGeom>
          <a:noFill/>
          <a:ln/>
        </p:spPr>
        <p:txBody>
          <a:bodyPr wrap="square" lIns="0" tIns="0" rIns="0" bIns="0" rtlCol="0" anchor="t">
            <a:normAutofit/>
          </a:bodyPr>
          <a:lstStyle/>
          <a:p>
            <a:pPr indent="0" marL="0">
              <a:buNone/>
            </a:pPr>
            <a:r>
              <a:rPr lang="en-US" sz="1700" b="1" dirty="0">
                <a:solidFill>
                  <a:srgbClr val="FF2D75"/>
                </a:solidFill>
                <a:latin typeface="Arial" pitchFamily="34" charset="0"/>
                <a:ea typeface="Arial" pitchFamily="34" charset="-122"/>
                <a:cs typeface="Arial" pitchFamily="34" charset="-120"/>
              </a:rPr>
              <a:t>Ses</a:t>
            </a:r>
            <a:endParaRPr lang="en-US" sz="1700" dirty="0"/>
          </a:p>
        </p:txBody>
      </p:sp>
      <p:sp>
        <p:nvSpPr>
          <p:cNvPr id="11" name="Text 8"/>
          <p:cNvSpPr txBox="1"/>
          <p:nvPr/>
        </p:nvSpPr>
        <p:spPr>
          <a:xfrm>
            <a:off x="713232" y="1975104"/>
            <a:ext cx="2156384" cy="475488"/>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Mikrofon, sesli okuma ya da hazır bir video dosyası</a:t>
            </a:r>
            <a:endParaRPr lang="en-US" sz="1100" dirty="0"/>
          </a:p>
        </p:txBody>
      </p:sp>
      <p:sp>
        <p:nvSpPr>
          <p:cNvPr id="12" name="Shape 9"/>
          <p:cNvSpPr/>
          <p:nvPr/>
        </p:nvSpPr>
        <p:spPr>
          <a:xfrm>
            <a:off x="3098216" y="1810512"/>
            <a:ext cx="256032" cy="274320"/>
          </a:xfrm>
          <a:prstGeom prst="rightArrow">
            <a:avLst/>
          </a:prstGeom>
          <a:solidFill>
            <a:srgbClr val="FF2D75"/>
          </a:solidFill>
          <a:ln w="12700">
            <a:solidFill>
              <a:srgbClr val="FF2D75"/>
            </a:solidFill>
            <a:prstDash val="solid"/>
          </a:ln>
        </p:spPr>
      </p:sp>
      <p:sp>
        <p:nvSpPr>
          <p:cNvPr id="13" name="Shape 10"/>
          <p:cNvSpPr/>
          <p:nvPr/>
        </p:nvSpPr>
        <p:spPr>
          <a:xfrm>
            <a:off x="3418256" y="1371600"/>
            <a:ext cx="2485568" cy="1143000"/>
          </a:xfrm>
          <a:prstGeom prst="roundRect">
            <a:avLst>
              <a:gd name="adj" fmla="val 9600"/>
            </a:avLst>
          </a:prstGeom>
          <a:solidFill>
            <a:srgbClr val="1F2330"/>
          </a:solidFill>
          <a:ln w="12700">
            <a:solidFill>
              <a:srgbClr val="1F2330"/>
            </a:solidFill>
            <a:prstDash val="solid"/>
          </a:ln>
        </p:spPr>
      </p:sp>
      <p:sp>
        <p:nvSpPr>
          <p:cNvPr id="14" name="Text 11"/>
          <p:cNvSpPr txBox="1"/>
          <p:nvPr/>
        </p:nvSpPr>
        <p:spPr>
          <a:xfrm>
            <a:off x="3582848" y="1481328"/>
            <a:ext cx="548640" cy="5029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15" name="Text 12"/>
          <p:cNvSpPr txBox="1"/>
          <p:nvPr/>
        </p:nvSpPr>
        <p:spPr>
          <a:xfrm>
            <a:off x="4195496" y="1499616"/>
            <a:ext cx="1571168" cy="384048"/>
          </a:xfrm>
          <a:prstGeom prst="rect">
            <a:avLst/>
          </a:prstGeom>
          <a:noFill/>
          <a:ln/>
        </p:spPr>
        <p:txBody>
          <a:bodyPr wrap="square" lIns="0" tIns="0" rIns="0" bIns="0" rtlCol="0" anchor="t">
            <a:normAutofit/>
          </a:bodyPr>
          <a:lstStyle/>
          <a:p>
            <a:pPr indent="0" marL="0">
              <a:buNone/>
            </a:pPr>
            <a:r>
              <a:rPr lang="en-US" sz="1700" b="1" dirty="0">
                <a:solidFill>
                  <a:srgbClr val="FFD166"/>
                </a:solidFill>
                <a:latin typeface="Arial" pitchFamily="34" charset="0"/>
                <a:ea typeface="Arial" pitchFamily="34" charset="-122"/>
                <a:cs typeface="Arial" pitchFamily="34" charset="-120"/>
              </a:rPr>
              <a:t>Anlama</a:t>
            </a:r>
            <a:endParaRPr lang="en-US" sz="1700" dirty="0"/>
          </a:p>
        </p:txBody>
      </p:sp>
      <p:sp>
        <p:nvSpPr>
          <p:cNvPr id="16" name="Text 13"/>
          <p:cNvSpPr txBox="1"/>
          <p:nvPr/>
        </p:nvSpPr>
        <p:spPr>
          <a:xfrm>
            <a:off x="3582848" y="1975104"/>
            <a:ext cx="2156384" cy="475488"/>
          </a:xfrm>
          <a:prstGeom prst="rect">
            <a:avLst/>
          </a:prstGeom>
          <a:noFill/>
          <a:ln/>
        </p:spPr>
        <p:txBody>
          <a:bodyPr wrap="square" lIns="0" tIns="0" rIns="0" bIns="0" rtlCol="0" anchor="t">
            <a:normAutofit/>
          </a:bodyPr>
          <a:lstStyle/>
          <a:p>
            <a:pPr indent="0" marL="0">
              <a:buNone/>
            </a:pPr>
            <a:r>
              <a:rPr lang="en-US" sz="1050" dirty="0">
                <a:solidFill>
                  <a:srgbClr val="9AA3B5"/>
                </a:solidFill>
                <a:latin typeface="Arial" pitchFamily="34" charset="0"/>
                <a:ea typeface="Arial" pitchFamily="34" charset="-122"/>
                <a:cs typeface="Arial" pitchFamily="34" charset="-120"/>
              </a:rPr>
              <a:t>DE/TR/EN sözlük, şiveye toleranslı, yapay zekâ isteğe bağlı</a:t>
            </a:r>
            <a:endParaRPr lang="en-US" sz="1050" dirty="0"/>
          </a:p>
        </p:txBody>
      </p:sp>
      <p:sp>
        <p:nvSpPr>
          <p:cNvPr id="17" name="Shape 14"/>
          <p:cNvSpPr/>
          <p:nvPr/>
        </p:nvSpPr>
        <p:spPr>
          <a:xfrm>
            <a:off x="5967832" y="1810512"/>
            <a:ext cx="256032" cy="274320"/>
          </a:xfrm>
          <a:prstGeom prst="rightArrow">
            <a:avLst/>
          </a:prstGeom>
          <a:solidFill>
            <a:srgbClr val="FF2D75"/>
          </a:solidFill>
          <a:ln w="12700">
            <a:solidFill>
              <a:srgbClr val="FF2D75"/>
            </a:solidFill>
            <a:prstDash val="solid"/>
          </a:ln>
        </p:spPr>
      </p:sp>
      <p:sp>
        <p:nvSpPr>
          <p:cNvPr id="18" name="Shape 15"/>
          <p:cNvSpPr/>
          <p:nvPr/>
        </p:nvSpPr>
        <p:spPr>
          <a:xfrm>
            <a:off x="6287872" y="1371600"/>
            <a:ext cx="2485568" cy="1143000"/>
          </a:xfrm>
          <a:prstGeom prst="roundRect">
            <a:avLst>
              <a:gd name="adj" fmla="val 9600"/>
            </a:avLst>
          </a:prstGeom>
          <a:solidFill>
            <a:srgbClr val="1F2330"/>
          </a:solidFill>
          <a:ln w="12700">
            <a:solidFill>
              <a:srgbClr val="1F2330"/>
            </a:solidFill>
            <a:prstDash val="solid"/>
          </a:ln>
        </p:spPr>
      </p:sp>
      <p:sp>
        <p:nvSpPr>
          <p:cNvPr id="19" name="Text 16"/>
          <p:cNvSpPr txBox="1"/>
          <p:nvPr/>
        </p:nvSpPr>
        <p:spPr>
          <a:xfrm>
            <a:off x="6452464" y="1481328"/>
            <a:ext cx="548640" cy="5029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0" name="Text 17"/>
          <p:cNvSpPr txBox="1"/>
          <p:nvPr/>
        </p:nvSpPr>
        <p:spPr>
          <a:xfrm>
            <a:off x="7065112" y="1499616"/>
            <a:ext cx="1571168" cy="384048"/>
          </a:xfrm>
          <a:prstGeom prst="rect">
            <a:avLst/>
          </a:prstGeom>
          <a:noFill/>
          <a:ln/>
        </p:spPr>
        <p:txBody>
          <a:bodyPr wrap="square" lIns="0" tIns="0" rIns="0" bIns="0" rtlCol="0" anchor="t">
            <a:normAutofit/>
          </a:bodyPr>
          <a:lstStyle/>
          <a:p>
            <a:pPr indent="0" marL="0">
              <a:buNone/>
            </a:pPr>
            <a:r>
              <a:rPr lang="en-US" sz="1700" b="1" dirty="0">
                <a:solidFill>
                  <a:srgbClr val="2DFFB5"/>
                </a:solidFill>
                <a:latin typeface="Arial" pitchFamily="34" charset="0"/>
                <a:ea typeface="Arial" pitchFamily="34" charset="-122"/>
                <a:cs typeface="Arial" pitchFamily="34" charset="-120"/>
              </a:rPr>
              <a:t>Sahne</a:t>
            </a:r>
            <a:endParaRPr lang="en-US" sz="1700" dirty="0"/>
          </a:p>
        </p:txBody>
      </p:sp>
      <p:sp>
        <p:nvSpPr>
          <p:cNvPr id="21" name="Text 18"/>
          <p:cNvSpPr txBox="1"/>
          <p:nvPr/>
        </p:nvSpPr>
        <p:spPr>
          <a:xfrm>
            <a:off x="6452464" y="1975104"/>
            <a:ext cx="2156384" cy="475488"/>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 1 KB dünya durumu, tek ortak zaman çizelgesi</a:t>
            </a:r>
            <a:endParaRPr lang="en-US" sz="1100" dirty="0"/>
          </a:p>
        </p:txBody>
      </p:sp>
      <p:sp>
        <p:nvSpPr>
          <p:cNvPr id="22" name="Shape 19"/>
          <p:cNvSpPr/>
          <p:nvPr/>
        </p:nvSpPr>
        <p:spPr>
          <a:xfrm>
            <a:off x="8837447" y="1810512"/>
            <a:ext cx="256032" cy="274320"/>
          </a:xfrm>
          <a:prstGeom prst="rightArrow">
            <a:avLst/>
          </a:prstGeom>
          <a:solidFill>
            <a:srgbClr val="FF2D75"/>
          </a:solidFill>
          <a:ln w="12700">
            <a:solidFill>
              <a:srgbClr val="FF2D75"/>
            </a:solidFill>
            <a:prstDash val="solid"/>
          </a:ln>
        </p:spPr>
      </p:sp>
      <p:sp>
        <p:nvSpPr>
          <p:cNvPr id="23" name="Shape 20"/>
          <p:cNvSpPr/>
          <p:nvPr/>
        </p:nvSpPr>
        <p:spPr>
          <a:xfrm>
            <a:off x="9157487" y="1371600"/>
            <a:ext cx="2485568" cy="1143000"/>
          </a:xfrm>
          <a:prstGeom prst="roundRect">
            <a:avLst>
              <a:gd name="adj" fmla="val 9600"/>
            </a:avLst>
          </a:prstGeom>
          <a:solidFill>
            <a:srgbClr val="1F2330"/>
          </a:solidFill>
          <a:ln w="12700">
            <a:solidFill>
              <a:srgbClr val="1F2330"/>
            </a:solidFill>
            <a:prstDash val="solid"/>
          </a:ln>
        </p:spPr>
      </p:sp>
      <p:sp>
        <p:nvSpPr>
          <p:cNvPr id="24" name="Text 21"/>
          <p:cNvSpPr txBox="1"/>
          <p:nvPr/>
        </p:nvSpPr>
        <p:spPr>
          <a:xfrm>
            <a:off x="9322079" y="1481328"/>
            <a:ext cx="548640" cy="50292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5" name="Text 22"/>
          <p:cNvSpPr txBox="1"/>
          <p:nvPr/>
        </p:nvSpPr>
        <p:spPr>
          <a:xfrm>
            <a:off x="9934727" y="1499616"/>
            <a:ext cx="1571168" cy="384048"/>
          </a:xfrm>
          <a:prstGeom prst="rect">
            <a:avLst/>
          </a:prstGeom>
          <a:noFill/>
          <a:ln/>
        </p:spPr>
        <p:txBody>
          <a:bodyPr wrap="square" lIns="0" tIns="0" rIns="0" bIns="0" rtlCol="0" anchor="t">
            <a:normAutofit/>
          </a:bodyPr>
          <a:lstStyle/>
          <a:p>
            <a:pPr indent="0" marL="0">
              <a:buNone/>
            </a:pPr>
            <a:r>
              <a:rPr lang="en-US" sz="1700" b="1" dirty="0">
                <a:solidFill>
                  <a:srgbClr val="5AD1FF"/>
                </a:solidFill>
                <a:latin typeface="Arial" pitchFamily="34" charset="0"/>
                <a:ea typeface="Arial" pitchFamily="34" charset="-122"/>
                <a:cs typeface="Arial" pitchFamily="34" charset="-120"/>
              </a:rPr>
              <a:t>Video</a:t>
            </a:r>
            <a:endParaRPr lang="en-US" sz="1700" dirty="0"/>
          </a:p>
        </p:txBody>
      </p:sp>
      <p:sp>
        <p:nvSpPr>
          <p:cNvPr id="26" name="Text 23"/>
          <p:cNvSpPr txBox="1"/>
          <p:nvPr/>
        </p:nvSpPr>
        <p:spPr>
          <a:xfrm>
            <a:off x="9322079" y="1975104"/>
            <a:ext cx="2156384" cy="475488"/>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Tarayıcıda çizilir, 60 fps, kişinin kendi cihazında</a:t>
            </a:r>
            <a:endParaRPr lang="en-US" sz="1100" dirty="0"/>
          </a:p>
        </p:txBody>
      </p:sp>
      <p:sp>
        <p:nvSpPr>
          <p:cNvPr id="27" name="Shape 24"/>
          <p:cNvSpPr/>
          <p:nvPr/>
        </p:nvSpPr>
        <p:spPr>
          <a:xfrm>
            <a:off x="548640" y="2743200"/>
            <a:ext cx="2670734" cy="1737360"/>
          </a:xfrm>
          <a:prstGeom prst="roundRect">
            <a:avLst>
              <a:gd name="adj" fmla="val 6316"/>
            </a:avLst>
          </a:prstGeom>
          <a:solidFill>
            <a:srgbClr val="181B23"/>
          </a:solidFill>
          <a:ln w="15875">
            <a:solidFill>
              <a:srgbClr val="2DFFB5"/>
            </a:solidFill>
            <a:prstDash val="solid"/>
          </a:ln>
        </p:spPr>
      </p:sp>
      <p:sp>
        <p:nvSpPr>
          <p:cNvPr id="28" name="Text 25"/>
          <p:cNvSpPr txBox="1"/>
          <p:nvPr/>
        </p:nvSpPr>
        <p:spPr>
          <a:xfrm>
            <a:off x="731520" y="2852928"/>
            <a:ext cx="50292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29" name="Text 26"/>
          <p:cNvSpPr txBox="1"/>
          <p:nvPr/>
        </p:nvSpPr>
        <p:spPr>
          <a:xfrm>
            <a:off x="1234440" y="2880360"/>
            <a:ext cx="1847774" cy="384048"/>
          </a:xfrm>
          <a:prstGeom prst="rect">
            <a:avLst/>
          </a:prstGeom>
          <a:noFill/>
          <a:ln/>
        </p:spPr>
        <p:txBody>
          <a:bodyPr wrap="square" lIns="0" tIns="0" rIns="0" bIns="0" rtlCol="0" anchor="t">
            <a:normAutofit/>
          </a:bodyPr>
          <a:lstStyle/>
          <a:p>
            <a:pPr indent="0" marL="0">
              <a:buNone/>
            </a:pPr>
            <a:r>
              <a:rPr lang="en-US" sz="1500" b="1" dirty="0">
                <a:solidFill>
                  <a:srgbClr val="2DFFB5"/>
                </a:solidFill>
                <a:latin typeface="Arial" pitchFamily="34" charset="0"/>
                <a:ea typeface="Arial" pitchFamily="34" charset="-122"/>
                <a:cs typeface="Arial" pitchFamily="34" charset="-120"/>
              </a:rPr>
              <a:t>Anlatı Filmi</a:t>
            </a:r>
            <a:endParaRPr lang="en-US" sz="1500" dirty="0"/>
          </a:p>
        </p:txBody>
      </p:sp>
      <p:sp>
        <p:nvSpPr>
          <p:cNvPr id="30" name="Text 27"/>
          <p:cNvSpPr txBox="1"/>
          <p:nvPr/>
        </p:nvSpPr>
        <p:spPr>
          <a:xfrm>
            <a:off x="731520" y="3310128"/>
            <a:ext cx="2304974" cy="109728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Her cümleden, canlı görüntünün altında ya da yanında akan bir resimli kitap filmi büyür.</a:t>
            </a:r>
            <a:endParaRPr lang="en-US" sz="1150" dirty="0"/>
          </a:p>
        </p:txBody>
      </p:sp>
      <p:sp>
        <p:nvSpPr>
          <p:cNvPr id="31" name="Shape 28"/>
          <p:cNvSpPr/>
          <p:nvPr/>
        </p:nvSpPr>
        <p:spPr>
          <a:xfrm>
            <a:off x="3356534" y="2743200"/>
            <a:ext cx="2670734" cy="1737360"/>
          </a:xfrm>
          <a:prstGeom prst="roundRect">
            <a:avLst>
              <a:gd name="adj" fmla="val 6316"/>
            </a:avLst>
          </a:prstGeom>
          <a:solidFill>
            <a:srgbClr val="181B23"/>
          </a:solidFill>
          <a:ln w="15875">
            <a:solidFill>
              <a:srgbClr val="FFD166"/>
            </a:solidFill>
            <a:prstDash val="solid"/>
          </a:ln>
        </p:spPr>
      </p:sp>
      <p:sp>
        <p:nvSpPr>
          <p:cNvPr id="32" name="Text 29"/>
          <p:cNvSpPr txBox="1"/>
          <p:nvPr/>
        </p:nvSpPr>
        <p:spPr>
          <a:xfrm>
            <a:off x="3539414" y="2852928"/>
            <a:ext cx="50292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33" name="Text 30"/>
          <p:cNvSpPr txBox="1"/>
          <p:nvPr/>
        </p:nvSpPr>
        <p:spPr>
          <a:xfrm>
            <a:off x="4042334" y="2880360"/>
            <a:ext cx="1847774" cy="384048"/>
          </a:xfrm>
          <a:prstGeom prst="rect">
            <a:avLst/>
          </a:prstGeom>
          <a:noFill/>
          <a:ln/>
        </p:spPr>
        <p:txBody>
          <a:bodyPr wrap="square" lIns="0" tIns="0" rIns="0" bIns="0" rtlCol="0" anchor="t">
            <a:normAutofit/>
          </a:bodyPr>
          <a:lstStyle/>
          <a:p>
            <a:pPr indent="0" marL="0">
              <a:buNone/>
            </a:pPr>
            <a:r>
              <a:rPr lang="en-US" sz="1500" b="1" dirty="0">
                <a:solidFill>
                  <a:srgbClr val="FFD166"/>
                </a:solidFill>
                <a:latin typeface="Arial" pitchFamily="34" charset="0"/>
                <a:ea typeface="Arial" pitchFamily="34" charset="-122"/>
                <a:cs typeface="Arial" pitchFamily="34" charset="-120"/>
              </a:rPr>
              <a:t>Kelime-Resim</a:t>
            </a:r>
            <a:endParaRPr lang="en-US" sz="1500" dirty="0"/>
          </a:p>
        </p:txBody>
      </p:sp>
      <p:sp>
        <p:nvSpPr>
          <p:cNvPr id="34" name="Text 31"/>
          <p:cNvSpPr txBox="1"/>
          <p:nvPr/>
        </p:nvSpPr>
        <p:spPr>
          <a:xfrm>
            <a:off x="3539414" y="3310128"/>
            <a:ext cx="2304974" cy="109728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Söylenen kelime → resim, hedef dildeki kelime ve telaffuz. Öğrenme ve okuma desteği.</a:t>
            </a:r>
            <a:endParaRPr lang="en-US" sz="1150" dirty="0"/>
          </a:p>
        </p:txBody>
      </p:sp>
      <p:sp>
        <p:nvSpPr>
          <p:cNvPr id="35" name="Shape 32"/>
          <p:cNvSpPr/>
          <p:nvPr/>
        </p:nvSpPr>
        <p:spPr>
          <a:xfrm>
            <a:off x="6164428" y="2743200"/>
            <a:ext cx="2670734" cy="1737360"/>
          </a:xfrm>
          <a:prstGeom prst="roundRect">
            <a:avLst>
              <a:gd name="adj" fmla="val 6316"/>
            </a:avLst>
          </a:prstGeom>
          <a:solidFill>
            <a:srgbClr val="181B23"/>
          </a:solidFill>
          <a:ln w="15875">
            <a:solidFill>
              <a:srgbClr val="5AD1FF"/>
            </a:solidFill>
            <a:prstDash val="solid"/>
          </a:ln>
        </p:spPr>
      </p:sp>
      <p:sp>
        <p:nvSpPr>
          <p:cNvPr id="36" name="Text 33"/>
          <p:cNvSpPr txBox="1"/>
          <p:nvPr/>
        </p:nvSpPr>
        <p:spPr>
          <a:xfrm>
            <a:off x="6347308" y="2852928"/>
            <a:ext cx="50292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37" name="Text 34"/>
          <p:cNvSpPr txBox="1"/>
          <p:nvPr/>
        </p:nvSpPr>
        <p:spPr>
          <a:xfrm>
            <a:off x="6850228" y="2880360"/>
            <a:ext cx="1847774" cy="384048"/>
          </a:xfrm>
          <a:prstGeom prst="rect">
            <a:avLst/>
          </a:prstGeom>
          <a:noFill/>
          <a:ln/>
        </p:spPr>
        <p:txBody>
          <a:bodyPr wrap="square" lIns="0" tIns="0" rIns="0" bIns="0" rtlCol="0" anchor="t">
            <a:normAutofit/>
          </a:bodyPr>
          <a:lstStyle/>
          <a:p>
            <a:pPr indent="0" marL="0">
              <a:buNone/>
            </a:pPr>
            <a:r>
              <a:rPr lang="en-US" sz="1500" b="1" dirty="0">
                <a:solidFill>
                  <a:srgbClr val="5AD1FF"/>
                </a:solidFill>
                <a:latin typeface="Arial" pitchFamily="34" charset="0"/>
                <a:ea typeface="Arial" pitchFamily="34" charset="-122"/>
                <a:cs typeface="Arial" pitchFamily="34" charset="-120"/>
              </a:rPr>
              <a:t>Mekânlar</a:t>
            </a:r>
            <a:endParaRPr lang="en-US" sz="1500" dirty="0"/>
          </a:p>
        </p:txBody>
      </p:sp>
      <p:sp>
        <p:nvSpPr>
          <p:cNvPr id="38" name="Text 35"/>
          <p:cNvSpPr txBox="1"/>
          <p:nvPr/>
        </p:nvSpPr>
        <p:spPr>
          <a:xfrm>
            <a:off x="6347308" y="3310128"/>
            <a:ext cx="2304974" cy="109728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Sahne, sınıf, resimli sesli kitap, telefonda AR, VR ve ekranlı gözlük.</a:t>
            </a:r>
            <a:endParaRPr lang="en-US" sz="1150" dirty="0"/>
          </a:p>
        </p:txBody>
      </p:sp>
      <p:sp>
        <p:nvSpPr>
          <p:cNvPr id="39" name="Shape 36"/>
          <p:cNvSpPr/>
          <p:nvPr/>
        </p:nvSpPr>
        <p:spPr>
          <a:xfrm>
            <a:off x="8972321" y="2743200"/>
            <a:ext cx="2670734" cy="1737360"/>
          </a:xfrm>
          <a:prstGeom prst="roundRect">
            <a:avLst>
              <a:gd name="adj" fmla="val 6316"/>
            </a:avLst>
          </a:prstGeom>
          <a:solidFill>
            <a:srgbClr val="181B23"/>
          </a:solidFill>
          <a:ln w="15875">
            <a:solidFill>
              <a:srgbClr val="FF2D75"/>
            </a:solidFill>
            <a:prstDash val="solid"/>
          </a:ln>
        </p:spPr>
      </p:sp>
      <p:sp>
        <p:nvSpPr>
          <p:cNvPr id="40" name="Text 37"/>
          <p:cNvSpPr txBox="1"/>
          <p:nvPr/>
        </p:nvSpPr>
        <p:spPr>
          <a:xfrm>
            <a:off x="9155201" y="2852928"/>
            <a:ext cx="502920" cy="4114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a:t>
            </a:r>
            <a:endParaRPr lang="en-US" sz="2000" dirty="0"/>
          </a:p>
        </p:txBody>
      </p:sp>
      <p:sp>
        <p:nvSpPr>
          <p:cNvPr id="41" name="Text 38"/>
          <p:cNvSpPr txBox="1"/>
          <p:nvPr/>
        </p:nvSpPr>
        <p:spPr>
          <a:xfrm>
            <a:off x="9658121" y="2880360"/>
            <a:ext cx="1847774" cy="384048"/>
          </a:xfrm>
          <a:prstGeom prst="rect">
            <a:avLst/>
          </a:prstGeom>
          <a:noFill/>
          <a:ln/>
        </p:spPr>
        <p:txBody>
          <a:bodyPr wrap="square" lIns="0" tIns="0" rIns="0" bIns="0" rtlCol="0" anchor="t">
            <a:normAutofit/>
          </a:bodyPr>
          <a:lstStyle/>
          <a:p>
            <a:pPr indent="0" marL="0">
              <a:buNone/>
            </a:pPr>
            <a:r>
              <a:rPr lang="en-US" sz="1500" b="1" dirty="0">
                <a:solidFill>
                  <a:srgbClr val="FF2D75"/>
                </a:solidFill>
                <a:latin typeface="Arial" pitchFamily="34" charset="0"/>
                <a:ea typeface="Arial" pitchFamily="34" charset="-122"/>
                <a:cs typeface="Arial" pitchFamily="34" charset="-120"/>
              </a:rPr>
              <a:t>Studio</a:t>
            </a:r>
            <a:endParaRPr lang="en-US" sz="1500" dirty="0"/>
          </a:p>
        </p:txBody>
      </p:sp>
      <p:sp>
        <p:nvSpPr>
          <p:cNvPr id="42" name="Text 39"/>
          <p:cNvSpPr txBox="1"/>
          <p:nvPr/>
        </p:nvSpPr>
        <p:spPr>
          <a:xfrm>
            <a:off x="9155201" y="3310128"/>
            <a:ext cx="2304974" cy="1097280"/>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Canlı editör ve otomatik kurgu: Video girer, kurgulanmış çıkar – yükleme olmadan.</a:t>
            </a:r>
            <a:endParaRPr lang="en-US" sz="1150" dirty="0"/>
          </a:p>
        </p:txBody>
      </p:sp>
      <p:sp>
        <p:nvSpPr>
          <p:cNvPr id="43" name="Shape 40"/>
          <p:cNvSpPr/>
          <p:nvPr/>
        </p:nvSpPr>
        <p:spPr>
          <a:xfrm>
            <a:off x="548640" y="4663440"/>
            <a:ext cx="5478628" cy="1097280"/>
          </a:xfrm>
          <a:prstGeom prst="roundRect">
            <a:avLst>
              <a:gd name="adj" fmla="val 10000"/>
            </a:avLst>
          </a:prstGeom>
          <a:solidFill>
            <a:srgbClr val="1F2330"/>
          </a:solidFill>
          <a:ln w="12700">
            <a:solidFill>
              <a:srgbClr val="1F2330"/>
            </a:solidFill>
            <a:prstDash val="solid"/>
          </a:ln>
        </p:spPr>
      </p:sp>
      <p:sp>
        <p:nvSpPr>
          <p:cNvPr id="44" name="Text 41"/>
          <p:cNvSpPr txBox="1"/>
          <p:nvPr/>
        </p:nvSpPr>
        <p:spPr>
          <a:xfrm>
            <a:off x="777240" y="4754880"/>
            <a:ext cx="5021428" cy="292608"/>
          </a:xfrm>
          <a:prstGeom prst="rect">
            <a:avLst/>
          </a:prstGeom>
          <a:noFill/>
          <a:ln/>
        </p:spPr>
        <p:txBody>
          <a:bodyPr wrap="square" lIns="0" tIns="0" rIns="0" bIns="0" rtlCol="0" anchor="t">
            <a:normAutofit/>
          </a:bodyPr>
          <a:lstStyle/>
          <a:p>
            <a:pPr indent="0" marL="0">
              <a:buNone/>
            </a:pPr>
            <a:r>
              <a:rPr lang="en-US" sz="1100" b="1" spc="200" kern="0" dirty="0">
                <a:solidFill>
                  <a:srgbClr val="9AA3B5"/>
                </a:solidFill>
                <a:latin typeface="Arial" pitchFamily="34" charset="0"/>
                <a:ea typeface="Arial" pitchFamily="34" charset="-122"/>
                <a:cs typeface="Arial" pitchFamily="34" charset="-120"/>
              </a:rPr>
              <a:t>BUGÜN</a:t>
            </a:r>
            <a:endParaRPr lang="en-US" sz="1100" dirty="0"/>
          </a:p>
        </p:txBody>
      </p:sp>
      <p:sp>
        <p:nvSpPr>
          <p:cNvPr id="45" name="Text 42"/>
          <p:cNvSpPr txBox="1"/>
          <p:nvPr/>
        </p:nvSpPr>
        <p:spPr>
          <a:xfrm>
            <a:off x="777240" y="5047488"/>
            <a:ext cx="5021428" cy="658368"/>
          </a:xfrm>
          <a:prstGeom prst="rect">
            <a:avLst/>
          </a:prstGeom>
          <a:noFill/>
          <a:ln/>
        </p:spPr>
        <p:txBody>
          <a:bodyPr wrap="square" lIns="0" tIns="0" rIns="0" bIns="0" rtlCol="0" anchor="t">
            <a:normAutofit/>
          </a:bodyPr>
          <a:lstStyle/>
          <a:p>
            <a:pPr indent="0" marL="0">
              <a:buNone/>
            </a:pPr>
            <a:r>
              <a:rPr lang="en-US" sz="1200" dirty="0">
                <a:solidFill>
                  <a:srgbClr val="FFFFFF"/>
                </a:solidFill>
                <a:latin typeface="Arial" pitchFamily="34" charset="0"/>
                <a:ea typeface="Arial" pitchFamily="34" charset="-122"/>
                <a:cs typeface="Arial" pitchFamily="34" charset="-120"/>
              </a:rPr>
              <a:t>Ses bir saniyeden kısa sürede meme'e, sese ya da sahneye dönüşür – kurucunun kendi yayınlarında kullanılıyor.</a:t>
            </a:r>
            <a:endParaRPr lang="en-US" sz="1200" dirty="0"/>
          </a:p>
        </p:txBody>
      </p:sp>
      <p:sp>
        <p:nvSpPr>
          <p:cNvPr id="46" name="Shape 43"/>
          <p:cNvSpPr/>
          <p:nvPr/>
        </p:nvSpPr>
        <p:spPr>
          <a:xfrm>
            <a:off x="6164428" y="4663440"/>
            <a:ext cx="5478628" cy="1097280"/>
          </a:xfrm>
          <a:prstGeom prst="roundRect">
            <a:avLst>
              <a:gd name="adj" fmla="val 10000"/>
            </a:avLst>
          </a:prstGeom>
          <a:solidFill>
            <a:srgbClr val="1F2330"/>
          </a:solidFill>
          <a:ln w="12700">
            <a:solidFill>
              <a:srgbClr val="1F2330"/>
            </a:solidFill>
            <a:prstDash val="solid"/>
          </a:ln>
        </p:spPr>
      </p:sp>
      <p:sp>
        <p:nvSpPr>
          <p:cNvPr id="47" name="Text 44"/>
          <p:cNvSpPr txBox="1"/>
          <p:nvPr/>
        </p:nvSpPr>
        <p:spPr>
          <a:xfrm>
            <a:off x="6393028" y="4754880"/>
            <a:ext cx="5021428" cy="292608"/>
          </a:xfrm>
          <a:prstGeom prst="rect">
            <a:avLst/>
          </a:prstGeom>
          <a:noFill/>
          <a:ln/>
        </p:spPr>
        <p:txBody>
          <a:bodyPr wrap="square" lIns="0" tIns="0" rIns="0" bIns="0" rtlCol="0" anchor="t">
            <a:normAutofit/>
          </a:bodyPr>
          <a:lstStyle/>
          <a:p>
            <a:pPr indent="0" marL="0">
              <a:buNone/>
            </a:pPr>
            <a:r>
              <a:rPr lang="en-US" sz="1100" b="1" spc="200" kern="0" dirty="0">
                <a:solidFill>
                  <a:srgbClr val="FFD166"/>
                </a:solidFill>
                <a:latin typeface="Arial" pitchFamily="34" charset="0"/>
                <a:ea typeface="Arial" pitchFamily="34" charset="-122"/>
                <a:cs typeface="Arial" pitchFamily="34" charset="-120"/>
              </a:rPr>
              <a:t>YARIN</a:t>
            </a:r>
            <a:endParaRPr lang="en-US" sz="1100" dirty="0"/>
          </a:p>
        </p:txBody>
      </p:sp>
      <p:sp>
        <p:nvSpPr>
          <p:cNvPr id="48" name="Text 45"/>
          <p:cNvSpPr txBox="1"/>
          <p:nvPr/>
        </p:nvSpPr>
        <p:spPr>
          <a:xfrm>
            <a:off x="6393028" y="5047488"/>
            <a:ext cx="5021428" cy="658368"/>
          </a:xfrm>
          <a:prstGeom prst="rect">
            <a:avLst/>
          </a:prstGeom>
          <a:noFill/>
          <a:ln/>
        </p:spPr>
        <p:txBody>
          <a:bodyPr wrap="square" lIns="0" tIns="0" rIns="0" bIns="0" rtlCol="0" anchor="t">
            <a:normAutofit/>
          </a:bodyPr>
          <a:lstStyle/>
          <a:p>
            <a:pPr indent="0" marL="0">
              <a:buNone/>
            </a:pPr>
            <a:r>
              <a:rPr lang="en-US" sz="1200" dirty="0">
                <a:solidFill>
                  <a:srgbClr val="FFFFFF"/>
                </a:solidFill>
                <a:latin typeface="Arial" pitchFamily="34" charset="0"/>
                <a:ea typeface="Arial" pitchFamily="34" charset="-122"/>
                <a:cs typeface="Arial" pitchFamily="34" charset="-120"/>
              </a:rPr>
              <a:t>Ses bir filme, telaffuzlu bir kelime kartına ya da hazır bir klibe dönüşür – yayında, okulda, sahnede, gözlükte.</a:t>
            </a:r>
            <a:endParaRPr lang="en-US" sz="1200" dirty="0"/>
          </a:p>
        </p:txBody>
      </p:sp>
      <p:sp>
        <p:nvSpPr>
          <p:cNvPr id="49" name="Text 46"/>
          <p:cNvSpPr txBox="1"/>
          <p:nvPr/>
        </p:nvSpPr>
        <p:spPr>
          <a:xfrm>
            <a:off x="548640" y="5897880"/>
            <a:ext cx="9814255" cy="411480"/>
          </a:xfrm>
          <a:prstGeom prst="rect">
            <a:avLst/>
          </a:prstGeom>
          <a:noFill/>
          <a:ln/>
        </p:spPr>
        <p:txBody>
          <a:bodyPr wrap="square" lIns="0" tIns="0" rIns="0" bIns="0" rtlCol="0" anchor="t">
            <a:normAutofit/>
          </a:bodyPr>
          <a:lstStyle/>
          <a:p>
            <a:pPr indent="0" marL="0">
              <a:buNone/>
            </a:pPr>
            <a:r>
              <a:rPr lang="en-US" sz="1400" b="1" i="1" dirty="0">
                <a:solidFill>
                  <a:srgbClr val="FFD166"/>
                </a:solidFill>
                <a:latin typeface="Arial" pitchFamily="34" charset="0"/>
                <a:ea typeface="Arial" pitchFamily="34" charset="-122"/>
                <a:cs typeface="Arial" pitchFamily="34" charset="-120"/>
              </a:rPr>
              <a:t>Üretmek yerine çizmek – bir veri merkezinin değil, bir altyazının işlem bütçesiyle.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A HATTI · ANLATI FİLMİ</a:t>
            </a:r>
            <a:endParaRPr lang="en-US" sz="1000" dirty="0"/>
          </a:p>
        </p:txBody>
      </p:sp>
      <p:sp>
        <p:nvSpPr>
          <p:cNvPr id="3" name="Titel"/>
          <p:cNvSpPr txBox="1"/>
          <p:nvPr/>
        </p:nvSpPr>
        <p:spPr>
          <a:xfrm>
            <a:off x="548640" y="438912"/>
            <a:ext cx="9631375" cy="777240"/>
          </a:xfrm>
          <a:prstGeom prst="rect">
            <a:avLst/>
          </a:prstGeom>
          <a:noFill/>
          <a:ln/>
        </p:spPr>
        <p:txBody>
          <a:bodyPr wrap="square" lIns="0" tIns="0" rIns="0" bIns="0" rtlCol="0" anchor="t">
            <a:normAutofit/>
          </a:bodyPr>
          <a:lstStyle/>
          <a:p>
            <a:pPr indent="0" marL="0">
              <a:buNone/>
            </a:pPr>
            <a:r>
              <a:rPr lang="en-US" sz="3100" b="1" dirty="0">
                <a:solidFill>
                  <a:srgbClr val="FFFFFF"/>
                </a:solidFill>
                <a:latin typeface="Arial" pitchFamily="34" charset="0"/>
                <a:ea typeface="Arial" pitchFamily="34" charset="-122"/>
                <a:cs typeface="Arial" pitchFamily="34" charset="-120"/>
              </a:rPr>
              <a:t>Generative Scene Engine: kelimelerden canlı video</a:t>
            </a:r>
            <a:endParaRPr lang="en-US" sz="3100" dirty="0"/>
          </a:p>
        </p:txBody>
      </p:sp>
      <p:sp>
        <p:nvSpPr>
          <p:cNvPr id="4" name="Vision-Badge"/>
          <p:cNvSpPr/>
          <p:nvPr/>
        </p:nvSpPr>
        <p:spPr>
          <a:xfrm>
            <a:off x="10472623" y="182880"/>
            <a:ext cx="1170432" cy="310896"/>
          </a:xfrm>
          <a:prstGeom prst="roundRect">
            <a:avLst>
              <a:gd name="adj" fmla="val 50000"/>
            </a:avLst>
          </a:prstGeom>
          <a:solidFill>
            <a:srgbClr val="2A1530"/>
          </a:solidFill>
          <a:ln w="15875">
            <a:solidFill>
              <a:srgbClr val="FF2D75"/>
            </a:solidFill>
            <a:prstDash val="solid"/>
          </a:ln>
        </p:spPr>
      </p:sp>
      <p:sp>
        <p:nvSpPr>
          <p:cNvPr id="5" name="Text 3"/>
          <p:cNvSpPr txBox="1"/>
          <p:nvPr/>
        </p:nvSpPr>
        <p:spPr>
          <a:xfrm>
            <a:off x="10472623" y="182880"/>
            <a:ext cx="1170432" cy="310896"/>
          </a:xfrm>
          <a:prstGeom prst="rect">
            <a:avLst/>
          </a:prstGeom>
          <a:noFill/>
          <a:ln/>
        </p:spPr>
        <p:txBody>
          <a:bodyPr wrap="square" lIns="0" tIns="0" rIns="0" bIns="0" rtlCol="0" anchor="ctr"/>
          <a:lstStyle/>
          <a:p>
            <a:pPr algn="ctr" indent="0" marL="0">
              <a:buNone/>
            </a:pPr>
            <a:r>
              <a:rPr lang="en-US" sz="1000" b="1" spc="200" kern="0" dirty="0">
                <a:solidFill>
                  <a:srgbClr val="FF2D75"/>
                </a:solidFill>
                <a:latin typeface="Arial" pitchFamily="34" charset="0"/>
                <a:ea typeface="Arial" pitchFamily="34" charset="-122"/>
                <a:cs typeface="Arial" pitchFamily="34" charset="-120"/>
              </a:rPr>
              <a:t>✦ VİZYON</a:t>
            </a:r>
            <a:endParaRPr lang="en-US" sz="1000" dirty="0"/>
          </a:p>
        </p:txBody>
      </p:sp>
      <p:sp>
        <p:nvSpPr>
          <p:cNvPr id="6"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13</a:t>
            </a:r>
            <a:endParaRPr lang="en-US" sz="900" dirty="0"/>
          </a:p>
        </p:txBody>
      </p:sp>
      <p:sp>
        <p:nvSpPr>
          <p:cNvPr id="8" name="Szene-Himmel"/>
          <p:cNvSpPr/>
          <p:nvPr/>
        </p:nvSpPr>
        <p:spPr>
          <a:xfrm>
            <a:off x="548640" y="1298448"/>
            <a:ext cx="5486400" cy="3017520"/>
          </a:xfrm>
          <a:prstGeom prst="rect">
            <a:avLst/>
          </a:prstGeom>
          <a:solidFill>
            <a:srgbClr val="121838"/>
          </a:solidFill>
          <a:ln w="15875">
            <a:solidFill>
              <a:srgbClr val="2DFFB5"/>
            </a:solidFill>
            <a:prstDash val="solid"/>
          </a:ln>
        </p:spPr>
      </p:sp>
      <p:sp>
        <p:nvSpPr>
          <p:cNvPr id="9" name="Shape 6"/>
          <p:cNvSpPr/>
          <p:nvPr/>
        </p:nvSpPr>
        <p:spPr>
          <a:xfrm>
            <a:off x="548640" y="2958084"/>
            <a:ext cx="5486400" cy="1357884"/>
          </a:xfrm>
          <a:prstGeom prst="rect">
            <a:avLst/>
          </a:prstGeom>
          <a:solidFill>
            <a:srgbClr val="1A2348">
              <a:alpha val="70000"/>
            </a:srgbClr>
          </a:solidFill>
          <a:ln/>
        </p:spPr>
      </p:sp>
      <p:sp>
        <p:nvSpPr>
          <p:cNvPr id="10" name="Shape 7"/>
          <p:cNvSpPr/>
          <p:nvPr/>
        </p:nvSpPr>
        <p:spPr>
          <a:xfrm>
            <a:off x="4937760" y="1847088"/>
            <a:ext cx="566928" cy="566928"/>
          </a:xfrm>
          <a:prstGeom prst="ellipse">
            <a:avLst/>
          </a:prstGeom>
          <a:solidFill>
            <a:srgbClr val="F4F1DE"/>
          </a:solidFill>
          <a:ln/>
        </p:spPr>
      </p:sp>
      <p:sp>
        <p:nvSpPr>
          <p:cNvPr id="11" name="Shape 8"/>
          <p:cNvSpPr/>
          <p:nvPr/>
        </p:nvSpPr>
        <p:spPr>
          <a:xfrm>
            <a:off x="5074920" y="1773936"/>
            <a:ext cx="502920" cy="502920"/>
          </a:xfrm>
          <a:prstGeom prst="ellipse">
            <a:avLst/>
          </a:prstGeom>
          <a:solidFill>
            <a:srgbClr val="121838"/>
          </a:solidFill>
          <a:ln/>
        </p:spPr>
      </p:sp>
      <p:sp>
        <p:nvSpPr>
          <p:cNvPr id="12" name="Shape 9"/>
          <p:cNvSpPr/>
          <p:nvPr/>
        </p:nvSpPr>
        <p:spPr>
          <a:xfrm>
            <a:off x="3557402" y="1963237"/>
            <a:ext cx="45369" cy="45369"/>
          </a:xfrm>
          <a:prstGeom prst="ellipse">
            <a:avLst/>
          </a:prstGeom>
          <a:solidFill>
            <a:srgbClr val="FFFFFF">
              <a:alpha val="68000"/>
            </a:srgbClr>
          </a:solidFill>
          <a:ln/>
        </p:spPr>
      </p:sp>
      <p:sp>
        <p:nvSpPr>
          <p:cNvPr id="13" name="Shape 10"/>
          <p:cNvSpPr/>
          <p:nvPr/>
        </p:nvSpPr>
        <p:spPr>
          <a:xfrm>
            <a:off x="3278804" y="1926105"/>
            <a:ext cx="43643" cy="43643"/>
          </a:xfrm>
          <a:prstGeom prst="ellipse">
            <a:avLst/>
          </a:prstGeom>
          <a:solidFill>
            <a:srgbClr val="FFFFFF">
              <a:alpha val="37000"/>
            </a:srgbClr>
          </a:solidFill>
          <a:ln/>
        </p:spPr>
      </p:sp>
      <p:sp>
        <p:nvSpPr>
          <p:cNvPr id="14" name="Shape 11"/>
          <p:cNvSpPr/>
          <p:nvPr/>
        </p:nvSpPr>
        <p:spPr>
          <a:xfrm>
            <a:off x="2789481" y="2133188"/>
            <a:ext cx="48991" cy="48991"/>
          </a:xfrm>
          <a:prstGeom prst="ellipse">
            <a:avLst/>
          </a:prstGeom>
          <a:solidFill>
            <a:srgbClr val="FFFFFF">
              <a:alpha val="41000"/>
            </a:srgbClr>
          </a:solidFill>
          <a:ln/>
        </p:spPr>
      </p:sp>
      <p:sp>
        <p:nvSpPr>
          <p:cNvPr id="15" name="Shape 12"/>
          <p:cNvSpPr/>
          <p:nvPr/>
        </p:nvSpPr>
        <p:spPr>
          <a:xfrm>
            <a:off x="1077948" y="2348551"/>
            <a:ext cx="51479" cy="51479"/>
          </a:xfrm>
          <a:prstGeom prst="ellipse">
            <a:avLst/>
          </a:prstGeom>
          <a:solidFill>
            <a:srgbClr val="FFFFFF">
              <a:alpha val="69000"/>
            </a:srgbClr>
          </a:solidFill>
          <a:ln/>
        </p:spPr>
      </p:sp>
      <p:sp>
        <p:nvSpPr>
          <p:cNvPr id="16" name="Shape 13"/>
          <p:cNvSpPr/>
          <p:nvPr/>
        </p:nvSpPr>
        <p:spPr>
          <a:xfrm>
            <a:off x="1494746" y="2410760"/>
            <a:ext cx="52010" cy="52010"/>
          </a:xfrm>
          <a:prstGeom prst="ellipse">
            <a:avLst/>
          </a:prstGeom>
          <a:solidFill>
            <a:srgbClr val="FFFFFF">
              <a:alpha val="56000"/>
            </a:srgbClr>
          </a:solidFill>
          <a:ln/>
        </p:spPr>
      </p:sp>
      <p:sp>
        <p:nvSpPr>
          <p:cNvPr id="17" name="Shape 14"/>
          <p:cNvSpPr/>
          <p:nvPr/>
        </p:nvSpPr>
        <p:spPr>
          <a:xfrm>
            <a:off x="942205" y="2791693"/>
            <a:ext cx="33877" cy="33877"/>
          </a:xfrm>
          <a:prstGeom prst="ellipse">
            <a:avLst/>
          </a:prstGeom>
          <a:solidFill>
            <a:srgbClr val="FFFFFF">
              <a:alpha val="32000"/>
            </a:srgbClr>
          </a:solidFill>
          <a:ln/>
        </p:spPr>
      </p:sp>
      <p:sp>
        <p:nvSpPr>
          <p:cNvPr id="18" name="Shape 15"/>
          <p:cNvSpPr/>
          <p:nvPr/>
        </p:nvSpPr>
        <p:spPr>
          <a:xfrm>
            <a:off x="2960521" y="2808371"/>
            <a:ext cx="31849" cy="31849"/>
          </a:xfrm>
          <a:prstGeom prst="ellipse">
            <a:avLst/>
          </a:prstGeom>
          <a:solidFill>
            <a:srgbClr val="FFFFFF">
              <a:alpha val="71000"/>
            </a:srgbClr>
          </a:solidFill>
          <a:ln/>
        </p:spPr>
      </p:sp>
      <p:sp>
        <p:nvSpPr>
          <p:cNvPr id="19" name="Shape 16"/>
          <p:cNvSpPr/>
          <p:nvPr/>
        </p:nvSpPr>
        <p:spPr>
          <a:xfrm>
            <a:off x="3503754" y="2522882"/>
            <a:ext cx="42766" cy="42766"/>
          </a:xfrm>
          <a:prstGeom prst="ellipse">
            <a:avLst/>
          </a:prstGeom>
          <a:solidFill>
            <a:srgbClr val="FFFFFF">
              <a:alpha val="66000"/>
            </a:srgbClr>
          </a:solidFill>
          <a:ln/>
        </p:spPr>
      </p:sp>
      <p:sp>
        <p:nvSpPr>
          <p:cNvPr id="20" name="Shape 17"/>
          <p:cNvSpPr/>
          <p:nvPr/>
        </p:nvSpPr>
        <p:spPr>
          <a:xfrm>
            <a:off x="5732796" y="2295344"/>
            <a:ext cx="33664" cy="33664"/>
          </a:xfrm>
          <a:prstGeom prst="ellipse">
            <a:avLst/>
          </a:prstGeom>
          <a:solidFill>
            <a:srgbClr val="FFFFFF">
              <a:alpha val="69000"/>
            </a:srgbClr>
          </a:solidFill>
          <a:ln/>
        </p:spPr>
      </p:sp>
      <p:sp>
        <p:nvSpPr>
          <p:cNvPr id="21" name="Shape 18"/>
          <p:cNvSpPr/>
          <p:nvPr/>
        </p:nvSpPr>
        <p:spPr>
          <a:xfrm>
            <a:off x="2377600" y="2001577"/>
            <a:ext cx="47441" cy="47441"/>
          </a:xfrm>
          <a:prstGeom prst="ellipse">
            <a:avLst/>
          </a:prstGeom>
          <a:solidFill>
            <a:srgbClr val="FFFFFF">
              <a:alpha val="42000"/>
            </a:srgbClr>
          </a:solidFill>
          <a:ln/>
        </p:spPr>
      </p:sp>
      <p:sp>
        <p:nvSpPr>
          <p:cNvPr id="22" name="Shape 19"/>
          <p:cNvSpPr/>
          <p:nvPr/>
        </p:nvSpPr>
        <p:spPr>
          <a:xfrm>
            <a:off x="2478309" y="1927191"/>
            <a:ext cx="40296" cy="40296"/>
          </a:xfrm>
          <a:prstGeom prst="ellipse">
            <a:avLst/>
          </a:prstGeom>
          <a:solidFill>
            <a:srgbClr val="FFFFFF">
              <a:alpha val="34000"/>
            </a:srgbClr>
          </a:solidFill>
          <a:ln/>
        </p:spPr>
      </p:sp>
      <p:sp>
        <p:nvSpPr>
          <p:cNvPr id="23" name="Shape 20"/>
          <p:cNvSpPr/>
          <p:nvPr/>
        </p:nvSpPr>
        <p:spPr>
          <a:xfrm>
            <a:off x="5213093" y="2320542"/>
            <a:ext cx="36161" cy="36161"/>
          </a:xfrm>
          <a:prstGeom prst="ellipse">
            <a:avLst/>
          </a:prstGeom>
          <a:solidFill>
            <a:srgbClr val="FFFFFF">
              <a:alpha val="69000"/>
            </a:srgbClr>
          </a:solidFill>
          <a:ln/>
        </p:spPr>
      </p:sp>
      <p:sp>
        <p:nvSpPr>
          <p:cNvPr id="24" name="Shape 21"/>
          <p:cNvSpPr/>
          <p:nvPr/>
        </p:nvSpPr>
        <p:spPr>
          <a:xfrm>
            <a:off x="2742946" y="2610411"/>
            <a:ext cx="49486" cy="49486"/>
          </a:xfrm>
          <a:prstGeom prst="ellipse">
            <a:avLst/>
          </a:prstGeom>
          <a:solidFill>
            <a:srgbClr val="FFFFFF">
              <a:alpha val="48000"/>
            </a:srgbClr>
          </a:solidFill>
          <a:ln/>
        </p:spPr>
      </p:sp>
      <p:sp>
        <p:nvSpPr>
          <p:cNvPr id="25" name="Shape 22"/>
          <p:cNvSpPr/>
          <p:nvPr/>
        </p:nvSpPr>
        <p:spPr>
          <a:xfrm>
            <a:off x="1832171" y="2300087"/>
            <a:ext cx="32407" cy="32407"/>
          </a:xfrm>
          <a:prstGeom prst="ellipse">
            <a:avLst/>
          </a:prstGeom>
          <a:solidFill>
            <a:srgbClr val="FFFFFF">
              <a:alpha val="76000"/>
            </a:srgbClr>
          </a:solidFill>
          <a:ln/>
        </p:spPr>
      </p:sp>
      <p:sp>
        <p:nvSpPr>
          <p:cNvPr id="26" name="Shape 23"/>
          <p:cNvSpPr/>
          <p:nvPr/>
        </p:nvSpPr>
        <p:spPr>
          <a:xfrm>
            <a:off x="2796857" y="2532006"/>
            <a:ext cx="29175" cy="29175"/>
          </a:xfrm>
          <a:prstGeom prst="ellipse">
            <a:avLst/>
          </a:prstGeom>
          <a:solidFill>
            <a:srgbClr val="FFFFFF">
              <a:alpha val="48000"/>
            </a:srgbClr>
          </a:solidFill>
          <a:ln/>
        </p:spPr>
      </p:sp>
      <p:sp>
        <p:nvSpPr>
          <p:cNvPr id="27" name="Shape 24"/>
          <p:cNvSpPr/>
          <p:nvPr/>
        </p:nvSpPr>
        <p:spPr>
          <a:xfrm>
            <a:off x="2349679" y="2287910"/>
            <a:ext cx="62369" cy="62369"/>
          </a:xfrm>
          <a:prstGeom prst="ellipse">
            <a:avLst/>
          </a:prstGeom>
          <a:solidFill>
            <a:srgbClr val="FFFFFF">
              <a:alpha val="56000"/>
            </a:srgbClr>
          </a:solidFill>
          <a:ln/>
        </p:spPr>
      </p:sp>
      <p:sp>
        <p:nvSpPr>
          <p:cNvPr id="28" name="Shape 25"/>
          <p:cNvSpPr/>
          <p:nvPr/>
        </p:nvSpPr>
        <p:spPr>
          <a:xfrm>
            <a:off x="4979099" y="2300449"/>
            <a:ext cx="43483" cy="43483"/>
          </a:xfrm>
          <a:prstGeom prst="ellipse">
            <a:avLst/>
          </a:prstGeom>
          <a:solidFill>
            <a:srgbClr val="FFFFFF">
              <a:alpha val="59000"/>
            </a:srgbClr>
          </a:solidFill>
          <a:ln/>
        </p:spPr>
      </p:sp>
      <p:sp>
        <p:nvSpPr>
          <p:cNvPr id="29" name="Shape 26"/>
          <p:cNvSpPr/>
          <p:nvPr/>
        </p:nvSpPr>
        <p:spPr>
          <a:xfrm>
            <a:off x="1897847" y="2594457"/>
            <a:ext cx="37090" cy="37090"/>
          </a:xfrm>
          <a:prstGeom prst="ellipse">
            <a:avLst/>
          </a:prstGeom>
          <a:solidFill>
            <a:srgbClr val="FFFFFF">
              <a:alpha val="74000"/>
            </a:srgbClr>
          </a:solidFill>
          <a:ln/>
        </p:spPr>
      </p:sp>
      <p:sp>
        <p:nvSpPr>
          <p:cNvPr id="30" name="Shape 27"/>
          <p:cNvSpPr/>
          <p:nvPr/>
        </p:nvSpPr>
        <p:spPr>
          <a:xfrm>
            <a:off x="4611558" y="2710477"/>
            <a:ext cx="37320" cy="37320"/>
          </a:xfrm>
          <a:prstGeom prst="ellipse">
            <a:avLst/>
          </a:prstGeom>
          <a:solidFill>
            <a:srgbClr val="FFFFFF">
              <a:alpha val="32000"/>
            </a:srgbClr>
          </a:solidFill>
          <a:ln/>
        </p:spPr>
      </p:sp>
      <p:sp>
        <p:nvSpPr>
          <p:cNvPr id="31" name="Shape 28"/>
          <p:cNvSpPr/>
          <p:nvPr/>
        </p:nvSpPr>
        <p:spPr>
          <a:xfrm>
            <a:off x="5091574" y="2598838"/>
            <a:ext cx="61333" cy="61333"/>
          </a:xfrm>
          <a:prstGeom prst="ellipse">
            <a:avLst/>
          </a:prstGeom>
          <a:solidFill>
            <a:srgbClr val="FFFFFF">
              <a:alpha val="48000"/>
            </a:srgbClr>
          </a:solidFill>
          <a:ln/>
        </p:spPr>
      </p:sp>
      <p:sp>
        <p:nvSpPr>
          <p:cNvPr id="32" name="Shape 29"/>
          <p:cNvSpPr/>
          <p:nvPr/>
        </p:nvSpPr>
        <p:spPr>
          <a:xfrm>
            <a:off x="809184" y="2172615"/>
            <a:ext cx="47715" cy="47715"/>
          </a:xfrm>
          <a:prstGeom prst="ellipse">
            <a:avLst/>
          </a:prstGeom>
          <a:solidFill>
            <a:srgbClr val="FFFFFF">
              <a:alpha val="63000"/>
            </a:srgbClr>
          </a:solidFill>
          <a:ln/>
        </p:spPr>
      </p:sp>
      <p:sp>
        <p:nvSpPr>
          <p:cNvPr id="33" name="Shape 30"/>
          <p:cNvSpPr/>
          <p:nvPr/>
        </p:nvSpPr>
        <p:spPr>
          <a:xfrm>
            <a:off x="2701064" y="2536990"/>
            <a:ext cx="35302" cy="35302"/>
          </a:xfrm>
          <a:prstGeom prst="ellipse">
            <a:avLst/>
          </a:prstGeom>
          <a:solidFill>
            <a:srgbClr val="FFFFFF">
              <a:alpha val="44000"/>
            </a:srgbClr>
          </a:solidFill>
          <a:ln/>
        </p:spPr>
      </p:sp>
      <p:sp>
        <p:nvSpPr>
          <p:cNvPr id="34" name="Shape 31"/>
          <p:cNvSpPr/>
          <p:nvPr/>
        </p:nvSpPr>
        <p:spPr>
          <a:xfrm>
            <a:off x="5583356" y="1854133"/>
            <a:ext cx="37187" cy="37187"/>
          </a:xfrm>
          <a:prstGeom prst="ellipse">
            <a:avLst/>
          </a:prstGeom>
          <a:solidFill>
            <a:srgbClr val="FFFFFF">
              <a:alpha val="63000"/>
            </a:srgbClr>
          </a:solidFill>
          <a:ln/>
        </p:spPr>
      </p:sp>
      <p:sp>
        <p:nvSpPr>
          <p:cNvPr id="35" name="Shape 32"/>
          <p:cNvSpPr/>
          <p:nvPr/>
        </p:nvSpPr>
        <p:spPr>
          <a:xfrm>
            <a:off x="2944628" y="1937039"/>
            <a:ext cx="48857" cy="48857"/>
          </a:xfrm>
          <a:prstGeom prst="ellipse">
            <a:avLst/>
          </a:prstGeom>
          <a:solidFill>
            <a:srgbClr val="FFFFFF">
              <a:alpha val="31000"/>
            </a:srgbClr>
          </a:solidFill>
          <a:ln/>
        </p:spPr>
      </p:sp>
      <p:sp>
        <p:nvSpPr>
          <p:cNvPr id="36" name="Shape 33"/>
          <p:cNvSpPr/>
          <p:nvPr/>
        </p:nvSpPr>
        <p:spPr>
          <a:xfrm>
            <a:off x="5152597" y="2438010"/>
            <a:ext cx="44120" cy="44120"/>
          </a:xfrm>
          <a:prstGeom prst="ellipse">
            <a:avLst/>
          </a:prstGeom>
          <a:solidFill>
            <a:srgbClr val="FFFFFF">
              <a:alpha val="57000"/>
            </a:srgbClr>
          </a:solidFill>
          <a:ln/>
        </p:spPr>
      </p:sp>
      <p:sp>
        <p:nvSpPr>
          <p:cNvPr id="37" name="Shape 34"/>
          <p:cNvSpPr/>
          <p:nvPr/>
        </p:nvSpPr>
        <p:spPr>
          <a:xfrm>
            <a:off x="4747564" y="2748576"/>
            <a:ext cx="32008" cy="32008"/>
          </a:xfrm>
          <a:prstGeom prst="ellipse">
            <a:avLst/>
          </a:prstGeom>
          <a:solidFill>
            <a:srgbClr val="FFFFFF">
              <a:alpha val="67000"/>
            </a:srgbClr>
          </a:solidFill>
          <a:ln/>
        </p:spPr>
      </p:sp>
      <p:sp>
        <p:nvSpPr>
          <p:cNvPr id="38" name="Shape 35"/>
          <p:cNvSpPr/>
          <p:nvPr/>
        </p:nvSpPr>
        <p:spPr>
          <a:xfrm>
            <a:off x="731520" y="2532888"/>
            <a:ext cx="685800" cy="1371600"/>
          </a:xfrm>
          <a:prstGeom prst="triangle">
            <a:avLst/>
          </a:prstGeom>
          <a:solidFill>
            <a:srgbClr val="0E4A3A"/>
          </a:solidFill>
          <a:ln w="9525">
            <a:solidFill>
              <a:srgbClr val="1F7A5C"/>
            </a:solidFill>
            <a:prstDash val="solid"/>
          </a:ln>
        </p:spPr>
      </p:sp>
      <p:sp>
        <p:nvSpPr>
          <p:cNvPr id="39" name="Shape 36"/>
          <p:cNvSpPr/>
          <p:nvPr/>
        </p:nvSpPr>
        <p:spPr>
          <a:xfrm>
            <a:off x="1371600" y="2167128"/>
            <a:ext cx="685800" cy="1737360"/>
          </a:xfrm>
          <a:prstGeom prst="triangle">
            <a:avLst/>
          </a:prstGeom>
          <a:solidFill>
            <a:srgbClr val="0E4A3A"/>
          </a:solidFill>
          <a:ln w="9525">
            <a:solidFill>
              <a:srgbClr val="1F7A5C"/>
            </a:solidFill>
            <a:prstDash val="solid"/>
          </a:ln>
        </p:spPr>
      </p:sp>
      <p:sp>
        <p:nvSpPr>
          <p:cNvPr id="40" name="Shape 37"/>
          <p:cNvSpPr/>
          <p:nvPr/>
        </p:nvSpPr>
        <p:spPr>
          <a:xfrm>
            <a:off x="2011680" y="2624328"/>
            <a:ext cx="685800" cy="1280160"/>
          </a:xfrm>
          <a:prstGeom prst="triangle">
            <a:avLst/>
          </a:prstGeom>
          <a:solidFill>
            <a:srgbClr val="0E4A3A"/>
          </a:solidFill>
          <a:ln w="9525">
            <a:solidFill>
              <a:srgbClr val="1F7A5C"/>
            </a:solidFill>
            <a:prstDash val="solid"/>
          </a:ln>
        </p:spPr>
      </p:sp>
      <p:sp>
        <p:nvSpPr>
          <p:cNvPr id="41" name="Shape 38"/>
          <p:cNvSpPr/>
          <p:nvPr/>
        </p:nvSpPr>
        <p:spPr>
          <a:xfrm>
            <a:off x="4114800" y="2441448"/>
            <a:ext cx="685800" cy="1463040"/>
          </a:xfrm>
          <a:prstGeom prst="triangle">
            <a:avLst/>
          </a:prstGeom>
          <a:solidFill>
            <a:srgbClr val="0E4A3A"/>
          </a:solidFill>
          <a:ln w="9525">
            <a:solidFill>
              <a:srgbClr val="1F7A5C"/>
            </a:solidFill>
            <a:prstDash val="solid"/>
          </a:ln>
        </p:spPr>
      </p:sp>
      <p:sp>
        <p:nvSpPr>
          <p:cNvPr id="42" name="Shape 39"/>
          <p:cNvSpPr/>
          <p:nvPr/>
        </p:nvSpPr>
        <p:spPr>
          <a:xfrm>
            <a:off x="4754880" y="2075688"/>
            <a:ext cx="685800" cy="1828800"/>
          </a:xfrm>
          <a:prstGeom prst="triangle">
            <a:avLst/>
          </a:prstGeom>
          <a:solidFill>
            <a:srgbClr val="0E4A3A"/>
          </a:solidFill>
          <a:ln w="9525">
            <a:solidFill>
              <a:srgbClr val="1F7A5C"/>
            </a:solidFill>
            <a:prstDash val="solid"/>
          </a:ln>
        </p:spPr>
      </p:sp>
      <p:sp>
        <p:nvSpPr>
          <p:cNvPr id="43" name="Shape 40"/>
          <p:cNvSpPr/>
          <p:nvPr/>
        </p:nvSpPr>
        <p:spPr>
          <a:xfrm>
            <a:off x="5349240" y="2532888"/>
            <a:ext cx="685800" cy="1371600"/>
          </a:xfrm>
          <a:prstGeom prst="triangle">
            <a:avLst/>
          </a:prstGeom>
          <a:solidFill>
            <a:srgbClr val="0E4A3A"/>
          </a:solidFill>
          <a:ln w="9525">
            <a:solidFill>
              <a:srgbClr val="1F7A5C"/>
            </a:solidFill>
            <a:prstDash val="solid"/>
          </a:ln>
        </p:spPr>
      </p:sp>
      <p:sp>
        <p:nvSpPr>
          <p:cNvPr id="44" name="Shape 41"/>
          <p:cNvSpPr/>
          <p:nvPr/>
        </p:nvSpPr>
        <p:spPr>
          <a:xfrm>
            <a:off x="548640" y="3877056"/>
            <a:ext cx="5486400" cy="438912"/>
          </a:xfrm>
          <a:prstGeom prst="rect">
            <a:avLst/>
          </a:prstGeom>
          <a:solidFill>
            <a:srgbClr val="0B2A22"/>
          </a:solidFill>
          <a:ln/>
        </p:spPr>
      </p:sp>
      <p:sp>
        <p:nvSpPr>
          <p:cNvPr id="45" name="Shape 42"/>
          <p:cNvSpPr/>
          <p:nvPr/>
        </p:nvSpPr>
        <p:spPr>
          <a:xfrm>
            <a:off x="765023" y="2097940"/>
            <a:ext cx="73152" cy="237744"/>
          </a:xfrm>
          <a:prstGeom prst="line">
            <a:avLst/>
          </a:prstGeom>
          <a:noFill/>
          <a:ln w="12700">
            <a:solidFill>
              <a:srgbClr val="5AD1FF">
                <a:alpha val="65000"/>
              </a:srgbClr>
            </a:solidFill>
            <a:prstDash val="solid"/>
          </a:ln>
        </p:spPr>
      </p:sp>
      <p:sp>
        <p:nvSpPr>
          <p:cNvPr id="46" name="Shape 43"/>
          <p:cNvSpPr/>
          <p:nvPr/>
        </p:nvSpPr>
        <p:spPr>
          <a:xfrm>
            <a:off x="4260747" y="3141149"/>
            <a:ext cx="73152" cy="237744"/>
          </a:xfrm>
          <a:prstGeom prst="line">
            <a:avLst/>
          </a:prstGeom>
          <a:noFill/>
          <a:ln w="12700">
            <a:solidFill>
              <a:srgbClr val="5AD1FF">
                <a:alpha val="65000"/>
              </a:srgbClr>
            </a:solidFill>
            <a:prstDash val="solid"/>
          </a:ln>
        </p:spPr>
      </p:sp>
      <p:sp>
        <p:nvSpPr>
          <p:cNvPr id="47" name="Shape 44"/>
          <p:cNvSpPr/>
          <p:nvPr/>
        </p:nvSpPr>
        <p:spPr>
          <a:xfrm>
            <a:off x="4021353" y="3471182"/>
            <a:ext cx="73152" cy="237744"/>
          </a:xfrm>
          <a:prstGeom prst="line">
            <a:avLst/>
          </a:prstGeom>
          <a:noFill/>
          <a:ln w="12700">
            <a:solidFill>
              <a:srgbClr val="5AD1FF">
                <a:alpha val="65000"/>
              </a:srgbClr>
            </a:solidFill>
            <a:prstDash val="solid"/>
          </a:ln>
        </p:spPr>
      </p:sp>
      <p:sp>
        <p:nvSpPr>
          <p:cNvPr id="48" name="Shape 45"/>
          <p:cNvSpPr/>
          <p:nvPr/>
        </p:nvSpPr>
        <p:spPr>
          <a:xfrm>
            <a:off x="1816940" y="3396226"/>
            <a:ext cx="73152" cy="237744"/>
          </a:xfrm>
          <a:prstGeom prst="line">
            <a:avLst/>
          </a:prstGeom>
          <a:noFill/>
          <a:ln w="12700">
            <a:solidFill>
              <a:srgbClr val="5AD1FF">
                <a:alpha val="65000"/>
              </a:srgbClr>
            </a:solidFill>
            <a:prstDash val="solid"/>
          </a:ln>
        </p:spPr>
      </p:sp>
      <p:sp>
        <p:nvSpPr>
          <p:cNvPr id="49" name="Shape 46"/>
          <p:cNvSpPr/>
          <p:nvPr/>
        </p:nvSpPr>
        <p:spPr>
          <a:xfrm>
            <a:off x="1503793" y="1873188"/>
            <a:ext cx="73152" cy="237744"/>
          </a:xfrm>
          <a:prstGeom prst="line">
            <a:avLst/>
          </a:prstGeom>
          <a:noFill/>
          <a:ln w="12700">
            <a:solidFill>
              <a:srgbClr val="5AD1FF">
                <a:alpha val="65000"/>
              </a:srgbClr>
            </a:solidFill>
            <a:prstDash val="solid"/>
          </a:ln>
        </p:spPr>
      </p:sp>
      <p:sp>
        <p:nvSpPr>
          <p:cNvPr id="50" name="Shape 47"/>
          <p:cNvSpPr/>
          <p:nvPr/>
        </p:nvSpPr>
        <p:spPr>
          <a:xfrm>
            <a:off x="1058942" y="1841694"/>
            <a:ext cx="73152" cy="237744"/>
          </a:xfrm>
          <a:prstGeom prst="line">
            <a:avLst/>
          </a:prstGeom>
          <a:noFill/>
          <a:ln w="12700">
            <a:solidFill>
              <a:srgbClr val="5AD1FF">
                <a:alpha val="65000"/>
              </a:srgbClr>
            </a:solidFill>
            <a:prstDash val="solid"/>
          </a:ln>
        </p:spPr>
      </p:sp>
      <p:sp>
        <p:nvSpPr>
          <p:cNvPr id="51" name="Shape 48"/>
          <p:cNvSpPr/>
          <p:nvPr/>
        </p:nvSpPr>
        <p:spPr>
          <a:xfrm>
            <a:off x="3390405" y="3396571"/>
            <a:ext cx="73152" cy="237744"/>
          </a:xfrm>
          <a:prstGeom prst="line">
            <a:avLst/>
          </a:prstGeom>
          <a:noFill/>
          <a:ln w="12700">
            <a:solidFill>
              <a:srgbClr val="5AD1FF">
                <a:alpha val="65000"/>
              </a:srgbClr>
            </a:solidFill>
            <a:prstDash val="solid"/>
          </a:ln>
        </p:spPr>
      </p:sp>
      <p:sp>
        <p:nvSpPr>
          <p:cNvPr id="52" name="Shape 49"/>
          <p:cNvSpPr/>
          <p:nvPr/>
        </p:nvSpPr>
        <p:spPr>
          <a:xfrm>
            <a:off x="4957986" y="2080967"/>
            <a:ext cx="73152" cy="237744"/>
          </a:xfrm>
          <a:prstGeom prst="line">
            <a:avLst/>
          </a:prstGeom>
          <a:noFill/>
          <a:ln w="12700">
            <a:solidFill>
              <a:srgbClr val="5AD1FF">
                <a:alpha val="65000"/>
              </a:srgbClr>
            </a:solidFill>
            <a:prstDash val="solid"/>
          </a:ln>
        </p:spPr>
      </p:sp>
      <p:sp>
        <p:nvSpPr>
          <p:cNvPr id="53" name="Shape 50"/>
          <p:cNvSpPr/>
          <p:nvPr/>
        </p:nvSpPr>
        <p:spPr>
          <a:xfrm>
            <a:off x="3169757" y="1901306"/>
            <a:ext cx="73152" cy="237744"/>
          </a:xfrm>
          <a:prstGeom prst="line">
            <a:avLst/>
          </a:prstGeom>
          <a:noFill/>
          <a:ln w="12700">
            <a:solidFill>
              <a:srgbClr val="5AD1FF">
                <a:alpha val="65000"/>
              </a:srgbClr>
            </a:solidFill>
            <a:prstDash val="solid"/>
          </a:ln>
        </p:spPr>
      </p:sp>
      <p:sp>
        <p:nvSpPr>
          <p:cNvPr id="54" name="Shape 51"/>
          <p:cNvSpPr/>
          <p:nvPr/>
        </p:nvSpPr>
        <p:spPr>
          <a:xfrm>
            <a:off x="2071655" y="2739057"/>
            <a:ext cx="73152" cy="237744"/>
          </a:xfrm>
          <a:prstGeom prst="line">
            <a:avLst/>
          </a:prstGeom>
          <a:noFill/>
          <a:ln w="12700">
            <a:solidFill>
              <a:srgbClr val="5AD1FF">
                <a:alpha val="65000"/>
              </a:srgbClr>
            </a:solidFill>
            <a:prstDash val="solid"/>
          </a:ln>
        </p:spPr>
      </p:sp>
      <p:sp>
        <p:nvSpPr>
          <p:cNvPr id="55" name="Shape 52"/>
          <p:cNvSpPr/>
          <p:nvPr/>
        </p:nvSpPr>
        <p:spPr>
          <a:xfrm>
            <a:off x="968286" y="2484326"/>
            <a:ext cx="73152" cy="237744"/>
          </a:xfrm>
          <a:prstGeom prst="line">
            <a:avLst/>
          </a:prstGeom>
          <a:noFill/>
          <a:ln w="12700">
            <a:solidFill>
              <a:srgbClr val="5AD1FF">
                <a:alpha val="65000"/>
              </a:srgbClr>
            </a:solidFill>
            <a:prstDash val="solid"/>
          </a:ln>
        </p:spPr>
      </p:sp>
      <p:sp>
        <p:nvSpPr>
          <p:cNvPr id="56" name="Shape 53"/>
          <p:cNvSpPr/>
          <p:nvPr/>
        </p:nvSpPr>
        <p:spPr>
          <a:xfrm>
            <a:off x="1819399" y="2369859"/>
            <a:ext cx="73152" cy="237744"/>
          </a:xfrm>
          <a:prstGeom prst="line">
            <a:avLst/>
          </a:prstGeom>
          <a:noFill/>
          <a:ln w="12700">
            <a:solidFill>
              <a:srgbClr val="5AD1FF">
                <a:alpha val="65000"/>
              </a:srgbClr>
            </a:solidFill>
            <a:prstDash val="solid"/>
          </a:ln>
        </p:spPr>
      </p:sp>
      <p:sp>
        <p:nvSpPr>
          <p:cNvPr id="57" name="Shape 54"/>
          <p:cNvSpPr/>
          <p:nvPr/>
        </p:nvSpPr>
        <p:spPr>
          <a:xfrm>
            <a:off x="4688213" y="2063763"/>
            <a:ext cx="73152" cy="237744"/>
          </a:xfrm>
          <a:prstGeom prst="line">
            <a:avLst/>
          </a:prstGeom>
          <a:noFill/>
          <a:ln w="12700">
            <a:solidFill>
              <a:srgbClr val="5AD1FF">
                <a:alpha val="65000"/>
              </a:srgbClr>
            </a:solidFill>
            <a:prstDash val="solid"/>
          </a:ln>
        </p:spPr>
      </p:sp>
      <p:sp>
        <p:nvSpPr>
          <p:cNvPr id="58" name="Shape 55"/>
          <p:cNvSpPr/>
          <p:nvPr/>
        </p:nvSpPr>
        <p:spPr>
          <a:xfrm>
            <a:off x="1482852" y="1803105"/>
            <a:ext cx="73152" cy="237744"/>
          </a:xfrm>
          <a:prstGeom prst="line">
            <a:avLst/>
          </a:prstGeom>
          <a:noFill/>
          <a:ln w="12700">
            <a:solidFill>
              <a:srgbClr val="5AD1FF">
                <a:alpha val="65000"/>
              </a:srgbClr>
            </a:solidFill>
            <a:prstDash val="solid"/>
          </a:ln>
        </p:spPr>
      </p:sp>
      <p:sp>
        <p:nvSpPr>
          <p:cNvPr id="59" name="Shape 56"/>
          <p:cNvSpPr/>
          <p:nvPr/>
        </p:nvSpPr>
        <p:spPr>
          <a:xfrm>
            <a:off x="3835387" y="1967191"/>
            <a:ext cx="73152" cy="237744"/>
          </a:xfrm>
          <a:prstGeom prst="line">
            <a:avLst/>
          </a:prstGeom>
          <a:noFill/>
          <a:ln w="12700">
            <a:solidFill>
              <a:srgbClr val="5AD1FF">
                <a:alpha val="65000"/>
              </a:srgbClr>
            </a:solidFill>
            <a:prstDash val="solid"/>
          </a:ln>
        </p:spPr>
      </p:sp>
      <p:sp>
        <p:nvSpPr>
          <p:cNvPr id="60" name="Shape 57"/>
          <p:cNvSpPr/>
          <p:nvPr/>
        </p:nvSpPr>
        <p:spPr>
          <a:xfrm>
            <a:off x="2705677" y="2010769"/>
            <a:ext cx="73152" cy="237744"/>
          </a:xfrm>
          <a:prstGeom prst="line">
            <a:avLst/>
          </a:prstGeom>
          <a:noFill/>
          <a:ln w="12700">
            <a:solidFill>
              <a:srgbClr val="5AD1FF">
                <a:alpha val="65000"/>
              </a:srgbClr>
            </a:solidFill>
            <a:prstDash val="solid"/>
          </a:ln>
        </p:spPr>
      </p:sp>
      <p:sp>
        <p:nvSpPr>
          <p:cNvPr id="61" name="Shape 58"/>
          <p:cNvSpPr/>
          <p:nvPr/>
        </p:nvSpPr>
        <p:spPr>
          <a:xfrm>
            <a:off x="3087925" y="2597624"/>
            <a:ext cx="73152" cy="237744"/>
          </a:xfrm>
          <a:prstGeom prst="line">
            <a:avLst/>
          </a:prstGeom>
          <a:noFill/>
          <a:ln w="12700">
            <a:solidFill>
              <a:srgbClr val="5AD1FF">
                <a:alpha val="65000"/>
              </a:srgbClr>
            </a:solidFill>
            <a:prstDash val="solid"/>
          </a:ln>
        </p:spPr>
      </p:sp>
      <p:sp>
        <p:nvSpPr>
          <p:cNvPr id="62" name="Shape 59"/>
          <p:cNvSpPr/>
          <p:nvPr/>
        </p:nvSpPr>
        <p:spPr>
          <a:xfrm>
            <a:off x="683323" y="3253624"/>
            <a:ext cx="73152" cy="237744"/>
          </a:xfrm>
          <a:prstGeom prst="line">
            <a:avLst/>
          </a:prstGeom>
          <a:noFill/>
          <a:ln w="12700">
            <a:solidFill>
              <a:srgbClr val="5AD1FF">
                <a:alpha val="65000"/>
              </a:srgbClr>
            </a:solidFill>
            <a:prstDash val="solid"/>
          </a:ln>
        </p:spPr>
      </p:sp>
      <p:sp>
        <p:nvSpPr>
          <p:cNvPr id="63" name="Shape 60"/>
          <p:cNvSpPr/>
          <p:nvPr/>
        </p:nvSpPr>
        <p:spPr>
          <a:xfrm>
            <a:off x="2951568" y="3220154"/>
            <a:ext cx="73152" cy="237744"/>
          </a:xfrm>
          <a:prstGeom prst="line">
            <a:avLst/>
          </a:prstGeom>
          <a:noFill/>
          <a:ln w="12700">
            <a:solidFill>
              <a:srgbClr val="5AD1FF">
                <a:alpha val="65000"/>
              </a:srgbClr>
            </a:solidFill>
            <a:prstDash val="solid"/>
          </a:ln>
        </p:spPr>
      </p:sp>
      <p:sp>
        <p:nvSpPr>
          <p:cNvPr id="64" name="Shape 61"/>
          <p:cNvSpPr/>
          <p:nvPr/>
        </p:nvSpPr>
        <p:spPr>
          <a:xfrm>
            <a:off x="2369745" y="3587723"/>
            <a:ext cx="73152" cy="237744"/>
          </a:xfrm>
          <a:prstGeom prst="line">
            <a:avLst/>
          </a:prstGeom>
          <a:noFill/>
          <a:ln w="12700">
            <a:solidFill>
              <a:srgbClr val="5AD1FF">
                <a:alpha val="65000"/>
              </a:srgbClr>
            </a:solidFill>
            <a:prstDash val="solid"/>
          </a:ln>
        </p:spPr>
      </p:sp>
      <p:sp>
        <p:nvSpPr>
          <p:cNvPr id="65" name="Shape 62"/>
          <p:cNvSpPr/>
          <p:nvPr/>
        </p:nvSpPr>
        <p:spPr>
          <a:xfrm>
            <a:off x="4311365" y="3028756"/>
            <a:ext cx="73152" cy="237744"/>
          </a:xfrm>
          <a:prstGeom prst="line">
            <a:avLst/>
          </a:prstGeom>
          <a:noFill/>
          <a:ln w="12700">
            <a:solidFill>
              <a:srgbClr val="5AD1FF">
                <a:alpha val="65000"/>
              </a:srgbClr>
            </a:solidFill>
            <a:prstDash val="solid"/>
          </a:ln>
        </p:spPr>
      </p:sp>
      <p:sp>
        <p:nvSpPr>
          <p:cNvPr id="66" name="Shape 63"/>
          <p:cNvSpPr/>
          <p:nvPr/>
        </p:nvSpPr>
        <p:spPr>
          <a:xfrm>
            <a:off x="2012125" y="2491520"/>
            <a:ext cx="73152" cy="237744"/>
          </a:xfrm>
          <a:prstGeom prst="line">
            <a:avLst/>
          </a:prstGeom>
          <a:noFill/>
          <a:ln w="12700">
            <a:solidFill>
              <a:srgbClr val="5AD1FF">
                <a:alpha val="65000"/>
              </a:srgbClr>
            </a:solidFill>
            <a:prstDash val="solid"/>
          </a:ln>
        </p:spPr>
      </p:sp>
      <p:sp>
        <p:nvSpPr>
          <p:cNvPr id="67" name="Shape 64"/>
          <p:cNvSpPr/>
          <p:nvPr/>
        </p:nvSpPr>
        <p:spPr>
          <a:xfrm>
            <a:off x="1035191" y="3493242"/>
            <a:ext cx="73152" cy="237744"/>
          </a:xfrm>
          <a:prstGeom prst="line">
            <a:avLst/>
          </a:prstGeom>
          <a:noFill/>
          <a:ln w="12700">
            <a:solidFill>
              <a:srgbClr val="5AD1FF">
                <a:alpha val="65000"/>
              </a:srgbClr>
            </a:solidFill>
            <a:prstDash val="solid"/>
          </a:ln>
        </p:spPr>
      </p:sp>
      <p:sp>
        <p:nvSpPr>
          <p:cNvPr id="68" name="Shape 65"/>
          <p:cNvSpPr/>
          <p:nvPr/>
        </p:nvSpPr>
        <p:spPr>
          <a:xfrm>
            <a:off x="1064473" y="1932668"/>
            <a:ext cx="73152" cy="237744"/>
          </a:xfrm>
          <a:prstGeom prst="line">
            <a:avLst/>
          </a:prstGeom>
          <a:noFill/>
          <a:ln w="12700">
            <a:solidFill>
              <a:srgbClr val="5AD1FF">
                <a:alpha val="65000"/>
              </a:srgbClr>
            </a:solidFill>
            <a:prstDash val="solid"/>
          </a:ln>
        </p:spPr>
      </p:sp>
      <p:sp>
        <p:nvSpPr>
          <p:cNvPr id="69" name="Shape 66"/>
          <p:cNvSpPr/>
          <p:nvPr/>
        </p:nvSpPr>
        <p:spPr>
          <a:xfrm>
            <a:off x="1594229" y="2385186"/>
            <a:ext cx="73152" cy="237744"/>
          </a:xfrm>
          <a:prstGeom prst="line">
            <a:avLst/>
          </a:prstGeom>
          <a:noFill/>
          <a:ln w="12700">
            <a:solidFill>
              <a:srgbClr val="5AD1FF">
                <a:alpha val="65000"/>
              </a:srgbClr>
            </a:solidFill>
            <a:prstDash val="solid"/>
          </a:ln>
        </p:spPr>
      </p:sp>
      <p:sp>
        <p:nvSpPr>
          <p:cNvPr id="70" name="Shape 67"/>
          <p:cNvSpPr/>
          <p:nvPr/>
        </p:nvSpPr>
        <p:spPr>
          <a:xfrm>
            <a:off x="791144" y="2954261"/>
            <a:ext cx="73152" cy="237744"/>
          </a:xfrm>
          <a:prstGeom prst="line">
            <a:avLst/>
          </a:prstGeom>
          <a:noFill/>
          <a:ln w="12700">
            <a:solidFill>
              <a:srgbClr val="5AD1FF">
                <a:alpha val="65000"/>
              </a:srgbClr>
            </a:solidFill>
            <a:prstDash val="solid"/>
          </a:ln>
        </p:spPr>
      </p:sp>
      <p:sp>
        <p:nvSpPr>
          <p:cNvPr id="71" name="Shape 68"/>
          <p:cNvSpPr/>
          <p:nvPr/>
        </p:nvSpPr>
        <p:spPr>
          <a:xfrm>
            <a:off x="2890808" y="2525681"/>
            <a:ext cx="73152" cy="237744"/>
          </a:xfrm>
          <a:prstGeom prst="line">
            <a:avLst/>
          </a:prstGeom>
          <a:noFill/>
          <a:ln w="12700">
            <a:solidFill>
              <a:srgbClr val="5AD1FF">
                <a:alpha val="65000"/>
              </a:srgbClr>
            </a:solidFill>
            <a:prstDash val="solid"/>
          </a:ln>
        </p:spPr>
      </p:sp>
      <p:sp>
        <p:nvSpPr>
          <p:cNvPr id="72" name="Shape 69"/>
          <p:cNvSpPr/>
          <p:nvPr/>
        </p:nvSpPr>
        <p:spPr>
          <a:xfrm>
            <a:off x="3404760" y="3541232"/>
            <a:ext cx="73152" cy="237744"/>
          </a:xfrm>
          <a:prstGeom prst="line">
            <a:avLst/>
          </a:prstGeom>
          <a:noFill/>
          <a:ln w="12700">
            <a:solidFill>
              <a:srgbClr val="5AD1FF">
                <a:alpha val="65000"/>
              </a:srgbClr>
            </a:solidFill>
            <a:prstDash val="solid"/>
          </a:ln>
        </p:spPr>
      </p:sp>
      <p:sp>
        <p:nvSpPr>
          <p:cNvPr id="73" name="Shape 70"/>
          <p:cNvSpPr/>
          <p:nvPr/>
        </p:nvSpPr>
        <p:spPr>
          <a:xfrm>
            <a:off x="3344484" y="2610860"/>
            <a:ext cx="73152" cy="237744"/>
          </a:xfrm>
          <a:prstGeom prst="line">
            <a:avLst/>
          </a:prstGeom>
          <a:noFill/>
          <a:ln w="12700">
            <a:solidFill>
              <a:srgbClr val="5AD1FF">
                <a:alpha val="65000"/>
              </a:srgbClr>
            </a:solidFill>
            <a:prstDash val="solid"/>
          </a:ln>
        </p:spPr>
      </p:sp>
      <p:sp>
        <p:nvSpPr>
          <p:cNvPr id="74" name="Shape 71"/>
          <p:cNvSpPr/>
          <p:nvPr/>
        </p:nvSpPr>
        <p:spPr>
          <a:xfrm>
            <a:off x="1255970" y="3527633"/>
            <a:ext cx="73152" cy="237744"/>
          </a:xfrm>
          <a:prstGeom prst="line">
            <a:avLst/>
          </a:prstGeom>
          <a:noFill/>
          <a:ln w="12700">
            <a:solidFill>
              <a:srgbClr val="5AD1FF">
                <a:alpha val="65000"/>
              </a:srgbClr>
            </a:solidFill>
            <a:prstDash val="solid"/>
          </a:ln>
        </p:spPr>
      </p:sp>
      <p:sp>
        <p:nvSpPr>
          <p:cNvPr id="75" name="Shape 72"/>
          <p:cNvSpPr/>
          <p:nvPr/>
        </p:nvSpPr>
        <p:spPr>
          <a:xfrm>
            <a:off x="4029958" y="2759257"/>
            <a:ext cx="73152" cy="237744"/>
          </a:xfrm>
          <a:prstGeom prst="line">
            <a:avLst/>
          </a:prstGeom>
          <a:noFill/>
          <a:ln w="12700">
            <a:solidFill>
              <a:srgbClr val="5AD1FF">
                <a:alpha val="65000"/>
              </a:srgbClr>
            </a:solidFill>
            <a:prstDash val="solid"/>
          </a:ln>
        </p:spPr>
      </p:sp>
      <p:sp>
        <p:nvSpPr>
          <p:cNvPr id="76" name="Shape 73"/>
          <p:cNvSpPr/>
          <p:nvPr/>
        </p:nvSpPr>
        <p:spPr>
          <a:xfrm>
            <a:off x="5281450" y="3103119"/>
            <a:ext cx="73152" cy="237744"/>
          </a:xfrm>
          <a:prstGeom prst="line">
            <a:avLst/>
          </a:prstGeom>
          <a:noFill/>
          <a:ln w="12700">
            <a:solidFill>
              <a:srgbClr val="5AD1FF">
                <a:alpha val="65000"/>
              </a:srgbClr>
            </a:solidFill>
            <a:prstDash val="solid"/>
          </a:ln>
        </p:spPr>
      </p:sp>
      <p:sp>
        <p:nvSpPr>
          <p:cNvPr id="77" name="Shape 74"/>
          <p:cNvSpPr/>
          <p:nvPr/>
        </p:nvSpPr>
        <p:spPr>
          <a:xfrm>
            <a:off x="2987479" y="3658366"/>
            <a:ext cx="73152" cy="237744"/>
          </a:xfrm>
          <a:prstGeom prst="line">
            <a:avLst/>
          </a:prstGeom>
          <a:noFill/>
          <a:ln w="12700">
            <a:solidFill>
              <a:srgbClr val="5AD1FF">
                <a:alpha val="65000"/>
              </a:srgbClr>
            </a:solidFill>
            <a:prstDash val="solid"/>
          </a:ln>
        </p:spPr>
      </p:sp>
      <p:sp>
        <p:nvSpPr>
          <p:cNvPr id="78" name="Shape 75"/>
          <p:cNvSpPr/>
          <p:nvPr/>
        </p:nvSpPr>
        <p:spPr>
          <a:xfrm>
            <a:off x="5176702" y="2599583"/>
            <a:ext cx="73152" cy="237744"/>
          </a:xfrm>
          <a:prstGeom prst="line">
            <a:avLst/>
          </a:prstGeom>
          <a:noFill/>
          <a:ln w="12700">
            <a:solidFill>
              <a:srgbClr val="5AD1FF">
                <a:alpha val="65000"/>
              </a:srgbClr>
            </a:solidFill>
            <a:prstDash val="solid"/>
          </a:ln>
        </p:spPr>
      </p:sp>
      <p:sp>
        <p:nvSpPr>
          <p:cNvPr id="79" name="Text 76"/>
          <p:cNvSpPr txBox="1"/>
          <p:nvPr/>
        </p:nvSpPr>
        <p:spPr>
          <a:xfrm>
            <a:off x="2423160" y="3172968"/>
            <a:ext cx="731520" cy="731520"/>
          </a:xfrm>
          <a:prstGeom prst="rect">
            <a:avLst/>
          </a:prstGeom>
          <a:noFill/>
          <a:ln/>
        </p:spPr>
        <p:txBody>
          <a:bodyPr wrap="square" lIns="0" tIns="0" rIns="0" bIns="0" rtlCol="0" anchor="t"/>
          <a:lstStyle/>
          <a:p>
            <a:pPr algn="ctr" indent="0" marL="0">
              <a:buNone/>
            </a:pPr>
            <a:r>
              <a:rPr lang="en-US" sz="4000" dirty="0">
                <a:solidFill>
                  <a:srgbClr val="FFFFFF"/>
                </a:solidFill>
                <a:latin typeface="Arial" pitchFamily="34" charset="0"/>
                <a:ea typeface="Arial" pitchFamily="34" charset="-122"/>
                <a:cs typeface="Arial" pitchFamily="34" charset="-120"/>
              </a:rPr>
              <a:t>👧</a:t>
            </a:r>
            <a:endParaRPr lang="en-US" sz="4000" dirty="0"/>
          </a:p>
        </p:txBody>
      </p:sp>
      <p:sp>
        <p:nvSpPr>
          <p:cNvPr id="80" name="Text 77"/>
          <p:cNvSpPr txBox="1"/>
          <p:nvPr/>
        </p:nvSpPr>
        <p:spPr>
          <a:xfrm>
            <a:off x="3291840" y="2395728"/>
            <a:ext cx="1280160" cy="1188720"/>
          </a:xfrm>
          <a:prstGeom prst="rect">
            <a:avLst/>
          </a:prstGeom>
          <a:noFill/>
          <a:ln/>
        </p:spPr>
        <p:txBody>
          <a:bodyPr wrap="square" lIns="0" tIns="0" rIns="0" bIns="0" rtlCol="0" anchor="t"/>
          <a:lstStyle/>
          <a:p>
            <a:pPr algn="ctr" indent="0" marL="0">
              <a:buNone/>
            </a:pPr>
            <a:r>
              <a:rPr lang="en-US" sz="6600" dirty="0">
                <a:solidFill>
                  <a:srgbClr val="FFFFFF"/>
                </a:solidFill>
                <a:latin typeface="Arial" pitchFamily="34" charset="0"/>
                <a:ea typeface="Arial" pitchFamily="34" charset="-122"/>
                <a:cs typeface="Arial" pitchFamily="34" charset="-120"/>
              </a:rPr>
              <a:t>🐉</a:t>
            </a:r>
            <a:endParaRPr lang="en-US" sz="6600" dirty="0"/>
          </a:p>
        </p:txBody>
      </p:sp>
      <p:sp>
        <p:nvSpPr>
          <p:cNvPr id="81" name="Shape 78"/>
          <p:cNvSpPr/>
          <p:nvPr/>
        </p:nvSpPr>
        <p:spPr>
          <a:xfrm>
            <a:off x="548640" y="1298448"/>
            <a:ext cx="5486400" cy="438912"/>
          </a:xfrm>
          <a:prstGeom prst="rect">
            <a:avLst/>
          </a:prstGeom>
          <a:solidFill>
            <a:srgbClr val="000000">
              <a:alpha val="55000"/>
            </a:srgbClr>
          </a:solidFill>
          <a:ln/>
        </p:spPr>
      </p:sp>
      <p:sp>
        <p:nvSpPr>
          <p:cNvPr id="82" name="Text 79"/>
          <p:cNvSpPr txBox="1"/>
          <p:nvPr/>
        </p:nvSpPr>
        <p:spPr>
          <a:xfrm>
            <a:off x="713232" y="1335024"/>
            <a:ext cx="5157216" cy="365760"/>
          </a:xfrm>
          <a:prstGeom prst="rect">
            <a:avLst/>
          </a:prstGeom>
          <a:noFill/>
          <a:ln/>
        </p:spPr>
        <p:txBody>
          <a:bodyPr wrap="square" lIns="0" tIns="0" rIns="0" bIns="0" rtlCol="0" anchor="ctr">
            <a:normAutofit/>
          </a:bodyPr>
          <a:lstStyle/>
          <a:p>
            <a:pPr indent="0" marL="0">
              <a:buNone/>
            </a:pPr>
            <a:r>
              <a:rPr lang="en-US" sz="1150" i="1" dirty="0">
                <a:solidFill>
                  <a:srgbClr val="FFFFFF"/>
                </a:solidFill>
                <a:latin typeface="Arial" pitchFamily="34" charset="0"/>
                <a:ea typeface="Arial" pitchFamily="34" charset="-122"/>
                <a:cs typeface="Arial" pitchFamily="34" charset="-120"/>
              </a:rPr>
              <a:t>“Geceydi … bir kız ormana gitti … yağmur başladı … birden bir ejderha!”</a:t>
            </a:r>
            <a:endParaRPr lang="en-US" sz="1150" dirty="0"/>
          </a:p>
        </p:txBody>
      </p:sp>
      <p:sp>
        <p:nvSpPr>
          <p:cNvPr id="83" name="Shape 80"/>
          <p:cNvSpPr/>
          <p:nvPr/>
        </p:nvSpPr>
        <p:spPr>
          <a:xfrm>
            <a:off x="713232" y="3931920"/>
            <a:ext cx="1463040" cy="292608"/>
          </a:xfrm>
          <a:prstGeom prst="roundRect">
            <a:avLst>
              <a:gd name="adj" fmla="val 50000"/>
            </a:avLst>
          </a:prstGeom>
          <a:solidFill>
            <a:srgbClr val="1F2330"/>
          </a:solidFill>
          <a:ln w="12700">
            <a:solidFill>
              <a:srgbClr val="5AD1FF"/>
            </a:solidFill>
            <a:prstDash val="solid"/>
          </a:ln>
        </p:spPr>
      </p:sp>
      <p:sp>
        <p:nvSpPr>
          <p:cNvPr id="84" name="Text 81"/>
          <p:cNvSpPr txBox="1"/>
          <p:nvPr/>
        </p:nvSpPr>
        <p:spPr>
          <a:xfrm>
            <a:off x="713232" y="3931920"/>
            <a:ext cx="1463040" cy="292608"/>
          </a:xfrm>
          <a:prstGeom prst="rect">
            <a:avLst/>
          </a:prstGeom>
          <a:noFill/>
          <a:ln/>
        </p:spPr>
        <p:txBody>
          <a:bodyPr wrap="square" lIns="0" tIns="0" rIns="0" bIns="0" rtlCol="0" anchor="ctr">
            <a:normAutofit/>
          </a:bodyPr>
          <a:lstStyle/>
          <a:p>
            <a:pPr algn="ctr" indent="0" marL="0">
              <a:buNone/>
            </a:pPr>
            <a:r>
              <a:rPr lang="en-US" sz="1000" b="1" dirty="0">
                <a:solidFill>
                  <a:srgbClr val="5AD1FF"/>
                </a:solidFill>
                <a:latin typeface="Arial" pitchFamily="34" charset="0"/>
                <a:ea typeface="Arial" pitchFamily="34" charset="-122"/>
                <a:cs typeface="Arial" pitchFamily="34" charset="-120"/>
              </a:rPr>
              <a:t>🌧 Atmosfer: Yağmur</a:t>
            </a:r>
            <a:endParaRPr lang="en-US" sz="1000" dirty="0"/>
          </a:p>
        </p:txBody>
      </p:sp>
      <p:sp>
        <p:nvSpPr>
          <p:cNvPr id="85" name="Shape 82"/>
          <p:cNvSpPr/>
          <p:nvPr/>
        </p:nvSpPr>
        <p:spPr>
          <a:xfrm>
            <a:off x="548640" y="4425696"/>
            <a:ext cx="5486400" cy="457200"/>
          </a:xfrm>
          <a:prstGeom prst="roundRect">
            <a:avLst>
              <a:gd name="adj" fmla="val 24000"/>
            </a:avLst>
          </a:prstGeom>
          <a:solidFill>
            <a:srgbClr val="1F2330"/>
          </a:solidFill>
          <a:ln w="12700">
            <a:solidFill>
              <a:srgbClr val="1F2330"/>
            </a:solidFill>
            <a:prstDash val="solid"/>
          </a:ln>
        </p:spPr>
      </p:sp>
      <p:sp>
        <p:nvSpPr>
          <p:cNvPr id="86" name="Text 83"/>
          <p:cNvSpPr txBox="1"/>
          <p:nvPr/>
        </p:nvSpPr>
        <p:spPr>
          <a:xfrm>
            <a:off x="713232" y="4453128"/>
            <a:ext cx="5157216" cy="402336"/>
          </a:xfrm>
          <a:prstGeom prst="rect">
            <a:avLst/>
          </a:prstGeom>
          <a:noFill/>
          <a:ln/>
        </p:spPr>
        <p:txBody>
          <a:bodyPr wrap="square" lIns="0" tIns="0" rIns="0" bIns="0" rtlCol="0" anchor="ctr">
            <a:normAutofit/>
          </a:bodyPr>
          <a:lstStyle/>
          <a:p>
            <a:pPr indent="0" marL="0">
              <a:buNone/>
            </a:pPr>
            <a:r>
              <a:rPr lang="en-US" sz="1000" dirty="0">
                <a:solidFill>
                  <a:srgbClr val="2DFFB5"/>
                </a:solidFill>
                <a:latin typeface="Courier New" pitchFamily="34" charset="0"/>
                <a:ea typeface="Courier New" pitchFamily="34" charset="-122"/>
                <a:cs typeface="Courier New" pitchFamily="34" charset="-120"/>
              </a:rPr>
              <a:t>{yer:"orman", zaman:"gece", hava:"yağmur", kişiler:[👧,🐉], ton:"gerilim"}</a:t>
            </a:r>
            <a:endParaRPr lang="en-US" sz="1000" dirty="0"/>
          </a:p>
        </p:txBody>
      </p:sp>
      <p:sp>
        <p:nvSpPr>
          <p:cNvPr id="87" name="Text 84"/>
          <p:cNvSpPr txBox="1"/>
          <p:nvPr/>
        </p:nvSpPr>
        <p:spPr>
          <a:xfrm>
            <a:off x="548640" y="4965192"/>
            <a:ext cx="5486400" cy="274320"/>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Arial" pitchFamily="34" charset="0"/>
                <a:ea typeface="Arial" pitchFamily="34" charset="-122"/>
                <a:cs typeface="Arial" pitchFamily="34" charset="-120"/>
              </a:rPr>
              <a:t>Saatlik eşlik videosu maliyeti</a:t>
            </a:r>
            <a:endParaRPr lang="en-US" sz="1100" dirty="0"/>
          </a:p>
        </p:txBody>
      </p:sp>
      <p:sp>
        <p:nvSpPr>
          <p:cNvPr id="88" name="Text 85"/>
          <p:cNvSpPr txBox="1"/>
          <p:nvPr/>
        </p:nvSpPr>
        <p:spPr>
          <a:xfrm>
            <a:off x="548640" y="5285232"/>
            <a:ext cx="1828800" cy="219456"/>
          </a:xfrm>
          <a:prstGeom prst="rect">
            <a:avLst/>
          </a:prstGeom>
          <a:noFill/>
          <a:ln/>
        </p:spPr>
        <p:txBody>
          <a:bodyPr wrap="square" lIns="0" tIns="0" rIns="0" bIns="0" rtlCol="0" anchor="ctr">
            <a:normAutofit/>
          </a:bodyPr>
          <a:lstStyle/>
          <a:p>
            <a:pPr algn="r" indent="0" marL="0">
              <a:buNone/>
            </a:pPr>
            <a:r>
              <a:rPr lang="en-US" sz="950" dirty="0">
                <a:solidFill>
                  <a:srgbClr val="9AA3B5"/>
                </a:solidFill>
                <a:latin typeface="Arial" pitchFamily="34" charset="0"/>
                <a:ea typeface="Arial" pitchFamily="34" charset="-122"/>
                <a:cs typeface="Arial" pitchFamily="34" charset="-120"/>
              </a:rPr>
              <a:t>Video yapay zekâsı</a:t>
            </a:r>
            <a:endParaRPr lang="en-US" sz="950" dirty="0"/>
          </a:p>
        </p:txBody>
      </p:sp>
      <p:sp>
        <p:nvSpPr>
          <p:cNvPr id="89" name="Shape 86"/>
          <p:cNvSpPr/>
          <p:nvPr/>
        </p:nvSpPr>
        <p:spPr>
          <a:xfrm>
            <a:off x="2468880" y="5312664"/>
            <a:ext cx="1885193" cy="164592"/>
          </a:xfrm>
          <a:prstGeom prst="rect">
            <a:avLst/>
          </a:prstGeom>
          <a:solidFill>
            <a:srgbClr val="FF2D75"/>
          </a:solidFill>
          <a:ln/>
        </p:spPr>
      </p:sp>
      <p:sp>
        <p:nvSpPr>
          <p:cNvPr id="90" name="Shape 87"/>
          <p:cNvSpPr/>
          <p:nvPr/>
        </p:nvSpPr>
        <p:spPr>
          <a:xfrm>
            <a:off x="4354073" y="5312664"/>
            <a:ext cx="681098" cy="164592"/>
          </a:xfrm>
          <a:prstGeom prst="rect">
            <a:avLst/>
          </a:prstGeom>
          <a:solidFill>
            <a:srgbClr val="FF2D75">
              <a:alpha val="45000"/>
            </a:srgbClr>
          </a:solidFill>
          <a:ln/>
        </p:spPr>
      </p:sp>
      <p:sp>
        <p:nvSpPr>
          <p:cNvPr id="91" name="Text 88"/>
          <p:cNvSpPr txBox="1"/>
          <p:nvPr/>
        </p:nvSpPr>
        <p:spPr>
          <a:xfrm>
            <a:off x="5108323" y="5285232"/>
            <a:ext cx="1463040" cy="219456"/>
          </a:xfrm>
          <a:prstGeom prst="rect">
            <a:avLst/>
          </a:prstGeom>
          <a:noFill/>
          <a:ln/>
        </p:spPr>
        <p:txBody>
          <a:bodyPr wrap="square" lIns="0" tIns="0" rIns="0" bIns="0" rtlCol="0" anchor="ctr">
            <a:normAutofit/>
          </a:bodyPr>
          <a:lstStyle/>
          <a:p>
            <a:pPr indent="0" marL="0">
              <a:buNone/>
            </a:pPr>
            <a:r>
              <a:rPr lang="en-US" sz="950" b="1" dirty="0">
                <a:solidFill>
                  <a:srgbClr val="FF2D75"/>
                </a:solidFill>
                <a:latin typeface="Arial" pitchFamily="34" charset="0"/>
                <a:ea typeface="Arial" pitchFamily="34" charset="-122"/>
                <a:cs typeface="Arial" pitchFamily="34" charset="-120"/>
              </a:rPr>
              <a:t>180–2.700 USD</a:t>
            </a:r>
            <a:endParaRPr lang="en-US" sz="950" dirty="0"/>
          </a:p>
        </p:txBody>
      </p:sp>
      <p:sp>
        <p:nvSpPr>
          <p:cNvPr id="92" name="Text 89"/>
          <p:cNvSpPr txBox="1"/>
          <p:nvPr/>
        </p:nvSpPr>
        <p:spPr>
          <a:xfrm>
            <a:off x="548640" y="5532120"/>
            <a:ext cx="1828800" cy="219456"/>
          </a:xfrm>
          <a:prstGeom prst="rect">
            <a:avLst/>
          </a:prstGeom>
          <a:noFill/>
          <a:ln/>
        </p:spPr>
        <p:txBody>
          <a:bodyPr wrap="square" lIns="0" tIns="0" rIns="0" bIns="0" rtlCol="0" anchor="ctr">
            <a:normAutofit/>
          </a:bodyPr>
          <a:lstStyle/>
          <a:p>
            <a:pPr algn="r" indent="0" marL="0">
              <a:buNone/>
            </a:pPr>
            <a:r>
              <a:rPr lang="en-US" sz="950" dirty="0">
                <a:solidFill>
                  <a:srgbClr val="9AA3B5"/>
                </a:solidFill>
                <a:latin typeface="Arial" pitchFamily="34" charset="0"/>
                <a:ea typeface="Arial" pitchFamily="34" charset="-122"/>
                <a:cs typeface="Arial" pitchFamily="34" charset="-120"/>
              </a:rPr>
              <a:t>LiveFX + metin YZ</a:t>
            </a:r>
            <a:endParaRPr lang="en-US" sz="950" dirty="0"/>
          </a:p>
        </p:txBody>
      </p:sp>
      <p:sp>
        <p:nvSpPr>
          <p:cNvPr id="93" name="Shape 90"/>
          <p:cNvSpPr/>
          <p:nvPr/>
        </p:nvSpPr>
        <p:spPr>
          <a:xfrm>
            <a:off x="2468880" y="5559552"/>
            <a:ext cx="230455" cy="164592"/>
          </a:xfrm>
          <a:prstGeom prst="rect">
            <a:avLst/>
          </a:prstGeom>
          <a:solidFill>
            <a:srgbClr val="FFD166"/>
          </a:solidFill>
          <a:ln/>
        </p:spPr>
      </p:sp>
      <p:sp>
        <p:nvSpPr>
          <p:cNvPr id="94" name="Shape 91"/>
          <p:cNvSpPr/>
          <p:nvPr/>
        </p:nvSpPr>
        <p:spPr>
          <a:xfrm>
            <a:off x="2699335" y="5559552"/>
            <a:ext cx="276310" cy="164592"/>
          </a:xfrm>
          <a:prstGeom prst="rect">
            <a:avLst/>
          </a:prstGeom>
          <a:solidFill>
            <a:srgbClr val="FFD166">
              <a:alpha val="45000"/>
            </a:srgbClr>
          </a:solidFill>
          <a:ln/>
        </p:spPr>
      </p:sp>
      <p:sp>
        <p:nvSpPr>
          <p:cNvPr id="95" name="Text 92"/>
          <p:cNvSpPr txBox="1"/>
          <p:nvPr/>
        </p:nvSpPr>
        <p:spPr>
          <a:xfrm>
            <a:off x="3048797" y="5532120"/>
            <a:ext cx="1463040" cy="219456"/>
          </a:xfrm>
          <a:prstGeom prst="rect">
            <a:avLst/>
          </a:prstGeom>
          <a:noFill/>
          <a:ln/>
        </p:spPr>
        <p:txBody>
          <a:bodyPr wrap="square" lIns="0" tIns="0" rIns="0" bIns="0" rtlCol="0" anchor="ctr">
            <a:normAutofit/>
          </a:bodyPr>
          <a:lstStyle/>
          <a:p>
            <a:pPr indent="0" marL="0">
              <a:buNone/>
            </a:pPr>
            <a:r>
              <a:rPr lang="en-US" sz="950" b="1" dirty="0">
                <a:solidFill>
                  <a:srgbClr val="FFD166"/>
                </a:solidFill>
                <a:latin typeface="Arial" pitchFamily="34" charset="0"/>
                <a:ea typeface="Arial" pitchFamily="34" charset="-122"/>
                <a:cs typeface="Arial" pitchFamily="34" charset="-120"/>
              </a:rPr>
              <a:t>0,25–0,75 USD</a:t>
            </a:r>
            <a:endParaRPr lang="en-US" sz="950" dirty="0"/>
          </a:p>
        </p:txBody>
      </p:sp>
      <p:sp>
        <p:nvSpPr>
          <p:cNvPr id="96" name="Text 93"/>
          <p:cNvSpPr txBox="1"/>
          <p:nvPr/>
        </p:nvSpPr>
        <p:spPr>
          <a:xfrm>
            <a:off x="548640" y="5779008"/>
            <a:ext cx="1828800" cy="219456"/>
          </a:xfrm>
          <a:prstGeom prst="rect">
            <a:avLst/>
          </a:prstGeom>
          <a:noFill/>
          <a:ln/>
        </p:spPr>
        <p:txBody>
          <a:bodyPr wrap="square" lIns="0" tIns="0" rIns="0" bIns="0" rtlCol="0" anchor="ctr">
            <a:normAutofit/>
          </a:bodyPr>
          <a:lstStyle/>
          <a:p>
            <a:pPr algn="r" indent="0" marL="0">
              <a:buNone/>
            </a:pPr>
            <a:r>
              <a:rPr lang="en-US" sz="950" dirty="0">
                <a:solidFill>
                  <a:srgbClr val="9AA3B5"/>
                </a:solidFill>
                <a:latin typeface="Arial" pitchFamily="34" charset="0"/>
                <a:ea typeface="Arial" pitchFamily="34" charset="-122"/>
                <a:cs typeface="Arial" pitchFamily="34" charset="-120"/>
              </a:rPr>
              <a:t>LiveFX, YZ'siz</a:t>
            </a:r>
            <a:endParaRPr lang="en-US" sz="950" dirty="0"/>
          </a:p>
        </p:txBody>
      </p:sp>
      <p:sp>
        <p:nvSpPr>
          <p:cNvPr id="97" name="Shape 94"/>
          <p:cNvSpPr/>
          <p:nvPr/>
        </p:nvSpPr>
        <p:spPr>
          <a:xfrm>
            <a:off x="2468880" y="5806440"/>
            <a:ext cx="54864" cy="164592"/>
          </a:xfrm>
          <a:prstGeom prst="rect">
            <a:avLst/>
          </a:prstGeom>
          <a:solidFill>
            <a:srgbClr val="2DFFB5"/>
          </a:solidFill>
          <a:ln/>
        </p:spPr>
      </p:sp>
      <p:sp>
        <p:nvSpPr>
          <p:cNvPr id="98" name="Text 95"/>
          <p:cNvSpPr txBox="1"/>
          <p:nvPr/>
        </p:nvSpPr>
        <p:spPr>
          <a:xfrm>
            <a:off x="2596896" y="5779008"/>
            <a:ext cx="1463040" cy="219456"/>
          </a:xfrm>
          <a:prstGeom prst="rect">
            <a:avLst/>
          </a:prstGeom>
          <a:noFill/>
          <a:ln/>
        </p:spPr>
        <p:txBody>
          <a:bodyPr wrap="square" lIns="0" tIns="0" rIns="0" bIns="0" rtlCol="0" anchor="ctr">
            <a:normAutofit/>
          </a:bodyPr>
          <a:lstStyle/>
          <a:p>
            <a:pPr indent="0" marL="0">
              <a:buNone/>
            </a:pPr>
            <a:r>
              <a:rPr lang="en-US" sz="950" b="1" dirty="0">
                <a:solidFill>
                  <a:srgbClr val="2DFFB5"/>
                </a:solidFill>
                <a:latin typeface="Arial" pitchFamily="34" charset="0"/>
                <a:ea typeface="Arial" pitchFamily="34" charset="-122"/>
                <a:cs typeface="Arial" pitchFamily="34" charset="-120"/>
              </a:rPr>
              <a:t>0 €</a:t>
            </a:r>
            <a:endParaRPr lang="en-US" sz="950" dirty="0"/>
          </a:p>
        </p:txBody>
      </p:sp>
      <p:sp>
        <p:nvSpPr>
          <p:cNvPr id="99" name="Text 96"/>
          <p:cNvSpPr txBox="1"/>
          <p:nvPr/>
        </p:nvSpPr>
        <p:spPr>
          <a:xfrm>
            <a:off x="548640" y="6044184"/>
            <a:ext cx="5486400" cy="365760"/>
          </a:xfrm>
          <a:prstGeom prst="rect">
            <a:avLst/>
          </a:prstGeom>
          <a:noFill/>
          <a:ln/>
        </p:spPr>
        <p:txBody>
          <a:bodyPr wrap="square" lIns="0" tIns="0" rIns="0" bIns="0" rtlCol="0" anchor="t">
            <a:normAutofit/>
          </a:bodyPr>
          <a:lstStyle/>
          <a:p>
            <a:pPr indent="0" marL="0">
              <a:buNone/>
            </a:pPr>
            <a:r>
              <a:rPr lang="en-US" sz="1000" i="1" dirty="0">
                <a:solidFill>
                  <a:srgbClr val="9AA3B5"/>
                </a:solidFill>
                <a:latin typeface="Arial" pitchFamily="34" charset="0"/>
                <a:ea typeface="Arial" pitchFamily="34" charset="-122"/>
                <a:cs typeface="Arial" pitchFamily="34" charset="-120"/>
              </a:rPr>
              <a:t>logaritmik ölçek · video yapay zekâsı liste fiyatı saniyesi 0,05–0,75 USD [Kaynak 24, 25] · LiveFX yapay zekâ maliyeti: proje ölçümü</a:t>
            </a:r>
            <a:endParaRPr lang="en-US" sz="1000" dirty="0"/>
          </a:p>
        </p:txBody>
      </p:sp>
      <p:sp>
        <p:nvSpPr>
          <p:cNvPr id="100" name="Text 97"/>
          <p:cNvSpPr txBox="1"/>
          <p:nvPr/>
        </p:nvSpPr>
        <p:spPr>
          <a:xfrm>
            <a:off x="6355080" y="1325880"/>
            <a:ext cx="5287975" cy="274320"/>
          </a:xfrm>
          <a:prstGeom prst="rect">
            <a:avLst/>
          </a:prstGeom>
          <a:noFill/>
          <a:ln/>
        </p:spPr>
        <p:txBody>
          <a:bodyPr wrap="square" lIns="0" tIns="0" rIns="0" bIns="0" rtlCol="0" anchor="t">
            <a:normAutofit/>
          </a:bodyPr>
          <a:lstStyle/>
          <a:p>
            <a:pPr indent="0" marL="0">
              <a:buNone/>
            </a:pPr>
            <a:r>
              <a:rPr lang="en-US" sz="1100" b="1" dirty="0">
                <a:solidFill>
                  <a:srgbClr val="2DFFB5"/>
                </a:solidFill>
                <a:latin typeface="Arial" pitchFamily="34" charset="0"/>
                <a:ea typeface="Arial" pitchFamily="34" charset="-122"/>
                <a:cs typeface="Arial" pitchFamily="34" charset="-120"/>
              </a:rPr>
              <a:t>Her cümle dünya durumunu değiştirir:</a:t>
            </a:r>
            <a:endParaRPr lang="en-US" sz="1100" dirty="0"/>
          </a:p>
        </p:txBody>
      </p:sp>
      <p:sp>
        <p:nvSpPr>
          <p:cNvPr id="101" name="Shape 98"/>
          <p:cNvSpPr/>
          <p:nvPr/>
        </p:nvSpPr>
        <p:spPr>
          <a:xfrm>
            <a:off x="6355080" y="1645920"/>
            <a:ext cx="685800" cy="292608"/>
          </a:xfrm>
          <a:prstGeom prst="roundRect">
            <a:avLst>
              <a:gd name="adj" fmla="val 50000"/>
            </a:avLst>
          </a:prstGeom>
          <a:solidFill>
            <a:srgbClr val="1F2330"/>
          </a:solidFill>
          <a:ln w="12700">
            <a:solidFill>
              <a:srgbClr val="2DFFB5"/>
            </a:solidFill>
            <a:prstDash val="solid"/>
          </a:ln>
        </p:spPr>
      </p:sp>
      <p:sp>
        <p:nvSpPr>
          <p:cNvPr id="102" name="Text 99"/>
          <p:cNvSpPr txBox="1"/>
          <p:nvPr/>
        </p:nvSpPr>
        <p:spPr>
          <a:xfrm>
            <a:off x="6355080" y="1645920"/>
            <a:ext cx="68580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Yer</a:t>
            </a:r>
            <a:endParaRPr lang="en-US" sz="950" dirty="0"/>
          </a:p>
        </p:txBody>
      </p:sp>
      <p:sp>
        <p:nvSpPr>
          <p:cNvPr id="103" name="Shape 100"/>
          <p:cNvSpPr/>
          <p:nvPr/>
        </p:nvSpPr>
        <p:spPr>
          <a:xfrm>
            <a:off x="7132320" y="1645920"/>
            <a:ext cx="777240" cy="292608"/>
          </a:xfrm>
          <a:prstGeom prst="roundRect">
            <a:avLst>
              <a:gd name="adj" fmla="val 50000"/>
            </a:avLst>
          </a:prstGeom>
          <a:solidFill>
            <a:srgbClr val="1F2330"/>
          </a:solidFill>
          <a:ln w="12700">
            <a:solidFill>
              <a:srgbClr val="2DFFB5"/>
            </a:solidFill>
            <a:prstDash val="solid"/>
          </a:ln>
        </p:spPr>
      </p:sp>
      <p:sp>
        <p:nvSpPr>
          <p:cNvPr id="104" name="Text 101"/>
          <p:cNvSpPr txBox="1"/>
          <p:nvPr/>
        </p:nvSpPr>
        <p:spPr>
          <a:xfrm>
            <a:off x="7132320" y="1645920"/>
            <a:ext cx="77724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Zaman</a:t>
            </a:r>
            <a:endParaRPr lang="en-US" sz="950" dirty="0"/>
          </a:p>
        </p:txBody>
      </p:sp>
      <p:sp>
        <p:nvSpPr>
          <p:cNvPr id="105" name="Shape 102"/>
          <p:cNvSpPr/>
          <p:nvPr/>
        </p:nvSpPr>
        <p:spPr>
          <a:xfrm>
            <a:off x="8001000" y="1645920"/>
            <a:ext cx="685800" cy="292608"/>
          </a:xfrm>
          <a:prstGeom prst="roundRect">
            <a:avLst>
              <a:gd name="adj" fmla="val 50000"/>
            </a:avLst>
          </a:prstGeom>
          <a:solidFill>
            <a:srgbClr val="1F2330"/>
          </a:solidFill>
          <a:ln w="12700">
            <a:solidFill>
              <a:srgbClr val="2DFFB5"/>
            </a:solidFill>
            <a:prstDash val="solid"/>
          </a:ln>
        </p:spPr>
      </p:sp>
      <p:sp>
        <p:nvSpPr>
          <p:cNvPr id="106" name="Text 103"/>
          <p:cNvSpPr txBox="1"/>
          <p:nvPr/>
        </p:nvSpPr>
        <p:spPr>
          <a:xfrm>
            <a:off x="8001000" y="1645920"/>
            <a:ext cx="68580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Hava</a:t>
            </a:r>
            <a:endParaRPr lang="en-US" sz="950" dirty="0"/>
          </a:p>
        </p:txBody>
      </p:sp>
      <p:sp>
        <p:nvSpPr>
          <p:cNvPr id="107" name="Shape 104"/>
          <p:cNvSpPr/>
          <p:nvPr/>
        </p:nvSpPr>
        <p:spPr>
          <a:xfrm>
            <a:off x="8778240" y="1645920"/>
            <a:ext cx="1051560" cy="292608"/>
          </a:xfrm>
          <a:prstGeom prst="roundRect">
            <a:avLst>
              <a:gd name="adj" fmla="val 50000"/>
            </a:avLst>
          </a:prstGeom>
          <a:solidFill>
            <a:srgbClr val="1F2330"/>
          </a:solidFill>
          <a:ln w="12700">
            <a:solidFill>
              <a:srgbClr val="2DFFB5"/>
            </a:solidFill>
            <a:prstDash val="solid"/>
          </a:ln>
        </p:spPr>
      </p:sp>
      <p:sp>
        <p:nvSpPr>
          <p:cNvPr id="108" name="Text 105"/>
          <p:cNvSpPr txBox="1"/>
          <p:nvPr/>
        </p:nvSpPr>
        <p:spPr>
          <a:xfrm>
            <a:off x="8778240" y="1645920"/>
            <a:ext cx="105156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Karakter</a:t>
            </a:r>
            <a:endParaRPr lang="en-US" sz="950" dirty="0"/>
          </a:p>
        </p:txBody>
      </p:sp>
      <p:sp>
        <p:nvSpPr>
          <p:cNvPr id="109" name="Shape 106"/>
          <p:cNvSpPr/>
          <p:nvPr/>
        </p:nvSpPr>
        <p:spPr>
          <a:xfrm>
            <a:off x="9921240" y="1645920"/>
            <a:ext cx="777240" cy="292608"/>
          </a:xfrm>
          <a:prstGeom prst="roundRect">
            <a:avLst>
              <a:gd name="adj" fmla="val 50000"/>
            </a:avLst>
          </a:prstGeom>
          <a:solidFill>
            <a:srgbClr val="1F2330"/>
          </a:solidFill>
          <a:ln w="12700">
            <a:solidFill>
              <a:srgbClr val="2DFFB5"/>
            </a:solidFill>
            <a:prstDash val="solid"/>
          </a:ln>
        </p:spPr>
      </p:sp>
      <p:sp>
        <p:nvSpPr>
          <p:cNvPr id="110" name="Text 107"/>
          <p:cNvSpPr txBox="1"/>
          <p:nvPr/>
        </p:nvSpPr>
        <p:spPr>
          <a:xfrm>
            <a:off x="9921240" y="1645920"/>
            <a:ext cx="77724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Nesne</a:t>
            </a:r>
            <a:endParaRPr lang="en-US" sz="950" dirty="0"/>
          </a:p>
        </p:txBody>
      </p:sp>
      <p:sp>
        <p:nvSpPr>
          <p:cNvPr id="111" name="Shape 108"/>
          <p:cNvSpPr/>
          <p:nvPr/>
        </p:nvSpPr>
        <p:spPr>
          <a:xfrm>
            <a:off x="10789920" y="1645920"/>
            <a:ext cx="777240" cy="292608"/>
          </a:xfrm>
          <a:prstGeom prst="roundRect">
            <a:avLst>
              <a:gd name="adj" fmla="val 50000"/>
            </a:avLst>
          </a:prstGeom>
          <a:solidFill>
            <a:srgbClr val="1F2330"/>
          </a:solidFill>
          <a:ln w="12700">
            <a:solidFill>
              <a:srgbClr val="2DFFB5"/>
            </a:solidFill>
            <a:prstDash val="solid"/>
          </a:ln>
        </p:spPr>
      </p:sp>
      <p:sp>
        <p:nvSpPr>
          <p:cNvPr id="112" name="Text 109"/>
          <p:cNvSpPr txBox="1"/>
          <p:nvPr/>
        </p:nvSpPr>
        <p:spPr>
          <a:xfrm>
            <a:off x="10789920" y="1645920"/>
            <a:ext cx="77724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Eylem</a:t>
            </a:r>
            <a:endParaRPr lang="en-US" sz="950" dirty="0"/>
          </a:p>
        </p:txBody>
      </p:sp>
      <p:sp>
        <p:nvSpPr>
          <p:cNvPr id="113" name="Shape 110"/>
          <p:cNvSpPr/>
          <p:nvPr/>
        </p:nvSpPr>
        <p:spPr>
          <a:xfrm>
            <a:off x="6355080" y="2011680"/>
            <a:ext cx="1051560" cy="292608"/>
          </a:xfrm>
          <a:prstGeom prst="roundRect">
            <a:avLst>
              <a:gd name="adj" fmla="val 50000"/>
            </a:avLst>
          </a:prstGeom>
          <a:solidFill>
            <a:srgbClr val="1F2330"/>
          </a:solidFill>
          <a:ln w="12700">
            <a:solidFill>
              <a:srgbClr val="2DFFB5"/>
            </a:solidFill>
            <a:prstDash val="solid"/>
          </a:ln>
        </p:spPr>
      </p:sp>
      <p:sp>
        <p:nvSpPr>
          <p:cNvPr id="114" name="Text 111"/>
          <p:cNvSpPr txBox="1"/>
          <p:nvPr/>
        </p:nvSpPr>
        <p:spPr>
          <a:xfrm>
            <a:off x="6355080" y="2011680"/>
            <a:ext cx="1051560" cy="29260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Ruh hâli</a:t>
            </a:r>
            <a:endParaRPr lang="en-US" sz="950" dirty="0"/>
          </a:p>
        </p:txBody>
      </p:sp>
      <p:sp>
        <p:nvSpPr>
          <p:cNvPr id="115" name="Text 112"/>
          <p:cNvSpPr txBox="1"/>
          <p:nvPr/>
        </p:nvSpPr>
        <p:spPr>
          <a:xfrm>
            <a:off x="6355080" y="2514600"/>
            <a:ext cx="5287975" cy="2468880"/>
          </a:xfrm>
          <a:prstGeom prst="rect">
            <a:avLst/>
          </a:prstGeom>
          <a:noFill/>
          <a:ln/>
        </p:spPr>
        <p:txBody>
          <a:bodyPr wrap="square" lIns="0" tIns="0" rIns="0" bIns="0" rtlCol="0" anchor="t">
            <a:normAutofit/>
          </a:bodyPr>
          <a:lstStyle/>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Yayıncı kitap okur ya da anlatır – altında cümle cümle animasyonlu bir film oluşur: gece, orman, yağmur, ejderha.</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Tarayıcıda OBS'in yanında 60 fps, çevrimdışı ve deterministik: aynı zaman çizelgesi, aynı görüntü – her anlatı anında klibe dönüşür.</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Video yapay zekâsından 240 ile 10.000 kattan fazla ucuz – ve canlı ancak böyle mümkün.</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Sesli okuma, sesli kitap ve podcast formatları için: Almanya sesli kitap 374 milyon €, +%13 [Kaynak 19]; YouTube'da ayda &gt; 1 milyar podcast izleyicisi [Kaynak 21].</a:t>
            </a:r>
            <a:endParaRPr lang="en-US" sz="1400" dirty="0"/>
          </a:p>
        </p:txBody>
      </p:sp>
      <p:sp>
        <p:nvSpPr>
          <p:cNvPr id="116" name="Shape 113"/>
          <p:cNvSpPr/>
          <p:nvPr/>
        </p:nvSpPr>
        <p:spPr>
          <a:xfrm>
            <a:off x="6355080" y="5120640"/>
            <a:ext cx="5287975" cy="1143000"/>
          </a:xfrm>
          <a:prstGeom prst="roundRect">
            <a:avLst>
              <a:gd name="adj" fmla="val 9600"/>
            </a:avLst>
          </a:prstGeom>
          <a:solidFill>
            <a:srgbClr val="1F2330"/>
          </a:solidFill>
          <a:ln w="12700">
            <a:solidFill>
              <a:srgbClr val="1F2330"/>
            </a:solidFill>
            <a:prstDash val="solid"/>
          </a:ln>
        </p:spPr>
      </p:sp>
      <p:sp>
        <p:nvSpPr>
          <p:cNvPr id="117" name="Text 114"/>
          <p:cNvSpPr txBox="1"/>
          <p:nvPr/>
        </p:nvSpPr>
        <p:spPr>
          <a:xfrm>
            <a:off x="6556248" y="5193792"/>
            <a:ext cx="4885639" cy="274320"/>
          </a:xfrm>
          <a:prstGeom prst="rect">
            <a:avLst/>
          </a:prstGeom>
          <a:noFill/>
          <a:ln/>
        </p:spPr>
        <p:txBody>
          <a:bodyPr wrap="square" lIns="0" tIns="0" rIns="0" bIns="0" rtlCol="0" anchor="t">
            <a:normAutofit/>
          </a:bodyPr>
          <a:lstStyle/>
          <a:p>
            <a:pPr indent="0" marL="0">
              <a:buNone/>
            </a:pPr>
            <a:r>
              <a:rPr lang="en-US" sz="1100" b="1" dirty="0">
                <a:solidFill>
                  <a:srgbClr val="FFD166"/>
                </a:solidFill>
                <a:latin typeface="Arial" pitchFamily="34" charset="0"/>
                <a:ea typeface="Arial" pitchFamily="34" charset="-122"/>
                <a:cs typeface="Arial" pitchFamily="34" charset="-120"/>
              </a:rPr>
              <a:t>Bilerek resimli kitap, fotogerçekçilik değil</a:t>
            </a:r>
            <a:endParaRPr lang="en-US" sz="1100" dirty="0"/>
          </a:p>
        </p:txBody>
      </p:sp>
      <p:sp>
        <p:nvSpPr>
          <p:cNvPr id="118" name="Text 115"/>
          <p:cNvSpPr txBox="1"/>
          <p:nvPr/>
        </p:nvSpPr>
        <p:spPr>
          <a:xfrm>
            <a:off x="6556248" y="5468112"/>
            <a:ext cx="4885639" cy="749808"/>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Arial" pitchFamily="34" charset="0"/>
                <a:ea typeface="Arial" pitchFamily="34" charset="-122"/>
                <a:cs typeface="Arial" pitchFamily="34" charset="-120"/>
              </a:rPr>
              <a:t>Emoji/SVG ve parçacıklardan stilize bir dünya – tam da bu yüzden canlı, ucuz ve çocuk dostu. İsteğe bağlı yapay zekâ yalnızca sahneyi seçer, görüntü üretmez.</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B HATTI · KELİME-RESİM</a:t>
            </a:r>
            <a:endParaRPr lang="en-US" sz="1000" dirty="0"/>
          </a:p>
        </p:txBody>
      </p:sp>
      <p:sp>
        <p:nvSpPr>
          <p:cNvPr id="3" name="Titel"/>
          <p:cNvSpPr txBox="1"/>
          <p:nvPr/>
        </p:nvSpPr>
        <p:spPr>
          <a:xfrm>
            <a:off x="548640" y="438912"/>
            <a:ext cx="963137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Dil öğrenme ve eğitim: her kelime bir resim</a:t>
            </a:r>
            <a:endParaRPr lang="en-US" sz="3200" dirty="0"/>
          </a:p>
        </p:txBody>
      </p:sp>
      <p:sp>
        <p:nvSpPr>
          <p:cNvPr id="4" name="Vision-Badge"/>
          <p:cNvSpPr/>
          <p:nvPr/>
        </p:nvSpPr>
        <p:spPr>
          <a:xfrm>
            <a:off x="10472623" y="182880"/>
            <a:ext cx="1170432" cy="310896"/>
          </a:xfrm>
          <a:prstGeom prst="roundRect">
            <a:avLst>
              <a:gd name="adj" fmla="val 50000"/>
            </a:avLst>
          </a:prstGeom>
          <a:solidFill>
            <a:srgbClr val="2A1530"/>
          </a:solidFill>
          <a:ln w="15875">
            <a:solidFill>
              <a:srgbClr val="FF2D75"/>
            </a:solidFill>
            <a:prstDash val="solid"/>
          </a:ln>
        </p:spPr>
      </p:sp>
      <p:sp>
        <p:nvSpPr>
          <p:cNvPr id="5" name="Text 3"/>
          <p:cNvSpPr txBox="1"/>
          <p:nvPr/>
        </p:nvSpPr>
        <p:spPr>
          <a:xfrm>
            <a:off x="10472623" y="182880"/>
            <a:ext cx="1170432" cy="310896"/>
          </a:xfrm>
          <a:prstGeom prst="rect">
            <a:avLst/>
          </a:prstGeom>
          <a:noFill/>
          <a:ln/>
        </p:spPr>
        <p:txBody>
          <a:bodyPr wrap="square" lIns="0" tIns="0" rIns="0" bIns="0" rtlCol="0" anchor="ctr"/>
          <a:lstStyle/>
          <a:p>
            <a:pPr algn="ctr" indent="0" marL="0">
              <a:buNone/>
            </a:pPr>
            <a:r>
              <a:rPr lang="en-US" sz="1000" b="1" spc="200" kern="0" dirty="0">
                <a:solidFill>
                  <a:srgbClr val="FF2D75"/>
                </a:solidFill>
                <a:latin typeface="Arial" pitchFamily="34" charset="0"/>
                <a:ea typeface="Arial" pitchFamily="34" charset="-122"/>
                <a:cs typeface="Arial" pitchFamily="34" charset="-120"/>
              </a:rPr>
              <a:t>✦ VİZYON</a:t>
            </a:r>
            <a:endParaRPr lang="en-US" sz="1000" dirty="0"/>
          </a:p>
        </p:txBody>
      </p:sp>
      <p:sp>
        <p:nvSpPr>
          <p:cNvPr id="6"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14</a:t>
            </a:r>
            <a:endParaRPr lang="en-US" sz="900" dirty="0"/>
          </a:p>
        </p:txBody>
      </p:sp>
      <p:sp>
        <p:nvSpPr>
          <p:cNvPr id="8" name="WortBild-Karte"/>
          <p:cNvSpPr/>
          <p:nvPr/>
        </p:nvSpPr>
        <p:spPr>
          <a:xfrm>
            <a:off x="548640" y="1325880"/>
            <a:ext cx="4846320" cy="3520440"/>
          </a:xfrm>
          <a:prstGeom prst="roundRect">
            <a:avLst>
              <a:gd name="adj" fmla="val 5714"/>
            </a:avLst>
          </a:prstGeom>
          <a:solidFill>
            <a:srgbClr val="FFFFFF"/>
          </a:solidFill>
          <a:ln w="31750">
            <a:solidFill>
              <a:srgbClr val="FFD166"/>
            </a:solidFill>
            <a:prstDash val="solid"/>
          </a:ln>
        </p:spPr>
      </p:sp>
      <p:sp>
        <p:nvSpPr>
          <p:cNvPr id="9" name="Text 6"/>
          <p:cNvSpPr txBox="1"/>
          <p:nvPr/>
        </p:nvSpPr>
        <p:spPr>
          <a:xfrm>
            <a:off x="548640" y="1435608"/>
            <a:ext cx="4846320" cy="1143000"/>
          </a:xfrm>
          <a:prstGeom prst="rect">
            <a:avLst/>
          </a:prstGeom>
          <a:noFill/>
          <a:ln/>
        </p:spPr>
        <p:txBody>
          <a:bodyPr wrap="square" lIns="0" tIns="0" rIns="0" bIns="0" rtlCol="0" anchor="t"/>
          <a:lstStyle/>
          <a:p>
            <a:pPr algn="ctr" indent="0" marL="0">
              <a:buNone/>
            </a:pPr>
            <a:r>
              <a:rPr lang="en-US" sz="7200" dirty="0">
                <a:solidFill>
                  <a:srgbClr val="FFFFFF"/>
                </a:solidFill>
                <a:latin typeface="Arial" pitchFamily="34" charset="0"/>
                <a:ea typeface="Arial" pitchFamily="34" charset="-122"/>
                <a:cs typeface="Arial" pitchFamily="34" charset="-120"/>
              </a:rPr>
              <a:t>🍎</a:t>
            </a:r>
            <a:endParaRPr lang="en-US" sz="7200" dirty="0"/>
          </a:p>
        </p:txBody>
      </p:sp>
      <p:sp>
        <p:nvSpPr>
          <p:cNvPr id="10" name="Text 7"/>
          <p:cNvSpPr txBox="1"/>
          <p:nvPr/>
        </p:nvSpPr>
        <p:spPr>
          <a:xfrm>
            <a:off x="731520" y="2587752"/>
            <a:ext cx="4480560" cy="777240"/>
          </a:xfrm>
          <a:prstGeom prst="rect">
            <a:avLst/>
          </a:prstGeom>
          <a:noFill/>
          <a:ln/>
        </p:spPr>
        <p:txBody>
          <a:bodyPr wrap="square" lIns="0" tIns="0" rIns="0" bIns="0" rtlCol="0" anchor="ctr">
            <a:normAutofit/>
          </a:bodyPr>
          <a:lstStyle/>
          <a:p>
            <a:pPr algn="ctr" indent="0" marL="0">
              <a:buNone/>
            </a:pPr>
            <a:r>
              <a:rPr lang="en-US" sz="5000" b="1" dirty="0">
                <a:solidFill>
                  <a:srgbClr val="1B1E27"/>
                </a:solidFill>
                <a:latin typeface="Arial" pitchFamily="34" charset="0"/>
                <a:ea typeface="Arial" pitchFamily="34" charset="-122"/>
                <a:cs typeface="Arial" pitchFamily="34" charset="-120"/>
              </a:rPr>
              <a:t>elma</a:t>
            </a:r>
            <a:endParaRPr lang="en-US" sz="5000" dirty="0"/>
          </a:p>
        </p:txBody>
      </p:sp>
      <p:sp>
        <p:nvSpPr>
          <p:cNvPr id="11" name="Text 8"/>
          <p:cNvSpPr txBox="1"/>
          <p:nvPr/>
        </p:nvSpPr>
        <p:spPr>
          <a:xfrm>
            <a:off x="731520" y="3337560"/>
            <a:ext cx="4480560" cy="347472"/>
          </a:xfrm>
          <a:prstGeom prst="rect">
            <a:avLst/>
          </a:prstGeom>
          <a:noFill/>
          <a:ln/>
        </p:spPr>
        <p:txBody>
          <a:bodyPr wrap="square" lIns="0" tIns="0" rIns="0" bIns="0" rtlCol="0" anchor="t">
            <a:normAutofit/>
          </a:bodyPr>
          <a:lstStyle/>
          <a:p>
            <a:pPr algn="ctr" indent="0" marL="0">
              <a:buNone/>
            </a:pPr>
            <a:r>
              <a:rPr lang="en-US" sz="1600" dirty="0">
                <a:solidFill>
                  <a:srgbClr val="6B7280"/>
                </a:solidFill>
                <a:latin typeface="Arial" pitchFamily="34" charset="0"/>
                <a:ea typeface="Arial" pitchFamily="34" charset="-122"/>
                <a:cs typeface="Arial" pitchFamily="34" charset="-120"/>
              </a:rPr>
              <a:t>el · ma</a:t>
            </a:r>
            <a:endParaRPr lang="en-US" sz="1600" dirty="0"/>
          </a:p>
        </p:txBody>
      </p:sp>
      <p:sp>
        <p:nvSpPr>
          <p:cNvPr id="12" name="Text 9"/>
          <p:cNvSpPr txBox="1"/>
          <p:nvPr/>
        </p:nvSpPr>
        <p:spPr>
          <a:xfrm>
            <a:off x="731520" y="3721608"/>
            <a:ext cx="4480560" cy="411480"/>
          </a:xfrm>
          <a:prstGeom prst="rect">
            <a:avLst/>
          </a:prstGeom>
          <a:noFill/>
          <a:ln/>
        </p:spPr>
        <p:txBody>
          <a:bodyPr wrap="square" lIns="0" tIns="0" rIns="0" bIns="0" rtlCol="0" anchor="ctr"/>
          <a:lstStyle/>
          <a:p>
            <a:pPr algn="ctr" indent="0" marL="0">
              <a:buNone/>
            </a:pPr>
            <a:r>
              <a:rPr lang="en-US" sz="2000" b="1" dirty="0">
                <a:solidFill>
                  <a:srgbClr val="1D4ED8"/>
                </a:solidFill>
                <a:latin typeface="Arial" pitchFamily="34" charset="0"/>
                <a:ea typeface="Arial" pitchFamily="34" charset="-122"/>
                <a:cs typeface="Arial" pitchFamily="34" charset="-120"/>
              </a:rPr>
              <a:t>apple</a:t>
            </a:r>
            <a:pPr algn="ctr" indent="0" marL="0">
              <a:buNone/>
            </a:pPr>
            <a:r>
              <a:rPr lang="en-US" sz="2000" dirty="0">
                <a:solidFill>
                  <a:srgbClr val="9AA3B5"/>
                </a:solidFill>
                <a:latin typeface="Arial" pitchFamily="34" charset="0"/>
                <a:ea typeface="Arial" pitchFamily="34" charset="-122"/>
                <a:cs typeface="Arial" pitchFamily="34" charset="-120"/>
              </a:rPr>
              <a:t>  ·  </a:t>
            </a:r>
            <a:pPr algn="ctr" indent="0" marL="0">
              <a:buNone/>
            </a:pPr>
            <a:r>
              <a:rPr lang="en-US" sz="2000" dirty="0">
                <a:solidFill>
                  <a:srgbClr val="1B1E27"/>
                </a:solidFill>
                <a:latin typeface="Arial" pitchFamily="34" charset="0"/>
                <a:ea typeface="Arial" pitchFamily="34" charset="-122"/>
                <a:cs typeface="Arial" pitchFamily="34" charset="-120"/>
              </a:rPr>
              <a:t>der Apfel</a:t>
            </a:r>
            <a:endParaRPr lang="en-US" sz="2000" dirty="0"/>
          </a:p>
        </p:txBody>
      </p:sp>
      <p:sp>
        <p:nvSpPr>
          <p:cNvPr id="13" name="Shape 10"/>
          <p:cNvSpPr/>
          <p:nvPr/>
        </p:nvSpPr>
        <p:spPr>
          <a:xfrm>
            <a:off x="2011680" y="4206240"/>
            <a:ext cx="457200" cy="457200"/>
          </a:xfrm>
          <a:prstGeom prst="ellipse">
            <a:avLst/>
          </a:prstGeom>
          <a:solidFill>
            <a:srgbClr val="FFD166"/>
          </a:solidFill>
          <a:ln w="12700">
            <a:solidFill>
              <a:srgbClr val="FFD166"/>
            </a:solidFill>
            <a:prstDash val="solid"/>
          </a:ln>
        </p:spPr>
      </p:sp>
      <p:sp>
        <p:nvSpPr>
          <p:cNvPr id="14" name="Text 11"/>
          <p:cNvSpPr txBox="1"/>
          <p:nvPr/>
        </p:nvSpPr>
        <p:spPr>
          <a:xfrm>
            <a:off x="2011680" y="420624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15" name="Text 12"/>
          <p:cNvSpPr txBox="1"/>
          <p:nvPr/>
        </p:nvSpPr>
        <p:spPr>
          <a:xfrm>
            <a:off x="2560320" y="4206240"/>
            <a:ext cx="2011680" cy="457200"/>
          </a:xfrm>
          <a:prstGeom prst="rect">
            <a:avLst/>
          </a:prstGeom>
          <a:noFill/>
          <a:ln/>
        </p:spPr>
        <p:txBody>
          <a:bodyPr wrap="square" lIns="0" tIns="0" rIns="0" bIns="0" rtlCol="0" anchor="ctr">
            <a:normAutofit/>
          </a:bodyPr>
          <a:lstStyle/>
          <a:p>
            <a:pPr indent="0" marL="0">
              <a:buNone/>
            </a:pPr>
            <a:r>
              <a:rPr lang="en-US" sz="1400" b="1" dirty="0">
                <a:solidFill>
                  <a:srgbClr val="7A5B00"/>
                </a:solidFill>
                <a:latin typeface="Arial" pitchFamily="34" charset="0"/>
                <a:ea typeface="Arial" pitchFamily="34" charset="-122"/>
                <a:cs typeface="Arial" pitchFamily="34" charset="-120"/>
              </a:rPr>
              <a:t>“elma” – tr-TR</a:t>
            </a:r>
            <a:endParaRPr lang="en-US" sz="1400" dirty="0"/>
          </a:p>
        </p:txBody>
      </p:sp>
      <p:sp>
        <p:nvSpPr>
          <p:cNvPr id="16" name="Shape 13"/>
          <p:cNvSpPr/>
          <p:nvPr/>
        </p:nvSpPr>
        <p:spPr>
          <a:xfrm>
            <a:off x="1417320" y="4983480"/>
            <a:ext cx="960120" cy="310896"/>
          </a:xfrm>
          <a:prstGeom prst="roundRect">
            <a:avLst>
              <a:gd name="adj" fmla="val 50000"/>
            </a:avLst>
          </a:prstGeom>
          <a:solidFill>
            <a:srgbClr val="1F2330"/>
          </a:solidFill>
          <a:ln w="12700">
            <a:solidFill>
              <a:srgbClr val="FFD166"/>
            </a:solidFill>
            <a:prstDash val="solid"/>
          </a:ln>
        </p:spPr>
      </p:sp>
      <p:sp>
        <p:nvSpPr>
          <p:cNvPr id="17" name="Text 14"/>
          <p:cNvSpPr txBox="1"/>
          <p:nvPr/>
        </p:nvSpPr>
        <p:spPr>
          <a:xfrm>
            <a:off x="1417320" y="4983480"/>
            <a:ext cx="960120" cy="310896"/>
          </a:xfrm>
          <a:prstGeom prst="rect">
            <a:avLst/>
          </a:prstGeom>
          <a:noFill/>
          <a:ln/>
        </p:spPr>
        <p:txBody>
          <a:bodyPr wrap="square" lIns="0" tIns="0" rIns="0" bIns="0" rtlCol="0" anchor="ctr">
            <a:normAutofit/>
          </a:bodyPr>
          <a:lstStyle/>
          <a:p>
            <a:pPr algn="ctr" indent="0" marL="0">
              <a:buNone/>
            </a:pPr>
            <a:r>
              <a:rPr lang="en-US" sz="1050" b="1" dirty="0">
                <a:solidFill>
                  <a:srgbClr val="FFD166"/>
                </a:solidFill>
                <a:latin typeface="Arial" pitchFamily="34" charset="0"/>
                <a:ea typeface="Arial" pitchFamily="34" charset="-122"/>
                <a:cs typeface="Arial" pitchFamily="34" charset="-120"/>
              </a:rPr>
              <a:t>DE</a:t>
            </a:r>
            <a:endParaRPr lang="en-US" sz="1050" dirty="0"/>
          </a:p>
        </p:txBody>
      </p:sp>
      <p:sp>
        <p:nvSpPr>
          <p:cNvPr id="18" name="Shape 15"/>
          <p:cNvSpPr/>
          <p:nvPr/>
        </p:nvSpPr>
        <p:spPr>
          <a:xfrm>
            <a:off x="2514600" y="4983480"/>
            <a:ext cx="960120" cy="310896"/>
          </a:xfrm>
          <a:prstGeom prst="roundRect">
            <a:avLst>
              <a:gd name="adj" fmla="val 50000"/>
            </a:avLst>
          </a:prstGeom>
          <a:solidFill>
            <a:srgbClr val="1F2330"/>
          </a:solidFill>
          <a:ln w="12700">
            <a:solidFill>
              <a:srgbClr val="FFD166"/>
            </a:solidFill>
            <a:prstDash val="solid"/>
          </a:ln>
        </p:spPr>
      </p:sp>
      <p:sp>
        <p:nvSpPr>
          <p:cNvPr id="19" name="Text 16"/>
          <p:cNvSpPr txBox="1"/>
          <p:nvPr/>
        </p:nvSpPr>
        <p:spPr>
          <a:xfrm>
            <a:off x="2514600" y="4983480"/>
            <a:ext cx="960120" cy="310896"/>
          </a:xfrm>
          <a:prstGeom prst="rect">
            <a:avLst/>
          </a:prstGeom>
          <a:noFill/>
          <a:ln/>
        </p:spPr>
        <p:txBody>
          <a:bodyPr wrap="square" lIns="0" tIns="0" rIns="0" bIns="0" rtlCol="0" anchor="ctr">
            <a:normAutofit/>
          </a:bodyPr>
          <a:lstStyle/>
          <a:p>
            <a:pPr algn="ctr" indent="0" marL="0">
              <a:buNone/>
            </a:pPr>
            <a:r>
              <a:rPr lang="en-US" sz="1050" b="1" dirty="0">
                <a:solidFill>
                  <a:srgbClr val="FFD166"/>
                </a:solidFill>
                <a:latin typeface="Arial" pitchFamily="34" charset="0"/>
                <a:ea typeface="Arial" pitchFamily="34" charset="-122"/>
                <a:cs typeface="Arial" pitchFamily="34" charset="-120"/>
              </a:rPr>
              <a:t>TR</a:t>
            </a:r>
            <a:endParaRPr lang="en-US" sz="1050" dirty="0"/>
          </a:p>
        </p:txBody>
      </p:sp>
      <p:sp>
        <p:nvSpPr>
          <p:cNvPr id="20" name="Shape 17"/>
          <p:cNvSpPr/>
          <p:nvPr/>
        </p:nvSpPr>
        <p:spPr>
          <a:xfrm>
            <a:off x="3611880" y="4983480"/>
            <a:ext cx="960120" cy="310896"/>
          </a:xfrm>
          <a:prstGeom prst="roundRect">
            <a:avLst>
              <a:gd name="adj" fmla="val 50000"/>
            </a:avLst>
          </a:prstGeom>
          <a:solidFill>
            <a:srgbClr val="1F2330"/>
          </a:solidFill>
          <a:ln w="12700">
            <a:solidFill>
              <a:srgbClr val="FFD166"/>
            </a:solidFill>
            <a:prstDash val="solid"/>
          </a:ln>
        </p:spPr>
      </p:sp>
      <p:sp>
        <p:nvSpPr>
          <p:cNvPr id="21" name="Text 18"/>
          <p:cNvSpPr txBox="1"/>
          <p:nvPr/>
        </p:nvSpPr>
        <p:spPr>
          <a:xfrm>
            <a:off x="3611880" y="4983480"/>
            <a:ext cx="960120" cy="310896"/>
          </a:xfrm>
          <a:prstGeom prst="rect">
            <a:avLst/>
          </a:prstGeom>
          <a:noFill/>
          <a:ln/>
        </p:spPr>
        <p:txBody>
          <a:bodyPr wrap="square" lIns="0" tIns="0" rIns="0" bIns="0" rtlCol="0" anchor="ctr">
            <a:normAutofit/>
          </a:bodyPr>
          <a:lstStyle/>
          <a:p>
            <a:pPr algn="ctr" indent="0" marL="0">
              <a:buNone/>
            </a:pPr>
            <a:r>
              <a:rPr lang="en-US" sz="1050" b="1" dirty="0">
                <a:solidFill>
                  <a:srgbClr val="FFD166"/>
                </a:solidFill>
                <a:latin typeface="Arial" pitchFamily="34" charset="0"/>
                <a:ea typeface="Arial" pitchFamily="34" charset="-122"/>
                <a:cs typeface="Arial" pitchFamily="34" charset="-120"/>
              </a:rPr>
              <a:t>EN</a:t>
            </a:r>
            <a:endParaRPr lang="en-US" sz="1050" dirty="0"/>
          </a:p>
        </p:txBody>
      </p:sp>
      <p:sp>
        <p:nvSpPr>
          <p:cNvPr id="22" name="Text 19"/>
          <p:cNvSpPr txBox="1"/>
          <p:nvPr/>
        </p:nvSpPr>
        <p:spPr>
          <a:xfrm>
            <a:off x="548640" y="5413248"/>
            <a:ext cx="4846320" cy="256032"/>
          </a:xfrm>
          <a:prstGeom prst="rect">
            <a:avLst/>
          </a:prstGeom>
          <a:noFill/>
          <a:ln/>
        </p:spPr>
        <p:txBody>
          <a:bodyPr wrap="square" lIns="0" tIns="0" rIns="0" bIns="0" rtlCol="0" anchor="t">
            <a:normAutofit/>
          </a:bodyPr>
          <a:lstStyle/>
          <a:p>
            <a:pPr indent="0" marL="0">
              <a:buNone/>
            </a:pPr>
            <a:r>
              <a:rPr lang="en-US" sz="1050" b="1" dirty="0">
                <a:solidFill>
                  <a:srgbClr val="9AA3B5"/>
                </a:solidFill>
                <a:latin typeface="Arial" pitchFamily="34" charset="0"/>
                <a:ea typeface="Arial" pitchFamily="34" charset="-122"/>
                <a:cs typeface="Arial" pitchFamily="34" charset="-120"/>
              </a:rPr>
              <a:t>Üç mod</a:t>
            </a:r>
            <a:endParaRPr lang="en-US" sz="1050" dirty="0"/>
          </a:p>
        </p:txBody>
      </p:sp>
      <p:sp>
        <p:nvSpPr>
          <p:cNvPr id="23" name="Shape 20"/>
          <p:cNvSpPr/>
          <p:nvPr/>
        </p:nvSpPr>
        <p:spPr>
          <a:xfrm>
            <a:off x="548640" y="5705856"/>
            <a:ext cx="1554480" cy="384048"/>
          </a:xfrm>
          <a:prstGeom prst="roundRect">
            <a:avLst>
              <a:gd name="adj" fmla="val 50000"/>
            </a:avLst>
          </a:prstGeom>
          <a:solidFill>
            <a:srgbClr val="1F2330"/>
          </a:solidFill>
          <a:ln w="12700">
            <a:solidFill>
              <a:srgbClr val="FFD166"/>
            </a:solidFill>
            <a:prstDash val="solid"/>
          </a:ln>
        </p:spPr>
      </p:sp>
      <p:sp>
        <p:nvSpPr>
          <p:cNvPr id="24" name="Text 21"/>
          <p:cNvSpPr txBox="1"/>
          <p:nvPr/>
        </p:nvSpPr>
        <p:spPr>
          <a:xfrm>
            <a:off x="548640" y="5705856"/>
            <a:ext cx="1554480" cy="384048"/>
          </a:xfrm>
          <a:prstGeom prst="rect">
            <a:avLst/>
          </a:prstGeom>
          <a:noFill/>
          <a:ln/>
        </p:spPr>
        <p:txBody>
          <a:bodyPr wrap="square" lIns="0" tIns="0" rIns="0" bIns="0" rtlCol="0" anchor="ctr">
            <a:normAutofit/>
          </a:bodyPr>
          <a:lstStyle/>
          <a:p>
            <a:pPr algn="ctr" indent="0" marL="0">
              <a:buNone/>
            </a:pPr>
            <a:r>
              <a:rPr lang="en-US" sz="1100" b="1" dirty="0">
                <a:solidFill>
                  <a:srgbClr val="FFD166"/>
                </a:solidFill>
                <a:latin typeface="Arial" pitchFamily="34" charset="0"/>
                <a:ea typeface="Arial" pitchFamily="34" charset="-122"/>
                <a:cs typeface="Arial" pitchFamily="34" charset="-120"/>
              </a:rPr>
              <a:t>Çeviri</a:t>
            </a:r>
            <a:endParaRPr lang="en-US" sz="1100" dirty="0"/>
          </a:p>
        </p:txBody>
      </p:sp>
      <p:sp>
        <p:nvSpPr>
          <p:cNvPr id="25" name="Shape 22"/>
          <p:cNvSpPr/>
          <p:nvPr/>
        </p:nvSpPr>
        <p:spPr>
          <a:xfrm>
            <a:off x="2194560" y="5705856"/>
            <a:ext cx="1554480" cy="384048"/>
          </a:xfrm>
          <a:prstGeom prst="roundRect">
            <a:avLst>
              <a:gd name="adj" fmla="val 50000"/>
            </a:avLst>
          </a:prstGeom>
          <a:solidFill>
            <a:srgbClr val="1F2330"/>
          </a:solidFill>
          <a:ln w="12700">
            <a:solidFill>
              <a:srgbClr val="2DFFB5"/>
            </a:solidFill>
            <a:prstDash val="solid"/>
          </a:ln>
        </p:spPr>
      </p:sp>
      <p:sp>
        <p:nvSpPr>
          <p:cNvPr id="26" name="Text 23"/>
          <p:cNvSpPr txBox="1"/>
          <p:nvPr/>
        </p:nvSpPr>
        <p:spPr>
          <a:xfrm>
            <a:off x="2194560" y="5705856"/>
            <a:ext cx="1554480" cy="384048"/>
          </a:xfrm>
          <a:prstGeom prst="rect">
            <a:avLst/>
          </a:prstGeom>
          <a:noFill/>
          <a:ln/>
        </p:spPr>
        <p:txBody>
          <a:bodyPr wrap="square" lIns="0" tIns="0" rIns="0" bIns="0" rtlCol="0" anchor="ctr">
            <a:normAutofit/>
          </a:bodyPr>
          <a:lstStyle/>
          <a:p>
            <a:pPr algn="ctr" indent="0" marL="0">
              <a:buNone/>
            </a:pPr>
            <a:r>
              <a:rPr lang="en-US" sz="1100" b="1" dirty="0">
                <a:solidFill>
                  <a:srgbClr val="2DFFB5"/>
                </a:solidFill>
                <a:latin typeface="Arial" pitchFamily="34" charset="0"/>
                <a:ea typeface="Arial" pitchFamily="34" charset="-122"/>
                <a:cs typeface="Arial" pitchFamily="34" charset="-120"/>
              </a:rPr>
              <a:t>Okuma desteği</a:t>
            </a:r>
            <a:endParaRPr lang="en-US" sz="1100" dirty="0"/>
          </a:p>
        </p:txBody>
      </p:sp>
      <p:sp>
        <p:nvSpPr>
          <p:cNvPr id="27" name="Shape 24"/>
          <p:cNvSpPr/>
          <p:nvPr/>
        </p:nvSpPr>
        <p:spPr>
          <a:xfrm>
            <a:off x="3840480" y="5705856"/>
            <a:ext cx="1554480" cy="384048"/>
          </a:xfrm>
          <a:prstGeom prst="roundRect">
            <a:avLst>
              <a:gd name="adj" fmla="val 50000"/>
            </a:avLst>
          </a:prstGeom>
          <a:solidFill>
            <a:srgbClr val="1F2330"/>
          </a:solidFill>
          <a:ln w="12700">
            <a:solidFill>
              <a:srgbClr val="FF2D75"/>
            </a:solidFill>
            <a:prstDash val="solid"/>
          </a:ln>
        </p:spPr>
      </p:sp>
      <p:sp>
        <p:nvSpPr>
          <p:cNvPr id="28" name="Text 25"/>
          <p:cNvSpPr txBox="1"/>
          <p:nvPr/>
        </p:nvSpPr>
        <p:spPr>
          <a:xfrm>
            <a:off x="3840480" y="5705856"/>
            <a:ext cx="1554480" cy="384048"/>
          </a:xfrm>
          <a:prstGeom prst="rect">
            <a:avLst/>
          </a:prstGeom>
          <a:noFill/>
          <a:ln/>
        </p:spPr>
        <p:txBody>
          <a:bodyPr wrap="square" lIns="0" tIns="0" rIns="0" bIns="0" rtlCol="0" anchor="ctr">
            <a:normAutofit/>
          </a:bodyPr>
          <a:lstStyle/>
          <a:p>
            <a:pPr algn="ctr" indent="0" marL="0">
              <a:buNone/>
            </a:pPr>
            <a:r>
              <a:rPr lang="en-US" sz="1100" b="1" dirty="0">
                <a:solidFill>
                  <a:srgbClr val="FF2D75"/>
                </a:solidFill>
                <a:latin typeface="Arial" pitchFamily="34" charset="0"/>
                <a:ea typeface="Arial" pitchFamily="34" charset="-122"/>
                <a:cs typeface="Arial" pitchFamily="34" charset="-120"/>
              </a:rPr>
              <a:t>Tekrar et</a:t>
            </a:r>
            <a:endParaRPr lang="en-US" sz="1100" dirty="0"/>
          </a:p>
        </p:txBody>
      </p:sp>
      <p:sp>
        <p:nvSpPr>
          <p:cNvPr id="29" name="Text 26"/>
          <p:cNvSpPr txBox="1"/>
          <p:nvPr/>
        </p:nvSpPr>
        <p:spPr>
          <a:xfrm>
            <a:off x="5806440" y="1325880"/>
            <a:ext cx="5836615" cy="2331720"/>
          </a:xfrm>
          <a:prstGeom prst="rect">
            <a:avLst/>
          </a:prstGeom>
          <a:noFill/>
          <a:ln/>
        </p:spPr>
        <p:txBody>
          <a:bodyPr wrap="square" lIns="0" tIns="0" rIns="0" bIns="0" rtlCol="0" anchor="t">
            <a:normAutofit/>
          </a:bodyPr>
          <a:lstStyle/>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Bir çocuk “Apfel” der – anında: 🍎, hedef dilde “elma”, renkli artikeliyle “der Apfel” ve telaffuz. Tıklamadan.</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Kendi dilinde okuma desteği: okuma çağı öncesi çocuklar, DaZ, uyum kursları ve nöroçeşitli öğrenenler için.</a:t>
            </a:r>
            <a:endParaRPr lang="en-US" sz="1400" dirty="0"/>
          </a:p>
          <a:p>
            <a:pPr marL="203200" indent="-203200">
              <a:spcAft>
                <a:spcPts val="700"/>
              </a:spcAft>
              <a:buSzPct val="100000"/>
              <a:buChar char="•"/>
            </a:pPr>
            <a:r>
              <a:rPr lang="en-US" sz="1400" dirty="0">
                <a:solidFill>
                  <a:srgbClr val="FFFFFF"/>
                </a:solidFill>
                <a:latin typeface="Arial" pitchFamily="34" charset="0"/>
                <a:ea typeface="Arial" pitchFamily="34" charset="-122"/>
                <a:cs typeface="Arial" pitchFamily="34" charset="-120"/>
              </a:rPr>
              <a:t>Yerel, hesapsız, çevrimdışı – okul veri koruması bir satış argümanı. Telaffuz cihazın sistem sesleriyle [Kaynak 29].</a:t>
            </a:r>
            <a:endParaRPr lang="en-US" sz="1400" dirty="0"/>
          </a:p>
        </p:txBody>
      </p:sp>
      <p:sp>
        <p:nvSpPr>
          <p:cNvPr id="30" name="Shape 27"/>
          <p:cNvSpPr/>
          <p:nvPr/>
        </p:nvSpPr>
        <p:spPr>
          <a:xfrm>
            <a:off x="5806440" y="3794760"/>
            <a:ext cx="1854098" cy="1417320"/>
          </a:xfrm>
          <a:prstGeom prst="roundRect">
            <a:avLst>
              <a:gd name="adj" fmla="val 7742"/>
            </a:avLst>
          </a:prstGeom>
          <a:solidFill>
            <a:srgbClr val="181B23"/>
          </a:solidFill>
          <a:ln w="12700">
            <a:solidFill>
              <a:srgbClr val="181B23"/>
            </a:solidFill>
            <a:prstDash val="solid"/>
          </a:ln>
        </p:spPr>
      </p:sp>
      <p:sp>
        <p:nvSpPr>
          <p:cNvPr id="31" name="Text 28"/>
          <p:cNvSpPr txBox="1"/>
          <p:nvPr/>
        </p:nvSpPr>
        <p:spPr>
          <a:xfrm>
            <a:off x="5971032" y="3886200"/>
            <a:ext cx="1579778" cy="502920"/>
          </a:xfrm>
          <a:prstGeom prst="rect">
            <a:avLst/>
          </a:prstGeom>
          <a:noFill/>
          <a:ln/>
        </p:spPr>
        <p:txBody>
          <a:bodyPr wrap="square" lIns="0" tIns="0" rIns="0" bIns="0" rtlCol="0" anchor="t">
            <a:normAutofit/>
          </a:bodyPr>
          <a:lstStyle/>
          <a:p>
            <a:pPr indent="0" marL="0">
              <a:buNone/>
            </a:pPr>
            <a:r>
              <a:rPr lang="en-US" sz="2200" b="1" dirty="0">
                <a:solidFill>
                  <a:srgbClr val="FFD166"/>
                </a:solidFill>
                <a:latin typeface="Arial" pitchFamily="34" charset="0"/>
                <a:ea typeface="Arial" pitchFamily="34" charset="-122"/>
                <a:cs typeface="Arial" pitchFamily="34" charset="-120"/>
              </a:rPr>
              <a:t>12,7 milyon</a:t>
            </a:r>
            <a:endParaRPr lang="en-US" sz="2200" dirty="0"/>
          </a:p>
        </p:txBody>
      </p:sp>
      <p:sp>
        <p:nvSpPr>
          <p:cNvPr id="32" name="Text 29"/>
          <p:cNvSpPr txBox="1"/>
          <p:nvPr/>
        </p:nvSpPr>
        <p:spPr>
          <a:xfrm>
            <a:off x="5971032" y="4407408"/>
            <a:ext cx="1579778" cy="749808"/>
          </a:xfrm>
          <a:prstGeom prst="rect">
            <a:avLst/>
          </a:prstGeom>
          <a:noFill/>
          <a:ln/>
        </p:spPr>
        <p:txBody>
          <a:bodyPr wrap="square" lIns="0" tIns="0" rIns="0" bIns="0" rtlCol="0" anchor="t">
            <a:normAutofit/>
          </a:bodyPr>
          <a:lstStyle/>
          <a:p>
            <a:pPr indent="0" marL="0">
              <a:buNone/>
            </a:pPr>
            <a:r>
              <a:rPr lang="en-US" sz="1050" dirty="0">
                <a:solidFill>
                  <a:srgbClr val="9AA3B5"/>
                </a:solidFill>
                <a:latin typeface="Arial" pitchFamily="34" charset="0"/>
                <a:ea typeface="Arial" pitchFamily="34" charset="-122"/>
                <a:cs typeface="Arial" pitchFamily="34" charset="-120"/>
              </a:rPr>
              <a:t>ücretli Duolingo abonesi, Haziran 2026 [Kaynak 32]</a:t>
            </a:r>
            <a:endParaRPr lang="en-US" sz="1050" dirty="0"/>
          </a:p>
        </p:txBody>
      </p:sp>
      <p:sp>
        <p:nvSpPr>
          <p:cNvPr id="33" name="Shape 30"/>
          <p:cNvSpPr/>
          <p:nvPr/>
        </p:nvSpPr>
        <p:spPr>
          <a:xfrm>
            <a:off x="7797698" y="3794760"/>
            <a:ext cx="1854098" cy="1417320"/>
          </a:xfrm>
          <a:prstGeom prst="roundRect">
            <a:avLst>
              <a:gd name="adj" fmla="val 7742"/>
            </a:avLst>
          </a:prstGeom>
          <a:solidFill>
            <a:srgbClr val="181B23"/>
          </a:solidFill>
          <a:ln w="12700">
            <a:solidFill>
              <a:srgbClr val="181B23"/>
            </a:solidFill>
            <a:prstDash val="solid"/>
          </a:ln>
        </p:spPr>
      </p:sp>
      <p:sp>
        <p:nvSpPr>
          <p:cNvPr id="34" name="Text 31"/>
          <p:cNvSpPr txBox="1"/>
          <p:nvPr/>
        </p:nvSpPr>
        <p:spPr>
          <a:xfrm>
            <a:off x="7962290" y="3886200"/>
            <a:ext cx="1579778" cy="502920"/>
          </a:xfrm>
          <a:prstGeom prst="rect">
            <a:avLst/>
          </a:prstGeom>
          <a:noFill/>
          <a:ln/>
        </p:spPr>
        <p:txBody>
          <a:bodyPr wrap="square" lIns="0" tIns="0" rIns="0" bIns="0" rtlCol="0" anchor="t">
            <a:normAutofit/>
          </a:bodyPr>
          <a:lstStyle/>
          <a:p>
            <a:pPr indent="0" marL="0">
              <a:buNone/>
            </a:pPr>
            <a:r>
              <a:rPr lang="en-US" sz="2400" b="1" dirty="0">
                <a:solidFill>
                  <a:srgbClr val="2DFFB5"/>
                </a:solidFill>
                <a:latin typeface="Arial" pitchFamily="34" charset="0"/>
                <a:ea typeface="Arial" pitchFamily="34" charset="-122"/>
                <a:cs typeface="Arial" pitchFamily="34" charset="-120"/>
              </a:rPr>
              <a:t>307.000</a:t>
            </a:r>
            <a:endParaRPr lang="en-US" sz="2400" dirty="0"/>
          </a:p>
        </p:txBody>
      </p:sp>
      <p:sp>
        <p:nvSpPr>
          <p:cNvPr id="35" name="Text 32"/>
          <p:cNvSpPr txBox="1"/>
          <p:nvPr/>
        </p:nvSpPr>
        <p:spPr>
          <a:xfrm>
            <a:off x="7962290" y="4407408"/>
            <a:ext cx="1579778" cy="749808"/>
          </a:xfrm>
          <a:prstGeom prst="rect">
            <a:avLst/>
          </a:prstGeom>
          <a:noFill/>
          <a:ln/>
        </p:spPr>
        <p:txBody>
          <a:bodyPr wrap="square" lIns="0" tIns="0" rIns="0" bIns="0" rtlCol="0" anchor="t">
            <a:normAutofit/>
          </a:bodyPr>
          <a:lstStyle/>
          <a:p>
            <a:pPr indent="0" marL="0">
              <a:buNone/>
            </a:pPr>
            <a:r>
              <a:rPr lang="en-US" sz="1050" dirty="0">
                <a:solidFill>
                  <a:srgbClr val="9AA3B5"/>
                </a:solidFill>
                <a:latin typeface="Arial" pitchFamily="34" charset="0"/>
                <a:ea typeface="Arial" pitchFamily="34" charset="-122"/>
                <a:cs typeface="Arial" pitchFamily="34" charset="-120"/>
              </a:rPr>
              <a:t>2025'te uyum kursuna başlayan kişi [Kaynak 36]</a:t>
            </a:r>
            <a:endParaRPr lang="en-US" sz="1050" dirty="0"/>
          </a:p>
        </p:txBody>
      </p:sp>
      <p:sp>
        <p:nvSpPr>
          <p:cNvPr id="36" name="Shape 33"/>
          <p:cNvSpPr/>
          <p:nvPr/>
        </p:nvSpPr>
        <p:spPr>
          <a:xfrm>
            <a:off x="9788957" y="3794760"/>
            <a:ext cx="1854098" cy="1417320"/>
          </a:xfrm>
          <a:prstGeom prst="roundRect">
            <a:avLst>
              <a:gd name="adj" fmla="val 7742"/>
            </a:avLst>
          </a:prstGeom>
          <a:solidFill>
            <a:srgbClr val="181B23"/>
          </a:solidFill>
          <a:ln w="12700">
            <a:solidFill>
              <a:srgbClr val="181B23"/>
            </a:solidFill>
            <a:prstDash val="solid"/>
          </a:ln>
        </p:spPr>
      </p:sp>
      <p:sp>
        <p:nvSpPr>
          <p:cNvPr id="37" name="Text 34"/>
          <p:cNvSpPr txBox="1"/>
          <p:nvPr/>
        </p:nvSpPr>
        <p:spPr>
          <a:xfrm>
            <a:off x="9953549" y="3886200"/>
            <a:ext cx="1579778" cy="502920"/>
          </a:xfrm>
          <a:prstGeom prst="rect">
            <a:avLst/>
          </a:prstGeom>
          <a:noFill/>
          <a:ln/>
        </p:spPr>
        <p:txBody>
          <a:bodyPr wrap="square" lIns="0" tIns="0" rIns="0" bIns="0" rtlCol="0" anchor="t">
            <a:normAutofit/>
          </a:bodyPr>
          <a:lstStyle/>
          <a:p>
            <a:pPr indent="0" marL="0">
              <a:buNone/>
            </a:pPr>
            <a:r>
              <a:rPr lang="en-US" sz="2400" b="1" dirty="0">
                <a:solidFill>
                  <a:srgbClr val="5AD1FF"/>
                </a:solidFill>
                <a:latin typeface="Arial" pitchFamily="34" charset="0"/>
                <a:ea typeface="Arial" pitchFamily="34" charset="-122"/>
                <a:cs typeface="Arial" pitchFamily="34" charset="-120"/>
              </a:rPr>
              <a:t>5 milyar €</a:t>
            </a:r>
            <a:endParaRPr lang="en-US" sz="2400" dirty="0"/>
          </a:p>
        </p:txBody>
      </p:sp>
      <p:sp>
        <p:nvSpPr>
          <p:cNvPr id="38" name="Text 35"/>
          <p:cNvSpPr txBox="1"/>
          <p:nvPr/>
        </p:nvSpPr>
        <p:spPr>
          <a:xfrm>
            <a:off x="9953549" y="4407408"/>
            <a:ext cx="1579778" cy="749808"/>
          </a:xfrm>
          <a:prstGeom prst="rect">
            <a:avLst/>
          </a:prstGeom>
          <a:noFill/>
          <a:ln/>
        </p:spPr>
        <p:txBody>
          <a:bodyPr wrap="square" lIns="0" tIns="0" rIns="0" bIns="0" rtlCol="0" anchor="t">
            <a:normAutofit/>
          </a:bodyPr>
          <a:lstStyle/>
          <a:p>
            <a:pPr indent="0" marL="0">
              <a:buNone/>
            </a:pPr>
            <a:r>
              <a:rPr lang="en-US" sz="1050" dirty="0">
                <a:solidFill>
                  <a:srgbClr val="9AA3B5"/>
                </a:solidFill>
                <a:latin typeface="Arial" pitchFamily="34" charset="0"/>
                <a:ea typeface="Arial" pitchFamily="34" charset="-122"/>
                <a:cs typeface="Arial" pitchFamily="34" charset="-120"/>
              </a:rPr>
              <a:t>DigitalPakt 2.0, beş yıl, başlangıç 1.9.2026 [Kaynak 40]</a:t>
            </a:r>
            <a:endParaRPr lang="en-US" sz="1050" dirty="0"/>
          </a:p>
        </p:txBody>
      </p:sp>
      <p:sp>
        <p:nvSpPr>
          <p:cNvPr id="39" name="Shape 36"/>
          <p:cNvSpPr/>
          <p:nvPr/>
        </p:nvSpPr>
        <p:spPr>
          <a:xfrm>
            <a:off x="5806440" y="5349240"/>
            <a:ext cx="5836615" cy="868680"/>
          </a:xfrm>
          <a:prstGeom prst="roundRect">
            <a:avLst>
              <a:gd name="adj" fmla="val 12632"/>
            </a:avLst>
          </a:prstGeom>
          <a:solidFill>
            <a:srgbClr val="1F2330"/>
          </a:solidFill>
          <a:ln w="12700">
            <a:solidFill>
              <a:srgbClr val="1F2330"/>
            </a:solidFill>
            <a:prstDash val="solid"/>
          </a:ln>
        </p:spPr>
      </p:sp>
      <p:sp>
        <p:nvSpPr>
          <p:cNvPr id="40" name="Text 37"/>
          <p:cNvSpPr txBox="1"/>
          <p:nvPr/>
        </p:nvSpPr>
        <p:spPr>
          <a:xfrm>
            <a:off x="6007608" y="5394960"/>
            <a:ext cx="5434279" cy="77724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Arial" pitchFamily="34" charset="0"/>
                <a:ea typeface="Arial" pitchFamily="34" charset="-122"/>
                <a:cs typeface="Arial" pitchFamily="34" charset="-120"/>
              </a:rPr>
              <a:t>Gelirler (tahmin): Kelime-Resim Aile aylık 4,99 € · okul lisansı yıllık 300–800 € · kurs lisansı öğretmen başına yıllık 49 € · iki dilli kitaplar için yayınevi sürümü</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D + C HATLARI · STUDIO VE MEKÂNLAR</a:t>
            </a:r>
            <a:endParaRPr lang="en-US" sz="1000" dirty="0"/>
          </a:p>
        </p:txBody>
      </p:sp>
      <p:sp>
        <p:nvSpPr>
          <p:cNvPr id="3" name="Titel"/>
          <p:cNvSpPr txBox="1"/>
          <p:nvPr/>
        </p:nvSpPr>
        <p:spPr>
          <a:xfrm>
            <a:off x="548640" y="438912"/>
            <a:ext cx="9631375" cy="777240"/>
          </a:xfrm>
          <a:prstGeom prst="rect">
            <a:avLst/>
          </a:prstGeom>
          <a:noFill/>
          <a:ln/>
        </p:spPr>
        <p:txBody>
          <a:bodyPr wrap="square" lIns="0" tIns="0" rIns="0" bIns="0" rtlCol="0" anchor="t">
            <a:normAutofit/>
          </a:bodyPr>
          <a:lstStyle/>
          <a:p>
            <a:pPr indent="0" marL="0">
              <a:buNone/>
            </a:pPr>
            <a:r>
              <a:rPr lang="en-US" sz="2700" b="1" dirty="0">
                <a:solidFill>
                  <a:srgbClr val="FFFFFF"/>
                </a:solidFill>
                <a:latin typeface="Arial" pitchFamily="34" charset="0"/>
                <a:ea typeface="Arial" pitchFamily="34" charset="-122"/>
                <a:cs typeface="Arial" pitchFamily="34" charset="-120"/>
              </a:rPr>
              <a:t>Otomatik kurgu, editör, VR/AR – ve daha büyük bir pazar</a:t>
            </a:r>
            <a:endParaRPr lang="en-US" sz="2700" dirty="0"/>
          </a:p>
        </p:txBody>
      </p:sp>
      <p:sp>
        <p:nvSpPr>
          <p:cNvPr id="4" name="Vision-Badge"/>
          <p:cNvSpPr/>
          <p:nvPr/>
        </p:nvSpPr>
        <p:spPr>
          <a:xfrm>
            <a:off x="10472623" y="182880"/>
            <a:ext cx="1170432" cy="310896"/>
          </a:xfrm>
          <a:prstGeom prst="roundRect">
            <a:avLst>
              <a:gd name="adj" fmla="val 50000"/>
            </a:avLst>
          </a:prstGeom>
          <a:solidFill>
            <a:srgbClr val="2A1530"/>
          </a:solidFill>
          <a:ln w="15875">
            <a:solidFill>
              <a:srgbClr val="FF2D75"/>
            </a:solidFill>
            <a:prstDash val="solid"/>
          </a:ln>
        </p:spPr>
      </p:sp>
      <p:sp>
        <p:nvSpPr>
          <p:cNvPr id="5" name="Text 3"/>
          <p:cNvSpPr txBox="1"/>
          <p:nvPr/>
        </p:nvSpPr>
        <p:spPr>
          <a:xfrm>
            <a:off x="10472623" y="182880"/>
            <a:ext cx="1170432" cy="310896"/>
          </a:xfrm>
          <a:prstGeom prst="rect">
            <a:avLst/>
          </a:prstGeom>
          <a:noFill/>
          <a:ln/>
        </p:spPr>
        <p:txBody>
          <a:bodyPr wrap="square" lIns="0" tIns="0" rIns="0" bIns="0" rtlCol="0" anchor="ctr"/>
          <a:lstStyle/>
          <a:p>
            <a:pPr algn="ctr" indent="0" marL="0">
              <a:buNone/>
            </a:pPr>
            <a:r>
              <a:rPr lang="en-US" sz="1000" b="1" spc="200" kern="0" dirty="0">
                <a:solidFill>
                  <a:srgbClr val="FF2D75"/>
                </a:solidFill>
                <a:latin typeface="Arial" pitchFamily="34" charset="0"/>
                <a:ea typeface="Arial" pitchFamily="34" charset="-122"/>
                <a:cs typeface="Arial" pitchFamily="34" charset="-120"/>
              </a:rPr>
              <a:t>✦ VİZYON</a:t>
            </a:r>
            <a:endParaRPr lang="en-US" sz="1000" dirty="0"/>
          </a:p>
        </p:txBody>
      </p:sp>
      <p:sp>
        <p:nvSpPr>
          <p:cNvPr id="6"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15</a:t>
            </a:r>
            <a:endParaRPr lang="en-US" sz="900" dirty="0"/>
          </a:p>
        </p:txBody>
      </p:sp>
      <p:sp>
        <p:nvSpPr>
          <p:cNvPr id="8" name="Text 5"/>
          <p:cNvSpPr txBox="1"/>
          <p:nvPr/>
        </p:nvSpPr>
        <p:spPr>
          <a:xfrm>
            <a:off x="548640" y="1298448"/>
            <a:ext cx="6446520" cy="310896"/>
          </a:xfrm>
          <a:prstGeom prst="rect">
            <a:avLst/>
          </a:prstGeom>
          <a:noFill/>
          <a:ln/>
        </p:spPr>
        <p:txBody>
          <a:bodyPr wrap="square" lIns="0" tIns="0" rIns="0" bIns="0" rtlCol="0" anchor="t">
            <a:normAutofit/>
          </a:bodyPr>
          <a:lstStyle/>
          <a:p>
            <a:pPr indent="0" marL="0">
              <a:buNone/>
            </a:pPr>
            <a:r>
              <a:rPr lang="en-US" sz="1400" b="1" dirty="0">
                <a:solidFill>
                  <a:srgbClr val="FF2D75"/>
                </a:solidFill>
                <a:latin typeface="Arial" pitchFamily="34" charset="0"/>
                <a:ea typeface="Arial" pitchFamily="34" charset="-122"/>
                <a:cs typeface="Arial" pitchFamily="34" charset="-120"/>
              </a:rPr>
              <a:t>LiveFX Studio: canlı kurgu ve otomatik kurgu</a:t>
            </a:r>
            <a:endParaRPr lang="en-US" sz="1400" dirty="0"/>
          </a:p>
        </p:txBody>
      </p:sp>
      <p:sp>
        <p:nvSpPr>
          <p:cNvPr id="9" name="Shape 6"/>
          <p:cNvSpPr/>
          <p:nvPr/>
        </p:nvSpPr>
        <p:spPr>
          <a:xfrm>
            <a:off x="548640" y="1645920"/>
            <a:ext cx="3154680" cy="1325880"/>
          </a:xfrm>
          <a:prstGeom prst="roundRect">
            <a:avLst>
              <a:gd name="adj" fmla="val 8276"/>
            </a:avLst>
          </a:prstGeom>
          <a:solidFill>
            <a:srgbClr val="181B23"/>
          </a:solidFill>
          <a:ln w="12700">
            <a:solidFill>
              <a:srgbClr val="181B23"/>
            </a:solidFill>
            <a:prstDash val="solid"/>
          </a:ln>
        </p:spPr>
      </p:sp>
      <p:sp>
        <p:nvSpPr>
          <p:cNvPr id="10" name="Text 7"/>
          <p:cNvSpPr txBox="1"/>
          <p:nvPr/>
        </p:nvSpPr>
        <p:spPr>
          <a:xfrm>
            <a:off x="731520" y="1719072"/>
            <a:ext cx="2788920" cy="310896"/>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Canlı → öne çıkanlar</a:t>
            </a:r>
            <a:endParaRPr lang="en-US" sz="1300" dirty="0"/>
          </a:p>
        </p:txBody>
      </p:sp>
      <p:sp>
        <p:nvSpPr>
          <p:cNvPr id="11" name="Text 8"/>
          <p:cNvSpPr txBox="1"/>
          <p:nvPr/>
        </p:nvSpPr>
        <p:spPr>
          <a:xfrm>
            <a:off x="731520" y="2029968"/>
            <a:ext cx="2788920" cy="89611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Yayından sonra 9:16 formatında 3–5 klip – meme'lerin, hediyelerin ve sohbetin en yoğun olduğu anlardan. Yüklemesiz.</a:t>
            </a:r>
            <a:endParaRPr lang="en-US" sz="1100" dirty="0"/>
          </a:p>
        </p:txBody>
      </p:sp>
      <p:sp>
        <p:nvSpPr>
          <p:cNvPr id="12" name="Shape 9"/>
          <p:cNvSpPr/>
          <p:nvPr/>
        </p:nvSpPr>
        <p:spPr>
          <a:xfrm>
            <a:off x="3840480" y="1645920"/>
            <a:ext cx="3154680" cy="1325880"/>
          </a:xfrm>
          <a:prstGeom prst="roundRect">
            <a:avLst>
              <a:gd name="adj" fmla="val 8276"/>
            </a:avLst>
          </a:prstGeom>
          <a:solidFill>
            <a:srgbClr val="181B23"/>
          </a:solidFill>
          <a:ln w="12700">
            <a:solidFill>
              <a:srgbClr val="181B23"/>
            </a:solidFill>
            <a:prstDash val="solid"/>
          </a:ln>
        </p:spPr>
      </p:sp>
      <p:sp>
        <p:nvSpPr>
          <p:cNvPr id="13" name="Text 10"/>
          <p:cNvSpPr txBox="1"/>
          <p:nvPr/>
        </p:nvSpPr>
        <p:spPr>
          <a:xfrm>
            <a:off x="4023360" y="1719072"/>
            <a:ext cx="2788920" cy="310896"/>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Dosya girer → hazır çıkar</a:t>
            </a:r>
            <a:endParaRPr lang="en-US" sz="1300" dirty="0"/>
          </a:p>
        </p:txBody>
      </p:sp>
      <p:sp>
        <p:nvSpPr>
          <p:cNvPr id="14" name="Text 11"/>
          <p:cNvSpPr txBox="1"/>
          <p:nvPr/>
        </p:nvSpPr>
        <p:spPr>
          <a:xfrm>
            <a:off x="4023360" y="2029968"/>
            <a:ext cx="2788920" cy="896112"/>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Videoyu sürükle → yerel transkript → çip olarak efekt, sahne ve kesmeler → donanım kodlayıcıyla MP4 [Kaynak 57, 59].</a:t>
            </a:r>
            <a:endParaRPr lang="en-US" sz="1100" dirty="0"/>
          </a:p>
        </p:txBody>
      </p:sp>
      <p:sp>
        <p:nvSpPr>
          <p:cNvPr id="15" name="Shape 12"/>
          <p:cNvSpPr/>
          <p:nvPr/>
        </p:nvSpPr>
        <p:spPr>
          <a:xfrm>
            <a:off x="548640" y="3108960"/>
            <a:ext cx="6446520" cy="868680"/>
          </a:xfrm>
          <a:prstGeom prst="roundRect">
            <a:avLst>
              <a:gd name="adj" fmla="val 12632"/>
            </a:avLst>
          </a:prstGeom>
          <a:solidFill>
            <a:srgbClr val="1F2330"/>
          </a:solidFill>
          <a:ln w="12700">
            <a:solidFill>
              <a:srgbClr val="1F2330"/>
            </a:solidFill>
            <a:prstDash val="solid"/>
          </a:ln>
        </p:spPr>
      </p:sp>
      <p:sp>
        <p:nvSpPr>
          <p:cNvPr id="16" name="Text 13"/>
          <p:cNvSpPr txBox="1"/>
          <p:nvPr/>
        </p:nvSpPr>
        <p:spPr>
          <a:xfrm>
            <a:off x="685800" y="3200400"/>
            <a:ext cx="1325880" cy="685800"/>
          </a:xfrm>
          <a:prstGeom prst="rect">
            <a:avLst/>
          </a:prstGeom>
          <a:noFill/>
          <a:ln/>
        </p:spPr>
        <p:txBody>
          <a:bodyPr wrap="square" lIns="0" tIns="0" rIns="0" bIns="0" rtlCol="0" anchor="ctr">
            <a:normAutofit/>
          </a:bodyPr>
          <a:lstStyle/>
          <a:p>
            <a:pPr algn="ctr" indent="0" marL="0">
              <a:buNone/>
            </a:pPr>
            <a:r>
              <a:rPr lang="en-US" sz="1000" dirty="0">
                <a:solidFill>
                  <a:srgbClr val="FFFFFF"/>
                </a:solidFill>
                <a:latin typeface="Arial" pitchFamily="34" charset="0"/>
                <a:ea typeface="Arial" pitchFamily="34" charset="-122"/>
                <a:cs typeface="Arial" pitchFamily="34" charset="-120"/>
              </a:rPr>
              <a:t>🎞 Video.mp4</a:t>
            </a:r>
            <a:endParaRPr lang="en-US" sz="1000" dirty="0"/>
          </a:p>
          <a:p>
            <a:pPr algn="ctr" indent="0" marL="0">
              <a:buNone/>
            </a:pPr>
            <a:r>
              <a:rPr lang="en-US" sz="1000" dirty="0">
                <a:solidFill>
                  <a:srgbClr val="FFFFFF"/>
                </a:solidFill>
                <a:latin typeface="Arial" pitchFamily="34" charset="0"/>
                <a:ea typeface="Arial" pitchFamily="34" charset="-122"/>
                <a:cs typeface="Arial" pitchFamily="34" charset="-120"/>
              </a:rPr>
              <a:t>“Dinliyorum … (yerel)”</a:t>
            </a:r>
            <a:endParaRPr lang="en-US" sz="1000" dirty="0"/>
          </a:p>
        </p:txBody>
      </p:sp>
      <p:sp>
        <p:nvSpPr>
          <p:cNvPr id="17" name="Shape 14"/>
          <p:cNvSpPr/>
          <p:nvPr/>
        </p:nvSpPr>
        <p:spPr>
          <a:xfrm>
            <a:off x="2103120" y="3291840"/>
            <a:ext cx="4754880" cy="274320"/>
          </a:xfrm>
          <a:prstGeom prst="rect">
            <a:avLst/>
          </a:prstGeom>
          <a:solidFill>
            <a:srgbClr val="262B38"/>
          </a:solidFill>
          <a:ln/>
        </p:spPr>
      </p:sp>
      <p:sp>
        <p:nvSpPr>
          <p:cNvPr id="18" name="Shape 15"/>
          <p:cNvSpPr/>
          <p:nvPr/>
        </p:nvSpPr>
        <p:spPr>
          <a:xfrm>
            <a:off x="2198218" y="3310128"/>
            <a:ext cx="237744" cy="237744"/>
          </a:xfrm>
          <a:prstGeom prst="roundRect">
            <a:avLst>
              <a:gd name="adj" fmla="val 23077"/>
            </a:avLst>
          </a:prstGeom>
          <a:solidFill>
            <a:srgbClr val="8A93A6"/>
          </a:solidFill>
          <a:ln/>
        </p:spPr>
      </p:sp>
      <p:sp>
        <p:nvSpPr>
          <p:cNvPr id="19" name="Shape 16"/>
          <p:cNvSpPr/>
          <p:nvPr/>
        </p:nvSpPr>
        <p:spPr>
          <a:xfrm>
            <a:off x="2626157" y="3310128"/>
            <a:ext cx="237744" cy="237744"/>
          </a:xfrm>
          <a:prstGeom prst="roundRect">
            <a:avLst>
              <a:gd name="adj" fmla="val 23077"/>
            </a:avLst>
          </a:prstGeom>
          <a:solidFill>
            <a:srgbClr val="2DFFB5"/>
          </a:solidFill>
          <a:ln/>
        </p:spPr>
      </p:sp>
      <p:sp>
        <p:nvSpPr>
          <p:cNvPr id="20" name="Shape 17"/>
          <p:cNvSpPr/>
          <p:nvPr/>
        </p:nvSpPr>
        <p:spPr>
          <a:xfrm>
            <a:off x="3054096" y="3310128"/>
            <a:ext cx="190195" cy="237744"/>
          </a:xfrm>
          <a:prstGeom prst="roundRect">
            <a:avLst>
              <a:gd name="adj" fmla="val 28846"/>
            </a:avLst>
          </a:prstGeom>
          <a:solidFill>
            <a:srgbClr val="FFD166"/>
          </a:solidFill>
          <a:ln/>
        </p:spPr>
      </p:sp>
      <p:sp>
        <p:nvSpPr>
          <p:cNvPr id="21" name="Shape 18"/>
          <p:cNvSpPr/>
          <p:nvPr/>
        </p:nvSpPr>
        <p:spPr>
          <a:xfrm>
            <a:off x="3482035" y="3310128"/>
            <a:ext cx="95098" cy="237744"/>
          </a:xfrm>
          <a:prstGeom prst="roundRect">
            <a:avLst>
              <a:gd name="adj" fmla="val 57692"/>
            </a:avLst>
          </a:prstGeom>
          <a:solidFill>
            <a:srgbClr val="FF2D75"/>
          </a:solidFill>
          <a:ln/>
        </p:spPr>
      </p:sp>
      <p:sp>
        <p:nvSpPr>
          <p:cNvPr id="22" name="Shape 19"/>
          <p:cNvSpPr/>
          <p:nvPr/>
        </p:nvSpPr>
        <p:spPr>
          <a:xfrm>
            <a:off x="3814877" y="3310128"/>
            <a:ext cx="332842" cy="237744"/>
          </a:xfrm>
          <a:prstGeom prst="roundRect">
            <a:avLst>
              <a:gd name="adj" fmla="val 23077"/>
            </a:avLst>
          </a:prstGeom>
          <a:solidFill>
            <a:srgbClr val="8A93A6"/>
          </a:solidFill>
          <a:ln/>
        </p:spPr>
      </p:sp>
      <p:sp>
        <p:nvSpPr>
          <p:cNvPr id="23" name="Shape 20"/>
          <p:cNvSpPr/>
          <p:nvPr/>
        </p:nvSpPr>
        <p:spPr>
          <a:xfrm>
            <a:off x="4385462" y="3310128"/>
            <a:ext cx="332842" cy="237744"/>
          </a:xfrm>
          <a:prstGeom prst="roundRect">
            <a:avLst>
              <a:gd name="adj" fmla="val 23077"/>
            </a:avLst>
          </a:prstGeom>
          <a:solidFill>
            <a:srgbClr val="2DFFB5"/>
          </a:solidFill>
          <a:ln/>
        </p:spPr>
      </p:sp>
      <p:sp>
        <p:nvSpPr>
          <p:cNvPr id="24" name="Shape 21"/>
          <p:cNvSpPr/>
          <p:nvPr/>
        </p:nvSpPr>
        <p:spPr>
          <a:xfrm>
            <a:off x="4860950" y="3310128"/>
            <a:ext cx="142646" cy="237744"/>
          </a:xfrm>
          <a:prstGeom prst="roundRect">
            <a:avLst>
              <a:gd name="adj" fmla="val 38462"/>
            </a:avLst>
          </a:prstGeom>
          <a:solidFill>
            <a:srgbClr val="FF2D75"/>
          </a:solidFill>
          <a:ln/>
        </p:spPr>
      </p:sp>
      <p:sp>
        <p:nvSpPr>
          <p:cNvPr id="25" name="Shape 22"/>
          <p:cNvSpPr/>
          <p:nvPr/>
        </p:nvSpPr>
        <p:spPr>
          <a:xfrm>
            <a:off x="5241341" y="3310128"/>
            <a:ext cx="190195" cy="237744"/>
          </a:xfrm>
          <a:prstGeom prst="roundRect">
            <a:avLst>
              <a:gd name="adj" fmla="val 28846"/>
            </a:avLst>
          </a:prstGeom>
          <a:solidFill>
            <a:srgbClr val="FFD166"/>
          </a:solidFill>
          <a:ln/>
        </p:spPr>
      </p:sp>
      <p:sp>
        <p:nvSpPr>
          <p:cNvPr id="26" name="Shape 23"/>
          <p:cNvSpPr/>
          <p:nvPr/>
        </p:nvSpPr>
        <p:spPr>
          <a:xfrm>
            <a:off x="5621731" y="3310128"/>
            <a:ext cx="285293" cy="237744"/>
          </a:xfrm>
          <a:prstGeom prst="roundRect">
            <a:avLst>
              <a:gd name="adj" fmla="val 23077"/>
            </a:avLst>
          </a:prstGeom>
          <a:solidFill>
            <a:srgbClr val="8A93A6"/>
          </a:solidFill>
          <a:ln/>
        </p:spPr>
      </p:sp>
      <p:sp>
        <p:nvSpPr>
          <p:cNvPr id="27" name="Shape 24"/>
          <p:cNvSpPr/>
          <p:nvPr/>
        </p:nvSpPr>
        <p:spPr>
          <a:xfrm>
            <a:off x="6097219" y="3310128"/>
            <a:ext cx="285293" cy="237744"/>
          </a:xfrm>
          <a:prstGeom prst="roundRect">
            <a:avLst>
              <a:gd name="adj" fmla="val 23077"/>
            </a:avLst>
          </a:prstGeom>
          <a:solidFill>
            <a:srgbClr val="2DFFB5"/>
          </a:solidFill>
          <a:ln/>
        </p:spPr>
      </p:sp>
      <p:sp>
        <p:nvSpPr>
          <p:cNvPr id="28" name="Shape 25"/>
          <p:cNvSpPr/>
          <p:nvPr/>
        </p:nvSpPr>
        <p:spPr>
          <a:xfrm>
            <a:off x="6525158" y="3310128"/>
            <a:ext cx="142646" cy="237744"/>
          </a:xfrm>
          <a:prstGeom prst="roundRect">
            <a:avLst>
              <a:gd name="adj" fmla="val 38462"/>
            </a:avLst>
          </a:prstGeom>
          <a:solidFill>
            <a:srgbClr val="FF2D75"/>
          </a:solidFill>
          <a:ln/>
        </p:spPr>
      </p:sp>
      <p:sp>
        <p:nvSpPr>
          <p:cNvPr id="29" name="Shape 26"/>
          <p:cNvSpPr/>
          <p:nvPr/>
        </p:nvSpPr>
        <p:spPr>
          <a:xfrm>
            <a:off x="2103120" y="3712464"/>
            <a:ext cx="109728" cy="109728"/>
          </a:xfrm>
          <a:prstGeom prst="ellipse">
            <a:avLst/>
          </a:prstGeom>
          <a:solidFill>
            <a:srgbClr val="FF2D75"/>
          </a:solidFill>
          <a:ln w="12700">
            <a:solidFill>
              <a:srgbClr val="FF2D75"/>
            </a:solidFill>
            <a:prstDash val="solid"/>
          </a:ln>
        </p:spPr>
      </p:sp>
      <p:sp>
        <p:nvSpPr>
          <p:cNvPr id="30" name="Text 27"/>
          <p:cNvSpPr txBox="1"/>
          <p:nvPr/>
        </p:nvSpPr>
        <p:spPr>
          <a:xfrm>
            <a:off x="2267712" y="3639312"/>
            <a:ext cx="1005840" cy="256032"/>
          </a:xfrm>
          <a:prstGeom prst="rect">
            <a:avLst/>
          </a:prstGeom>
          <a:noFill/>
          <a:ln/>
        </p:spPr>
        <p:txBody>
          <a:bodyPr wrap="square" lIns="0" tIns="0" rIns="0" bIns="0" rtlCol="0" anchor="ctr">
            <a:normAutofit/>
          </a:bodyPr>
          <a:lstStyle/>
          <a:p>
            <a:pPr indent="0" marL="0">
              <a:buNone/>
            </a:pPr>
            <a:r>
              <a:rPr lang="en-US" sz="950" dirty="0">
                <a:solidFill>
                  <a:srgbClr val="9AA3B5"/>
                </a:solidFill>
                <a:latin typeface="Arial" pitchFamily="34" charset="0"/>
                <a:ea typeface="Arial" pitchFamily="34" charset="-122"/>
                <a:cs typeface="Arial" pitchFamily="34" charset="-120"/>
              </a:rPr>
              <a:t>Meme</a:t>
            </a:r>
            <a:endParaRPr lang="en-US" sz="950" dirty="0"/>
          </a:p>
        </p:txBody>
      </p:sp>
      <p:sp>
        <p:nvSpPr>
          <p:cNvPr id="31" name="Shape 28"/>
          <p:cNvSpPr/>
          <p:nvPr/>
        </p:nvSpPr>
        <p:spPr>
          <a:xfrm>
            <a:off x="3291840" y="3712464"/>
            <a:ext cx="109728" cy="109728"/>
          </a:xfrm>
          <a:prstGeom prst="ellipse">
            <a:avLst/>
          </a:prstGeom>
          <a:solidFill>
            <a:srgbClr val="2DFFB5"/>
          </a:solidFill>
          <a:ln w="12700">
            <a:solidFill>
              <a:srgbClr val="2DFFB5"/>
            </a:solidFill>
            <a:prstDash val="solid"/>
          </a:ln>
        </p:spPr>
      </p:sp>
      <p:sp>
        <p:nvSpPr>
          <p:cNvPr id="32" name="Text 29"/>
          <p:cNvSpPr txBox="1"/>
          <p:nvPr/>
        </p:nvSpPr>
        <p:spPr>
          <a:xfrm>
            <a:off x="3456432" y="3639312"/>
            <a:ext cx="1005840" cy="256032"/>
          </a:xfrm>
          <a:prstGeom prst="rect">
            <a:avLst/>
          </a:prstGeom>
          <a:noFill/>
          <a:ln/>
        </p:spPr>
        <p:txBody>
          <a:bodyPr wrap="square" lIns="0" tIns="0" rIns="0" bIns="0" rtlCol="0" anchor="ctr">
            <a:normAutofit/>
          </a:bodyPr>
          <a:lstStyle/>
          <a:p>
            <a:pPr indent="0" marL="0">
              <a:buNone/>
            </a:pPr>
            <a:r>
              <a:rPr lang="en-US" sz="950" dirty="0">
                <a:solidFill>
                  <a:srgbClr val="9AA3B5"/>
                </a:solidFill>
                <a:latin typeface="Arial" pitchFamily="34" charset="0"/>
                <a:ea typeface="Arial" pitchFamily="34" charset="-122"/>
                <a:cs typeface="Arial" pitchFamily="34" charset="-120"/>
              </a:rPr>
              <a:t>Sahne</a:t>
            </a:r>
            <a:endParaRPr lang="en-US" sz="950" dirty="0"/>
          </a:p>
        </p:txBody>
      </p:sp>
      <p:sp>
        <p:nvSpPr>
          <p:cNvPr id="33" name="Shape 30"/>
          <p:cNvSpPr/>
          <p:nvPr/>
        </p:nvSpPr>
        <p:spPr>
          <a:xfrm>
            <a:off x="4480560" y="3712464"/>
            <a:ext cx="109728" cy="109728"/>
          </a:xfrm>
          <a:prstGeom prst="ellipse">
            <a:avLst/>
          </a:prstGeom>
          <a:solidFill>
            <a:srgbClr val="FFD166"/>
          </a:solidFill>
          <a:ln w="12700">
            <a:solidFill>
              <a:srgbClr val="FFD166"/>
            </a:solidFill>
            <a:prstDash val="solid"/>
          </a:ln>
        </p:spPr>
      </p:sp>
      <p:sp>
        <p:nvSpPr>
          <p:cNvPr id="34" name="Text 31"/>
          <p:cNvSpPr txBox="1"/>
          <p:nvPr/>
        </p:nvSpPr>
        <p:spPr>
          <a:xfrm>
            <a:off x="4645152" y="3639312"/>
            <a:ext cx="1005840" cy="256032"/>
          </a:xfrm>
          <a:prstGeom prst="rect">
            <a:avLst/>
          </a:prstGeom>
          <a:noFill/>
          <a:ln/>
        </p:spPr>
        <p:txBody>
          <a:bodyPr wrap="square" lIns="0" tIns="0" rIns="0" bIns="0" rtlCol="0" anchor="ctr">
            <a:normAutofit/>
          </a:bodyPr>
          <a:lstStyle/>
          <a:p>
            <a:pPr indent="0" marL="0">
              <a:buNone/>
            </a:pPr>
            <a:r>
              <a:rPr lang="en-US" sz="950" dirty="0">
                <a:solidFill>
                  <a:srgbClr val="9AA3B5"/>
                </a:solidFill>
                <a:latin typeface="Arial" pitchFamily="34" charset="0"/>
                <a:ea typeface="Arial" pitchFamily="34" charset="-122"/>
                <a:cs typeface="Arial" pitchFamily="34" charset="-120"/>
              </a:rPr>
              <a:t>Zoom</a:t>
            </a:r>
            <a:endParaRPr lang="en-US" sz="950" dirty="0"/>
          </a:p>
        </p:txBody>
      </p:sp>
      <p:sp>
        <p:nvSpPr>
          <p:cNvPr id="35" name="Shape 32"/>
          <p:cNvSpPr/>
          <p:nvPr/>
        </p:nvSpPr>
        <p:spPr>
          <a:xfrm>
            <a:off x="5669280" y="3712464"/>
            <a:ext cx="109728" cy="109728"/>
          </a:xfrm>
          <a:prstGeom prst="ellipse">
            <a:avLst/>
          </a:prstGeom>
          <a:solidFill>
            <a:srgbClr val="8A93A6"/>
          </a:solidFill>
          <a:ln w="12700">
            <a:solidFill>
              <a:srgbClr val="8A93A6"/>
            </a:solidFill>
            <a:prstDash val="solid"/>
          </a:ln>
        </p:spPr>
      </p:sp>
      <p:sp>
        <p:nvSpPr>
          <p:cNvPr id="36" name="Text 33"/>
          <p:cNvSpPr txBox="1"/>
          <p:nvPr/>
        </p:nvSpPr>
        <p:spPr>
          <a:xfrm>
            <a:off x="5833872" y="3639312"/>
            <a:ext cx="1005840" cy="256032"/>
          </a:xfrm>
          <a:prstGeom prst="rect">
            <a:avLst/>
          </a:prstGeom>
          <a:noFill/>
          <a:ln/>
        </p:spPr>
        <p:txBody>
          <a:bodyPr wrap="square" lIns="0" tIns="0" rIns="0" bIns="0" rtlCol="0" anchor="ctr">
            <a:normAutofit/>
          </a:bodyPr>
          <a:lstStyle/>
          <a:p>
            <a:pPr indent="0" marL="0">
              <a:buNone/>
            </a:pPr>
            <a:r>
              <a:rPr lang="en-US" sz="950" dirty="0">
                <a:solidFill>
                  <a:srgbClr val="9AA3B5"/>
                </a:solidFill>
                <a:latin typeface="Arial" pitchFamily="34" charset="0"/>
                <a:ea typeface="Arial" pitchFamily="34" charset="-122"/>
                <a:cs typeface="Arial" pitchFamily="34" charset="-120"/>
              </a:rPr>
              <a:t>Kesme</a:t>
            </a:r>
            <a:endParaRPr lang="en-US" sz="950" dirty="0"/>
          </a:p>
        </p:txBody>
      </p:sp>
      <p:sp>
        <p:nvSpPr>
          <p:cNvPr id="37" name="Text 34"/>
          <p:cNvSpPr txBox="1"/>
          <p:nvPr/>
        </p:nvSpPr>
        <p:spPr>
          <a:xfrm>
            <a:off x="548640" y="4114800"/>
            <a:ext cx="6446520" cy="310896"/>
          </a:xfrm>
          <a:prstGeom prst="rect">
            <a:avLst/>
          </a:prstGeom>
          <a:noFill/>
          <a:ln/>
        </p:spPr>
        <p:txBody>
          <a:bodyPr wrap="square" lIns="0" tIns="0" rIns="0" bIns="0" rtlCol="0" anchor="t">
            <a:normAutofit/>
          </a:bodyPr>
          <a:lstStyle/>
          <a:p>
            <a:pPr indent="0" marL="0">
              <a:buNone/>
            </a:pPr>
            <a:r>
              <a:rPr lang="en-US" sz="1400" b="1" dirty="0">
                <a:solidFill>
                  <a:srgbClr val="5AD1FF"/>
                </a:solidFill>
                <a:latin typeface="Arial" pitchFamily="34" charset="0"/>
                <a:ea typeface="Arial" pitchFamily="34" charset="-122"/>
                <a:cs typeface="Arial" pitchFamily="34" charset="-120"/>
              </a:rPr>
              <a:t>LiveFX Mekânlar: tek durum, birçok ekran</a:t>
            </a:r>
            <a:endParaRPr lang="en-US" sz="1400" dirty="0"/>
          </a:p>
        </p:txBody>
      </p:sp>
      <p:sp>
        <p:nvSpPr>
          <p:cNvPr id="38" name="Shape 35"/>
          <p:cNvSpPr/>
          <p:nvPr/>
        </p:nvSpPr>
        <p:spPr>
          <a:xfrm>
            <a:off x="548640" y="4480560"/>
            <a:ext cx="2057400" cy="658368"/>
          </a:xfrm>
          <a:prstGeom prst="roundRect">
            <a:avLst>
              <a:gd name="adj" fmla="val 16667"/>
            </a:avLst>
          </a:prstGeom>
          <a:solidFill>
            <a:srgbClr val="181B23"/>
          </a:solidFill>
          <a:ln w="12700">
            <a:solidFill>
              <a:srgbClr val="181B23"/>
            </a:solidFill>
            <a:prstDash val="solid"/>
          </a:ln>
        </p:spPr>
      </p:sp>
      <p:sp>
        <p:nvSpPr>
          <p:cNvPr id="39" name="Text 36"/>
          <p:cNvSpPr txBox="1"/>
          <p:nvPr/>
        </p:nvSpPr>
        <p:spPr>
          <a:xfrm>
            <a:off x="685800" y="453542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Sahne ve etkinlik</a:t>
            </a:r>
            <a:endParaRPr lang="en-US" sz="1150" dirty="0"/>
          </a:p>
        </p:txBody>
      </p:sp>
      <p:sp>
        <p:nvSpPr>
          <p:cNvPr id="40" name="Text 37"/>
          <p:cNvSpPr txBox="1"/>
          <p:nvPr/>
        </p:nvSpPr>
        <p:spPr>
          <a:xfrm>
            <a:off x="685800" y="4828032"/>
            <a:ext cx="1783080" cy="256032"/>
          </a:xfrm>
          <a:prstGeom prst="rect">
            <a:avLst/>
          </a:prstGeom>
          <a:noFill/>
          <a:ln/>
        </p:spPr>
        <p:txBody>
          <a:bodyPr wrap="square" lIns="0" tIns="0" rIns="0" bIns="0" rtlCol="0" anchor="t">
            <a:normAutofit/>
          </a:bodyPr>
          <a:lstStyle/>
          <a:p>
            <a:pPr indent="0" marL="0">
              <a:buNone/>
            </a:pPr>
            <a:r>
              <a:rPr lang="en-US" sz="950" b="1" dirty="0">
                <a:solidFill>
                  <a:srgbClr val="2DFFB5"/>
                </a:solidFill>
                <a:latin typeface="Arial" pitchFamily="34" charset="0"/>
                <a:ea typeface="Arial" pitchFamily="34" charset="-122"/>
                <a:cs typeface="Arial" pitchFamily="34" charset="-120"/>
              </a:rPr>
              <a:t>bugün var</a:t>
            </a:r>
            <a:endParaRPr lang="en-US" sz="950" dirty="0"/>
          </a:p>
        </p:txBody>
      </p:sp>
      <p:sp>
        <p:nvSpPr>
          <p:cNvPr id="41" name="Shape 38"/>
          <p:cNvSpPr/>
          <p:nvPr/>
        </p:nvSpPr>
        <p:spPr>
          <a:xfrm>
            <a:off x="2743200" y="4480560"/>
            <a:ext cx="2057400" cy="658368"/>
          </a:xfrm>
          <a:prstGeom prst="roundRect">
            <a:avLst>
              <a:gd name="adj" fmla="val 16667"/>
            </a:avLst>
          </a:prstGeom>
          <a:solidFill>
            <a:srgbClr val="181B23"/>
          </a:solidFill>
          <a:ln w="12700">
            <a:solidFill>
              <a:srgbClr val="181B23"/>
            </a:solidFill>
            <a:prstDash val="solid"/>
          </a:ln>
        </p:spPr>
      </p:sp>
      <p:sp>
        <p:nvSpPr>
          <p:cNvPr id="42" name="Text 39"/>
          <p:cNvSpPr txBox="1"/>
          <p:nvPr/>
        </p:nvSpPr>
        <p:spPr>
          <a:xfrm>
            <a:off x="2880360" y="453542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Sınıf</a:t>
            </a:r>
            <a:endParaRPr lang="en-US" sz="1150" dirty="0"/>
          </a:p>
        </p:txBody>
      </p:sp>
      <p:sp>
        <p:nvSpPr>
          <p:cNvPr id="43" name="Text 40"/>
          <p:cNvSpPr txBox="1"/>
          <p:nvPr/>
        </p:nvSpPr>
        <p:spPr>
          <a:xfrm>
            <a:off x="2880360" y="4828032"/>
            <a:ext cx="1783080" cy="256032"/>
          </a:xfrm>
          <a:prstGeom prst="rect">
            <a:avLst/>
          </a:prstGeom>
          <a:noFill/>
          <a:ln/>
        </p:spPr>
        <p:txBody>
          <a:bodyPr wrap="square" lIns="0" tIns="0" rIns="0" bIns="0" rtlCol="0" anchor="t">
            <a:normAutofit/>
          </a:bodyPr>
          <a:lstStyle/>
          <a:p>
            <a:pPr indent="0" marL="0">
              <a:buNone/>
            </a:pPr>
            <a:r>
              <a:rPr lang="en-US" sz="950" b="1" dirty="0">
                <a:solidFill>
                  <a:srgbClr val="2DFFB5"/>
                </a:solidFill>
                <a:latin typeface="Arial" pitchFamily="34" charset="0"/>
                <a:ea typeface="Arial" pitchFamily="34" charset="-122"/>
                <a:cs typeface="Arial" pitchFamily="34" charset="-120"/>
              </a:rPr>
              <a:t>bugün var</a:t>
            </a:r>
            <a:endParaRPr lang="en-US" sz="950" dirty="0"/>
          </a:p>
        </p:txBody>
      </p:sp>
      <p:sp>
        <p:nvSpPr>
          <p:cNvPr id="44" name="Shape 41"/>
          <p:cNvSpPr/>
          <p:nvPr/>
        </p:nvSpPr>
        <p:spPr>
          <a:xfrm>
            <a:off x="4937760" y="4480560"/>
            <a:ext cx="2057400" cy="658368"/>
          </a:xfrm>
          <a:prstGeom prst="roundRect">
            <a:avLst>
              <a:gd name="adj" fmla="val 16667"/>
            </a:avLst>
          </a:prstGeom>
          <a:solidFill>
            <a:srgbClr val="181B23"/>
          </a:solidFill>
          <a:ln w="12700">
            <a:solidFill>
              <a:srgbClr val="181B23"/>
            </a:solidFill>
            <a:prstDash val="solid"/>
          </a:ln>
        </p:spPr>
      </p:sp>
      <p:sp>
        <p:nvSpPr>
          <p:cNvPr id="45" name="Text 42"/>
          <p:cNvSpPr txBox="1"/>
          <p:nvPr/>
        </p:nvSpPr>
        <p:spPr>
          <a:xfrm>
            <a:off x="5074920" y="453542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Resimli sesli kitap</a:t>
            </a:r>
            <a:endParaRPr lang="en-US" sz="1150" dirty="0"/>
          </a:p>
        </p:txBody>
      </p:sp>
      <p:sp>
        <p:nvSpPr>
          <p:cNvPr id="46" name="Text 43"/>
          <p:cNvSpPr txBox="1"/>
          <p:nvPr/>
        </p:nvSpPr>
        <p:spPr>
          <a:xfrm>
            <a:off x="5074920" y="4828032"/>
            <a:ext cx="1783080" cy="256032"/>
          </a:xfrm>
          <a:prstGeom prst="rect">
            <a:avLst/>
          </a:prstGeom>
          <a:noFill/>
          <a:ln/>
        </p:spPr>
        <p:txBody>
          <a:bodyPr wrap="square" lIns="0" tIns="0" rIns="0" bIns="0" rtlCol="0" anchor="t">
            <a:normAutofit/>
          </a:bodyPr>
          <a:lstStyle/>
          <a:p>
            <a:pPr indent="0" marL="0">
              <a:buNone/>
            </a:pPr>
            <a:r>
              <a:rPr lang="en-US" sz="950" b="1" dirty="0">
                <a:solidFill>
                  <a:srgbClr val="FFD166"/>
                </a:solidFill>
                <a:latin typeface="Arial" pitchFamily="34" charset="0"/>
                <a:ea typeface="Arial" pitchFamily="34" charset="-122"/>
                <a:cs typeface="Arial" pitchFamily="34" charset="-120"/>
              </a:rPr>
              <a:t>sonraki tur</a:t>
            </a:r>
            <a:endParaRPr lang="en-US" sz="950" dirty="0"/>
          </a:p>
        </p:txBody>
      </p:sp>
      <p:sp>
        <p:nvSpPr>
          <p:cNvPr id="47" name="Shape 44"/>
          <p:cNvSpPr/>
          <p:nvPr/>
        </p:nvSpPr>
        <p:spPr>
          <a:xfrm>
            <a:off x="548640" y="5257800"/>
            <a:ext cx="2057400" cy="658368"/>
          </a:xfrm>
          <a:prstGeom prst="roundRect">
            <a:avLst>
              <a:gd name="adj" fmla="val 16667"/>
            </a:avLst>
          </a:prstGeom>
          <a:solidFill>
            <a:srgbClr val="181B23"/>
          </a:solidFill>
          <a:ln w="12700">
            <a:solidFill>
              <a:srgbClr val="181B23"/>
            </a:solidFill>
            <a:prstDash val="solid"/>
          </a:ln>
        </p:spPr>
      </p:sp>
      <p:sp>
        <p:nvSpPr>
          <p:cNvPr id="48" name="Text 45"/>
          <p:cNvSpPr txBox="1"/>
          <p:nvPr/>
        </p:nvSpPr>
        <p:spPr>
          <a:xfrm>
            <a:off x="685800" y="531266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Telefonda AR</a:t>
            </a:r>
            <a:endParaRPr lang="en-US" sz="1150" dirty="0"/>
          </a:p>
        </p:txBody>
      </p:sp>
      <p:sp>
        <p:nvSpPr>
          <p:cNvPr id="49" name="Text 46"/>
          <p:cNvSpPr txBox="1"/>
          <p:nvPr/>
        </p:nvSpPr>
        <p:spPr>
          <a:xfrm>
            <a:off x="685800" y="5605272"/>
            <a:ext cx="1783080" cy="256032"/>
          </a:xfrm>
          <a:prstGeom prst="rect">
            <a:avLst/>
          </a:prstGeom>
          <a:noFill/>
          <a:ln/>
        </p:spPr>
        <p:txBody>
          <a:bodyPr wrap="square" lIns="0" tIns="0" rIns="0" bIns="0" rtlCol="0" anchor="t">
            <a:normAutofit/>
          </a:bodyPr>
          <a:lstStyle/>
          <a:p>
            <a:pPr indent="0" marL="0">
              <a:buNone/>
            </a:pPr>
            <a:r>
              <a:rPr lang="en-US" sz="950" b="1" dirty="0">
                <a:solidFill>
                  <a:srgbClr val="FFD166"/>
                </a:solidFill>
                <a:latin typeface="Arial" pitchFamily="34" charset="0"/>
                <a:ea typeface="Arial" pitchFamily="34" charset="-122"/>
                <a:cs typeface="Arial" pitchFamily="34" charset="-120"/>
              </a:rPr>
              <a:t>sonraki tur</a:t>
            </a:r>
            <a:endParaRPr lang="en-US" sz="950" dirty="0"/>
          </a:p>
        </p:txBody>
      </p:sp>
      <p:sp>
        <p:nvSpPr>
          <p:cNvPr id="50" name="Shape 47"/>
          <p:cNvSpPr/>
          <p:nvPr/>
        </p:nvSpPr>
        <p:spPr>
          <a:xfrm>
            <a:off x="2743200" y="5257800"/>
            <a:ext cx="2057400" cy="658368"/>
          </a:xfrm>
          <a:prstGeom prst="roundRect">
            <a:avLst>
              <a:gd name="adj" fmla="val 16667"/>
            </a:avLst>
          </a:prstGeom>
          <a:solidFill>
            <a:srgbClr val="181B23"/>
          </a:solidFill>
          <a:ln w="12700">
            <a:solidFill>
              <a:srgbClr val="181B23"/>
            </a:solidFill>
            <a:prstDash val="solid"/>
          </a:ln>
        </p:spPr>
      </p:sp>
      <p:sp>
        <p:nvSpPr>
          <p:cNvPr id="51" name="Text 48"/>
          <p:cNvSpPr txBox="1"/>
          <p:nvPr/>
        </p:nvSpPr>
        <p:spPr>
          <a:xfrm>
            <a:off x="2880360" y="531266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WebXR / VR</a:t>
            </a:r>
            <a:endParaRPr lang="en-US" sz="1150" dirty="0"/>
          </a:p>
        </p:txBody>
      </p:sp>
      <p:sp>
        <p:nvSpPr>
          <p:cNvPr id="52" name="Text 49"/>
          <p:cNvSpPr txBox="1"/>
          <p:nvPr/>
        </p:nvSpPr>
        <p:spPr>
          <a:xfrm>
            <a:off x="2880360" y="5605272"/>
            <a:ext cx="1783080" cy="256032"/>
          </a:xfrm>
          <a:prstGeom prst="rect">
            <a:avLst/>
          </a:prstGeom>
          <a:noFill/>
          <a:ln/>
        </p:spPr>
        <p:txBody>
          <a:bodyPr wrap="square" lIns="0" tIns="0" rIns="0" bIns="0" rtlCol="0" anchor="t">
            <a:normAutofit/>
          </a:bodyPr>
          <a:lstStyle/>
          <a:p>
            <a:pPr indent="0" marL="0">
              <a:buNone/>
            </a:pPr>
            <a:r>
              <a:rPr lang="en-US" sz="950" b="1" dirty="0">
                <a:solidFill>
                  <a:srgbClr val="FF2D75"/>
                </a:solidFill>
                <a:latin typeface="Arial" pitchFamily="34" charset="0"/>
                <a:ea typeface="Arial" pitchFamily="34" charset="-122"/>
                <a:cs typeface="Arial" pitchFamily="34" charset="-120"/>
              </a:rPr>
              <a:t>Vizyon 2029</a:t>
            </a:r>
            <a:endParaRPr lang="en-US" sz="950" dirty="0"/>
          </a:p>
        </p:txBody>
      </p:sp>
      <p:sp>
        <p:nvSpPr>
          <p:cNvPr id="53" name="Shape 50"/>
          <p:cNvSpPr/>
          <p:nvPr/>
        </p:nvSpPr>
        <p:spPr>
          <a:xfrm>
            <a:off x="4937760" y="5257800"/>
            <a:ext cx="2057400" cy="658368"/>
          </a:xfrm>
          <a:prstGeom prst="roundRect">
            <a:avLst>
              <a:gd name="adj" fmla="val 16667"/>
            </a:avLst>
          </a:prstGeom>
          <a:solidFill>
            <a:srgbClr val="181B23"/>
          </a:solidFill>
          <a:ln w="12700">
            <a:solidFill>
              <a:srgbClr val="181B23"/>
            </a:solidFill>
            <a:prstDash val="solid"/>
          </a:ln>
        </p:spPr>
      </p:sp>
      <p:sp>
        <p:nvSpPr>
          <p:cNvPr id="54" name="Text 51"/>
          <p:cNvSpPr txBox="1"/>
          <p:nvPr/>
        </p:nvSpPr>
        <p:spPr>
          <a:xfrm>
            <a:off x="5074920" y="5312664"/>
            <a:ext cx="1783080" cy="292608"/>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 Ekranlı gözlük</a:t>
            </a:r>
            <a:endParaRPr lang="en-US" sz="1150" dirty="0"/>
          </a:p>
        </p:txBody>
      </p:sp>
      <p:sp>
        <p:nvSpPr>
          <p:cNvPr id="55" name="Text 52"/>
          <p:cNvSpPr txBox="1"/>
          <p:nvPr/>
        </p:nvSpPr>
        <p:spPr>
          <a:xfrm>
            <a:off x="5074920" y="5605272"/>
            <a:ext cx="1783080" cy="256032"/>
          </a:xfrm>
          <a:prstGeom prst="rect">
            <a:avLst/>
          </a:prstGeom>
          <a:noFill/>
          <a:ln/>
        </p:spPr>
        <p:txBody>
          <a:bodyPr wrap="square" lIns="0" tIns="0" rIns="0" bIns="0" rtlCol="0" anchor="t">
            <a:normAutofit/>
          </a:bodyPr>
          <a:lstStyle/>
          <a:p>
            <a:pPr indent="0" marL="0">
              <a:buNone/>
            </a:pPr>
            <a:r>
              <a:rPr lang="en-US" sz="950" b="1" dirty="0">
                <a:solidFill>
                  <a:srgbClr val="FF2D75"/>
                </a:solidFill>
                <a:latin typeface="Arial" pitchFamily="34" charset="0"/>
                <a:ea typeface="Arial" pitchFamily="34" charset="-122"/>
                <a:cs typeface="Arial" pitchFamily="34" charset="-120"/>
              </a:rPr>
              <a:t>Vizyon 2029</a:t>
            </a:r>
            <a:endParaRPr lang="en-US" sz="950" dirty="0"/>
          </a:p>
        </p:txBody>
      </p:sp>
      <p:sp>
        <p:nvSpPr>
          <p:cNvPr id="56" name="Text 53"/>
          <p:cNvSpPr txBox="1"/>
          <p:nvPr/>
        </p:nvSpPr>
        <p:spPr>
          <a:xfrm>
            <a:off x="7269480" y="1298448"/>
            <a:ext cx="4373575" cy="310896"/>
          </a:xfrm>
          <a:prstGeom prst="rect">
            <a:avLst/>
          </a:prstGeom>
          <a:noFill/>
          <a:ln/>
        </p:spPr>
        <p:txBody>
          <a:bodyPr wrap="square" lIns="0" tIns="0" rIns="0" bIns="0" rtlCol="0" anchor="t">
            <a:normAutofit/>
          </a:bodyPr>
          <a:lstStyle/>
          <a:p>
            <a:pPr indent="0" marL="0">
              <a:buNone/>
            </a:pPr>
            <a:r>
              <a:rPr lang="en-US" sz="1400" b="1" dirty="0">
                <a:solidFill>
                  <a:srgbClr val="FFD166"/>
                </a:solidFill>
                <a:latin typeface="Arial" pitchFamily="34" charset="0"/>
                <a:ea typeface="Arial" pitchFamily="34" charset="-122"/>
                <a:cs typeface="Arial" pitchFamily="34" charset="-120"/>
              </a:rPr>
              <a:t>Genişleyen pazar</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269480" y="1645920"/>
          <a:ext cx="4373575" cy="914400"/>
        </p:xfrm>
        <a:graphic>
          <a:graphicData uri="http://schemas.openxmlformats.org/drawingml/2006/table">
            <a:tbl>
              <a:tblPr/>
              <a:tblGrid>
                <a:gridCol w="2186788"/>
                <a:gridCol w="2186788"/>
              </a:tblGrid>
              <a:tr h="457200">
                <a:tc>
                  <a:txBody>
                    <a:bodyPr/>
                    <a:lstStyle/>
                    <a:p>
                      <a:pPr indent="0" marL="0">
                        <a:buNone/>
                      </a:pPr>
                      <a:r>
                        <a:rPr lang="en-US" sz="1050" b="1" dirty="0">
                          <a:solidFill>
                            <a:srgbClr val="FFD166"/>
                          </a:solidFill>
                          <a:latin typeface="Arial" pitchFamily="34" charset="0"/>
                          <a:ea typeface="Arial" pitchFamily="34" charset="-122"/>
                          <a:cs typeface="Arial" pitchFamily="34" charset="-120"/>
                        </a:rPr>
                        <a:t>Segment</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c>
                  <a:txBody>
                    <a:bodyPr/>
                    <a:lstStyle/>
                    <a:p>
                      <a:pPr indent="0" marL="0">
                        <a:buNone/>
                      </a:pPr>
                      <a:r>
                        <a:rPr lang="en-US" sz="1050" b="1" dirty="0">
                          <a:solidFill>
                            <a:srgbClr val="FFD166"/>
                          </a:solidFill>
                          <a:latin typeface="Arial" pitchFamily="34" charset="0"/>
                          <a:ea typeface="Arial" pitchFamily="34" charset="-122"/>
                          <a:cs typeface="Arial" pitchFamily="34" charset="-120"/>
                        </a:rPr>
                        <a:t>Büyüklük</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Video kurgu yazılımı 2026</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2,68 milyar USD [Kaynak 51]</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Yapay zekâ video (üretim + kurgu) 2026</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3,67 milyar USD [Kaynak 23]</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Dil öğrenme uygulamaları (uygulama içi) 2025</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1,54 milyar USD [Kaynak 33]</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Almanya sesli kitap 2025</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374 milyon € [Kaynak 19]</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Akıllı gözlük 2026</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13,6 milyon cihaz / 5,1 milyar USD [Kaynak 45]</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457200">
                <a:tc>
                  <a:txBody>
                    <a:bodyPr/>
                    <a:lstStyle/>
                    <a:p>
                      <a:pPr indent="0" marL="0">
                        <a:buNone/>
                      </a:pPr>
                      <a:r>
                        <a:rPr lang="en-US" sz="1050" dirty="0">
                          <a:solidFill>
                            <a:srgbClr val="FFFFFF"/>
                          </a:solidFill>
                          <a:latin typeface="Arial" pitchFamily="34" charset="0"/>
                          <a:ea typeface="Arial" pitchFamily="34" charset="-122"/>
                          <a:cs typeface="Arial" pitchFamily="34" charset="-120"/>
                        </a:rPr>
                        <a:t>Canlı yayın (çekirdek) 2026</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c>
                  <a:txBody>
                    <a:bodyPr/>
                    <a:lstStyle/>
                    <a:p>
                      <a:pPr indent="0" marL="0">
                        <a:buNone/>
                      </a:pPr>
                      <a:r>
                        <a:rPr lang="en-US" sz="1050" b="1" dirty="0">
                          <a:solidFill>
                            <a:srgbClr val="FF2D75"/>
                          </a:solidFill>
                          <a:latin typeface="Arial" pitchFamily="34" charset="0"/>
                          <a:ea typeface="Arial" pitchFamily="34" charset="-122"/>
                          <a:cs typeface="Arial" pitchFamily="34" charset="-120"/>
                        </a:rPr>
                        <a:t>97–157 milyar USD [Kaynak 1, 2]</a:t>
                      </a:r>
                      <a:endParaRPr lang="en-US" sz="1050" dirty="0">
                        <a:latin typeface="Arial" charset="0"/>
                        <a:ea typeface="Arial" charset="0"/>
                        <a:cs typeface="Arial"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r>
            </a:tbl>
          </a:graphicData>
        </a:graphic>
      </p:graphicFrame>
      <p:sp>
        <p:nvSpPr>
          <p:cNvPr id="58" name="Text 54"/>
          <p:cNvSpPr txBox="1"/>
          <p:nvPr/>
        </p:nvSpPr>
        <p:spPr>
          <a:xfrm>
            <a:off x="7269480" y="4983480"/>
            <a:ext cx="4373575" cy="1234440"/>
          </a:xfrm>
          <a:prstGeom prst="rect">
            <a:avLst/>
          </a:prstGeom>
          <a:noFill/>
          <a:ln/>
        </p:spPr>
        <p:txBody>
          <a:bodyPr wrap="square" lIns="0" tIns="0" rIns="0" bIns="0" rtlCol="0" anchor="t">
            <a:normAutofit/>
          </a:bodyPr>
          <a:lstStyle/>
          <a:p>
            <a:pPr indent="0" marL="0">
              <a:buNone/>
            </a:pPr>
            <a:r>
              <a:rPr lang="en-US" sz="1050" i="1" dirty="0">
                <a:solidFill>
                  <a:srgbClr val="9AA3B5"/>
                </a:solidFill>
                <a:latin typeface="Arial" pitchFamily="34" charset="0"/>
                <a:ea typeface="Arial" pitchFamily="34" charset="-122"/>
                <a:cs typeface="Arial" pitchFamily="34" charset="-120"/>
              </a:rPr>
              <a:t>Fiyat çıpaları: OpusClip aylık 15–29 USD, Descript aylık 16–65 USD [Kaynak 54, 55]. LiveFX Pro+ 14,99 € (tahmin) – bulut maliyeti yok, dakika sınırı yok. XR ve gözlük: vitrin, gelir kalemi değil.</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2D75"/>
                </a:solidFill>
                <a:latin typeface="Arial" pitchFamily="34" charset="0"/>
                <a:ea typeface="Arial" pitchFamily="34" charset="-122"/>
                <a:cs typeface="Arial" pitchFamily="34" charset="-120"/>
              </a:rPr>
              <a:t>KURUCU, MUCİT, KULLANICI</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Ekip</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16</a:t>
            </a:r>
            <a:endParaRPr lang="en-US" sz="900" dirty="0"/>
          </a:p>
        </p:txBody>
      </p:sp>
      <p:sp>
        <p:nvSpPr>
          <p:cNvPr id="6" name="Shape 3"/>
          <p:cNvSpPr/>
          <p:nvPr/>
        </p:nvSpPr>
        <p:spPr>
          <a:xfrm>
            <a:off x="548640" y="1371600"/>
            <a:ext cx="5120640" cy="3246120"/>
          </a:xfrm>
          <a:prstGeom prst="roundRect">
            <a:avLst>
              <a:gd name="adj" fmla="val 3380"/>
            </a:avLst>
          </a:prstGeom>
          <a:solidFill>
            <a:srgbClr val="1F2330"/>
          </a:solidFill>
          <a:ln w="12700">
            <a:solidFill>
              <a:srgbClr val="1F2330"/>
            </a:solidFill>
            <a:prstDash val="solid"/>
          </a:ln>
        </p:spPr>
      </p:sp>
      <p:sp>
        <p:nvSpPr>
          <p:cNvPr id="7" name="Shape 4"/>
          <p:cNvSpPr/>
          <p:nvPr/>
        </p:nvSpPr>
        <p:spPr>
          <a:xfrm>
            <a:off x="914400" y="1737360"/>
            <a:ext cx="1188720" cy="1188720"/>
          </a:xfrm>
          <a:prstGeom prst="ellipse">
            <a:avLst/>
          </a:prstGeom>
          <a:solidFill>
            <a:srgbClr val="FF2D75"/>
          </a:solidFill>
          <a:ln w="12700">
            <a:solidFill>
              <a:srgbClr val="FF2D75"/>
            </a:solidFill>
            <a:prstDash val="solid"/>
          </a:ln>
        </p:spPr>
      </p:sp>
      <p:sp>
        <p:nvSpPr>
          <p:cNvPr id="8" name="Text 5"/>
          <p:cNvSpPr txBox="1"/>
          <p:nvPr/>
        </p:nvSpPr>
        <p:spPr>
          <a:xfrm>
            <a:off x="914400" y="1737360"/>
            <a:ext cx="1188720" cy="1188720"/>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rial" pitchFamily="34" charset="0"/>
                <a:ea typeface="Arial" pitchFamily="34" charset="-122"/>
                <a:cs typeface="Arial" pitchFamily="34" charset="-120"/>
              </a:rPr>
              <a:t>TS</a:t>
            </a:r>
            <a:endParaRPr lang="en-US" sz="2000" dirty="0"/>
          </a:p>
        </p:txBody>
      </p:sp>
      <p:sp>
        <p:nvSpPr>
          <p:cNvPr id="9" name="Text 6"/>
          <p:cNvSpPr txBox="1"/>
          <p:nvPr/>
        </p:nvSpPr>
        <p:spPr>
          <a:xfrm>
            <a:off x="2331720" y="1828800"/>
            <a:ext cx="3108960" cy="457200"/>
          </a:xfrm>
          <a:prstGeom prst="rect">
            <a:avLst/>
          </a:prstGeom>
          <a:noFill/>
          <a:ln/>
        </p:spPr>
        <p:txBody>
          <a:bodyPr wrap="square" lIns="0" tIns="0" rIns="0" bIns="0" rtlCol="0" anchor="t">
            <a:normAutofit/>
          </a:bodyPr>
          <a:lstStyle/>
          <a:p>
            <a:pPr indent="0" marL="0">
              <a:buNone/>
            </a:pPr>
            <a:r>
              <a:rPr lang="en-US" sz="2200" b="1" dirty="0">
                <a:solidFill>
                  <a:srgbClr val="FFFFFF"/>
                </a:solidFill>
                <a:latin typeface="Arial" pitchFamily="34" charset="0"/>
                <a:ea typeface="Arial" pitchFamily="34" charset="-122"/>
                <a:cs typeface="Arial" pitchFamily="34" charset="-120"/>
              </a:rPr>
              <a:t>Tuncay Sancak</a:t>
            </a:r>
            <a:endParaRPr lang="en-US" sz="2200" dirty="0"/>
          </a:p>
        </p:txBody>
      </p:sp>
      <p:sp>
        <p:nvSpPr>
          <p:cNvPr id="10" name="Text 7"/>
          <p:cNvSpPr txBox="1"/>
          <p:nvPr/>
        </p:nvSpPr>
        <p:spPr>
          <a:xfrm>
            <a:off x="2331720" y="2286000"/>
            <a:ext cx="3154680" cy="685800"/>
          </a:xfrm>
          <a:prstGeom prst="rect">
            <a:avLst/>
          </a:prstGeom>
          <a:noFill/>
          <a:ln/>
        </p:spPr>
        <p:txBody>
          <a:bodyPr wrap="square" lIns="0" tIns="0" rIns="0" bIns="0" rtlCol="0" anchor="t">
            <a:normAutofit/>
          </a:bodyPr>
          <a:lstStyle/>
          <a:p>
            <a:pPr indent="0" marL="0">
              <a:buNone/>
            </a:pPr>
            <a:r>
              <a:rPr lang="en-US" sz="1200" dirty="0">
                <a:solidFill>
                  <a:srgbClr val="FF2D75"/>
                </a:solidFill>
                <a:latin typeface="Arial" pitchFamily="34" charset="0"/>
                <a:ea typeface="Arial" pitchFamily="34" charset="-122"/>
                <a:cs typeface="Arial" pitchFamily="34" charset="-120"/>
              </a:rPr>
              <a:t>Kurucu &amp; Mucit · Genel Müdür · Alman-Türk yazar ve canlı yayıncı</a:t>
            </a:r>
            <a:endParaRPr lang="en-US" sz="1200" dirty="0"/>
          </a:p>
        </p:txBody>
      </p:sp>
      <p:sp>
        <p:nvSpPr>
          <p:cNvPr id="11" name="Text 8"/>
          <p:cNvSpPr txBox="1"/>
          <p:nvPr/>
        </p:nvSpPr>
        <p:spPr>
          <a:xfrm>
            <a:off x="914400" y="3108960"/>
            <a:ext cx="4480560" cy="1417320"/>
          </a:xfrm>
          <a:prstGeom prst="rect">
            <a:avLst/>
          </a:prstGeom>
          <a:noFill/>
          <a:ln/>
        </p:spPr>
        <p:txBody>
          <a:bodyPr wrap="square" lIns="0" tIns="0" rIns="0" bIns="0" rtlCol="0" anchor="t">
            <a:normAutofit/>
          </a:bodyPr>
          <a:lstStyle/>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Ürün, içerik, topluluk – ve test laboratuvarı olarak kendi yayınları</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TR / DE / EN meme ve hikâye paketleri, birinci elden</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Nöroçeşitlilik üzerine çocuk kitabı serisi – Kelime-Resim ve Anlatı Filmi'ne köprü</a:t>
            </a:r>
            <a:endParaRPr lang="en-US" sz="1200" dirty="0"/>
          </a:p>
          <a:p>
            <a:pPr marL="203200" indent="-203200">
              <a:spcAft>
                <a:spcPts val="400"/>
              </a:spcAft>
              <a:buSzPct val="100000"/>
              <a:buChar char="•"/>
            </a:pPr>
            <a:r>
              <a:rPr lang="en-US" sz="1200" dirty="0">
                <a:solidFill>
                  <a:srgbClr val="FFFFFF"/>
                </a:solidFill>
                <a:latin typeface="Arial" pitchFamily="34" charset="0"/>
                <a:ea typeface="Arial" pitchFamily="34" charset="-122"/>
                <a:cs typeface="Arial" pitchFamily="34" charset="-120"/>
              </a:rPr>
              <a:t>Kitaplar: [Başlık] · Yayınlar: [Platform / @kullanıcı] · [E-posta]</a:t>
            </a:r>
            <a:endParaRPr lang="en-US" sz="1200" dirty="0"/>
          </a:p>
        </p:txBody>
      </p:sp>
      <p:sp>
        <p:nvSpPr>
          <p:cNvPr id="12" name="Shape 9"/>
          <p:cNvSpPr/>
          <p:nvPr/>
        </p:nvSpPr>
        <p:spPr>
          <a:xfrm>
            <a:off x="548640" y="4754880"/>
            <a:ext cx="5120640" cy="1143000"/>
          </a:xfrm>
          <a:prstGeom prst="roundRect">
            <a:avLst>
              <a:gd name="adj" fmla="val 9600"/>
            </a:avLst>
          </a:prstGeom>
          <a:solidFill>
            <a:srgbClr val="1F2330"/>
          </a:solidFill>
          <a:ln w="12700">
            <a:solidFill>
              <a:srgbClr val="1F2330"/>
            </a:solidFill>
            <a:prstDash val="solid"/>
          </a:ln>
        </p:spPr>
      </p:sp>
      <p:sp>
        <p:nvSpPr>
          <p:cNvPr id="13" name="Shape 10"/>
          <p:cNvSpPr/>
          <p:nvPr/>
        </p:nvSpPr>
        <p:spPr>
          <a:xfrm>
            <a:off x="914400" y="4956048"/>
            <a:ext cx="731520" cy="731520"/>
          </a:xfrm>
          <a:prstGeom prst="ellipse">
            <a:avLst/>
          </a:prstGeom>
          <a:solidFill>
            <a:srgbClr val="181B23"/>
          </a:solidFill>
          <a:ln w="19050">
            <a:solidFill>
              <a:srgbClr val="FFD166"/>
            </a:solidFill>
            <a:prstDash val="solid"/>
          </a:ln>
        </p:spPr>
      </p:sp>
      <p:sp>
        <p:nvSpPr>
          <p:cNvPr id="14" name="Text 11"/>
          <p:cNvSpPr txBox="1"/>
          <p:nvPr/>
        </p:nvSpPr>
        <p:spPr>
          <a:xfrm>
            <a:off x="914400" y="4956048"/>
            <a:ext cx="731520" cy="731520"/>
          </a:xfrm>
          <a:prstGeom prst="rect">
            <a:avLst/>
          </a:prstGeom>
          <a:noFill/>
          <a:ln/>
        </p:spPr>
        <p:txBody>
          <a:bodyPr wrap="square" lIns="0" tIns="0" rIns="0" bIns="0" rtlCol="0" anchor="ctr">
            <a:normAutofit/>
          </a:bodyPr>
          <a:lstStyle/>
          <a:p>
            <a:pPr algn="ctr" indent="0" marL="0">
              <a:buNone/>
            </a:pPr>
            <a:r>
              <a:rPr lang="en-US" sz="1500" b="1" dirty="0">
                <a:solidFill>
                  <a:srgbClr val="FFD166"/>
                </a:solidFill>
                <a:latin typeface="Arial" pitchFamily="34" charset="0"/>
                <a:ea typeface="Arial" pitchFamily="34" charset="-122"/>
                <a:cs typeface="Arial" pitchFamily="34" charset="-120"/>
              </a:rPr>
              <a:t>GD</a:t>
            </a:r>
            <a:endParaRPr lang="en-US" sz="1500" dirty="0"/>
          </a:p>
        </p:txBody>
      </p:sp>
      <p:sp>
        <p:nvSpPr>
          <p:cNvPr id="15" name="Text 12"/>
          <p:cNvSpPr txBox="1"/>
          <p:nvPr/>
        </p:nvSpPr>
        <p:spPr>
          <a:xfrm>
            <a:off x="1874520" y="4882896"/>
            <a:ext cx="3611880" cy="347472"/>
          </a:xfrm>
          <a:prstGeom prst="rect">
            <a:avLst/>
          </a:prstGeom>
          <a:noFill/>
          <a:ln/>
        </p:spPr>
        <p:txBody>
          <a:bodyPr wrap="square" lIns="0" tIns="0" rIns="0" bIns="0" rtlCol="0" anchor="t">
            <a:normAutofit/>
          </a:bodyPr>
          <a:lstStyle/>
          <a:p>
            <a:pPr indent="0" marL="0">
              <a:buNone/>
            </a:pPr>
            <a:r>
              <a:rPr lang="en-US" sz="1700" b="1" dirty="0">
                <a:solidFill>
                  <a:srgbClr val="FFFFFF"/>
                </a:solidFill>
                <a:latin typeface="Arial" pitchFamily="34" charset="0"/>
                <a:ea typeface="Arial" pitchFamily="34" charset="-122"/>
                <a:cs typeface="Arial" pitchFamily="34" charset="-120"/>
              </a:rPr>
              <a:t>Gönül Demet</a:t>
            </a:r>
            <a:endParaRPr lang="en-US" sz="1700" dirty="0"/>
          </a:p>
        </p:txBody>
      </p:sp>
      <p:sp>
        <p:nvSpPr>
          <p:cNvPr id="16" name="Text 13"/>
          <p:cNvSpPr txBox="1"/>
          <p:nvPr/>
        </p:nvSpPr>
        <p:spPr>
          <a:xfrm>
            <a:off x="1874520" y="5230368"/>
            <a:ext cx="3611880" cy="256032"/>
          </a:xfrm>
          <a:prstGeom prst="rect">
            <a:avLst/>
          </a:prstGeom>
          <a:noFill/>
          <a:ln/>
        </p:spPr>
        <p:txBody>
          <a:bodyPr wrap="square" lIns="0" tIns="0" rIns="0" bIns="0" rtlCol="0" anchor="t">
            <a:normAutofit/>
          </a:bodyPr>
          <a:lstStyle/>
          <a:p>
            <a:pPr indent="0" marL="0">
              <a:buNone/>
            </a:pPr>
            <a:r>
              <a:rPr lang="en-US" sz="1150" b="1" dirty="0">
                <a:solidFill>
                  <a:srgbClr val="FFD166"/>
                </a:solidFill>
                <a:latin typeface="Arial" pitchFamily="34" charset="0"/>
                <a:ea typeface="Arial" pitchFamily="34" charset="-122"/>
                <a:cs typeface="Arial" pitchFamily="34" charset="-120"/>
              </a:rPr>
              <a:t>Investor Relations (yatırımcı ilişkileri)</a:t>
            </a:r>
            <a:endParaRPr lang="en-US" sz="1150" dirty="0"/>
          </a:p>
        </p:txBody>
      </p:sp>
      <p:sp>
        <p:nvSpPr>
          <p:cNvPr id="17" name="Text 14"/>
          <p:cNvSpPr txBox="1"/>
          <p:nvPr/>
        </p:nvSpPr>
        <p:spPr>
          <a:xfrm>
            <a:off x="1874520" y="5504688"/>
            <a:ext cx="3611880" cy="329184"/>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Yatırımcılar ve ön tohum turu için iletişim kişisi</a:t>
            </a:r>
            <a:endParaRPr lang="en-US" sz="1100" dirty="0"/>
          </a:p>
        </p:txBody>
      </p:sp>
      <p:sp>
        <p:nvSpPr>
          <p:cNvPr id="18" name="Shape 15"/>
          <p:cNvSpPr/>
          <p:nvPr/>
        </p:nvSpPr>
        <p:spPr>
          <a:xfrm>
            <a:off x="5943600" y="1371600"/>
            <a:ext cx="5696712" cy="1389888"/>
          </a:xfrm>
          <a:prstGeom prst="roundRect">
            <a:avLst>
              <a:gd name="adj" fmla="val 7895"/>
            </a:avLst>
          </a:prstGeom>
          <a:solidFill>
            <a:srgbClr val="181B23"/>
          </a:solidFill>
          <a:ln w="12700">
            <a:solidFill>
              <a:srgbClr val="181B23"/>
            </a:solidFill>
            <a:prstDash val="solid"/>
          </a:ln>
        </p:spPr>
      </p:sp>
      <p:sp>
        <p:nvSpPr>
          <p:cNvPr id="19" name="Shape 16"/>
          <p:cNvSpPr/>
          <p:nvPr/>
        </p:nvSpPr>
        <p:spPr>
          <a:xfrm>
            <a:off x="6172200" y="1746504"/>
            <a:ext cx="640080" cy="640080"/>
          </a:xfrm>
          <a:prstGeom prst="ellipse">
            <a:avLst/>
          </a:prstGeom>
          <a:solidFill>
            <a:srgbClr val="1F2330"/>
          </a:solidFill>
          <a:ln w="19050">
            <a:solidFill>
              <a:srgbClr val="2DFFB5"/>
            </a:solidFill>
            <a:prstDash val="dash"/>
          </a:ln>
        </p:spPr>
      </p:sp>
      <p:sp>
        <p:nvSpPr>
          <p:cNvPr id="20" name="Text 17"/>
          <p:cNvSpPr txBox="1"/>
          <p:nvPr/>
        </p:nvSpPr>
        <p:spPr>
          <a:xfrm>
            <a:off x="6172200" y="1746504"/>
            <a:ext cx="640080" cy="640080"/>
          </a:xfrm>
          <a:prstGeom prst="rect">
            <a:avLst/>
          </a:prstGeom>
          <a:noFill/>
          <a:ln/>
        </p:spPr>
        <p:txBody>
          <a:bodyPr wrap="square" lIns="0" tIns="0" rIns="0" bIns="0" rtlCol="0" anchor="ctr"/>
          <a:lstStyle/>
          <a:p>
            <a:pPr algn="ctr" indent="0" marL="0">
              <a:buNone/>
            </a:pPr>
            <a:r>
              <a:rPr lang="en-US" sz="2000" dirty="0">
                <a:solidFill>
                  <a:srgbClr val="2DFFB5"/>
                </a:solidFill>
                <a:latin typeface="Arial" pitchFamily="34" charset="0"/>
                <a:ea typeface="Arial" pitchFamily="34" charset="-122"/>
                <a:cs typeface="Arial" pitchFamily="34" charset="-120"/>
              </a:rPr>
              <a:t>+</a:t>
            </a:r>
            <a:endParaRPr lang="en-US" sz="2000" dirty="0"/>
          </a:p>
        </p:txBody>
      </p:sp>
      <p:sp>
        <p:nvSpPr>
          <p:cNvPr id="21" name="Text 18"/>
          <p:cNvSpPr txBox="1"/>
          <p:nvPr/>
        </p:nvSpPr>
        <p:spPr>
          <a:xfrm>
            <a:off x="7040880" y="1627632"/>
            <a:ext cx="4434840" cy="41148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[Açık pozisyon] – Mobil/web geliştirici</a:t>
            </a:r>
            <a:endParaRPr lang="en-US" sz="1500" dirty="0"/>
          </a:p>
        </p:txBody>
      </p:sp>
      <p:sp>
        <p:nvSpPr>
          <p:cNvPr id="22" name="Text 19"/>
          <p:cNvSpPr txBox="1"/>
          <p:nvPr/>
        </p:nvSpPr>
        <p:spPr>
          <a:xfrm>
            <a:off x="7040880" y="2066544"/>
            <a:ext cx="4434840" cy="5486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Ön tohumdan ilk işe alım (3. ay): iOS/Android, PWA, sonra SDK</a:t>
            </a:r>
            <a:endParaRPr lang="en-US" sz="1200" dirty="0"/>
          </a:p>
        </p:txBody>
      </p:sp>
      <p:sp>
        <p:nvSpPr>
          <p:cNvPr id="23" name="Shape 20"/>
          <p:cNvSpPr/>
          <p:nvPr/>
        </p:nvSpPr>
        <p:spPr>
          <a:xfrm>
            <a:off x="5943600" y="2907792"/>
            <a:ext cx="5696712" cy="1389888"/>
          </a:xfrm>
          <a:prstGeom prst="roundRect">
            <a:avLst>
              <a:gd name="adj" fmla="val 7895"/>
            </a:avLst>
          </a:prstGeom>
          <a:solidFill>
            <a:srgbClr val="181B23"/>
          </a:solidFill>
          <a:ln w="12700">
            <a:solidFill>
              <a:srgbClr val="181B23"/>
            </a:solidFill>
            <a:prstDash val="solid"/>
          </a:ln>
        </p:spPr>
      </p:sp>
      <p:sp>
        <p:nvSpPr>
          <p:cNvPr id="24" name="Shape 21"/>
          <p:cNvSpPr/>
          <p:nvPr/>
        </p:nvSpPr>
        <p:spPr>
          <a:xfrm>
            <a:off x="6172200" y="3282696"/>
            <a:ext cx="640080" cy="640080"/>
          </a:xfrm>
          <a:prstGeom prst="ellipse">
            <a:avLst/>
          </a:prstGeom>
          <a:solidFill>
            <a:srgbClr val="1F2330"/>
          </a:solidFill>
          <a:ln w="19050">
            <a:solidFill>
              <a:srgbClr val="FFD166"/>
            </a:solidFill>
            <a:prstDash val="dash"/>
          </a:ln>
        </p:spPr>
      </p:sp>
      <p:sp>
        <p:nvSpPr>
          <p:cNvPr id="25" name="Text 22"/>
          <p:cNvSpPr txBox="1"/>
          <p:nvPr/>
        </p:nvSpPr>
        <p:spPr>
          <a:xfrm>
            <a:off x="6172200" y="3282696"/>
            <a:ext cx="640080" cy="640080"/>
          </a:xfrm>
          <a:prstGeom prst="rect">
            <a:avLst/>
          </a:prstGeom>
          <a:noFill/>
          <a:ln/>
        </p:spPr>
        <p:txBody>
          <a:bodyPr wrap="square" lIns="0" tIns="0" rIns="0" bIns="0" rtlCol="0" anchor="ctr"/>
          <a:lstStyle/>
          <a:p>
            <a:pPr algn="ctr" indent="0" marL="0">
              <a:buNone/>
            </a:pPr>
            <a:r>
              <a:rPr lang="en-US" sz="2000" dirty="0">
                <a:solidFill>
                  <a:srgbClr val="FFD166"/>
                </a:solidFill>
                <a:latin typeface="Arial" pitchFamily="34" charset="0"/>
                <a:ea typeface="Arial" pitchFamily="34" charset="-122"/>
                <a:cs typeface="Arial" pitchFamily="34" charset="-120"/>
              </a:rPr>
              <a:t>+</a:t>
            </a:r>
            <a:endParaRPr lang="en-US" sz="2000" dirty="0"/>
          </a:p>
        </p:txBody>
      </p:sp>
      <p:sp>
        <p:nvSpPr>
          <p:cNvPr id="26" name="Text 23"/>
          <p:cNvSpPr txBox="1"/>
          <p:nvPr/>
        </p:nvSpPr>
        <p:spPr>
          <a:xfrm>
            <a:off x="7040880" y="3163824"/>
            <a:ext cx="4434840" cy="41148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[Açık pozisyon] – Üretici ortaklıkları</a:t>
            </a:r>
            <a:endParaRPr lang="en-US" sz="1500" dirty="0"/>
          </a:p>
        </p:txBody>
      </p:sp>
      <p:sp>
        <p:nvSpPr>
          <p:cNvPr id="27" name="Text 24"/>
          <p:cNvSpPr txBox="1"/>
          <p:nvPr/>
        </p:nvSpPr>
        <p:spPr>
          <a:xfrm>
            <a:off x="7040880" y="3602736"/>
            <a:ext cx="4434840" cy="5486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Büyüme TR + DACH, üretici programı, eğitim satışı – tohum turuyla</a:t>
            </a:r>
            <a:endParaRPr lang="en-US" sz="1200" dirty="0"/>
          </a:p>
        </p:txBody>
      </p:sp>
      <p:sp>
        <p:nvSpPr>
          <p:cNvPr id="28" name="Shape 25"/>
          <p:cNvSpPr/>
          <p:nvPr/>
        </p:nvSpPr>
        <p:spPr>
          <a:xfrm>
            <a:off x="5943600" y="4443984"/>
            <a:ext cx="5696712" cy="1389888"/>
          </a:xfrm>
          <a:prstGeom prst="roundRect">
            <a:avLst>
              <a:gd name="adj" fmla="val 7895"/>
            </a:avLst>
          </a:prstGeom>
          <a:solidFill>
            <a:srgbClr val="181B23"/>
          </a:solidFill>
          <a:ln w="12700">
            <a:solidFill>
              <a:srgbClr val="181B23"/>
            </a:solidFill>
            <a:prstDash val="solid"/>
          </a:ln>
        </p:spPr>
      </p:sp>
      <p:sp>
        <p:nvSpPr>
          <p:cNvPr id="29" name="Shape 26"/>
          <p:cNvSpPr/>
          <p:nvPr/>
        </p:nvSpPr>
        <p:spPr>
          <a:xfrm>
            <a:off x="6172200" y="4818888"/>
            <a:ext cx="640080" cy="640080"/>
          </a:xfrm>
          <a:prstGeom prst="ellipse">
            <a:avLst/>
          </a:prstGeom>
          <a:solidFill>
            <a:srgbClr val="1F2330"/>
          </a:solidFill>
          <a:ln w="19050">
            <a:solidFill>
              <a:srgbClr val="9AA3B5"/>
            </a:solidFill>
            <a:prstDash val="dash"/>
          </a:ln>
        </p:spPr>
      </p:sp>
      <p:sp>
        <p:nvSpPr>
          <p:cNvPr id="30" name="Text 27"/>
          <p:cNvSpPr txBox="1"/>
          <p:nvPr/>
        </p:nvSpPr>
        <p:spPr>
          <a:xfrm>
            <a:off x="6172200" y="4818888"/>
            <a:ext cx="640080" cy="640080"/>
          </a:xfrm>
          <a:prstGeom prst="rect">
            <a:avLst/>
          </a:prstGeom>
          <a:noFill/>
          <a:ln/>
        </p:spPr>
        <p:txBody>
          <a:bodyPr wrap="square" lIns="0" tIns="0" rIns="0" bIns="0" rtlCol="0" anchor="ctr"/>
          <a:lstStyle/>
          <a:p>
            <a:pPr algn="ctr" indent="0" marL="0">
              <a:buNone/>
            </a:pPr>
            <a:r>
              <a:rPr lang="en-US" sz="2000" dirty="0">
                <a:solidFill>
                  <a:srgbClr val="9AA3B5"/>
                </a:solidFill>
                <a:latin typeface="Arial" pitchFamily="34" charset="0"/>
                <a:ea typeface="Arial" pitchFamily="34" charset="-122"/>
                <a:cs typeface="Arial" pitchFamily="34" charset="-120"/>
              </a:rPr>
              <a:t>★</a:t>
            </a:r>
            <a:endParaRPr lang="en-US" sz="2000" dirty="0"/>
          </a:p>
        </p:txBody>
      </p:sp>
      <p:sp>
        <p:nvSpPr>
          <p:cNvPr id="31" name="Text 28"/>
          <p:cNvSpPr txBox="1"/>
          <p:nvPr/>
        </p:nvSpPr>
        <p:spPr>
          <a:xfrm>
            <a:off x="7040880" y="4700016"/>
            <a:ext cx="4434840" cy="41148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Danışma kurulu / ortaklar</a:t>
            </a:r>
            <a:endParaRPr lang="en-US" sz="1500" dirty="0"/>
          </a:p>
        </p:txBody>
      </p:sp>
      <p:sp>
        <p:nvSpPr>
          <p:cNvPr id="32" name="Text 29"/>
          <p:cNvSpPr txBox="1"/>
          <p:nvPr/>
        </p:nvSpPr>
        <p:spPr>
          <a:xfrm>
            <a:off x="7040880" y="5138928"/>
            <a:ext cx="4434840" cy="548640"/>
          </a:xfrm>
          <a:prstGeom prst="rect">
            <a:avLst/>
          </a:prstGeom>
          <a:noFill/>
          <a:ln/>
        </p:spPr>
        <p:txBody>
          <a:bodyPr wrap="square" lIns="0" tIns="0" rIns="0" bIns="0" rtlCol="0" anchor="t">
            <a:normAutofit/>
          </a:bodyPr>
          <a:lstStyle/>
          <a:p>
            <a:pPr indent="0" marL="0">
              <a:buNone/>
            </a:pPr>
            <a:r>
              <a:rPr lang="en-US" sz="1200" dirty="0">
                <a:solidFill>
                  <a:srgbClr val="9AA3B5"/>
                </a:solidFill>
                <a:latin typeface="Arial" pitchFamily="34" charset="0"/>
                <a:ea typeface="Arial" pitchFamily="34" charset="-122"/>
                <a:cs typeface="Arial" pitchFamily="34" charset="-120"/>
              </a:rPr>
              <a:t>Aranıyor: TR içerik üreticisi yönetimi · bir platformun eski „Live“ ürün sorumlusu · eğitim teknolojisi/didaktik</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FFD166"/>
                </a:solidFill>
                <a:latin typeface="Arial" pitchFamily="34" charset="0"/>
                <a:ea typeface="Arial" pitchFamily="34" charset="-122"/>
                <a:cs typeface="Arial" pitchFamily="34" charset="-120"/>
              </a:rPr>
              <a:t>FINANSAL TABLO VE DEĞERLEME · TAHMIN</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18 ay için 250 bin € – ardından tohum turu</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17</a:t>
            </a:r>
            <a:endParaRPr lang="en-US" sz="900" dirty="0"/>
          </a:p>
        </p:txBody>
      </p:sp>
      <p:sp>
        <p:nvSpPr>
          <p:cNvPr id="6" name="Text 3"/>
          <p:cNvSpPr txBox="1"/>
          <p:nvPr/>
        </p:nvSpPr>
        <p:spPr>
          <a:xfrm>
            <a:off x="548640" y="1298448"/>
            <a:ext cx="6583680" cy="292608"/>
          </a:xfrm>
          <a:prstGeom prst="rect">
            <a:avLst/>
          </a:prstGeom>
          <a:noFill/>
          <a:ln/>
        </p:spPr>
        <p:txBody>
          <a:bodyPr wrap="square" lIns="0" tIns="0" rIns="0" bIns="0" rtlCol="0" anchor="t">
            <a:normAutofit/>
          </a:bodyPr>
          <a:lstStyle/>
          <a:p>
            <a:pPr indent="0" marL="0">
              <a:buNone/>
            </a:pPr>
            <a:r>
              <a:rPr lang="en-US" sz="1300" b="1" dirty="0">
                <a:solidFill>
                  <a:srgbClr val="FFD166"/>
                </a:solidFill>
                <a:latin typeface="Arial" pitchFamily="34" charset="0"/>
                <a:ea typeface="Arial" pitchFamily="34" charset="-122"/>
                <a:cs typeface="Arial" pitchFamily="34" charset="-120"/>
              </a:rPr>
              <a:t>5 yıllık gelir tablosu, temel senaryo (bin €)</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914400"/>
        </p:xfrm>
        <a:graphic>
          <a:graphicData uri="http://schemas.openxmlformats.org/drawingml/2006/table">
            <a:tbl>
              <a:tblPr/>
              <a:tblGrid>
                <a:gridCol w="1600200"/>
                <a:gridCol w="996696"/>
                <a:gridCol w="996696"/>
                <a:gridCol w="996696"/>
                <a:gridCol w="996696"/>
                <a:gridCol w="996696"/>
              </a:tblGrid>
              <a:tr h="365760">
                <a:tc>
                  <a:txBody>
                    <a:bodyPr/>
                    <a:lstStyle/>
                    <a:p>
                      <a:pPr algn="l" indent="0" marL="0">
                        <a:buNone/>
                      </a:pPr>
                      <a:r>
                        <a:rPr lang="en-US" sz="1200" b="1" dirty="0">
                          <a:solidFill>
                            <a:srgbClr val="FFD166"/>
                          </a:solidFill>
                          <a:latin typeface="Arial" pitchFamily="34" charset="0"/>
                          <a:ea typeface="Arial" pitchFamily="34" charset="-122"/>
                          <a:cs typeface="Arial" pitchFamily="34" charset="-120"/>
                        </a:rPr>
                        <a:t>bin €</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c>
                  <a:txBody>
                    <a:bodyPr/>
                    <a:lstStyle/>
                    <a:p>
                      <a:pPr algn="r" indent="0" marL="0">
                        <a:buNone/>
                      </a:pPr>
                      <a:r>
                        <a:rPr lang="en-US" sz="1200" b="1" dirty="0">
                          <a:solidFill>
                            <a:srgbClr val="FFD166"/>
                          </a:solidFill>
                          <a:latin typeface="Arial" pitchFamily="34" charset="0"/>
                          <a:ea typeface="Arial" pitchFamily="34" charset="-122"/>
                          <a:cs typeface="Arial" pitchFamily="34" charset="-120"/>
                        </a:rPr>
                        <a:t>2027</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c>
                  <a:txBody>
                    <a:bodyPr/>
                    <a:lstStyle/>
                    <a:p>
                      <a:pPr algn="r" indent="0" marL="0">
                        <a:buNone/>
                      </a:pPr>
                      <a:r>
                        <a:rPr lang="en-US" sz="1200" b="1" dirty="0">
                          <a:solidFill>
                            <a:srgbClr val="FFD166"/>
                          </a:solidFill>
                          <a:latin typeface="Arial" pitchFamily="34" charset="0"/>
                          <a:ea typeface="Arial" pitchFamily="34" charset="-122"/>
                          <a:cs typeface="Arial" pitchFamily="34" charset="-120"/>
                        </a:rPr>
                        <a:t>2028</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c>
                  <a:txBody>
                    <a:bodyPr/>
                    <a:lstStyle/>
                    <a:p>
                      <a:pPr algn="r" indent="0" marL="0">
                        <a:buNone/>
                      </a:pPr>
                      <a:r>
                        <a:rPr lang="en-US" sz="1200" b="1" dirty="0">
                          <a:solidFill>
                            <a:srgbClr val="FFD166"/>
                          </a:solidFill>
                          <a:latin typeface="Arial" pitchFamily="34" charset="0"/>
                          <a:ea typeface="Arial" pitchFamily="34" charset="-122"/>
                          <a:cs typeface="Arial" pitchFamily="34" charset="-120"/>
                        </a:rPr>
                        <a:t>2029</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c>
                  <a:txBody>
                    <a:bodyPr/>
                    <a:lstStyle/>
                    <a:p>
                      <a:pPr algn="r" indent="0" marL="0">
                        <a:buNone/>
                      </a:pPr>
                      <a:r>
                        <a:rPr lang="en-US" sz="1200" b="1" dirty="0">
                          <a:solidFill>
                            <a:srgbClr val="FFD166"/>
                          </a:solidFill>
                          <a:latin typeface="Arial" pitchFamily="34" charset="0"/>
                          <a:ea typeface="Arial" pitchFamily="34" charset="-122"/>
                          <a:cs typeface="Arial" pitchFamily="34" charset="-120"/>
                        </a:rPr>
                        <a:t>2030</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c>
                  <a:txBody>
                    <a:bodyPr/>
                    <a:lstStyle/>
                    <a:p>
                      <a:pPr algn="r" indent="0" marL="0">
                        <a:buNone/>
                      </a:pPr>
                      <a:r>
                        <a:rPr lang="en-US" sz="1200" b="1" dirty="0">
                          <a:solidFill>
                            <a:srgbClr val="FFD166"/>
                          </a:solidFill>
                          <a:latin typeface="Arial" pitchFamily="34" charset="0"/>
                          <a:ea typeface="Arial" pitchFamily="34" charset="-122"/>
                          <a:cs typeface="Arial" pitchFamily="34" charset="-120"/>
                        </a:rPr>
                        <a:t>2031</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F2330"/>
                    </a:solidFill>
                  </a:tcPr>
                </a:tc>
              </a:tr>
              <a:tr h="365760">
                <a:tc>
                  <a:txBody>
                    <a:bodyPr/>
                    <a:lstStyle/>
                    <a:p>
                      <a:pPr algn="l" indent="0" marL="0">
                        <a:buNone/>
                      </a:pPr>
                      <a:r>
                        <a:rPr lang="en-US" sz="1200" b="1" dirty="0">
                          <a:solidFill>
                            <a:srgbClr val="9AA3B5"/>
                          </a:solidFill>
                          <a:latin typeface="Arial" pitchFamily="34" charset="0"/>
                          <a:ea typeface="Arial" pitchFamily="34" charset="-122"/>
                          <a:cs typeface="Arial" pitchFamily="34" charset="-120"/>
                        </a:rPr>
                        <a:t>Gelir</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51</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336</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1.038</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1.984</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3.152</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365760">
                <a:tc>
                  <a:txBody>
                    <a:bodyPr/>
                    <a:lstStyle/>
                    <a:p>
                      <a:pPr algn="l" indent="0" marL="0">
                        <a:buNone/>
                      </a:pPr>
                      <a:r>
                        <a:rPr lang="en-US" sz="1200" b="1" dirty="0">
                          <a:solidFill>
                            <a:srgbClr val="9AA3B5"/>
                          </a:solidFill>
                          <a:latin typeface="Arial" pitchFamily="34" charset="0"/>
                          <a:ea typeface="Arial" pitchFamily="34" charset="-122"/>
                          <a:cs typeface="Arial" pitchFamily="34" charset="-120"/>
                        </a:rPr>
                        <a:t>Gider</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166</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295</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710</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1.065</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1.491</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r h="365760">
                <a:tc>
                  <a:txBody>
                    <a:bodyPr/>
                    <a:lstStyle/>
                    <a:p>
                      <a:pPr algn="l" indent="0" marL="0">
                        <a:buNone/>
                      </a:pPr>
                      <a:r>
                        <a:rPr lang="en-US" sz="1200" b="1" dirty="0">
                          <a:solidFill>
                            <a:srgbClr val="9AA3B5"/>
                          </a:solidFill>
                          <a:latin typeface="Arial" pitchFamily="34" charset="0"/>
                          <a:ea typeface="Arial" pitchFamily="34" charset="-122"/>
                          <a:cs typeface="Arial" pitchFamily="34" charset="-120"/>
                        </a:rPr>
                        <a:t>FAVÖK</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c>
                  <a:txBody>
                    <a:bodyPr/>
                    <a:lstStyle/>
                    <a:p>
                      <a:pPr algn="r" indent="0" marL="0">
                        <a:buNone/>
                      </a:pPr>
                      <a:r>
                        <a:rPr lang="en-US" sz="1200" b="1" dirty="0">
                          <a:solidFill>
                            <a:srgbClr val="FF2D75"/>
                          </a:solidFill>
                          <a:latin typeface="Arial" pitchFamily="34" charset="0"/>
                          <a:ea typeface="Arial" pitchFamily="34" charset="-122"/>
                          <a:cs typeface="Arial" pitchFamily="34" charset="-120"/>
                        </a:rPr>
                        <a:t>−116</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c>
                  <a:txBody>
                    <a:bodyPr/>
                    <a:lstStyle/>
                    <a:p>
                      <a:pPr algn="r" indent="0" marL="0">
                        <a:buNone/>
                      </a:pPr>
                      <a:r>
                        <a:rPr lang="en-US" sz="1200" b="1" dirty="0">
                          <a:solidFill>
                            <a:srgbClr val="FF2D75"/>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c>
                  <a:txBody>
                    <a:bodyPr/>
                    <a:lstStyle/>
                    <a:p>
                      <a:pPr algn="r" indent="0" marL="0">
                        <a:buNone/>
                      </a:pPr>
                      <a:r>
                        <a:rPr lang="en-US" sz="1200" b="1" dirty="0">
                          <a:solidFill>
                            <a:srgbClr val="FF2D75"/>
                          </a:solidFill>
                          <a:latin typeface="Arial" pitchFamily="34" charset="0"/>
                          <a:ea typeface="Arial" pitchFamily="34" charset="-122"/>
                          <a:cs typeface="Arial" pitchFamily="34" charset="-120"/>
                        </a:rPr>
                        <a:t>+328</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c>
                  <a:txBody>
                    <a:bodyPr/>
                    <a:lstStyle/>
                    <a:p>
                      <a:pPr algn="r" indent="0" marL="0">
                        <a:buNone/>
                      </a:pPr>
                      <a:r>
                        <a:rPr lang="en-US" sz="1200" b="1" dirty="0">
                          <a:solidFill>
                            <a:srgbClr val="FF2D75"/>
                          </a:solidFill>
                          <a:latin typeface="Arial" pitchFamily="34" charset="0"/>
                          <a:ea typeface="Arial" pitchFamily="34" charset="-122"/>
                          <a:cs typeface="Arial" pitchFamily="34" charset="-120"/>
                        </a:rPr>
                        <a:t>+919</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c>
                  <a:txBody>
                    <a:bodyPr/>
                    <a:lstStyle/>
                    <a:p>
                      <a:pPr algn="r" indent="0" marL="0">
                        <a:buNone/>
                      </a:pPr>
                      <a:r>
                        <a:rPr lang="en-US" sz="1200" b="1" dirty="0">
                          <a:solidFill>
                            <a:srgbClr val="FF2D75"/>
                          </a:solidFill>
                          <a:latin typeface="Arial" pitchFamily="34" charset="0"/>
                          <a:ea typeface="Arial" pitchFamily="34" charset="-122"/>
                          <a:cs typeface="Arial" pitchFamily="34" charset="-120"/>
                        </a:rPr>
                        <a:t>+1.661</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A1530"/>
                    </a:solidFill>
                  </a:tcPr>
                </a:tc>
              </a:tr>
              <a:tr h="365760">
                <a:tc>
                  <a:txBody>
                    <a:bodyPr/>
                    <a:lstStyle/>
                    <a:p>
                      <a:pPr algn="l" indent="0" marL="0">
                        <a:buNone/>
                      </a:pPr>
                      <a:r>
                        <a:rPr lang="en-US" sz="1200" b="1" dirty="0">
                          <a:solidFill>
                            <a:srgbClr val="9AA3B5"/>
                          </a:solidFill>
                          <a:latin typeface="Arial" pitchFamily="34" charset="0"/>
                          <a:ea typeface="Arial" pitchFamily="34" charset="-122"/>
                          <a:cs typeface="Arial" pitchFamily="34" charset="-120"/>
                        </a:rPr>
                        <a:t>Yıl sonu nakit</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134</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175</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503</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1.422</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c>
                  <a:txBody>
                    <a:bodyPr/>
                    <a:lstStyle/>
                    <a:p>
                      <a:pPr algn="r" indent="0" marL="0">
                        <a:buNone/>
                      </a:pPr>
                      <a:r>
                        <a:rPr lang="en-US" sz="1200" dirty="0">
                          <a:solidFill>
                            <a:srgbClr val="FFFFFF"/>
                          </a:solidFill>
                          <a:latin typeface="Arial" pitchFamily="34" charset="0"/>
                          <a:ea typeface="Arial" pitchFamily="34" charset="-122"/>
                          <a:cs typeface="Arial" pitchFamily="34" charset="-120"/>
                        </a:rPr>
                        <a:t>3.083</a:t>
                      </a:r>
                      <a:endParaRPr lang="en-US" sz="1200" dirty="0">
                        <a:latin typeface="Arial" charset="0"/>
                        <a:ea typeface="Arial" charset="0"/>
                        <a:cs typeface="Arial" charset="0"/>
                      </a:endParaRPr>
                    </a:p>
                  </a:txBody>
                  <a:tcPr marL="91440" marR="91440" marT="0" marB="0"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81B23"/>
                    </a:solidFill>
                  </a:tcPr>
                </a:tc>
              </a:tr>
            </a:tbl>
          </a:graphicData>
        </a:graphic>
      </p:graphicFrame>
      <p:sp>
        <p:nvSpPr>
          <p:cNvPr id="8" name="Text 4"/>
          <p:cNvSpPr txBox="1"/>
          <p:nvPr/>
        </p:nvSpPr>
        <p:spPr>
          <a:xfrm>
            <a:off x="548640" y="3529584"/>
            <a:ext cx="6583680" cy="384048"/>
          </a:xfrm>
          <a:prstGeom prst="rect">
            <a:avLst/>
          </a:prstGeom>
          <a:noFill/>
          <a:ln/>
        </p:spPr>
        <p:txBody>
          <a:bodyPr wrap="square" lIns="0" tIns="0" rIns="0" bIns="0" rtlCol="0" anchor="t">
            <a:normAutofit/>
          </a:bodyPr>
          <a:lstStyle/>
          <a:p>
            <a:pPr indent="0" marL="0">
              <a:buNone/>
            </a:pPr>
            <a:r>
              <a:rPr lang="en-US" sz="1000" i="1" dirty="0">
                <a:solidFill>
                  <a:srgbClr val="9AA3B5"/>
                </a:solidFill>
                <a:latin typeface="Arial" pitchFamily="34" charset="0"/>
                <a:ea typeface="Arial" pitchFamily="34" charset="-122"/>
                <a:cs typeface="Arial" pitchFamily="34" charset="-120"/>
              </a:rPr>
              <a:t>2031 geliri: temkinli 602 bin € · iyimser 7,44 milyon €. 4.–5. yıllar ileriye taşındı; henüz gelir yok.</a:t>
            </a:r>
            <a:endParaRPr lang="en-US" sz="1000" dirty="0"/>
          </a:p>
        </p:txBody>
      </p:sp>
      <p:sp>
        <p:nvSpPr>
          <p:cNvPr id="9" name="Shape 5"/>
          <p:cNvSpPr/>
          <p:nvPr/>
        </p:nvSpPr>
        <p:spPr>
          <a:xfrm>
            <a:off x="548640" y="4160520"/>
            <a:ext cx="2103120" cy="1417320"/>
          </a:xfrm>
          <a:prstGeom prst="roundRect">
            <a:avLst>
              <a:gd name="adj" fmla="val 7742"/>
            </a:avLst>
          </a:prstGeom>
          <a:solidFill>
            <a:srgbClr val="181B23"/>
          </a:solidFill>
          <a:ln w="12700">
            <a:solidFill>
              <a:srgbClr val="181B23"/>
            </a:solidFill>
            <a:prstDash val="solid"/>
          </a:ln>
        </p:spPr>
      </p:sp>
      <p:sp>
        <p:nvSpPr>
          <p:cNvPr id="10" name="Text 6"/>
          <p:cNvSpPr txBox="1"/>
          <p:nvPr/>
        </p:nvSpPr>
        <p:spPr>
          <a:xfrm>
            <a:off x="713232" y="4270248"/>
            <a:ext cx="1773936" cy="502920"/>
          </a:xfrm>
          <a:prstGeom prst="rect">
            <a:avLst/>
          </a:prstGeom>
          <a:noFill/>
          <a:ln/>
        </p:spPr>
        <p:txBody>
          <a:bodyPr wrap="square" lIns="0" tIns="0" rIns="0" bIns="0" rtlCol="0" anchor="t">
            <a:normAutofit/>
          </a:bodyPr>
          <a:lstStyle/>
          <a:p>
            <a:pPr indent="0" marL="0">
              <a:buNone/>
            </a:pPr>
            <a:r>
              <a:rPr lang="en-US" sz="2200" b="1" dirty="0">
                <a:solidFill>
                  <a:srgbClr val="2DFFB5"/>
                </a:solidFill>
                <a:latin typeface="Arial" pitchFamily="34" charset="0"/>
                <a:ea typeface="Arial" pitchFamily="34" charset="-122"/>
                <a:cs typeface="Arial" pitchFamily="34" charset="-120"/>
              </a:rPr>
              <a:t>18 ay</a:t>
            </a:r>
            <a:endParaRPr lang="en-US" sz="2200" dirty="0"/>
          </a:p>
        </p:txBody>
      </p:sp>
      <p:sp>
        <p:nvSpPr>
          <p:cNvPr id="11" name="Text 7"/>
          <p:cNvSpPr txBox="1"/>
          <p:nvPr/>
        </p:nvSpPr>
        <p:spPr>
          <a:xfrm>
            <a:off x="713232" y="4818888"/>
            <a:ext cx="1773936" cy="694944"/>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hiç gelir olmadan nakit ömrü – ortalama gider ayda 13.444 €</a:t>
            </a:r>
            <a:endParaRPr lang="en-US" sz="1100" dirty="0"/>
          </a:p>
        </p:txBody>
      </p:sp>
      <p:sp>
        <p:nvSpPr>
          <p:cNvPr id="12" name="Shape 8"/>
          <p:cNvSpPr/>
          <p:nvPr/>
        </p:nvSpPr>
        <p:spPr>
          <a:xfrm>
            <a:off x="2788920" y="4160520"/>
            <a:ext cx="2103120" cy="1417320"/>
          </a:xfrm>
          <a:prstGeom prst="roundRect">
            <a:avLst>
              <a:gd name="adj" fmla="val 7742"/>
            </a:avLst>
          </a:prstGeom>
          <a:solidFill>
            <a:srgbClr val="181B23"/>
          </a:solidFill>
          <a:ln w="12700">
            <a:solidFill>
              <a:srgbClr val="181B23"/>
            </a:solidFill>
            <a:prstDash val="solid"/>
          </a:ln>
        </p:spPr>
      </p:sp>
      <p:sp>
        <p:nvSpPr>
          <p:cNvPr id="13" name="Text 9"/>
          <p:cNvSpPr txBox="1"/>
          <p:nvPr/>
        </p:nvSpPr>
        <p:spPr>
          <a:xfrm>
            <a:off x="2953512" y="4270248"/>
            <a:ext cx="1773936" cy="502920"/>
          </a:xfrm>
          <a:prstGeom prst="rect">
            <a:avLst/>
          </a:prstGeom>
          <a:noFill/>
          <a:ln/>
        </p:spPr>
        <p:txBody>
          <a:bodyPr wrap="square" lIns="0" tIns="0" rIns="0" bIns="0" rtlCol="0" anchor="t">
            <a:normAutofit/>
          </a:bodyPr>
          <a:lstStyle/>
          <a:p>
            <a:pPr indent="0" marL="0">
              <a:buNone/>
            </a:pPr>
            <a:r>
              <a:rPr lang="en-US" sz="2100" b="1" dirty="0">
                <a:solidFill>
                  <a:srgbClr val="5AD1FF"/>
                </a:solidFill>
                <a:latin typeface="Arial" pitchFamily="34" charset="0"/>
                <a:ea typeface="Arial" pitchFamily="34" charset="-122"/>
                <a:cs typeface="Arial" pitchFamily="34" charset="-120"/>
              </a:rPr>
              <a:t>49 · 146 · 369</a:t>
            </a:r>
            <a:endParaRPr lang="en-US" sz="2100" dirty="0"/>
          </a:p>
        </p:txBody>
      </p:sp>
      <p:sp>
        <p:nvSpPr>
          <p:cNvPr id="14" name="Text 10"/>
          <p:cNvSpPr txBox="1"/>
          <p:nvPr/>
        </p:nvSpPr>
        <p:spPr>
          <a:xfrm>
            <a:off x="2953512" y="4818888"/>
            <a:ext cx="1773936" cy="694944"/>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bin € nakit, 18. ay: temkinli · temel · iyimser</a:t>
            </a:r>
            <a:endParaRPr lang="en-US" sz="1100" dirty="0"/>
          </a:p>
        </p:txBody>
      </p:sp>
      <p:sp>
        <p:nvSpPr>
          <p:cNvPr id="15" name="Shape 11"/>
          <p:cNvSpPr/>
          <p:nvPr/>
        </p:nvSpPr>
        <p:spPr>
          <a:xfrm>
            <a:off x="5029200" y="4160520"/>
            <a:ext cx="2103120" cy="1417320"/>
          </a:xfrm>
          <a:prstGeom prst="roundRect">
            <a:avLst>
              <a:gd name="adj" fmla="val 7742"/>
            </a:avLst>
          </a:prstGeom>
          <a:solidFill>
            <a:srgbClr val="181B23"/>
          </a:solidFill>
          <a:ln w="12700">
            <a:solidFill>
              <a:srgbClr val="181B23"/>
            </a:solidFill>
            <a:prstDash val="solid"/>
          </a:ln>
        </p:spPr>
      </p:sp>
      <p:sp>
        <p:nvSpPr>
          <p:cNvPr id="16" name="Text 12"/>
          <p:cNvSpPr txBox="1"/>
          <p:nvPr/>
        </p:nvSpPr>
        <p:spPr>
          <a:xfrm>
            <a:off x="5193792" y="4270248"/>
            <a:ext cx="1773936" cy="502920"/>
          </a:xfrm>
          <a:prstGeom prst="rect">
            <a:avLst/>
          </a:prstGeom>
          <a:noFill/>
          <a:ln/>
        </p:spPr>
        <p:txBody>
          <a:bodyPr wrap="square" lIns="0" tIns="0" rIns="0" bIns="0" rtlCol="0" anchor="t">
            <a:normAutofit/>
          </a:bodyPr>
          <a:lstStyle/>
          <a:p>
            <a:pPr indent="0" marL="0">
              <a:buNone/>
            </a:pPr>
            <a:r>
              <a:rPr lang="en-US" sz="2200" b="1" dirty="0">
                <a:solidFill>
                  <a:srgbClr val="FF2D75"/>
                </a:solidFill>
                <a:latin typeface="Arial" pitchFamily="34" charset="0"/>
                <a:ea typeface="Arial" pitchFamily="34" charset="-122"/>
                <a:cs typeface="Arial" pitchFamily="34" charset="-120"/>
              </a:rPr>
              <a:t>~350 bin €</a:t>
            </a:r>
            <a:endParaRPr lang="en-US" sz="2200" dirty="0"/>
          </a:p>
        </p:txBody>
      </p:sp>
      <p:sp>
        <p:nvSpPr>
          <p:cNvPr id="17" name="Text 13"/>
          <p:cNvSpPr txBox="1"/>
          <p:nvPr/>
        </p:nvSpPr>
        <p:spPr>
          <a:xfrm>
            <a:off x="5193792" y="4818888"/>
            <a:ext cx="1773936" cy="694944"/>
          </a:xfrm>
          <a:prstGeom prst="rect">
            <a:avLst/>
          </a:prstGeom>
          <a:noFill/>
          <a:ln/>
        </p:spPr>
        <p:txBody>
          <a:bodyPr wrap="square" lIns="0" tIns="0" rIns="0" bIns="0" rtlCol="0" anchor="t">
            <a:normAutofit/>
          </a:bodyPr>
          <a:lstStyle/>
          <a:p>
            <a:pPr indent="0" marL="0">
              <a:buNone/>
            </a:pPr>
            <a:r>
              <a:rPr lang="en-US" sz="1100" dirty="0">
                <a:solidFill>
                  <a:srgbClr val="9AA3B5"/>
                </a:solidFill>
                <a:latin typeface="Arial" pitchFamily="34" charset="0"/>
                <a:ea typeface="Arial" pitchFamily="34" charset="-122"/>
                <a:cs typeface="Arial" pitchFamily="34" charset="-120"/>
              </a:rPr>
              <a:t>2. kapıdan sonra tohum turu (15.–18. ay)</a:t>
            </a:r>
            <a:endParaRPr lang="en-US" sz="1100" dirty="0"/>
          </a:p>
        </p:txBody>
      </p:sp>
      <p:sp>
        <p:nvSpPr>
          <p:cNvPr id="18" name="Text 14"/>
          <p:cNvSpPr txBox="1"/>
          <p:nvPr/>
        </p:nvSpPr>
        <p:spPr>
          <a:xfrm>
            <a:off x="7406640" y="1298448"/>
            <a:ext cx="4236415" cy="292608"/>
          </a:xfrm>
          <a:prstGeom prst="rect">
            <a:avLst/>
          </a:prstGeom>
          <a:noFill/>
          <a:ln/>
        </p:spPr>
        <p:txBody>
          <a:bodyPr wrap="square" lIns="0" tIns="0" rIns="0" bIns="0" rtlCol="0" anchor="t">
            <a:normAutofit/>
          </a:bodyPr>
          <a:lstStyle/>
          <a:p>
            <a:pPr indent="0" marL="0">
              <a:buNone/>
            </a:pPr>
            <a:r>
              <a:rPr lang="en-US" sz="1300" b="1" dirty="0">
                <a:solidFill>
                  <a:srgbClr val="FFD166"/>
                </a:solidFill>
                <a:latin typeface="Arial" pitchFamily="34" charset="0"/>
                <a:ea typeface="Arial" pitchFamily="34" charset="-122"/>
                <a:cs typeface="Arial" pitchFamily="34" charset="-120"/>
              </a:rPr>
              <a:t>Referans yöntemleri (yatırım öncesi değer)</a:t>
            </a:r>
            <a:endParaRPr lang="en-US" sz="1300" dirty="0"/>
          </a:p>
        </p:txBody>
      </p:sp>
      <p:sp>
        <p:nvSpPr>
          <p:cNvPr id="19" name="Text 15"/>
          <p:cNvSpPr txBox="1"/>
          <p:nvPr/>
        </p:nvSpPr>
        <p:spPr>
          <a:xfrm>
            <a:off x="7406640" y="1691640"/>
            <a:ext cx="1143000" cy="292608"/>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Arial" pitchFamily="34" charset="0"/>
                <a:ea typeface="Arial" pitchFamily="34" charset="-122"/>
                <a:cs typeface="Arial" pitchFamily="34" charset="-120"/>
              </a:rPr>
              <a:t>Berkus</a:t>
            </a:r>
            <a:endParaRPr lang="en-US" sz="1100" dirty="0"/>
          </a:p>
        </p:txBody>
      </p:sp>
      <p:sp>
        <p:nvSpPr>
          <p:cNvPr id="20" name="Shape 16"/>
          <p:cNvSpPr/>
          <p:nvPr/>
        </p:nvSpPr>
        <p:spPr>
          <a:xfrm>
            <a:off x="8641080" y="1737360"/>
            <a:ext cx="1671081" cy="201168"/>
          </a:xfrm>
          <a:prstGeom prst="rect">
            <a:avLst/>
          </a:prstGeom>
          <a:solidFill>
            <a:srgbClr val="2DFFB5"/>
          </a:solidFill>
          <a:ln/>
        </p:spPr>
      </p:sp>
      <p:sp>
        <p:nvSpPr>
          <p:cNvPr id="21" name="Text 17"/>
          <p:cNvSpPr txBox="1"/>
          <p:nvPr/>
        </p:nvSpPr>
        <p:spPr>
          <a:xfrm>
            <a:off x="10385313" y="1691640"/>
            <a:ext cx="822960" cy="292608"/>
          </a:xfrm>
          <a:prstGeom prst="rect">
            <a:avLst/>
          </a:prstGeom>
          <a:noFill/>
          <a:ln/>
        </p:spPr>
        <p:txBody>
          <a:bodyPr wrap="square" lIns="0" tIns="0" rIns="0" bIns="0" rtlCol="0" anchor="ctr">
            <a:normAutofit/>
          </a:bodyPr>
          <a:lstStyle/>
          <a:p>
            <a:pPr indent="0" marL="0">
              <a:buNone/>
            </a:pPr>
            <a:r>
              <a:rPr lang="en-US" sz="1000" b="1" dirty="0">
                <a:solidFill>
                  <a:srgbClr val="2DFFB5"/>
                </a:solidFill>
                <a:latin typeface="Arial" pitchFamily="34" charset="0"/>
                <a:ea typeface="Arial" pitchFamily="34" charset="-122"/>
                <a:cs typeface="Arial" pitchFamily="34" charset="-120"/>
              </a:rPr>
              <a:t>2,35 milyon €</a:t>
            </a:r>
            <a:endParaRPr lang="en-US" sz="1000" dirty="0"/>
          </a:p>
        </p:txBody>
      </p:sp>
      <p:sp>
        <p:nvSpPr>
          <p:cNvPr id="22" name="Text 18"/>
          <p:cNvSpPr txBox="1"/>
          <p:nvPr/>
        </p:nvSpPr>
        <p:spPr>
          <a:xfrm>
            <a:off x="7406640" y="2075688"/>
            <a:ext cx="1143000" cy="292608"/>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Arial" pitchFamily="34" charset="0"/>
                <a:ea typeface="Arial" pitchFamily="34" charset="-122"/>
                <a:cs typeface="Arial" pitchFamily="34" charset="-120"/>
              </a:rPr>
              <a:t>Scorecard</a:t>
            </a:r>
            <a:endParaRPr lang="en-US" sz="1100" dirty="0"/>
          </a:p>
        </p:txBody>
      </p:sp>
      <p:sp>
        <p:nvSpPr>
          <p:cNvPr id="23" name="Shape 19"/>
          <p:cNvSpPr/>
          <p:nvPr/>
        </p:nvSpPr>
        <p:spPr>
          <a:xfrm>
            <a:off x="8641080" y="2121408"/>
            <a:ext cx="2097740" cy="201168"/>
          </a:xfrm>
          <a:prstGeom prst="rect">
            <a:avLst/>
          </a:prstGeom>
          <a:solidFill>
            <a:srgbClr val="5AD1FF"/>
          </a:solidFill>
          <a:ln/>
        </p:spPr>
      </p:sp>
      <p:sp>
        <p:nvSpPr>
          <p:cNvPr id="24" name="Text 20"/>
          <p:cNvSpPr txBox="1"/>
          <p:nvPr/>
        </p:nvSpPr>
        <p:spPr>
          <a:xfrm>
            <a:off x="10811972" y="2075688"/>
            <a:ext cx="822960" cy="292608"/>
          </a:xfrm>
          <a:prstGeom prst="rect">
            <a:avLst/>
          </a:prstGeom>
          <a:noFill/>
          <a:ln/>
        </p:spPr>
        <p:txBody>
          <a:bodyPr wrap="square" lIns="0" tIns="0" rIns="0" bIns="0" rtlCol="0" anchor="ctr">
            <a:normAutofit/>
          </a:bodyPr>
          <a:lstStyle/>
          <a:p>
            <a:pPr indent="0" marL="0">
              <a:buNone/>
            </a:pPr>
            <a:r>
              <a:rPr lang="en-US" sz="1000" b="1" dirty="0">
                <a:solidFill>
                  <a:srgbClr val="5AD1FF"/>
                </a:solidFill>
                <a:latin typeface="Arial" pitchFamily="34" charset="0"/>
                <a:ea typeface="Arial" pitchFamily="34" charset="-122"/>
                <a:cs typeface="Arial" pitchFamily="34" charset="-120"/>
              </a:rPr>
              <a:t>2,95 milyon €</a:t>
            </a:r>
            <a:endParaRPr lang="en-US" sz="1000" dirty="0"/>
          </a:p>
        </p:txBody>
      </p:sp>
      <p:sp>
        <p:nvSpPr>
          <p:cNvPr id="25" name="Text 21"/>
          <p:cNvSpPr txBox="1"/>
          <p:nvPr/>
        </p:nvSpPr>
        <p:spPr>
          <a:xfrm>
            <a:off x="7406640" y="2459736"/>
            <a:ext cx="1143000" cy="292608"/>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Arial" pitchFamily="34" charset="0"/>
                <a:ea typeface="Arial" pitchFamily="34" charset="-122"/>
                <a:cs typeface="Arial" pitchFamily="34" charset="-120"/>
              </a:rPr>
              <a:t>VC yöntemi</a:t>
            </a:r>
            <a:endParaRPr lang="en-US" sz="1100" dirty="0"/>
          </a:p>
        </p:txBody>
      </p:sp>
      <p:sp>
        <p:nvSpPr>
          <p:cNvPr id="26" name="Shape 22"/>
          <p:cNvSpPr/>
          <p:nvPr/>
        </p:nvSpPr>
        <p:spPr>
          <a:xfrm>
            <a:off x="8641080" y="2505456"/>
            <a:ext cx="1727969" cy="201168"/>
          </a:xfrm>
          <a:prstGeom prst="rect">
            <a:avLst/>
          </a:prstGeom>
          <a:solidFill>
            <a:srgbClr val="9AA3B5"/>
          </a:solidFill>
          <a:ln/>
        </p:spPr>
      </p:sp>
      <p:sp>
        <p:nvSpPr>
          <p:cNvPr id="27" name="Text 23"/>
          <p:cNvSpPr txBox="1"/>
          <p:nvPr/>
        </p:nvSpPr>
        <p:spPr>
          <a:xfrm>
            <a:off x="10442201" y="2459736"/>
            <a:ext cx="822960" cy="292608"/>
          </a:xfrm>
          <a:prstGeom prst="rect">
            <a:avLst/>
          </a:prstGeom>
          <a:noFill/>
          <a:ln/>
        </p:spPr>
        <p:txBody>
          <a:bodyPr wrap="square" lIns="0" tIns="0" rIns="0" bIns="0" rtlCol="0" anchor="ctr">
            <a:normAutofit/>
          </a:bodyPr>
          <a:lstStyle/>
          <a:p>
            <a:pPr indent="0" marL="0">
              <a:buNone/>
            </a:pPr>
            <a:r>
              <a:rPr lang="en-US" sz="1000" b="1" dirty="0">
                <a:solidFill>
                  <a:srgbClr val="9AA3B5"/>
                </a:solidFill>
                <a:latin typeface="Arial" pitchFamily="34" charset="0"/>
                <a:ea typeface="Arial" pitchFamily="34" charset="-122"/>
                <a:cs typeface="Arial" pitchFamily="34" charset="-120"/>
              </a:rPr>
              <a:t>2,43 milyon €</a:t>
            </a:r>
            <a:endParaRPr lang="en-US" sz="1000" dirty="0"/>
          </a:p>
        </p:txBody>
      </p:sp>
      <p:sp>
        <p:nvSpPr>
          <p:cNvPr id="28" name="Text 24"/>
          <p:cNvSpPr txBox="1"/>
          <p:nvPr/>
        </p:nvSpPr>
        <p:spPr>
          <a:xfrm>
            <a:off x="7406640" y="2843784"/>
            <a:ext cx="1143000" cy="292608"/>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Arial" pitchFamily="34" charset="0"/>
                <a:ea typeface="Arial" pitchFamily="34" charset="-122"/>
                <a:cs typeface="Arial" pitchFamily="34" charset="-120"/>
              </a:rPr>
              <a:t>Risk faktörü top.</a:t>
            </a:r>
            <a:endParaRPr lang="en-US" sz="1100" dirty="0"/>
          </a:p>
        </p:txBody>
      </p:sp>
      <p:sp>
        <p:nvSpPr>
          <p:cNvPr id="29" name="Shape 25"/>
          <p:cNvSpPr/>
          <p:nvPr/>
        </p:nvSpPr>
        <p:spPr>
          <a:xfrm>
            <a:off x="8641080" y="2889504"/>
            <a:ext cx="2133295" cy="201168"/>
          </a:xfrm>
          <a:prstGeom prst="rect">
            <a:avLst/>
          </a:prstGeom>
          <a:solidFill>
            <a:srgbClr val="2DFFB5"/>
          </a:solidFill>
          <a:ln/>
        </p:spPr>
      </p:sp>
      <p:sp>
        <p:nvSpPr>
          <p:cNvPr id="30" name="Text 26"/>
          <p:cNvSpPr txBox="1"/>
          <p:nvPr/>
        </p:nvSpPr>
        <p:spPr>
          <a:xfrm>
            <a:off x="10847527" y="2843784"/>
            <a:ext cx="822960" cy="292608"/>
          </a:xfrm>
          <a:prstGeom prst="rect">
            <a:avLst/>
          </a:prstGeom>
          <a:noFill/>
          <a:ln/>
        </p:spPr>
        <p:txBody>
          <a:bodyPr wrap="square" lIns="0" tIns="0" rIns="0" bIns="0" rtlCol="0" anchor="ctr">
            <a:normAutofit/>
          </a:bodyPr>
          <a:lstStyle/>
          <a:p>
            <a:pPr indent="0" marL="0">
              <a:buNone/>
            </a:pPr>
            <a:r>
              <a:rPr lang="en-US" sz="1000" b="1" dirty="0">
                <a:solidFill>
                  <a:srgbClr val="2DFFB5"/>
                </a:solidFill>
                <a:latin typeface="Arial" pitchFamily="34" charset="0"/>
                <a:ea typeface="Arial" pitchFamily="34" charset="-122"/>
                <a:cs typeface="Arial" pitchFamily="34" charset="-120"/>
              </a:rPr>
              <a:t>3,0 milyon €</a:t>
            </a:r>
            <a:endParaRPr lang="en-US" sz="1000" dirty="0"/>
          </a:p>
        </p:txBody>
      </p:sp>
      <p:sp>
        <p:nvSpPr>
          <p:cNvPr id="31" name="Shape 27"/>
          <p:cNvSpPr/>
          <p:nvPr/>
        </p:nvSpPr>
        <p:spPr>
          <a:xfrm>
            <a:off x="7406640" y="3337560"/>
            <a:ext cx="4236415" cy="1325880"/>
          </a:xfrm>
          <a:prstGeom prst="roundRect">
            <a:avLst>
              <a:gd name="adj" fmla="val 8276"/>
            </a:avLst>
          </a:prstGeom>
          <a:solidFill>
            <a:srgbClr val="1F2330"/>
          </a:solidFill>
          <a:ln w="15875">
            <a:solidFill>
              <a:srgbClr val="FF2D75"/>
            </a:solidFill>
            <a:prstDash val="solid"/>
          </a:ln>
        </p:spPr>
      </p:sp>
      <p:sp>
        <p:nvSpPr>
          <p:cNvPr id="32" name="Text 28"/>
          <p:cNvSpPr txBox="1"/>
          <p:nvPr/>
        </p:nvSpPr>
        <p:spPr>
          <a:xfrm>
            <a:off x="7607808" y="3429000"/>
            <a:ext cx="3834079" cy="274320"/>
          </a:xfrm>
          <a:prstGeom prst="rect">
            <a:avLst/>
          </a:prstGeom>
          <a:noFill/>
          <a:ln/>
        </p:spPr>
        <p:txBody>
          <a:bodyPr wrap="square" lIns="0" tIns="0" rIns="0" bIns="0" rtlCol="0" anchor="t">
            <a:normAutofit/>
          </a:bodyPr>
          <a:lstStyle/>
          <a:p>
            <a:pPr indent="0" marL="0">
              <a:buNone/>
            </a:pPr>
            <a:r>
              <a:rPr lang="en-US" sz="1100" b="1" dirty="0">
                <a:solidFill>
                  <a:srgbClr val="9AA3B5"/>
                </a:solidFill>
                <a:latin typeface="Arial" pitchFamily="34" charset="0"/>
                <a:ea typeface="Arial" pitchFamily="34" charset="-122"/>
                <a:cs typeface="Arial" pitchFamily="34" charset="-120"/>
              </a:rPr>
              <a:t>Kurucunun teklifi · her referans yönteminin altında</a:t>
            </a:r>
            <a:endParaRPr lang="en-US" sz="1100" dirty="0"/>
          </a:p>
        </p:txBody>
      </p:sp>
      <p:sp>
        <p:nvSpPr>
          <p:cNvPr id="33" name="Text 29"/>
          <p:cNvSpPr txBox="1"/>
          <p:nvPr/>
        </p:nvSpPr>
        <p:spPr>
          <a:xfrm>
            <a:off x="7607808" y="3685032"/>
            <a:ext cx="3834079" cy="548640"/>
          </a:xfrm>
          <a:prstGeom prst="rect">
            <a:avLst/>
          </a:prstGeom>
          <a:noFill/>
          <a:ln/>
        </p:spPr>
        <p:txBody>
          <a:bodyPr wrap="square" lIns="0" tIns="0" rIns="0" bIns="0" rtlCol="0" anchor="t">
            <a:normAutofit/>
          </a:bodyPr>
          <a:lstStyle/>
          <a:p>
            <a:pPr indent="0" marL="0">
              <a:buNone/>
            </a:pPr>
            <a:r>
              <a:rPr lang="en-US" sz="3200" b="1" dirty="0">
                <a:solidFill>
                  <a:srgbClr val="FF2D75"/>
                </a:solidFill>
                <a:latin typeface="Arial" pitchFamily="34" charset="0"/>
                <a:ea typeface="Arial" pitchFamily="34" charset="-122"/>
                <a:cs typeface="Arial" pitchFamily="34" charset="-120"/>
              </a:rPr>
              <a:t>2,25 milyon €</a:t>
            </a:r>
            <a:endParaRPr lang="en-US" sz="3200" dirty="0"/>
          </a:p>
        </p:txBody>
      </p:sp>
      <p:sp>
        <p:nvSpPr>
          <p:cNvPr id="34" name="Text 30"/>
          <p:cNvSpPr txBox="1"/>
          <p:nvPr/>
        </p:nvSpPr>
        <p:spPr>
          <a:xfrm>
            <a:off x="7607808" y="4233672"/>
            <a:ext cx="3834079" cy="36576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Arial" pitchFamily="34" charset="0"/>
                <a:ea typeface="Arial" pitchFamily="34" charset="-122"/>
                <a:cs typeface="Arial" pitchFamily="34" charset="-120"/>
              </a:rPr>
              <a:t>yatırım öncesi · %10,0 için 250 bin € · sonrası 2,5 milyon €</a:t>
            </a:r>
            <a:endParaRPr lang="en-US" sz="1200" dirty="0"/>
          </a:p>
        </p:txBody>
      </p:sp>
      <p:sp>
        <p:nvSpPr>
          <p:cNvPr id="35" name="Shape 31"/>
          <p:cNvSpPr/>
          <p:nvPr/>
        </p:nvSpPr>
        <p:spPr>
          <a:xfrm>
            <a:off x="7406640" y="4800600"/>
            <a:ext cx="4236415" cy="777240"/>
          </a:xfrm>
          <a:prstGeom prst="roundRect">
            <a:avLst>
              <a:gd name="adj" fmla="val 14118"/>
            </a:avLst>
          </a:prstGeom>
          <a:solidFill>
            <a:srgbClr val="181B23"/>
          </a:solidFill>
          <a:ln w="12700">
            <a:solidFill>
              <a:srgbClr val="181B23"/>
            </a:solidFill>
            <a:prstDash val="solid"/>
          </a:ln>
        </p:spPr>
      </p:sp>
      <p:sp>
        <p:nvSpPr>
          <p:cNvPr id="36" name="Text 32"/>
          <p:cNvSpPr txBox="1"/>
          <p:nvPr/>
        </p:nvSpPr>
        <p:spPr>
          <a:xfrm>
            <a:off x="7607808" y="4892040"/>
            <a:ext cx="3834079" cy="274320"/>
          </a:xfrm>
          <a:prstGeom prst="rect">
            <a:avLst/>
          </a:prstGeom>
          <a:noFill/>
          <a:ln/>
        </p:spPr>
        <p:txBody>
          <a:bodyPr wrap="square" lIns="0" tIns="0" rIns="0" bIns="0" rtlCol="0" anchor="t">
            <a:normAutofit/>
          </a:bodyPr>
          <a:lstStyle/>
          <a:p>
            <a:pPr indent="0" marL="0">
              <a:buNone/>
            </a:pPr>
            <a:r>
              <a:rPr lang="en-US" sz="1200" b="1" dirty="0">
                <a:solidFill>
                  <a:srgbClr val="5AD1FF"/>
                </a:solidFill>
                <a:latin typeface="Arial" pitchFamily="34" charset="0"/>
                <a:ea typeface="Arial" pitchFamily="34" charset="-122"/>
                <a:cs typeface="Arial" pitchFamily="34" charset="-120"/>
              </a:rPr>
              <a:t>Alternatif: SAFE / dönüştürülebilir kredi</a:t>
            </a:r>
            <a:endParaRPr lang="en-US" sz="1200" dirty="0"/>
          </a:p>
        </p:txBody>
      </p:sp>
      <p:sp>
        <p:nvSpPr>
          <p:cNvPr id="37" name="Text 33"/>
          <p:cNvSpPr txBox="1"/>
          <p:nvPr/>
        </p:nvSpPr>
        <p:spPr>
          <a:xfrm>
            <a:off x="7607808" y="5184648"/>
            <a:ext cx="3834079" cy="320040"/>
          </a:xfrm>
          <a:prstGeom prst="rect">
            <a:avLst/>
          </a:prstGeom>
          <a:noFill/>
          <a:ln/>
        </p:spPr>
        <p:txBody>
          <a:bodyPr wrap="square" lIns="0" tIns="0" rIns="0" bIns="0" rtlCol="0" anchor="t">
            <a:normAutofit/>
          </a:bodyPr>
          <a:lstStyle/>
          <a:p>
            <a:pPr indent="0" marL="0">
              <a:buNone/>
            </a:pPr>
            <a:r>
              <a:rPr lang="en-US" sz="1000" dirty="0">
                <a:solidFill>
                  <a:srgbClr val="FFFFFF"/>
                </a:solidFill>
                <a:latin typeface="Arial" pitchFamily="34" charset="0"/>
                <a:ea typeface="Arial" pitchFamily="34" charset="-122"/>
                <a:cs typeface="Arial" pitchFamily="34" charset="-120"/>
              </a:rPr>
              <a:t>Değerleme tavanı 2,25 milyon € · %20 iskonto (%15–20 müzakere edilebilir) · faizsiz · tohum turunda dönüşüm – en fazla %10</a:t>
            </a:r>
            <a:endParaRPr lang="en-US" sz="1000" dirty="0"/>
          </a:p>
        </p:txBody>
      </p:sp>
      <p:sp>
        <p:nvSpPr>
          <p:cNvPr id="38" name="Text 34"/>
          <p:cNvSpPr txBox="1"/>
          <p:nvPr/>
        </p:nvSpPr>
        <p:spPr>
          <a:xfrm>
            <a:off x="548640" y="5760720"/>
            <a:ext cx="9997135" cy="457200"/>
          </a:xfrm>
          <a:prstGeom prst="rect">
            <a:avLst/>
          </a:prstGeom>
          <a:noFill/>
          <a:ln/>
        </p:spPr>
        <p:txBody>
          <a:bodyPr wrap="square" lIns="0" tIns="0" rIns="0" bIns="0" rtlCol="0" anchor="t">
            <a:normAutofit/>
          </a:bodyPr>
          <a:lstStyle/>
          <a:p>
            <a:pPr indent="0" marL="0">
              <a:buNone/>
            </a:pPr>
            <a:r>
              <a:rPr lang="en-US" sz="1000" i="1" dirty="0">
                <a:solidFill>
                  <a:srgbClr val="FFD166"/>
                </a:solidFill>
                <a:latin typeface="Arial" pitchFamily="34" charset="0"/>
                <a:ea typeface="Arial" pitchFamily="34" charset="-122"/>
                <a:cs typeface="Arial" pitchFamily="34" charset="-120"/>
              </a:rPr>
              <a:t>Müzakere temeli – vergi/hukuk danışmanıyla kontrol edin. Tüm rakamlar LiveFX_Finanzmodell.xlsx'ten tahminlerdir (ağırlıklı referans değer 2,71 milyon €).</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115"/>
        </a:solidFill>
      </p:bgPr>
    </p:bg>
    <p:spTree>
      <p:nvGrpSpPr>
        <p:cNvPr id="1" name=""/>
        <p:cNvGrpSpPr/>
        <p:nvPr/>
      </p:nvGrpSpPr>
      <p:grpSpPr>
        <a:xfrm>
          <a:off x="0" y="0"/>
          <a:ext cx="0" cy="0"/>
          <a:chOff x="0" y="0"/>
          <a:chExt cx="0" cy="0"/>
        </a:xfrm>
      </p:grpSpPr>
      <p:sp>
        <p:nvSpPr>
          <p:cNvPr id="2" name="Kicker"/>
          <p:cNvSpPr txBox="1"/>
          <p:nvPr/>
        </p:nvSpPr>
        <p:spPr>
          <a:xfrm>
            <a:off x="548640" y="182880"/>
            <a:ext cx="8229600" cy="237744"/>
          </a:xfrm>
          <a:prstGeom prst="rect">
            <a:avLst/>
          </a:prstGeom>
          <a:noFill/>
          <a:ln/>
        </p:spPr>
        <p:txBody>
          <a:bodyPr wrap="square" lIns="0" tIns="0" rIns="0" bIns="0" rtlCol="0" anchor="ctr"/>
          <a:lstStyle/>
          <a:p>
            <a:pPr indent="0" marL="0">
              <a:buNone/>
            </a:pPr>
            <a:r>
              <a:rPr lang="en-US" sz="1000" b="1" spc="300" kern="0" dirty="0">
                <a:solidFill>
                  <a:srgbClr val="2DFFB5"/>
                </a:solidFill>
                <a:latin typeface="Arial" pitchFamily="34" charset="0"/>
                <a:ea typeface="Arial" pitchFamily="34" charset="-122"/>
                <a:cs typeface="Arial" pitchFamily="34" charset="-120"/>
              </a:rPr>
              <a:t>KILOMETRE TAŞLARI · 18 AY</a:t>
            </a:r>
            <a:endParaRPr lang="en-US" sz="1000" dirty="0"/>
          </a:p>
        </p:txBody>
      </p:sp>
      <p:sp>
        <p:nvSpPr>
          <p:cNvPr id="3" name="Titel"/>
          <p:cNvSpPr txBox="1"/>
          <p:nvPr/>
        </p:nvSpPr>
        <p:spPr>
          <a:xfrm>
            <a:off x="548640" y="438912"/>
            <a:ext cx="11094415" cy="77724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Arial" pitchFamily="34" charset="0"/>
                <a:ea typeface="Arial" pitchFamily="34" charset="-122"/>
                <a:cs typeface="Arial" pitchFamily="34" charset="-120"/>
              </a:rPr>
              <a:t>Kapılar: 250 bin €'nun kanıtlaması gerekenler</a:t>
            </a:r>
            <a:endParaRPr lang="en-US" sz="3200" dirty="0"/>
          </a:p>
        </p:txBody>
      </p:sp>
      <p:sp>
        <p:nvSpPr>
          <p:cNvPr id="4" name="Fuß"/>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18</a:t>
            </a:r>
            <a:endParaRPr lang="en-US" sz="900" dirty="0"/>
          </a:p>
        </p:txBody>
      </p:sp>
      <p:sp>
        <p:nvSpPr>
          <p:cNvPr id="6" name="Shape 3"/>
          <p:cNvSpPr/>
          <p:nvPr/>
        </p:nvSpPr>
        <p:spPr>
          <a:xfrm>
            <a:off x="822960" y="1618488"/>
            <a:ext cx="10545775" cy="0"/>
          </a:xfrm>
          <a:prstGeom prst="line">
            <a:avLst/>
          </a:prstGeom>
          <a:noFill/>
          <a:ln w="25400">
            <a:solidFill>
              <a:srgbClr val="2A2F3C"/>
            </a:solidFill>
            <a:prstDash val="solid"/>
          </a:ln>
        </p:spPr>
      </p:sp>
      <p:sp>
        <p:nvSpPr>
          <p:cNvPr id="7" name="Shape 4"/>
          <p:cNvSpPr/>
          <p:nvPr/>
        </p:nvSpPr>
        <p:spPr>
          <a:xfrm>
            <a:off x="640080" y="1444752"/>
            <a:ext cx="2487854" cy="347472"/>
          </a:xfrm>
          <a:prstGeom prst="roundRect">
            <a:avLst>
              <a:gd name="adj" fmla="val 50000"/>
            </a:avLst>
          </a:prstGeom>
          <a:solidFill>
            <a:srgbClr val="1F2330"/>
          </a:solidFill>
          <a:ln w="12700">
            <a:solidFill>
              <a:srgbClr val="FF2D75"/>
            </a:solidFill>
            <a:prstDash val="solid"/>
          </a:ln>
        </p:spPr>
      </p:sp>
      <p:sp>
        <p:nvSpPr>
          <p:cNvPr id="8" name="Text 5"/>
          <p:cNvSpPr txBox="1"/>
          <p:nvPr/>
        </p:nvSpPr>
        <p:spPr>
          <a:xfrm>
            <a:off x="640080" y="1444752"/>
            <a:ext cx="2487854" cy="347472"/>
          </a:xfrm>
          <a:prstGeom prst="rect">
            <a:avLst/>
          </a:prstGeom>
          <a:noFill/>
          <a:ln/>
        </p:spPr>
        <p:txBody>
          <a:bodyPr wrap="square" lIns="0" tIns="0" rIns="0" bIns="0" rtlCol="0" anchor="ctr">
            <a:normAutofit/>
          </a:bodyPr>
          <a:lstStyle/>
          <a:p>
            <a:pPr algn="ctr" indent="0" marL="0">
              <a:buNone/>
            </a:pPr>
            <a:r>
              <a:rPr lang="en-US" sz="1200" b="1" dirty="0">
                <a:solidFill>
                  <a:srgbClr val="FF2D75"/>
                </a:solidFill>
                <a:latin typeface="Arial" pitchFamily="34" charset="0"/>
                <a:ea typeface="Arial" pitchFamily="34" charset="-122"/>
                <a:cs typeface="Arial" pitchFamily="34" charset="-120"/>
              </a:rPr>
              <a:t>G0  ·  3. ay</a:t>
            </a:r>
            <a:endParaRPr lang="en-US" sz="1200" dirty="0"/>
          </a:p>
        </p:txBody>
      </p:sp>
      <p:sp>
        <p:nvSpPr>
          <p:cNvPr id="9" name="Shape 6"/>
          <p:cNvSpPr/>
          <p:nvPr/>
        </p:nvSpPr>
        <p:spPr>
          <a:xfrm>
            <a:off x="548640" y="1938528"/>
            <a:ext cx="2670734" cy="3703320"/>
          </a:xfrm>
          <a:prstGeom prst="roundRect">
            <a:avLst>
              <a:gd name="adj" fmla="val 4109"/>
            </a:avLst>
          </a:prstGeom>
          <a:solidFill>
            <a:srgbClr val="181B23"/>
          </a:solidFill>
          <a:ln w="12700">
            <a:solidFill>
              <a:srgbClr val="181B23"/>
            </a:solidFill>
            <a:prstDash val="solid"/>
          </a:ln>
        </p:spPr>
      </p:sp>
      <p:sp>
        <p:nvSpPr>
          <p:cNvPr id="10" name="Text 7"/>
          <p:cNvSpPr txBox="1"/>
          <p:nvPr/>
        </p:nvSpPr>
        <p:spPr>
          <a:xfrm>
            <a:off x="749808" y="2048256"/>
            <a:ext cx="2268398" cy="365760"/>
          </a:xfrm>
          <a:prstGeom prst="rect">
            <a:avLst/>
          </a:prstGeom>
          <a:noFill/>
          <a:ln/>
        </p:spPr>
        <p:txBody>
          <a:bodyPr wrap="square" lIns="0" tIns="0" rIns="0" bIns="0" rtlCol="0" anchor="t">
            <a:normAutofit/>
          </a:bodyPr>
          <a:lstStyle/>
          <a:p>
            <a:pPr indent="0" marL="0">
              <a:buNone/>
            </a:pPr>
            <a:r>
              <a:rPr lang="en-US" sz="1500" b="1" dirty="0">
                <a:solidFill>
                  <a:srgbClr val="FF2D75"/>
                </a:solidFill>
                <a:latin typeface="Arial" pitchFamily="34" charset="0"/>
                <a:ea typeface="Arial" pitchFamily="34" charset="-122"/>
                <a:cs typeface="Arial" pitchFamily="34" charset="-120"/>
              </a:rPr>
              <a:t>Başlangıç</a:t>
            </a:r>
            <a:endParaRPr lang="en-US" sz="1500" dirty="0"/>
          </a:p>
        </p:txBody>
      </p:sp>
      <p:sp>
        <p:nvSpPr>
          <p:cNvPr id="11" name="Text 8"/>
          <p:cNvSpPr txBox="1"/>
          <p:nvPr/>
        </p:nvSpPr>
        <p:spPr>
          <a:xfrm>
            <a:off x="749808" y="2468880"/>
            <a:ext cx="2268398" cy="2286000"/>
          </a:xfrm>
          <a:prstGeom prst="rect">
            <a:avLst/>
          </a:prstGeom>
          <a:noFill/>
          <a:ln/>
        </p:spPr>
        <p:txBody>
          <a:bodyPr wrap="square" lIns="0" tIns="0" rIns="0" bIns="0" rtlCol="0" anchor="t">
            <a:normAutofit/>
          </a:bodyPr>
          <a:lstStyle/>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Pro aboneliği yayında (ödeme)</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Mobil/web geliştirici ekipte</a:t>
            </a:r>
            <a:endParaRPr lang="en-US" sz="1150" dirty="0"/>
          </a:p>
        </p:txBody>
      </p:sp>
      <p:sp>
        <p:nvSpPr>
          <p:cNvPr id="12" name="Shape 9"/>
          <p:cNvSpPr/>
          <p:nvPr/>
        </p:nvSpPr>
        <p:spPr>
          <a:xfrm>
            <a:off x="749808" y="4846320"/>
            <a:ext cx="2268398" cy="0"/>
          </a:xfrm>
          <a:prstGeom prst="line">
            <a:avLst/>
          </a:prstGeom>
          <a:noFill/>
          <a:ln w="12700">
            <a:solidFill>
              <a:srgbClr val="2A2F3C"/>
            </a:solidFill>
            <a:prstDash val="solid"/>
          </a:ln>
        </p:spPr>
      </p:sp>
      <p:sp>
        <p:nvSpPr>
          <p:cNvPr id="13" name="Text 10"/>
          <p:cNvSpPr txBox="1"/>
          <p:nvPr/>
        </p:nvSpPr>
        <p:spPr>
          <a:xfrm>
            <a:off x="749808" y="4910328"/>
            <a:ext cx="2268398" cy="219456"/>
          </a:xfrm>
          <a:prstGeom prst="rect">
            <a:avLst/>
          </a:prstGeom>
          <a:noFill/>
          <a:ln/>
        </p:spPr>
        <p:txBody>
          <a:bodyPr wrap="square" lIns="0" tIns="0" rIns="0" bIns="0" rtlCol="0" anchor="t">
            <a:normAutofit/>
          </a:bodyPr>
          <a:lstStyle/>
          <a:p>
            <a:pPr indent="0" marL="0">
              <a:buNone/>
            </a:pPr>
            <a:r>
              <a:rPr lang="en-US" sz="950" b="1" spc="100" kern="0" dirty="0">
                <a:solidFill>
                  <a:srgbClr val="9AA3B5"/>
                </a:solidFill>
                <a:latin typeface="Arial" pitchFamily="34" charset="0"/>
                <a:ea typeface="Arial" pitchFamily="34" charset="-122"/>
                <a:cs typeface="Arial" pitchFamily="34" charset="-120"/>
              </a:rPr>
              <a:t>AÇTIĞI ADIM</a:t>
            </a:r>
            <a:endParaRPr lang="en-US" sz="950" dirty="0"/>
          </a:p>
        </p:txBody>
      </p:sp>
      <p:sp>
        <p:nvSpPr>
          <p:cNvPr id="14" name="Text 11"/>
          <p:cNvSpPr txBox="1"/>
          <p:nvPr/>
        </p:nvSpPr>
        <p:spPr>
          <a:xfrm>
            <a:off x="749808" y="5148072"/>
            <a:ext cx="2268398" cy="457200"/>
          </a:xfrm>
          <a:prstGeom prst="rect">
            <a:avLst/>
          </a:prstGeom>
          <a:noFill/>
          <a:ln/>
        </p:spPr>
        <p:txBody>
          <a:bodyPr wrap="square" lIns="0" tIns="0" rIns="0" bIns="0" rtlCol="0" anchor="t">
            <a:normAutofit/>
          </a:bodyPr>
          <a:lstStyle/>
          <a:p>
            <a:pPr indent="0" marL="0">
              <a:buNone/>
            </a:pPr>
            <a:r>
              <a:rPr lang="en-US" sz="1100" b="1" dirty="0">
                <a:solidFill>
                  <a:srgbClr val="FF2D75"/>
                </a:solidFill>
                <a:latin typeface="Arial" pitchFamily="34" charset="0"/>
                <a:ea typeface="Arial" pitchFamily="34" charset="-122"/>
                <a:cs typeface="Arial" pitchFamily="34" charset="-120"/>
              </a:rPr>
              <a:t>Pazara giriş 2. aşama bütçesi</a:t>
            </a:r>
            <a:endParaRPr lang="en-US" sz="1100" dirty="0"/>
          </a:p>
        </p:txBody>
      </p:sp>
      <p:sp>
        <p:nvSpPr>
          <p:cNvPr id="15" name="Shape 12"/>
          <p:cNvSpPr/>
          <p:nvPr/>
        </p:nvSpPr>
        <p:spPr>
          <a:xfrm>
            <a:off x="3447974" y="1444752"/>
            <a:ext cx="2487854" cy="347472"/>
          </a:xfrm>
          <a:prstGeom prst="roundRect">
            <a:avLst>
              <a:gd name="adj" fmla="val 50000"/>
            </a:avLst>
          </a:prstGeom>
          <a:solidFill>
            <a:srgbClr val="1F2330"/>
          </a:solidFill>
          <a:ln w="12700">
            <a:solidFill>
              <a:srgbClr val="2DFFB5"/>
            </a:solidFill>
            <a:prstDash val="solid"/>
          </a:ln>
        </p:spPr>
      </p:sp>
      <p:sp>
        <p:nvSpPr>
          <p:cNvPr id="16" name="Text 13"/>
          <p:cNvSpPr txBox="1"/>
          <p:nvPr/>
        </p:nvSpPr>
        <p:spPr>
          <a:xfrm>
            <a:off x="3447974" y="1444752"/>
            <a:ext cx="2487854" cy="347472"/>
          </a:xfrm>
          <a:prstGeom prst="rect">
            <a:avLst/>
          </a:prstGeom>
          <a:noFill/>
          <a:ln/>
        </p:spPr>
        <p:txBody>
          <a:bodyPr wrap="square" lIns="0" tIns="0" rIns="0" bIns="0" rtlCol="0" anchor="ctr">
            <a:normAutofit/>
          </a:bodyPr>
          <a:lstStyle/>
          <a:p>
            <a:pPr algn="ctr" indent="0" marL="0">
              <a:buNone/>
            </a:pPr>
            <a:r>
              <a:rPr lang="en-US" sz="1200" b="1" dirty="0">
                <a:solidFill>
                  <a:srgbClr val="2DFFB5"/>
                </a:solidFill>
                <a:latin typeface="Arial" pitchFamily="34" charset="0"/>
                <a:ea typeface="Arial" pitchFamily="34" charset="-122"/>
                <a:cs typeface="Arial" pitchFamily="34" charset="-120"/>
              </a:rPr>
              <a:t>G1  ·  6. ay</a:t>
            </a:r>
            <a:endParaRPr lang="en-US" sz="1200" dirty="0"/>
          </a:p>
        </p:txBody>
      </p:sp>
      <p:sp>
        <p:nvSpPr>
          <p:cNvPr id="17" name="Shape 14"/>
          <p:cNvSpPr/>
          <p:nvPr/>
        </p:nvSpPr>
        <p:spPr>
          <a:xfrm>
            <a:off x="3356534" y="1938528"/>
            <a:ext cx="2670734" cy="3703320"/>
          </a:xfrm>
          <a:prstGeom prst="roundRect">
            <a:avLst>
              <a:gd name="adj" fmla="val 4109"/>
            </a:avLst>
          </a:prstGeom>
          <a:solidFill>
            <a:srgbClr val="181B23"/>
          </a:solidFill>
          <a:ln w="12700">
            <a:solidFill>
              <a:srgbClr val="181B23"/>
            </a:solidFill>
            <a:prstDash val="solid"/>
          </a:ln>
        </p:spPr>
      </p:sp>
      <p:sp>
        <p:nvSpPr>
          <p:cNvPr id="18" name="Text 15"/>
          <p:cNvSpPr txBox="1"/>
          <p:nvPr/>
        </p:nvSpPr>
        <p:spPr>
          <a:xfrm>
            <a:off x="3557702" y="2048256"/>
            <a:ext cx="2268398" cy="365760"/>
          </a:xfrm>
          <a:prstGeom prst="rect">
            <a:avLst/>
          </a:prstGeom>
          <a:noFill/>
          <a:ln/>
        </p:spPr>
        <p:txBody>
          <a:bodyPr wrap="square" lIns="0" tIns="0" rIns="0" bIns="0" rtlCol="0" anchor="t">
            <a:normAutofit/>
          </a:bodyPr>
          <a:lstStyle/>
          <a:p>
            <a:pPr indent="0" marL="0">
              <a:buNone/>
            </a:pPr>
            <a:r>
              <a:rPr lang="en-US" sz="1500" b="1" dirty="0">
                <a:solidFill>
                  <a:srgbClr val="2DFFB5"/>
                </a:solidFill>
                <a:latin typeface="Arial" pitchFamily="34" charset="0"/>
                <a:ea typeface="Arial" pitchFamily="34" charset="-122"/>
                <a:cs typeface="Arial" pitchFamily="34" charset="-120"/>
              </a:rPr>
              <a:t>Aktivasyon</a:t>
            </a:r>
            <a:endParaRPr lang="en-US" sz="1500" dirty="0"/>
          </a:p>
        </p:txBody>
      </p:sp>
      <p:sp>
        <p:nvSpPr>
          <p:cNvPr id="19" name="Text 16"/>
          <p:cNvSpPr txBox="1"/>
          <p:nvPr/>
        </p:nvSpPr>
        <p:spPr>
          <a:xfrm>
            <a:off x="3557702" y="2468880"/>
            <a:ext cx="2268398" cy="2286000"/>
          </a:xfrm>
          <a:prstGeom prst="rect">
            <a:avLst/>
          </a:prstGeom>
          <a:noFill/>
          <a:ln/>
        </p:spPr>
        <p:txBody>
          <a:bodyPr wrap="square" lIns="0" tIns="0" rIns="0" bIns="0" rtlCol="0" anchor="t">
            <a:normAutofit/>
          </a:bodyPr>
          <a:lstStyle/>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10.000 kayıtlı kullanıcı (eşik 4.000)</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400 ödeme yapan Pro (eşik 120)</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20 beta içerik üreticisi TR/DE, 10–20 elçi</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300 kelimeli Kelime-Resim</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4. hafta elde tutma ≥ %30</a:t>
            </a:r>
            <a:endParaRPr lang="en-US" sz="1150" dirty="0"/>
          </a:p>
        </p:txBody>
      </p:sp>
      <p:sp>
        <p:nvSpPr>
          <p:cNvPr id="20" name="Shape 17"/>
          <p:cNvSpPr/>
          <p:nvPr/>
        </p:nvSpPr>
        <p:spPr>
          <a:xfrm>
            <a:off x="3557702" y="4846320"/>
            <a:ext cx="2268398" cy="0"/>
          </a:xfrm>
          <a:prstGeom prst="line">
            <a:avLst/>
          </a:prstGeom>
          <a:noFill/>
          <a:ln w="12700">
            <a:solidFill>
              <a:srgbClr val="2A2F3C"/>
            </a:solidFill>
            <a:prstDash val="solid"/>
          </a:ln>
        </p:spPr>
      </p:sp>
      <p:sp>
        <p:nvSpPr>
          <p:cNvPr id="21" name="Text 18"/>
          <p:cNvSpPr txBox="1"/>
          <p:nvPr/>
        </p:nvSpPr>
        <p:spPr>
          <a:xfrm>
            <a:off x="3557702" y="4910328"/>
            <a:ext cx="2268398" cy="219456"/>
          </a:xfrm>
          <a:prstGeom prst="rect">
            <a:avLst/>
          </a:prstGeom>
          <a:noFill/>
          <a:ln/>
        </p:spPr>
        <p:txBody>
          <a:bodyPr wrap="square" lIns="0" tIns="0" rIns="0" bIns="0" rtlCol="0" anchor="t">
            <a:normAutofit/>
          </a:bodyPr>
          <a:lstStyle/>
          <a:p>
            <a:pPr indent="0" marL="0">
              <a:buNone/>
            </a:pPr>
            <a:r>
              <a:rPr lang="en-US" sz="950" b="1" spc="100" kern="0" dirty="0">
                <a:solidFill>
                  <a:srgbClr val="9AA3B5"/>
                </a:solidFill>
                <a:latin typeface="Arial" pitchFamily="34" charset="0"/>
                <a:ea typeface="Arial" pitchFamily="34" charset="-122"/>
                <a:cs typeface="Arial" pitchFamily="34" charset="-120"/>
              </a:rPr>
              <a:t>AÇTIĞI ADIM</a:t>
            </a:r>
            <a:endParaRPr lang="en-US" sz="950" dirty="0"/>
          </a:p>
        </p:txBody>
      </p:sp>
      <p:sp>
        <p:nvSpPr>
          <p:cNvPr id="22" name="Text 19"/>
          <p:cNvSpPr txBox="1"/>
          <p:nvPr/>
        </p:nvSpPr>
        <p:spPr>
          <a:xfrm>
            <a:off x="3557702" y="5148072"/>
            <a:ext cx="2268398" cy="457200"/>
          </a:xfrm>
          <a:prstGeom prst="rect">
            <a:avLst/>
          </a:prstGeom>
          <a:noFill/>
          <a:ln/>
        </p:spPr>
        <p:txBody>
          <a:bodyPr wrap="square" lIns="0" tIns="0" rIns="0" bIns="0" rtlCol="0" anchor="t">
            <a:normAutofit/>
          </a:bodyPr>
          <a:lstStyle/>
          <a:p>
            <a:pPr indent="0" marL="0">
              <a:buNone/>
            </a:pPr>
            <a:r>
              <a:rPr lang="en-US" sz="1100" b="1" dirty="0">
                <a:solidFill>
                  <a:srgbClr val="2DFFB5"/>
                </a:solidFill>
                <a:latin typeface="Arial" pitchFamily="34" charset="0"/>
                <a:ea typeface="Arial" pitchFamily="34" charset="-122"/>
                <a:cs typeface="Arial" pitchFamily="34" charset="-120"/>
              </a:rPr>
              <a:t>Mobil uygulama/PWA yayını</a:t>
            </a:r>
            <a:endParaRPr lang="en-US" sz="1100" dirty="0"/>
          </a:p>
        </p:txBody>
      </p:sp>
      <p:sp>
        <p:nvSpPr>
          <p:cNvPr id="23" name="Shape 20"/>
          <p:cNvSpPr/>
          <p:nvPr/>
        </p:nvSpPr>
        <p:spPr>
          <a:xfrm>
            <a:off x="6255868" y="1444752"/>
            <a:ext cx="2487854" cy="347472"/>
          </a:xfrm>
          <a:prstGeom prst="roundRect">
            <a:avLst>
              <a:gd name="adj" fmla="val 50000"/>
            </a:avLst>
          </a:prstGeom>
          <a:solidFill>
            <a:srgbClr val="1F2330"/>
          </a:solidFill>
          <a:ln w="12700">
            <a:solidFill>
              <a:srgbClr val="FFD166"/>
            </a:solidFill>
            <a:prstDash val="solid"/>
          </a:ln>
        </p:spPr>
      </p:sp>
      <p:sp>
        <p:nvSpPr>
          <p:cNvPr id="24" name="Text 21"/>
          <p:cNvSpPr txBox="1"/>
          <p:nvPr/>
        </p:nvSpPr>
        <p:spPr>
          <a:xfrm>
            <a:off x="6255868" y="1444752"/>
            <a:ext cx="2487854" cy="347472"/>
          </a:xfrm>
          <a:prstGeom prst="rect">
            <a:avLst/>
          </a:prstGeom>
          <a:noFill/>
          <a:ln/>
        </p:spPr>
        <p:txBody>
          <a:bodyPr wrap="square" lIns="0" tIns="0" rIns="0" bIns="0" rtlCol="0" anchor="ctr">
            <a:normAutofit/>
          </a:bodyPr>
          <a:lstStyle/>
          <a:p>
            <a:pPr algn="ctr" indent="0" marL="0">
              <a:buNone/>
            </a:pPr>
            <a:r>
              <a:rPr lang="en-US" sz="1200" b="1" dirty="0">
                <a:solidFill>
                  <a:srgbClr val="FFD166"/>
                </a:solidFill>
                <a:latin typeface="Arial" pitchFamily="34" charset="0"/>
                <a:ea typeface="Arial" pitchFamily="34" charset="-122"/>
                <a:cs typeface="Arial" pitchFamily="34" charset="-120"/>
              </a:rPr>
              <a:t>G2a  ·  12. ay</a:t>
            </a:r>
            <a:endParaRPr lang="en-US" sz="1200" dirty="0"/>
          </a:p>
        </p:txBody>
      </p:sp>
      <p:sp>
        <p:nvSpPr>
          <p:cNvPr id="25" name="Shape 22"/>
          <p:cNvSpPr/>
          <p:nvPr/>
        </p:nvSpPr>
        <p:spPr>
          <a:xfrm>
            <a:off x="6164428" y="1938528"/>
            <a:ext cx="2670734" cy="3703320"/>
          </a:xfrm>
          <a:prstGeom prst="roundRect">
            <a:avLst>
              <a:gd name="adj" fmla="val 4109"/>
            </a:avLst>
          </a:prstGeom>
          <a:solidFill>
            <a:srgbClr val="181B23"/>
          </a:solidFill>
          <a:ln w="12700">
            <a:solidFill>
              <a:srgbClr val="181B23"/>
            </a:solidFill>
            <a:prstDash val="solid"/>
          </a:ln>
        </p:spPr>
      </p:sp>
      <p:sp>
        <p:nvSpPr>
          <p:cNvPr id="26" name="Text 23"/>
          <p:cNvSpPr txBox="1"/>
          <p:nvPr/>
        </p:nvSpPr>
        <p:spPr>
          <a:xfrm>
            <a:off x="6365596" y="2048256"/>
            <a:ext cx="2268398" cy="365760"/>
          </a:xfrm>
          <a:prstGeom prst="rect">
            <a:avLst/>
          </a:prstGeom>
          <a:noFill/>
          <a:ln/>
        </p:spPr>
        <p:txBody>
          <a:bodyPr wrap="square" lIns="0" tIns="0" rIns="0" bIns="0" rtlCol="0" anchor="t">
            <a:normAutofit/>
          </a:bodyPr>
          <a:lstStyle/>
          <a:p>
            <a:pPr indent="0" marL="0">
              <a:buNone/>
            </a:pPr>
            <a:r>
              <a:rPr lang="en-US" sz="1500" b="1" dirty="0">
                <a:solidFill>
                  <a:srgbClr val="FFD166"/>
                </a:solidFill>
                <a:latin typeface="Arial" pitchFamily="34" charset="0"/>
                <a:ea typeface="Arial" pitchFamily="34" charset="-122"/>
                <a:cs typeface="Arial" pitchFamily="34" charset="-120"/>
              </a:rPr>
              <a:t>Çekiş</a:t>
            </a:r>
            <a:endParaRPr lang="en-US" sz="1500" dirty="0"/>
          </a:p>
        </p:txBody>
      </p:sp>
      <p:sp>
        <p:nvSpPr>
          <p:cNvPr id="27" name="Text 24"/>
          <p:cNvSpPr txBox="1"/>
          <p:nvPr/>
        </p:nvSpPr>
        <p:spPr>
          <a:xfrm>
            <a:off x="6365596" y="2468880"/>
            <a:ext cx="2268398" cy="2286000"/>
          </a:xfrm>
          <a:prstGeom prst="rect">
            <a:avLst/>
          </a:prstGeom>
          <a:noFill/>
          <a:ln/>
        </p:spPr>
        <p:txBody>
          <a:bodyPr wrap="square" lIns="0" tIns="0" rIns="0" bIns="0" rtlCol="0" anchor="t">
            <a:normAutofit/>
          </a:bodyPr>
          <a:lstStyle/>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20.000 kullanıcı (eşik 8.000)</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800 ödeme yapan Pro (eşik 240)</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MRR 8.073 € (eşik 2.500 €)</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1 platform ya da eğitim pilotu; ≥ 3 kurs/sınıfta Kelime-Resim</a:t>
            </a:r>
            <a:endParaRPr lang="en-US" sz="1150" dirty="0"/>
          </a:p>
        </p:txBody>
      </p:sp>
      <p:sp>
        <p:nvSpPr>
          <p:cNvPr id="28" name="Shape 25"/>
          <p:cNvSpPr/>
          <p:nvPr/>
        </p:nvSpPr>
        <p:spPr>
          <a:xfrm>
            <a:off x="6365596" y="4846320"/>
            <a:ext cx="2268398" cy="0"/>
          </a:xfrm>
          <a:prstGeom prst="line">
            <a:avLst/>
          </a:prstGeom>
          <a:noFill/>
          <a:ln w="12700">
            <a:solidFill>
              <a:srgbClr val="2A2F3C"/>
            </a:solidFill>
            <a:prstDash val="solid"/>
          </a:ln>
        </p:spPr>
      </p:sp>
      <p:sp>
        <p:nvSpPr>
          <p:cNvPr id="29" name="Text 26"/>
          <p:cNvSpPr txBox="1"/>
          <p:nvPr/>
        </p:nvSpPr>
        <p:spPr>
          <a:xfrm>
            <a:off x="6365596" y="4910328"/>
            <a:ext cx="2268398" cy="219456"/>
          </a:xfrm>
          <a:prstGeom prst="rect">
            <a:avLst/>
          </a:prstGeom>
          <a:noFill/>
          <a:ln/>
        </p:spPr>
        <p:txBody>
          <a:bodyPr wrap="square" lIns="0" tIns="0" rIns="0" bIns="0" rtlCol="0" anchor="t">
            <a:normAutofit/>
          </a:bodyPr>
          <a:lstStyle/>
          <a:p>
            <a:pPr indent="0" marL="0">
              <a:buNone/>
            </a:pPr>
            <a:r>
              <a:rPr lang="en-US" sz="950" b="1" spc="100" kern="0" dirty="0">
                <a:solidFill>
                  <a:srgbClr val="9AA3B5"/>
                </a:solidFill>
                <a:latin typeface="Arial" pitchFamily="34" charset="0"/>
                <a:ea typeface="Arial" pitchFamily="34" charset="-122"/>
                <a:cs typeface="Arial" pitchFamily="34" charset="-120"/>
              </a:rPr>
              <a:t>AÇTIĞI ADIM</a:t>
            </a:r>
            <a:endParaRPr lang="en-US" sz="950" dirty="0"/>
          </a:p>
        </p:txBody>
      </p:sp>
      <p:sp>
        <p:nvSpPr>
          <p:cNvPr id="30" name="Text 27"/>
          <p:cNvSpPr txBox="1"/>
          <p:nvPr/>
        </p:nvSpPr>
        <p:spPr>
          <a:xfrm>
            <a:off x="6365596" y="5148072"/>
            <a:ext cx="2268398" cy="457200"/>
          </a:xfrm>
          <a:prstGeom prst="rect">
            <a:avLst/>
          </a:prstGeom>
          <a:noFill/>
          <a:ln/>
        </p:spPr>
        <p:txBody>
          <a:bodyPr wrap="square" lIns="0" tIns="0" rIns="0" bIns="0" rtlCol="0" anchor="t">
            <a:normAutofit/>
          </a:bodyPr>
          <a:lstStyle/>
          <a:p>
            <a:pPr indent="0" marL="0">
              <a:buNone/>
            </a:pPr>
            <a:r>
              <a:rPr lang="en-US" sz="1100" b="1" dirty="0">
                <a:solidFill>
                  <a:srgbClr val="FFD166"/>
                </a:solidFill>
                <a:latin typeface="Arial" pitchFamily="34" charset="0"/>
                <a:ea typeface="Arial" pitchFamily="34" charset="-122"/>
                <a:cs typeface="Arial" pitchFamily="34" charset="-120"/>
              </a:rPr>
              <a:t>DE/EN genişlemesi, platform görüşmeleri</a:t>
            </a:r>
            <a:endParaRPr lang="en-US" sz="1100" dirty="0"/>
          </a:p>
        </p:txBody>
      </p:sp>
      <p:sp>
        <p:nvSpPr>
          <p:cNvPr id="31" name="Shape 28"/>
          <p:cNvSpPr/>
          <p:nvPr/>
        </p:nvSpPr>
        <p:spPr>
          <a:xfrm>
            <a:off x="9063761" y="1444752"/>
            <a:ext cx="2487854" cy="347472"/>
          </a:xfrm>
          <a:prstGeom prst="roundRect">
            <a:avLst>
              <a:gd name="adj" fmla="val 50000"/>
            </a:avLst>
          </a:prstGeom>
          <a:solidFill>
            <a:srgbClr val="1F2330"/>
          </a:solidFill>
          <a:ln w="12700">
            <a:solidFill>
              <a:srgbClr val="5AD1FF"/>
            </a:solidFill>
            <a:prstDash val="solid"/>
          </a:ln>
        </p:spPr>
      </p:sp>
      <p:sp>
        <p:nvSpPr>
          <p:cNvPr id="32" name="Text 29"/>
          <p:cNvSpPr txBox="1"/>
          <p:nvPr/>
        </p:nvSpPr>
        <p:spPr>
          <a:xfrm>
            <a:off x="9063761" y="1444752"/>
            <a:ext cx="2487854" cy="347472"/>
          </a:xfrm>
          <a:prstGeom prst="rect">
            <a:avLst/>
          </a:prstGeom>
          <a:noFill/>
          <a:ln/>
        </p:spPr>
        <p:txBody>
          <a:bodyPr wrap="square" lIns="0" tIns="0" rIns="0" bIns="0" rtlCol="0" anchor="ctr">
            <a:normAutofit/>
          </a:bodyPr>
          <a:lstStyle/>
          <a:p>
            <a:pPr algn="ctr" indent="0" marL="0">
              <a:buNone/>
            </a:pPr>
            <a:r>
              <a:rPr lang="en-US" sz="1200" b="1" dirty="0">
                <a:solidFill>
                  <a:srgbClr val="5AD1FF"/>
                </a:solidFill>
                <a:latin typeface="Arial" pitchFamily="34" charset="0"/>
                <a:ea typeface="Arial" pitchFamily="34" charset="-122"/>
                <a:cs typeface="Arial" pitchFamily="34" charset="-120"/>
              </a:rPr>
              <a:t>G2  ·  18. ay</a:t>
            </a:r>
            <a:endParaRPr lang="en-US" sz="1200" dirty="0"/>
          </a:p>
        </p:txBody>
      </p:sp>
      <p:sp>
        <p:nvSpPr>
          <p:cNvPr id="33" name="Shape 30"/>
          <p:cNvSpPr/>
          <p:nvPr/>
        </p:nvSpPr>
        <p:spPr>
          <a:xfrm>
            <a:off x="8972321" y="1938528"/>
            <a:ext cx="2670734" cy="3703320"/>
          </a:xfrm>
          <a:prstGeom prst="roundRect">
            <a:avLst>
              <a:gd name="adj" fmla="val 4109"/>
            </a:avLst>
          </a:prstGeom>
          <a:solidFill>
            <a:srgbClr val="181B23"/>
          </a:solidFill>
          <a:ln w="12700">
            <a:solidFill>
              <a:srgbClr val="181B23"/>
            </a:solidFill>
            <a:prstDash val="solid"/>
          </a:ln>
        </p:spPr>
      </p:sp>
      <p:sp>
        <p:nvSpPr>
          <p:cNvPr id="34" name="Text 31"/>
          <p:cNvSpPr txBox="1"/>
          <p:nvPr/>
        </p:nvSpPr>
        <p:spPr>
          <a:xfrm>
            <a:off x="9173489" y="2048256"/>
            <a:ext cx="2268398" cy="365760"/>
          </a:xfrm>
          <a:prstGeom prst="rect">
            <a:avLst/>
          </a:prstGeom>
          <a:noFill/>
          <a:ln/>
        </p:spPr>
        <p:txBody>
          <a:bodyPr wrap="square" lIns="0" tIns="0" rIns="0" bIns="0" rtlCol="0" anchor="t">
            <a:normAutofit/>
          </a:bodyPr>
          <a:lstStyle/>
          <a:p>
            <a:pPr indent="0" marL="0">
              <a:buNone/>
            </a:pPr>
            <a:r>
              <a:rPr lang="en-US" sz="1500" b="1" dirty="0">
                <a:solidFill>
                  <a:srgbClr val="5AD1FF"/>
                </a:solidFill>
                <a:latin typeface="Arial" pitchFamily="34" charset="0"/>
                <a:ea typeface="Arial" pitchFamily="34" charset="-122"/>
                <a:cs typeface="Arial" pitchFamily="34" charset="-120"/>
              </a:rPr>
              <a:t>Sonraki tur</a:t>
            </a:r>
            <a:endParaRPr lang="en-US" sz="1500" dirty="0"/>
          </a:p>
        </p:txBody>
      </p:sp>
      <p:sp>
        <p:nvSpPr>
          <p:cNvPr id="35" name="Text 32"/>
          <p:cNvSpPr txBox="1"/>
          <p:nvPr/>
        </p:nvSpPr>
        <p:spPr>
          <a:xfrm>
            <a:off x="9173489" y="2468880"/>
            <a:ext cx="2268398" cy="2286000"/>
          </a:xfrm>
          <a:prstGeom prst="rect">
            <a:avLst/>
          </a:prstGeom>
          <a:noFill/>
          <a:ln/>
        </p:spPr>
        <p:txBody>
          <a:bodyPr wrap="square" lIns="0" tIns="0" rIns="0" bIns="0" rtlCol="0" anchor="t">
            <a:normAutofit/>
          </a:bodyPr>
          <a:lstStyle/>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50.000 kullanıcı (eşik 19.000)</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2.000 ödeme yapan Pro (eşik 570)</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MRR 22.586 € (eşik 6.495 €)</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Pro 3. ay elde tutma ≥ %75; dönüşüm ≥ %3 / %4</a:t>
            </a:r>
            <a:endParaRPr lang="en-US" sz="1150" dirty="0"/>
          </a:p>
          <a:p>
            <a:pPr marL="203200" indent="-203200">
              <a:spcAft>
                <a:spcPts val="500"/>
              </a:spcAft>
              <a:buSzPct val="100000"/>
              <a:buChar char="•"/>
            </a:pPr>
            <a:r>
              <a:rPr lang="en-US" sz="1150" dirty="0">
                <a:solidFill>
                  <a:srgbClr val="FFFFFF"/>
                </a:solidFill>
                <a:latin typeface="Arial" pitchFamily="34" charset="0"/>
                <a:ea typeface="Arial" pitchFamily="34" charset="-122"/>
                <a:cs typeface="Arial" pitchFamily="34" charset="-120"/>
              </a:rPr>
              <a:t>≥ 5 ödeme yapan okul ya da kurs</a:t>
            </a:r>
            <a:endParaRPr lang="en-US" sz="1150" dirty="0"/>
          </a:p>
        </p:txBody>
      </p:sp>
      <p:sp>
        <p:nvSpPr>
          <p:cNvPr id="36" name="Shape 33"/>
          <p:cNvSpPr/>
          <p:nvPr/>
        </p:nvSpPr>
        <p:spPr>
          <a:xfrm>
            <a:off x="9173489" y="4846320"/>
            <a:ext cx="2268398" cy="0"/>
          </a:xfrm>
          <a:prstGeom prst="line">
            <a:avLst/>
          </a:prstGeom>
          <a:noFill/>
          <a:ln w="12700">
            <a:solidFill>
              <a:srgbClr val="2A2F3C"/>
            </a:solidFill>
            <a:prstDash val="solid"/>
          </a:ln>
        </p:spPr>
      </p:sp>
      <p:sp>
        <p:nvSpPr>
          <p:cNvPr id="37" name="Text 34"/>
          <p:cNvSpPr txBox="1"/>
          <p:nvPr/>
        </p:nvSpPr>
        <p:spPr>
          <a:xfrm>
            <a:off x="9173489" y="4910328"/>
            <a:ext cx="2268398" cy="219456"/>
          </a:xfrm>
          <a:prstGeom prst="rect">
            <a:avLst/>
          </a:prstGeom>
          <a:noFill/>
          <a:ln/>
        </p:spPr>
        <p:txBody>
          <a:bodyPr wrap="square" lIns="0" tIns="0" rIns="0" bIns="0" rtlCol="0" anchor="t">
            <a:normAutofit/>
          </a:bodyPr>
          <a:lstStyle/>
          <a:p>
            <a:pPr indent="0" marL="0">
              <a:buNone/>
            </a:pPr>
            <a:r>
              <a:rPr lang="en-US" sz="950" b="1" spc="100" kern="0" dirty="0">
                <a:solidFill>
                  <a:srgbClr val="9AA3B5"/>
                </a:solidFill>
                <a:latin typeface="Arial" pitchFamily="34" charset="0"/>
                <a:ea typeface="Arial" pitchFamily="34" charset="-122"/>
                <a:cs typeface="Arial" pitchFamily="34" charset="-120"/>
              </a:rPr>
              <a:t>AÇTIĞI ADIM</a:t>
            </a:r>
            <a:endParaRPr lang="en-US" sz="950" dirty="0"/>
          </a:p>
        </p:txBody>
      </p:sp>
      <p:sp>
        <p:nvSpPr>
          <p:cNvPr id="38" name="Text 35"/>
          <p:cNvSpPr txBox="1"/>
          <p:nvPr/>
        </p:nvSpPr>
        <p:spPr>
          <a:xfrm>
            <a:off x="9173489" y="5148072"/>
            <a:ext cx="2268398" cy="457200"/>
          </a:xfrm>
          <a:prstGeom prst="rect">
            <a:avLst/>
          </a:prstGeom>
          <a:noFill/>
          <a:ln/>
        </p:spPr>
        <p:txBody>
          <a:bodyPr wrap="square" lIns="0" tIns="0" rIns="0" bIns="0" rtlCol="0" anchor="t">
            <a:normAutofit/>
          </a:bodyPr>
          <a:lstStyle/>
          <a:p>
            <a:pPr indent="0" marL="0">
              <a:buNone/>
            </a:pPr>
            <a:r>
              <a:rPr lang="en-US" sz="1050" b="1" dirty="0">
                <a:solidFill>
                  <a:srgbClr val="5AD1FF"/>
                </a:solidFill>
                <a:latin typeface="Arial" pitchFamily="34" charset="0"/>
                <a:ea typeface="Arial" pitchFamily="34" charset="-122"/>
                <a:cs typeface="Arial" pitchFamily="34" charset="-120"/>
              </a:rPr>
              <a:t>Tohum turu, 19. aydan itibaren büyüme ekibi, hikâye motoru/Studio</a:t>
            </a:r>
            <a:endParaRPr lang="en-US" sz="1050" dirty="0"/>
          </a:p>
        </p:txBody>
      </p:sp>
      <p:sp>
        <p:nvSpPr>
          <p:cNvPr id="39" name="Text 36"/>
          <p:cNvSpPr txBox="1"/>
          <p:nvPr/>
        </p:nvSpPr>
        <p:spPr>
          <a:xfrm>
            <a:off x="548640" y="5806440"/>
            <a:ext cx="9997135" cy="457200"/>
          </a:xfrm>
          <a:prstGeom prst="rect">
            <a:avLst/>
          </a:prstGeom>
          <a:noFill/>
          <a:ln/>
        </p:spPr>
        <p:txBody>
          <a:bodyPr wrap="square" lIns="0" tIns="0" rIns="0" bIns="0" rtlCol="0" anchor="t">
            <a:normAutofit/>
          </a:bodyPr>
          <a:lstStyle/>
          <a:p>
            <a:pPr indent="0" marL="0">
              <a:buNone/>
            </a:pPr>
            <a:r>
              <a:rPr lang="en-US" sz="1100" i="1" dirty="0">
                <a:solidFill>
                  <a:srgbClr val="9AA3B5"/>
                </a:solidFill>
                <a:latin typeface="Arial" pitchFamily="34" charset="0"/>
                <a:ea typeface="Arial" pitchFamily="34" charset="-122"/>
                <a:cs typeface="Arial" pitchFamily="34" charset="-120"/>
              </a:rPr>
              <a:t>Tüm değerler hedeftir (henüz ulaşılmadı): hedef = temel senaryo, eşik = temkinli senaryo. Eşik yakalandığında kapı geçilmiş sayılır. Öneri – yatırımcılarla netleştirilecek.</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115"/>
        </a:solidFill>
      </p:bgPr>
    </p:bg>
    <p:spTree>
      <p:nvGrpSpPr>
        <p:cNvPr id="1" name=""/>
        <p:cNvGrpSpPr/>
        <p:nvPr/>
      </p:nvGrpSpPr>
      <p:grpSpPr>
        <a:xfrm>
          <a:off x="0" y="0"/>
          <a:ext cx="0" cy="0"/>
          <a:chOff x="0" y="0"/>
          <a:chExt cx="0" cy="0"/>
        </a:xfrm>
      </p:grpSpPr>
      <p:pic>
        <p:nvPicPr>
          <p:cNvPr id="2" name="Image 0" descr="/home/user/Notion/live-fx/business/video/stills/tr-16x9-6_9s.jpg">    </p:cNvPr>
          <p:cNvPicPr>
            <a:picLocks noChangeAspect="1"/>
          </p:cNvPicPr>
          <p:nvPr/>
        </p:nvPicPr>
        <p:blipFill>
          <a:blip r:embed="rId1">
            <a:alphaModFix amt="18000"/>
          </a:blip>
          <a:stretch>
            <a:fillRect/>
          </a:stretch>
        </p:blipFill>
        <p:spPr>
          <a:xfrm>
            <a:off x="0" y="0"/>
            <a:ext cx="12191695" cy="6858000"/>
          </a:xfrm>
          <a:prstGeom prst="rect">
            <a:avLst/>
          </a:prstGeom>
        </p:spPr>
      </p:pic>
      <p:sp>
        <p:nvSpPr>
          <p:cNvPr id="3" name="Text 0"/>
          <p:cNvSpPr txBox="1"/>
          <p:nvPr/>
        </p:nvSpPr>
        <p:spPr>
          <a:xfrm>
            <a:off x="548640" y="502920"/>
            <a:ext cx="5486400" cy="274320"/>
          </a:xfrm>
          <a:prstGeom prst="rect">
            <a:avLst/>
          </a:prstGeom>
          <a:noFill/>
          <a:ln/>
        </p:spPr>
        <p:txBody>
          <a:bodyPr wrap="square" lIns="0" tIns="0" rIns="0" bIns="0" rtlCol="0" anchor="t">
            <a:normAutofit/>
          </a:bodyPr>
          <a:lstStyle/>
          <a:p>
            <a:pPr indent="0" marL="0">
              <a:buNone/>
            </a:pPr>
            <a:r>
              <a:rPr lang="en-US" sz="1100" b="1" spc="400" kern="0" dirty="0">
                <a:solidFill>
                  <a:srgbClr val="2DFFB5"/>
                </a:solidFill>
                <a:latin typeface="Arial" pitchFamily="34" charset="0"/>
                <a:ea typeface="Arial" pitchFamily="34" charset="-122"/>
                <a:cs typeface="Arial" pitchFamily="34" charset="-120"/>
              </a:rPr>
              <a:t>TALEBİMİZ</a:t>
            </a:r>
            <a:endParaRPr lang="en-US" sz="1100" dirty="0"/>
          </a:p>
        </p:txBody>
      </p:sp>
      <p:sp>
        <p:nvSpPr>
          <p:cNvPr id="4" name="Text 1"/>
          <p:cNvSpPr txBox="1"/>
          <p:nvPr/>
        </p:nvSpPr>
        <p:spPr>
          <a:xfrm>
            <a:off x="548640" y="841248"/>
            <a:ext cx="11094415" cy="82296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Canlı yayınlara kulak verelim.</a:t>
            </a:r>
            <a:endParaRPr lang="en-US" sz="3400" dirty="0"/>
          </a:p>
        </p:txBody>
      </p:sp>
      <p:sp>
        <p:nvSpPr>
          <p:cNvPr id="5" name="Shape 2"/>
          <p:cNvSpPr/>
          <p:nvPr/>
        </p:nvSpPr>
        <p:spPr>
          <a:xfrm>
            <a:off x="548640" y="1783080"/>
            <a:ext cx="2670734" cy="2103120"/>
          </a:xfrm>
          <a:prstGeom prst="roundRect">
            <a:avLst>
              <a:gd name="adj" fmla="val 5217"/>
            </a:avLst>
          </a:prstGeom>
          <a:solidFill>
            <a:srgbClr val="181B23"/>
          </a:solidFill>
          <a:ln w="12700">
            <a:solidFill>
              <a:srgbClr val="181B23"/>
            </a:solidFill>
            <a:prstDash val="solid"/>
          </a:ln>
        </p:spPr>
      </p:sp>
      <p:sp>
        <p:nvSpPr>
          <p:cNvPr id="6" name="Text 3"/>
          <p:cNvSpPr txBox="1"/>
          <p:nvPr/>
        </p:nvSpPr>
        <p:spPr>
          <a:xfrm>
            <a:off x="777240" y="1929384"/>
            <a:ext cx="2213534" cy="457200"/>
          </a:xfrm>
          <a:prstGeom prst="rect">
            <a:avLst/>
          </a:prstGeom>
          <a:noFill/>
          <a:ln/>
        </p:spPr>
        <p:txBody>
          <a:bodyPr wrap="square" lIns="0" tIns="0" rIns="0" bIns="0" rtlCol="0" anchor="t">
            <a:normAutofit/>
          </a:bodyPr>
          <a:lstStyle/>
          <a:p>
            <a:pPr indent="0" marL="0">
              <a:buNone/>
            </a:pPr>
            <a:r>
              <a:rPr lang="en-US" sz="1600" b="1" dirty="0">
                <a:solidFill>
                  <a:srgbClr val="FF2D75"/>
                </a:solidFill>
                <a:latin typeface="Arial" pitchFamily="34" charset="0"/>
                <a:ea typeface="Arial" pitchFamily="34" charset="-122"/>
                <a:cs typeface="Arial" pitchFamily="34" charset="-120"/>
              </a:rPr>
              <a:t>Platform pilotu</a:t>
            </a:r>
            <a:endParaRPr lang="en-US" sz="1600" dirty="0"/>
          </a:p>
        </p:txBody>
      </p:sp>
      <p:sp>
        <p:nvSpPr>
          <p:cNvPr id="7" name="Text 4"/>
          <p:cNvSpPr txBox="1"/>
          <p:nvPr/>
        </p:nvSpPr>
        <p:spPr>
          <a:xfrm>
            <a:off x="777240" y="2423160"/>
            <a:ext cx="2213534" cy="1371600"/>
          </a:xfrm>
          <a:prstGeom prst="rect">
            <a:avLst/>
          </a:prstGeom>
          <a:noFill/>
          <a:ln/>
        </p:spPr>
        <p:txBody>
          <a:bodyPr wrap="square" lIns="0" tIns="0" rIns="0" bIns="0" rtlCol="0" anchor="t">
            <a:normAutofit/>
          </a:bodyPr>
          <a:lstStyle/>
          <a:p>
            <a:pPr indent="0" marL="0">
              <a:buNone/>
            </a:pPr>
            <a:r>
              <a:rPr lang="en-US" sz="1250" dirty="0">
                <a:solidFill>
                  <a:srgbClr val="FFFFFF"/>
                </a:solidFill>
                <a:latin typeface="Arial" pitchFamily="34" charset="0"/>
                <a:ea typeface="Arial" pitchFamily="34" charset="-122"/>
                <a:cs typeface="Arial" pitchFamily="34" charset="-120"/>
              </a:rPr>
              <a:t>LiveFX, TikTok LIVE Studio, Instagram Live Producer ya da YouTube Live'da bir özellik olarak. Tarayıcı kaynağı bugün çalışıyor. 8 hafta, 20 üretici; izlenme süresi, hediyeler ve klipler ölçülür.</a:t>
            </a:r>
            <a:endParaRPr lang="en-US" sz="1250" dirty="0"/>
          </a:p>
        </p:txBody>
      </p:sp>
      <p:sp>
        <p:nvSpPr>
          <p:cNvPr id="8" name="Shape 5"/>
          <p:cNvSpPr/>
          <p:nvPr/>
        </p:nvSpPr>
        <p:spPr>
          <a:xfrm>
            <a:off x="3356534" y="1783080"/>
            <a:ext cx="2670734" cy="2103120"/>
          </a:xfrm>
          <a:prstGeom prst="roundRect">
            <a:avLst>
              <a:gd name="adj" fmla="val 5217"/>
            </a:avLst>
          </a:prstGeom>
          <a:solidFill>
            <a:srgbClr val="181B23"/>
          </a:solidFill>
          <a:ln w="12700">
            <a:solidFill>
              <a:srgbClr val="181B23"/>
            </a:solidFill>
            <a:prstDash val="solid"/>
          </a:ln>
        </p:spPr>
      </p:sp>
      <p:sp>
        <p:nvSpPr>
          <p:cNvPr id="9" name="Text 6"/>
          <p:cNvSpPr txBox="1"/>
          <p:nvPr/>
        </p:nvSpPr>
        <p:spPr>
          <a:xfrm>
            <a:off x="3585134" y="1929384"/>
            <a:ext cx="2213534" cy="457200"/>
          </a:xfrm>
          <a:prstGeom prst="rect">
            <a:avLst/>
          </a:prstGeom>
          <a:noFill/>
          <a:ln/>
        </p:spPr>
        <p:txBody>
          <a:bodyPr wrap="square" lIns="0" tIns="0" rIns="0" bIns="0" rtlCol="0" anchor="t">
            <a:normAutofit/>
          </a:bodyPr>
          <a:lstStyle/>
          <a:p>
            <a:pPr indent="0" marL="0">
              <a:buNone/>
            </a:pPr>
            <a:r>
              <a:rPr lang="en-US" sz="1600" b="1" dirty="0">
                <a:solidFill>
                  <a:srgbClr val="FFD166"/>
                </a:solidFill>
                <a:latin typeface="Arial" pitchFamily="34" charset="0"/>
                <a:ea typeface="Arial" pitchFamily="34" charset="-122"/>
                <a:cs typeface="Arial" pitchFamily="34" charset="-120"/>
              </a:rPr>
              <a:t>Eğitim ve dil pilotu</a:t>
            </a:r>
            <a:endParaRPr lang="en-US" sz="1600" dirty="0"/>
          </a:p>
        </p:txBody>
      </p:sp>
      <p:sp>
        <p:nvSpPr>
          <p:cNvPr id="10" name="Text 7"/>
          <p:cNvSpPr txBox="1"/>
          <p:nvPr/>
        </p:nvSpPr>
        <p:spPr>
          <a:xfrm>
            <a:off x="3585134" y="2423160"/>
            <a:ext cx="2213534" cy="1371600"/>
          </a:xfrm>
          <a:prstGeom prst="rect">
            <a:avLst/>
          </a:prstGeom>
          <a:noFill/>
          <a:ln/>
        </p:spPr>
        <p:txBody>
          <a:bodyPr wrap="square" lIns="0" tIns="0" rIns="0" bIns="0" rtlCol="0" anchor="t">
            <a:normAutofit/>
          </a:bodyPr>
          <a:lstStyle/>
          <a:p>
            <a:pPr indent="0" marL="0">
              <a:buNone/>
            </a:pPr>
            <a:r>
              <a:rPr lang="en-US" sz="1250" dirty="0">
                <a:solidFill>
                  <a:srgbClr val="FFFFFF"/>
                </a:solidFill>
                <a:latin typeface="Arial" pitchFamily="34" charset="0"/>
                <a:ea typeface="Arial" pitchFamily="34" charset="-122"/>
                <a:cs typeface="Arial" pitchFamily="34" charset="-120"/>
              </a:rPr>
              <a:t>Eğitim kurumları, uyum kursları, okullar, dil öğrenme platformları ve yayınevleri: Kelime-Resim ve Anlatı Filmi'ni [Sayı] kurs/sınıfta ya da [Sayı] kitapla test edin.</a:t>
            </a:r>
            <a:endParaRPr lang="en-US" sz="1250" dirty="0"/>
          </a:p>
        </p:txBody>
      </p:sp>
      <p:sp>
        <p:nvSpPr>
          <p:cNvPr id="11" name="Shape 8"/>
          <p:cNvSpPr/>
          <p:nvPr/>
        </p:nvSpPr>
        <p:spPr>
          <a:xfrm>
            <a:off x="6164428" y="1783080"/>
            <a:ext cx="2670734" cy="2103120"/>
          </a:xfrm>
          <a:prstGeom prst="roundRect">
            <a:avLst>
              <a:gd name="adj" fmla="val 5217"/>
            </a:avLst>
          </a:prstGeom>
          <a:solidFill>
            <a:srgbClr val="181B23"/>
          </a:solidFill>
          <a:ln w="12700">
            <a:solidFill>
              <a:srgbClr val="181B23"/>
            </a:solidFill>
            <a:prstDash val="solid"/>
          </a:ln>
        </p:spPr>
      </p:sp>
      <p:sp>
        <p:nvSpPr>
          <p:cNvPr id="12" name="Text 9"/>
          <p:cNvSpPr txBox="1"/>
          <p:nvPr/>
        </p:nvSpPr>
        <p:spPr>
          <a:xfrm>
            <a:off x="6393028" y="1929384"/>
            <a:ext cx="2213534" cy="457200"/>
          </a:xfrm>
          <a:prstGeom prst="rect">
            <a:avLst/>
          </a:prstGeom>
          <a:noFill/>
          <a:ln/>
        </p:spPr>
        <p:txBody>
          <a:bodyPr wrap="square" lIns="0" tIns="0" rIns="0" bIns="0" rtlCol="0" anchor="t">
            <a:normAutofit/>
          </a:bodyPr>
          <a:lstStyle/>
          <a:p>
            <a:pPr indent="0" marL="0">
              <a:buNone/>
            </a:pPr>
            <a:r>
              <a:rPr lang="en-US" sz="1600" b="1" dirty="0">
                <a:solidFill>
                  <a:srgbClr val="2DFFB5"/>
                </a:solidFill>
                <a:latin typeface="Arial" pitchFamily="34" charset="0"/>
                <a:ea typeface="Arial" pitchFamily="34" charset="-122"/>
                <a:cs typeface="Arial" pitchFamily="34" charset="-120"/>
              </a:rPr>
              <a:t>Ortaklar</a:t>
            </a:r>
            <a:endParaRPr lang="en-US" sz="1600" dirty="0"/>
          </a:p>
        </p:txBody>
      </p:sp>
      <p:sp>
        <p:nvSpPr>
          <p:cNvPr id="13" name="Text 10"/>
          <p:cNvSpPr txBox="1"/>
          <p:nvPr/>
        </p:nvSpPr>
        <p:spPr>
          <a:xfrm>
            <a:off x="6393028" y="2423160"/>
            <a:ext cx="2213534" cy="1371600"/>
          </a:xfrm>
          <a:prstGeom prst="rect">
            <a:avLst/>
          </a:prstGeom>
          <a:noFill/>
          <a:ln/>
        </p:spPr>
        <p:txBody>
          <a:bodyPr wrap="square" lIns="0" tIns="0" rIns="0" bIns="0" rtlCol="0" anchor="t">
            <a:normAutofit/>
          </a:bodyPr>
          <a:lstStyle/>
          <a:p>
            <a:pPr indent="0" marL="0">
              <a:buNone/>
            </a:pPr>
            <a:r>
              <a:rPr lang="en-US" sz="1250" dirty="0">
                <a:solidFill>
                  <a:srgbClr val="FFFFFF"/>
                </a:solidFill>
                <a:latin typeface="Arial" pitchFamily="34" charset="0"/>
                <a:ea typeface="Arial" pitchFamily="34" charset="-122"/>
                <a:cs typeface="Arial" pitchFamily="34" charset="-120"/>
              </a:rPr>
              <a:t>Yayın yazılımları (OBS eklentisi, Streamlabs), TR / DACH üretici ajansları, ses ve ASR sağlayıcıları, editör sağlayıcıları (Studio SDK).</a:t>
            </a:r>
            <a:endParaRPr lang="en-US" sz="1250" dirty="0"/>
          </a:p>
        </p:txBody>
      </p:sp>
      <p:sp>
        <p:nvSpPr>
          <p:cNvPr id="14" name="Shape 11"/>
          <p:cNvSpPr/>
          <p:nvPr/>
        </p:nvSpPr>
        <p:spPr>
          <a:xfrm>
            <a:off x="8972321" y="1783080"/>
            <a:ext cx="2670734" cy="2103120"/>
          </a:xfrm>
          <a:prstGeom prst="roundRect">
            <a:avLst>
              <a:gd name="adj" fmla="val 5217"/>
            </a:avLst>
          </a:prstGeom>
          <a:solidFill>
            <a:srgbClr val="181B23"/>
          </a:solidFill>
          <a:ln w="15875">
            <a:solidFill>
              <a:srgbClr val="5AD1FF"/>
            </a:solidFill>
            <a:prstDash val="solid"/>
          </a:ln>
        </p:spPr>
      </p:sp>
      <p:sp>
        <p:nvSpPr>
          <p:cNvPr id="15" name="Text 12"/>
          <p:cNvSpPr txBox="1"/>
          <p:nvPr/>
        </p:nvSpPr>
        <p:spPr>
          <a:xfrm>
            <a:off x="9200921" y="1929384"/>
            <a:ext cx="2213534" cy="457200"/>
          </a:xfrm>
          <a:prstGeom prst="rect">
            <a:avLst/>
          </a:prstGeom>
          <a:noFill/>
          <a:ln/>
        </p:spPr>
        <p:txBody>
          <a:bodyPr wrap="square" lIns="0" tIns="0" rIns="0" bIns="0" rtlCol="0" anchor="t">
            <a:normAutofit/>
          </a:bodyPr>
          <a:lstStyle/>
          <a:p>
            <a:pPr indent="0" marL="0">
              <a:buNone/>
            </a:pPr>
            <a:r>
              <a:rPr lang="en-US" sz="1600" b="1" dirty="0">
                <a:solidFill>
                  <a:srgbClr val="5AD1FF"/>
                </a:solidFill>
                <a:latin typeface="Arial" pitchFamily="34" charset="0"/>
                <a:ea typeface="Arial" pitchFamily="34" charset="-122"/>
                <a:cs typeface="Arial" pitchFamily="34" charset="-120"/>
              </a:rPr>
              <a:t>Ön tohum: 250.000 €</a:t>
            </a:r>
            <a:endParaRPr lang="en-US" sz="1600" dirty="0"/>
          </a:p>
        </p:txBody>
      </p:sp>
      <p:sp>
        <p:nvSpPr>
          <p:cNvPr id="16" name="Text 13"/>
          <p:cNvSpPr txBox="1"/>
          <p:nvPr/>
        </p:nvSpPr>
        <p:spPr>
          <a:xfrm>
            <a:off x="9200921" y="2423160"/>
            <a:ext cx="2213534" cy="1371600"/>
          </a:xfrm>
          <a:prstGeom prst="rect">
            <a:avLst/>
          </a:prstGeom>
          <a:noFill/>
          <a:ln/>
        </p:spPr>
        <p:txBody>
          <a:bodyPr wrap="square" lIns="0" tIns="0" rIns="0" bIns="0" rtlCol="0" anchor="t">
            <a:normAutofit/>
          </a:bodyPr>
          <a:lstStyle/>
          <a:p>
            <a:pPr indent="0" marL="0">
              <a:buNone/>
            </a:pPr>
            <a:r>
              <a:rPr lang="en-US" sz="1250" dirty="0">
                <a:solidFill>
                  <a:srgbClr val="FFFFFF"/>
                </a:solidFill>
                <a:latin typeface="Arial" pitchFamily="34" charset="0"/>
                <a:ea typeface="Arial" pitchFamily="34" charset="-122"/>
                <a:cs typeface="Arial" pitchFamily="34" charset="-120"/>
              </a:rPr>
              <a:t>%10 karşılığında (yatırım öncesi 2,25 milyon €, sonrası 2,5 milyon €) ya da 2,25 milyon € tavanlı SAFE. 18 ay, yalın: Pro aboneliği, mobil uygulama/PWA, TR → DE/EN lansmanı, Kelime-Resim.</a:t>
            </a:r>
            <a:endParaRPr lang="en-US" sz="1250" dirty="0"/>
          </a:p>
        </p:txBody>
      </p:sp>
      <p:sp>
        <p:nvSpPr>
          <p:cNvPr id="17" name="Shape 14"/>
          <p:cNvSpPr/>
          <p:nvPr/>
        </p:nvSpPr>
        <p:spPr>
          <a:xfrm>
            <a:off x="548640" y="4005072"/>
            <a:ext cx="11094415" cy="1207008"/>
          </a:xfrm>
          <a:prstGeom prst="roundRect">
            <a:avLst>
              <a:gd name="adj" fmla="val 9091"/>
            </a:avLst>
          </a:prstGeom>
          <a:solidFill>
            <a:srgbClr val="1F2330"/>
          </a:solidFill>
          <a:ln w="12700">
            <a:solidFill>
              <a:srgbClr val="1F2330"/>
            </a:solidFill>
            <a:prstDash val="solid"/>
          </a:ln>
        </p:spPr>
      </p:sp>
      <p:sp>
        <p:nvSpPr>
          <p:cNvPr id="18" name="Text 15"/>
          <p:cNvSpPr txBox="1"/>
          <p:nvPr/>
        </p:nvSpPr>
        <p:spPr>
          <a:xfrm>
            <a:off x="822960" y="4087368"/>
            <a:ext cx="10545775" cy="256032"/>
          </a:xfrm>
          <a:prstGeom prst="rect">
            <a:avLst/>
          </a:prstGeom>
          <a:noFill/>
          <a:ln/>
        </p:spPr>
        <p:txBody>
          <a:bodyPr wrap="square" lIns="0" tIns="0" rIns="0" bIns="0" rtlCol="0" anchor="t">
            <a:normAutofit/>
          </a:bodyPr>
          <a:lstStyle/>
          <a:p>
            <a:pPr indent="0" marL="0">
              <a:buNone/>
            </a:pPr>
            <a:r>
              <a:rPr lang="en-US" sz="1200" b="1" dirty="0">
                <a:solidFill>
                  <a:srgbClr val="FFD166"/>
                </a:solidFill>
                <a:latin typeface="Arial" pitchFamily="34" charset="0"/>
                <a:ea typeface="Arial" pitchFamily="34" charset="-122"/>
                <a:cs typeface="Arial" pitchFamily="34" charset="-120"/>
              </a:rPr>
              <a:t>250.000 € ön tohum (pre-seed) · 18 ay · fon kullanımı – Öneri – vergi/hukuk danışmanıyla kontrol edin</a:t>
            </a:r>
            <a:endParaRPr lang="en-US" sz="1200" dirty="0"/>
          </a:p>
        </p:txBody>
      </p:sp>
      <p:sp>
        <p:nvSpPr>
          <p:cNvPr id="19" name="Shape 16"/>
          <p:cNvSpPr/>
          <p:nvPr/>
        </p:nvSpPr>
        <p:spPr>
          <a:xfrm>
            <a:off x="822960" y="4407408"/>
            <a:ext cx="5245456" cy="219456"/>
          </a:xfrm>
          <a:prstGeom prst="rect">
            <a:avLst/>
          </a:prstGeom>
          <a:solidFill>
            <a:srgbClr val="FF2D75"/>
          </a:solidFill>
          <a:ln w="12700">
            <a:solidFill>
              <a:srgbClr val="FF2D75"/>
            </a:solidFill>
            <a:prstDash val="solid"/>
          </a:ln>
        </p:spPr>
      </p:sp>
      <p:sp>
        <p:nvSpPr>
          <p:cNvPr id="20" name="Shape 17"/>
          <p:cNvSpPr/>
          <p:nvPr/>
        </p:nvSpPr>
        <p:spPr>
          <a:xfrm>
            <a:off x="6095848" y="4407408"/>
            <a:ext cx="2081723" cy="219456"/>
          </a:xfrm>
          <a:prstGeom prst="rect">
            <a:avLst/>
          </a:prstGeom>
          <a:solidFill>
            <a:srgbClr val="2DFFB5"/>
          </a:solidFill>
          <a:ln w="12700">
            <a:solidFill>
              <a:srgbClr val="2DFFB5"/>
            </a:solidFill>
            <a:prstDash val="solid"/>
          </a:ln>
        </p:spPr>
      </p:sp>
      <p:sp>
        <p:nvSpPr>
          <p:cNvPr id="21" name="Shape 18"/>
          <p:cNvSpPr/>
          <p:nvPr/>
        </p:nvSpPr>
        <p:spPr>
          <a:xfrm>
            <a:off x="8205003" y="4407408"/>
            <a:ext cx="1554434" cy="219456"/>
          </a:xfrm>
          <a:prstGeom prst="rect">
            <a:avLst/>
          </a:prstGeom>
          <a:solidFill>
            <a:srgbClr val="FFD166"/>
          </a:solidFill>
          <a:ln w="12700">
            <a:solidFill>
              <a:srgbClr val="FFD166"/>
            </a:solidFill>
            <a:prstDash val="solid"/>
          </a:ln>
        </p:spPr>
      </p:sp>
      <p:sp>
        <p:nvSpPr>
          <p:cNvPr id="22" name="Shape 19"/>
          <p:cNvSpPr/>
          <p:nvPr/>
        </p:nvSpPr>
        <p:spPr>
          <a:xfrm>
            <a:off x="9786869" y="4407408"/>
            <a:ext cx="1027146" cy="219456"/>
          </a:xfrm>
          <a:prstGeom prst="rect">
            <a:avLst/>
          </a:prstGeom>
          <a:solidFill>
            <a:srgbClr val="5AD1FF"/>
          </a:solidFill>
          <a:ln w="12700">
            <a:solidFill>
              <a:srgbClr val="5AD1FF"/>
            </a:solidFill>
            <a:prstDash val="solid"/>
          </a:ln>
        </p:spPr>
      </p:sp>
      <p:sp>
        <p:nvSpPr>
          <p:cNvPr id="23" name="Shape 20"/>
          <p:cNvSpPr/>
          <p:nvPr/>
        </p:nvSpPr>
        <p:spPr>
          <a:xfrm>
            <a:off x="10841446" y="4407408"/>
            <a:ext cx="499857" cy="219456"/>
          </a:xfrm>
          <a:prstGeom prst="rect">
            <a:avLst/>
          </a:prstGeom>
          <a:solidFill>
            <a:srgbClr val="9AA3B5"/>
          </a:solidFill>
          <a:ln w="12700">
            <a:solidFill>
              <a:srgbClr val="9AA3B5"/>
            </a:solidFill>
            <a:prstDash val="solid"/>
          </a:ln>
        </p:spPr>
      </p:sp>
      <p:sp>
        <p:nvSpPr>
          <p:cNvPr id="24" name="Shape 21"/>
          <p:cNvSpPr/>
          <p:nvPr/>
        </p:nvSpPr>
        <p:spPr>
          <a:xfrm>
            <a:off x="822960" y="4773168"/>
            <a:ext cx="109728" cy="109728"/>
          </a:xfrm>
          <a:prstGeom prst="ellipse">
            <a:avLst/>
          </a:prstGeom>
          <a:solidFill>
            <a:srgbClr val="FF2D75"/>
          </a:solidFill>
          <a:ln w="12700">
            <a:solidFill>
              <a:srgbClr val="FF2D75"/>
            </a:solidFill>
            <a:prstDash val="solid"/>
          </a:ln>
        </p:spPr>
      </p:sp>
      <p:sp>
        <p:nvSpPr>
          <p:cNvPr id="25" name="Text 22"/>
          <p:cNvSpPr txBox="1"/>
          <p:nvPr/>
        </p:nvSpPr>
        <p:spPr>
          <a:xfrm>
            <a:off x="1005840"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Ekip ve ürün</a:t>
            </a:r>
            <a:endParaRPr lang="en-US" sz="1000" dirty="0"/>
          </a:p>
        </p:txBody>
      </p:sp>
      <p:sp>
        <p:nvSpPr>
          <p:cNvPr id="26" name="Text 23"/>
          <p:cNvSpPr txBox="1"/>
          <p:nvPr/>
        </p:nvSpPr>
        <p:spPr>
          <a:xfrm>
            <a:off x="1005840"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125 bin € · %50</a:t>
            </a:r>
            <a:endParaRPr lang="en-US" sz="1000" dirty="0"/>
          </a:p>
        </p:txBody>
      </p:sp>
      <p:sp>
        <p:nvSpPr>
          <p:cNvPr id="27" name="Shape 24"/>
          <p:cNvSpPr/>
          <p:nvPr/>
        </p:nvSpPr>
        <p:spPr>
          <a:xfrm>
            <a:off x="2932115" y="4773168"/>
            <a:ext cx="109728" cy="109728"/>
          </a:xfrm>
          <a:prstGeom prst="ellipse">
            <a:avLst/>
          </a:prstGeom>
          <a:solidFill>
            <a:srgbClr val="2DFFB5"/>
          </a:solidFill>
          <a:ln w="12700">
            <a:solidFill>
              <a:srgbClr val="2DFFB5"/>
            </a:solidFill>
            <a:prstDash val="solid"/>
          </a:ln>
        </p:spPr>
      </p:sp>
      <p:sp>
        <p:nvSpPr>
          <p:cNvPr id="28" name="Text 25"/>
          <p:cNvSpPr txBox="1"/>
          <p:nvPr/>
        </p:nvSpPr>
        <p:spPr>
          <a:xfrm>
            <a:off x="3114995"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Pazara giriş ve pilotlar</a:t>
            </a:r>
            <a:endParaRPr lang="en-US" sz="1000" dirty="0"/>
          </a:p>
        </p:txBody>
      </p:sp>
      <p:sp>
        <p:nvSpPr>
          <p:cNvPr id="29" name="Text 26"/>
          <p:cNvSpPr txBox="1"/>
          <p:nvPr/>
        </p:nvSpPr>
        <p:spPr>
          <a:xfrm>
            <a:off x="3114995"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50 bin € · %20</a:t>
            </a:r>
            <a:endParaRPr lang="en-US" sz="1000" dirty="0"/>
          </a:p>
        </p:txBody>
      </p:sp>
      <p:sp>
        <p:nvSpPr>
          <p:cNvPr id="30" name="Shape 27"/>
          <p:cNvSpPr/>
          <p:nvPr/>
        </p:nvSpPr>
        <p:spPr>
          <a:xfrm>
            <a:off x="5041270" y="4773168"/>
            <a:ext cx="109728" cy="109728"/>
          </a:xfrm>
          <a:prstGeom prst="ellipse">
            <a:avLst/>
          </a:prstGeom>
          <a:solidFill>
            <a:srgbClr val="FFD166"/>
          </a:solidFill>
          <a:ln w="12700">
            <a:solidFill>
              <a:srgbClr val="FFD166"/>
            </a:solidFill>
            <a:prstDash val="solid"/>
          </a:ln>
        </p:spPr>
      </p:sp>
      <p:sp>
        <p:nvSpPr>
          <p:cNvPr id="31" name="Text 28"/>
          <p:cNvSpPr txBox="1"/>
          <p:nvPr/>
        </p:nvSpPr>
        <p:spPr>
          <a:xfrm>
            <a:off x="5224150"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Kelime-Resim (B hattı)</a:t>
            </a:r>
            <a:endParaRPr lang="en-US" sz="1000" dirty="0"/>
          </a:p>
        </p:txBody>
      </p:sp>
      <p:sp>
        <p:nvSpPr>
          <p:cNvPr id="32" name="Text 29"/>
          <p:cNvSpPr txBox="1"/>
          <p:nvPr/>
        </p:nvSpPr>
        <p:spPr>
          <a:xfrm>
            <a:off x="5224150"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37,5 bin € · %15</a:t>
            </a:r>
            <a:endParaRPr lang="en-US" sz="1000" dirty="0"/>
          </a:p>
        </p:txBody>
      </p:sp>
      <p:sp>
        <p:nvSpPr>
          <p:cNvPr id="33" name="Shape 30"/>
          <p:cNvSpPr/>
          <p:nvPr/>
        </p:nvSpPr>
        <p:spPr>
          <a:xfrm>
            <a:off x="7150425" y="4773168"/>
            <a:ext cx="109728" cy="109728"/>
          </a:xfrm>
          <a:prstGeom prst="ellipse">
            <a:avLst/>
          </a:prstGeom>
          <a:solidFill>
            <a:srgbClr val="5AD1FF"/>
          </a:solidFill>
          <a:ln w="12700">
            <a:solidFill>
              <a:srgbClr val="5AD1FF"/>
            </a:solidFill>
            <a:prstDash val="solid"/>
          </a:ln>
        </p:spPr>
      </p:sp>
      <p:sp>
        <p:nvSpPr>
          <p:cNvPr id="34" name="Text 31"/>
          <p:cNvSpPr txBox="1"/>
          <p:nvPr/>
        </p:nvSpPr>
        <p:spPr>
          <a:xfrm>
            <a:off x="7333305"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Hukuk, marka, veri koruma</a:t>
            </a:r>
            <a:endParaRPr lang="en-US" sz="1000" dirty="0"/>
          </a:p>
        </p:txBody>
      </p:sp>
      <p:sp>
        <p:nvSpPr>
          <p:cNvPr id="35" name="Text 32"/>
          <p:cNvSpPr txBox="1"/>
          <p:nvPr/>
        </p:nvSpPr>
        <p:spPr>
          <a:xfrm>
            <a:off x="7333305"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25 bin € · %10</a:t>
            </a:r>
            <a:endParaRPr lang="en-US" sz="1000" dirty="0"/>
          </a:p>
        </p:txBody>
      </p:sp>
      <p:sp>
        <p:nvSpPr>
          <p:cNvPr id="36" name="Shape 33"/>
          <p:cNvSpPr/>
          <p:nvPr/>
        </p:nvSpPr>
        <p:spPr>
          <a:xfrm>
            <a:off x="9259580" y="4773168"/>
            <a:ext cx="109728" cy="109728"/>
          </a:xfrm>
          <a:prstGeom prst="ellipse">
            <a:avLst/>
          </a:prstGeom>
          <a:solidFill>
            <a:srgbClr val="9AA3B5"/>
          </a:solidFill>
          <a:ln w="12700">
            <a:solidFill>
              <a:srgbClr val="9AA3B5"/>
            </a:solidFill>
            <a:prstDash val="solid"/>
          </a:ln>
        </p:spPr>
      </p:sp>
      <p:sp>
        <p:nvSpPr>
          <p:cNvPr id="37" name="Text 34"/>
          <p:cNvSpPr txBox="1"/>
          <p:nvPr/>
        </p:nvSpPr>
        <p:spPr>
          <a:xfrm>
            <a:off x="9442460" y="4709160"/>
            <a:ext cx="1834835" cy="237744"/>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Arial" pitchFamily="34" charset="0"/>
                <a:ea typeface="Arial" pitchFamily="34" charset="-122"/>
                <a:cs typeface="Arial" pitchFamily="34" charset="-120"/>
              </a:rPr>
              <a:t>Yedek</a:t>
            </a:r>
            <a:endParaRPr lang="en-US" sz="1000" dirty="0"/>
          </a:p>
        </p:txBody>
      </p:sp>
      <p:sp>
        <p:nvSpPr>
          <p:cNvPr id="38" name="Text 35"/>
          <p:cNvSpPr txBox="1"/>
          <p:nvPr/>
        </p:nvSpPr>
        <p:spPr>
          <a:xfrm>
            <a:off x="9442460" y="4937760"/>
            <a:ext cx="1834835" cy="219456"/>
          </a:xfrm>
          <a:prstGeom prst="rect">
            <a:avLst/>
          </a:prstGeom>
          <a:noFill/>
          <a:ln/>
        </p:spPr>
        <p:txBody>
          <a:bodyPr wrap="square" lIns="0" tIns="0" rIns="0" bIns="0" rtlCol="0" anchor="t">
            <a:normAutofit/>
          </a:bodyPr>
          <a:lstStyle/>
          <a:p>
            <a:pPr indent="0" marL="0">
              <a:buNone/>
            </a:pPr>
            <a:r>
              <a:rPr lang="en-US" sz="1000" dirty="0">
                <a:solidFill>
                  <a:srgbClr val="9AA3B5"/>
                </a:solidFill>
                <a:latin typeface="Arial" pitchFamily="34" charset="0"/>
                <a:ea typeface="Arial" pitchFamily="34" charset="-122"/>
                <a:cs typeface="Arial" pitchFamily="34" charset="-120"/>
              </a:rPr>
              <a:t>12,5 bin € · %5</a:t>
            </a:r>
            <a:endParaRPr lang="en-US" sz="1000" dirty="0"/>
          </a:p>
        </p:txBody>
      </p:sp>
      <p:sp>
        <p:nvSpPr>
          <p:cNvPr id="39" name="Shape 36"/>
          <p:cNvSpPr/>
          <p:nvPr/>
        </p:nvSpPr>
        <p:spPr>
          <a:xfrm>
            <a:off x="548640" y="5303520"/>
            <a:ext cx="11094415" cy="713232"/>
          </a:xfrm>
          <a:prstGeom prst="roundRect">
            <a:avLst>
              <a:gd name="adj" fmla="val 15385"/>
            </a:avLst>
          </a:prstGeom>
          <a:solidFill>
            <a:srgbClr val="1F2330"/>
          </a:solidFill>
          <a:ln w="12700">
            <a:solidFill>
              <a:srgbClr val="1F2330"/>
            </a:solidFill>
            <a:prstDash val="solid"/>
          </a:ln>
        </p:spPr>
      </p:sp>
      <p:sp>
        <p:nvSpPr>
          <p:cNvPr id="40" name="Text 37"/>
          <p:cNvSpPr txBox="1"/>
          <p:nvPr/>
        </p:nvSpPr>
        <p:spPr>
          <a:xfrm>
            <a:off x="822960" y="5321808"/>
            <a:ext cx="10545775" cy="6766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Tuncay Sancak, Kurucu &amp; Genel Müdür   ·   Investor Relations: Gönül Demet   ·   [E-posta]   ·   Demo: [Bağlantı]</a:t>
            </a:r>
            <a:endParaRPr lang="en-US" sz="1500" dirty="0"/>
          </a:p>
        </p:txBody>
      </p:sp>
      <p:sp>
        <p:nvSpPr>
          <p:cNvPr id="41" name="Text 38"/>
          <p:cNvSpPr txBox="1"/>
          <p:nvPr/>
        </p:nvSpPr>
        <p:spPr>
          <a:xfrm>
            <a:off x="548640" y="6144768"/>
            <a:ext cx="9631375" cy="274320"/>
          </a:xfrm>
          <a:prstGeom prst="rect">
            <a:avLst/>
          </a:prstGeom>
          <a:noFill/>
          <a:ln/>
        </p:spPr>
        <p:txBody>
          <a:bodyPr wrap="square" lIns="0" tIns="0" rIns="0" bIns="0" rtlCol="0" anchor="t">
            <a:normAutofit/>
          </a:bodyPr>
          <a:lstStyle/>
          <a:p>
            <a:pPr indent="0" marL="0">
              <a:buNone/>
            </a:pPr>
            <a:r>
              <a:rPr lang="en-US" sz="1000" i="1" dirty="0">
                <a:solidFill>
                  <a:srgbClr val="9AA3B5"/>
                </a:solidFill>
                <a:latin typeface="Arial" pitchFamily="34" charset="0"/>
                <a:ea typeface="Arial" pitchFamily="34" charset="-122"/>
                <a:cs typeface="Arial" pitchFamily="34" charset="-120"/>
              </a:rPr>
              <a:t>Bu sunum Almanca ve İngilizce de mevcut: LiveFX_Pitch.pptx · LiveFX_Pitch_EN.pptx</a:t>
            </a:r>
            <a:endParaRPr lang="en-US" sz="1000" dirty="0"/>
          </a:p>
        </p:txBody>
      </p:sp>
      <p:sp>
        <p:nvSpPr>
          <p:cNvPr id="42" name="Text 39"/>
          <p:cNvSpPr txBox="1"/>
          <p:nvPr/>
        </p:nvSpPr>
        <p:spPr>
          <a:xfrm>
            <a:off x="7071055" y="6473952"/>
            <a:ext cx="45720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Gizli · Ekim 2026  ·  LiveFX  ·  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LiveFX – Sunum</dc:title>
  <dc:subject>LiveFX: Sesin efekte dönüşür – ve görüntüye</dc:subject>
  <dc:creator>Tuncay Sancak</dc:creator>
  <cp:lastModifiedBy>Tuncay Sancak</cp:lastModifiedBy>
  <cp:revision>1</cp:revision>
  <dcterms:created xsi:type="dcterms:W3CDTF">2026-10-04T18:40:35Z</dcterms:created>
  <dcterms:modified xsi:type="dcterms:W3CDTF">2026-10-04T18:40:35Z</dcterms:modified>
</cp:coreProperties>
</file>