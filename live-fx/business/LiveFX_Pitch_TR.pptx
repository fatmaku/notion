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ugün: LiveFX 2.0" id="{d5619919-751f-df5b-f540-865c84078b5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Vizyon 2027–2029" id="{652a5466-8a86-24eb-1184-924cbe3d0390}">
          <p14:sldIdLst>
            <p14:sldId id="267"/>
            <p14:sldId id="268"/>
            <p14:sldId id="269"/>
            <p14:sldId id="270"/>
          </p14:sldIdLst>
        </p14:section>
        <p14:section name="Ekip ve talep" id="{b0459670-c2ea-3887-98f9-31afa849d6b5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100" b="0" i="0" u="none" strike="noStrike">
                <a:solidFill>
                  <a:srgbClr val="FFFFFF"/>
                </a:solidFill>
                <a:latin typeface="Arial"/>
              </a:rPr>
              <a:t>Pazar büyüklüğü, milyar USD (ikincil kaynaklardan aralıklar)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 tahmin</c:v>
                </c:pt>
              </c:strCache>
            </c:strRef>
          </c:tx>
          <c:spPr>
            <a:solidFill>
              <a:srgbClr val="FF2D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Canlı yayın 2026</c:v>
                  </c:pt>
                  <c:pt idx="1">
                    <c:v>Canlı yayın 2030</c:v>
                  </c:pt>
                  <c:pt idx="2">
                    <c:v>Üretici ekonomisi 2026</c:v>
                  </c:pt>
                  <c:pt idx="3">
                    <c:v>canlı payı (≈ %14)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</c:v>
                </c:pt>
                <c:pt idx="1">
                  <c:v>250</c:v>
                </c:pt>
                <c:pt idx="2">
                  <c:v>216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üst tahmin</c:v>
                </c:pt>
              </c:strCache>
            </c:strRef>
          </c:tx>
          <c:spPr>
            <a:solidFill>
              <a:srgbClr val="2DF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Canlı yayın 2026</c:v>
                  </c:pt>
                  <c:pt idx="1">
                    <c:v>Canlı yayın 2030</c:v>
                  </c:pt>
                  <c:pt idx="2">
                    <c:v>Üretici ekonomisi 2026</c:v>
                  </c:pt>
                  <c:pt idx="3">
                    <c:v>canlı payı (≈ %14)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157</c:v>
                </c:pt>
                <c:pt idx="1">
                  <c:v>345</c:v>
                </c:pt>
                <c:pt idx="2">
                  <c:v>260</c:v>
                </c:pt>
                <c:pt idx="3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3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2F3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F1115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AA3B5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0F111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Kısaca kendimi tanıtıyorum: Kendim yayın yapıyorum, kitap yazıyorum ve LiveFX'i, her kısa videoda olup da canlı yayında tam olarak eksik olan şey için geliştirdim. Bugün gördükleriniz kendi yayınlarımda çalışıyor. Sonunda nereye gittiğimizi göstereceğim: meme katmanından, konuşulan her şeyin görsel diline. 30 saniye, sonra doğrudan soruna geçiyoruz.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Otomatik altyazılar, sesten gerçek zamanlı metnin çalıştığını ve platformların bunu yerleşik olarak sunduğunu kanıtladı. Sesten gerçek zamanlı efekt ise yok. Tam bu boşluğu dolduruyoruz. Yayınımdan bir örnek: “Efsane” diyorum – ve klavyeye kendim uzanmazsam hiçbir şey olmuyor.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Önemli: Anahtar kelime eşleştirme anında gerçekleşiyor (tanımanın ara sonuçları), bulut gerekmiyor. İsteğe bağlı yapay zekâ modu anahtar kelime içermeyen cümleleri de yakalıyor (“onun için çok utanç vericiydi” → Awkward). Her şey yayıncının kendi bilgisayarında çalışıyor – veri koruma sonradan eklenmedi, baştan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Mümkünse canlı gösterin: Mikrofonu açın, “bu çok fena… efsane!” deyin, efekt beliriyor. İkinci deneme: Hikâye modunu açın, bir paragraf okuyun – “yağmur yağıyordu”, “gece”, “ejderha” – ve sahneler değişiyor. Yedek plan fragman. Akılda kalacak cümle: Meme'lerin konuşmama tepki verdiği ilk video beni her slayttan daha çok ikna 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artık bir prototip değil: 0.1'den 2.0'a sürümler, birim ve uçtan uca testler, DE/TR kılavuzlar. 2.0 sahne ve satış için bir sağlamlaştırma sürümüydü. İki şeyin altını çizin: (1) kendi seslerimiz ve paketlerimiz = telif ihlali yok, (2) izleyici tetikleyicileri gelir modeline köprü – bir hediye bugün bile bir efekti tetikleyebiliyor.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Canlı yayın artık yan kanal değil, bir gelir kanalı. Ayrıca: Türkiye, yerelleştirilmiş araçların neredeyse hiç olmadığı, genç ve meme'e yatkın bir TikTok pazarı – en büyük paketimizin Türkçe olması tesadüf değil. Teknoloji: Üç yıl önce sunucu gerektiren şey bugün tarayıcıda çalışıyor – bu, 12. slayttan itibaren anlatacağım vizyonun da temeli.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Dürüstçe söyleyin: TAM geniş aralıklı ikincil kaynaklardan geliyor; SAM ve SOM bir araştırma değil, bizim tahminimiz. Mesele tam rakam değil: Ödeme yapan canlı yayıncıların küçük bir payı bile bir ekibi taşır – ve asıl kaldıraç abonelik değil, platform entegrasyonu. Altta yeni: Vizyon komşu pazarlar açıyor – yapay zekâ video 3,67 milyar USD [Kaynak 23], dil öğrenme uygulamaları 1,54 milyar USD [Kaynak 33], video kurgu 2,68 milyar USD [Kaynak 51], Almanya sesli kitap 374 milyon € [Kaynak 19]. Bunları SOM'a bilerek katmıyoruz.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9,99 € bilerek Streamlabs Ultra'nın altında ve Voicemod seviyesinde – içerik üreticileri bu fiyat noktasını tanıyor. Pazaryeri kullanıcıları tedarikçiye dönüştürüyor: Türkçe bir meme paketi hazırlayan, onu satıyor. B2B platforma giden yol: Aynı motor, TikTok LIVE Studio'da tarayıcı kaynağı olarak çalışıyor. Vizyon Pro+ ve eğitim lisanslarını ekliyor – oradaki tüm fiyatlar tahmin.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Rakamları görüşmeden önce girin – yalnızca gerçek olanları. Hikâye şu: Ürün gerçek yayınlarda olgunlaştı (yankı sorunu, şiveler, dikey güvenli alanlar – hepsi pratikten geldi). Şimdi sıra ilk 10 dış içerik üreticisinde ve ölçülebilir izlenme süresi etkisinde.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Sağ alt çeyrek boş – şimdilik. Onu doldurabilecek olanlar platformların kendisi; bu yüzden onlarla konuşuyoruz. Streamlabs ve benzerleri rakip değil, ev sahibi: LiveFX her birinde tarayıcı kaynağı olarak çalışıyor.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Kaldıraca göre sıralama: Mobil SDK en büyük sorunu çözüyor (OBS kullanmayan telefon yayıncıları). Platform entegrasyonu bu sunumun talebi. Yapay zekâ ile anlama ve hikâye motoru teknik farkımız. Önemli: Sahneler bir video yapay zekâsı tarafından üretilmiyor, prosedürel olarak çiziliyor – sonraki dört slayta köprü 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Canlı altyazılar, platformların sesi gerçek zamanlı işlemek istediğini gösterdi – ücretsiz ve milyarlarca cihazda. Biz bir sonraki aşamayız: metin yerine görüntü. Tek motor, tek zaman çizelgesi, dört hat: Anlatı Filmi, Kelime-Resim, Mekânlar, Studio. Her şey kişinin kendi cihazındaki tarayıcıda çalışıyor: Bir cümle birkaç yüz baytlık bir durum farkına dönüşüyor ve tek bir Canvas'ta çiziliyor. Video difüzyon modeli yok, GPU sunucusu yok. Dürüst olalım: Bu 2027–2029 vizyonu – rozet bu yüzden orada. Temeli bugün çalışan kod (hikâye modu, efekt motoru, çevrimdışı tanıma). WebGPU artık tüm büyük tarayıcılarda var [Kaynak 27] – onu yalnızca isteğe bağlı kullanıyoruz.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Şöyle görünüyor: Yayıncı konuşmaktan başka bir şey yapmıyor. “Geceydi” – gökyüzü kararıyor. “Bir kız ormana gitti” – ağaçlar büyüyor, karakter içeri yürüyor. “Yağmur başladı” – yağmur yağıyor, atmosfer döngüsü değişiyor. “Birden bir ejderha” – şimşek, kamera sarsıntısı, ejderha. Teknik olarak: Bir cümle 200–500 baytlık bir fark üretiyor, sahneler dakikada 1–3 kez değişiyor, çizim en fazla 1.200 parçacıklı tek bir Canvas'ta – efekt motorumuz bu bütçeyi bugün bile OBS'in yanında tutuyor. Maliyet: Video yapay zekâsı liste fiyatıyla saniyesi 0,05 USD (Veo 3.1 Lite, 720p) ile 0,75 USD arasında [Kaynak 24, 25], yani saati 180–2.700 USD – ve canlı hiç mümkün değil. LiveFX: yapay zekâsız 0 €, isteğe bağlı metin yapay zekâsıyla saati 0,25–0,75 USD. Pazar: Almanya sesli kitap 374 milyon € [Kaynak 19], Almanya'da 23,8 milyon kişi her hafta podcast dinliyor [Kaynak 20], YouTube'da 1 milyardan fazla podcast izleyicisi [Kaynak 21]; yapay zekâ video pazarı 2036'ya kadar 3,67'den 24,89 milyar USD'ye büyüyor [Kaynak 23]. Takvim: Almanca MVP 2027 2. çeyrek, TR/EN ve dünya paketleri 2027 3. çeyrek. İlk yayınevi örneği: kurucunun kendi çocuk kitabı serisi.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kişisel kısım: Nöroçeşitlilik üzerine çocuk kitapları yazıyorum ve Alman-Türk'üm. Öğretmen üç şey seçiyor – “Konuştuğum dil: Almanca”, “Göster: Türkçe” ve mod – sonra kitap okuyor. Öğrenme listesindeki her kelime resme, kelimeye ve telaffuza dönüşüyor. Tekrar et modu bilerek bir telaffuz puanlaması değil, yeşil bir onay işareti. Teknik: Kelime → resim bir tablo araması, telaffuzu işletim sistemi sağlıyor (speechSynthesis) [Kaynak 29], bir okul tableti yetiyor, çocuk başına sunucu maliyeti: sıfır. Pazar: Duolingo'nun 58,7 milyon günlük kullanıcısı ve 12,7 milyon ücretli abonesi var [Kaynak 32], dil öğrenme uygulamaları uygulama içi 1,54 milyar USD [Kaynak 33]; Almanya'da 16 yaş altı öğrencilerin %20,4'ü evde ağırlıklı olarak başka bir dil konuşuyor [Kaynak 37], Türkiye kökenli göç geçmişine sahip 2,65 milyon kişi [Kaynak 38], dördüncü sınıfların %25'i okumada asgari standardın altında [Kaynak 39]. Fiyat çıpası: ANTON okul lisansı 250–700 € [Kaynak 41]. Dürüst olalım: Uyum alanı euro olarak küçük, ama güvenilirlik ve destek fonlarına erişim sağlıyor; hacim ailelerde, yayınevlerinde ve platformlarda. “İki kat hızlı” değil, “kelime öğrenmeyi destekler” diyoruz.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Aynı araca açılan iki kapı. Birincisi, canlı → öne çıkanlar: Sunucumuz bugün bile her tetikleyiciyi, her hediyeyi, her sohbet mesajını zaman damgasıyla biliyor – bundan yayın başına 3–5 klip çıkıyor. İkincisi, otomatik kurgu: 20 dakikalık bir MP4 pencereye sürükleniyor, Whisper tarayıcıda yerel olarak transkript çıkarıyor [Kaynak 60], LiveFX efektleri, sahneleri ve kesmeleri taşınabilir çipler olarak yerleştiriyor, dışa aktarım WebCodecs ve cihazın donanım kodlayıcısıyla yapılıyor [Kaynak 57, 58, 59]. Dosya bilgisayardan hiç çıkmıyor, video başına marjinal maliyet sıfır. Mekânlar: Sahne ve sınıf bugün bile çalışıyor (tam ekran, telefon reji masası olarak). Resimli sesli kitap ve telefonda AR 2027'de geliyor. WebXR [Kaynak 47, 48] ve Meta Ray-Ban Display gibi ekranlı gözlükler [Kaynak 46] vizyon – IDC 2026 için 13,6 milyon akıllı gözlük bekliyor [Kaynak 45], ekranlı gözlükler bunun yalnızca küçük bir kısmı. Rekabete dürüst bakış: CapCut'ın 736 milyon aylık aktif kullanıcısı var [Kaynak 52]; evrensel bir editör olarak değil, ses → efekt, sahneler, TR/DE ve yerel işlemeyle yarışıyoruz. Alıcı sinyali: Canva 2026'da Cavalry ve MangoAI'ı satın aldı [Kaynak 56].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Kurucu tek kişide kullanıcı, içerik sağlayıcı ve ürün sorumlusu – ürünün şivelerde, dikey formatta ve Türkçede çalışmasının nedeni bu. Çocuk kitabı yazarı olarak ilk yayınevi ve eğitim örneğini de kendisi getiriyor. Seed yatırımla iki işe alım geliyor; Kelime-Resim için içerik kontrolünü bir eğitim teknolojisi danışma kurulu üstleniyor.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Somut bitirin: İhtiyacımız olan, canlı yayın ekibinde bir muhatap ve 20 üreticiyle 8 haftalık bir pilot. Biz katmanı, paketleri, desteği ve ölçümü (izlenme süresi, hediyeler, canlı yayınlardan klipler) sağlıyoruz. Yeni: Kelime-Resim ve Anlatı Filmi için eğitim kurumları, dil öğrenme platformları ya da yayınevleriyle ikinci bir pilot arıyoruz – ilk yayınevi örneği kurucunun kendi çocuk kitabı serisi. Bu sunum Almanca ve İngilizce de mevcut.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tion/live-fx/business/video/stills/tr-16x9-6_9s.jp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309360" y="0"/>
            <a:ext cx="5882335" cy="3310128"/>
          </a:xfrm>
          <a:prstGeom prst="rect">
            <a:avLst/>
          </a:prstGeom>
        </p:spPr>
      </p:pic>
      <p:pic>
        <p:nvPicPr>
          <p:cNvPr id="3" name="Image 1" descr="/home/user/Notion/live-fx/business/video/stills/tr-9x16-29_6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3310128"/>
            <a:ext cx="1993392" cy="3547872"/>
          </a:xfrm>
          <a:prstGeom prst="rect">
            <a:avLst/>
          </a:prstGeom>
        </p:spPr>
      </p:pic>
      <p:pic>
        <p:nvPicPr>
          <p:cNvPr id="4" name="Image 2" descr="/home/user/Notion/live-fx/business/landing-assets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310128"/>
            <a:ext cx="1636776" cy="3547872"/>
          </a:xfrm>
          <a:prstGeom prst="rect">
            <a:avLst/>
          </a:prstGeom>
        </p:spPr>
      </p:pic>
      <p:pic>
        <p:nvPicPr>
          <p:cNvPr id="5" name="Image 3" descr="/home/user/Notion/live-fx/business/landing-assets/pane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6136" y="3310128"/>
            <a:ext cx="1563624" cy="978408"/>
          </a:xfrm>
          <a:prstGeom prst="rect">
            <a:avLst/>
          </a:prstGeom>
        </p:spPr>
      </p:pic>
      <p:pic>
        <p:nvPicPr>
          <p:cNvPr id="6" name="Image 4" descr="/home/user/Notion/live-fx/business/landing-assets/demo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6136" y="4288536"/>
            <a:ext cx="1563624" cy="877824"/>
          </a:xfrm>
          <a:prstGeom prst="rect">
            <a:avLst/>
          </a:prstGeom>
        </p:spPr>
      </p:pic>
      <p:sp>
        <p:nvSpPr>
          <p:cNvPr id="7" name="Shape 0"/>
          <p:cNvSpPr/>
          <p:nvPr/>
        </p:nvSpPr>
        <p:spPr>
          <a:xfrm>
            <a:off x="7946136" y="5166360"/>
            <a:ext cx="1563624" cy="1691640"/>
          </a:xfrm>
          <a:prstGeom prst="rect">
            <a:avLst/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8" name="Shape 1"/>
          <p:cNvSpPr/>
          <p:nvPr/>
        </p:nvSpPr>
        <p:spPr>
          <a:xfrm>
            <a:off x="11503152" y="3310128"/>
            <a:ext cx="688543" cy="3547872"/>
          </a:xfrm>
          <a:prstGeom prst="rect">
            <a:avLst/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9" name="Text 2"/>
          <p:cNvSpPr txBox="1"/>
          <p:nvPr/>
        </p:nvSpPr>
        <p:spPr>
          <a:xfrm>
            <a:off x="54864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MEME ENGINE  ·  v2.0</a:t>
            </a:r>
            <a:endParaRPr lang="en-US" sz="1100" dirty="0"/>
          </a:p>
        </p:txBody>
      </p:sp>
      <p:sp>
        <p:nvSpPr>
          <p:cNvPr id="10" name="Text 3"/>
          <p:cNvSpPr txBox="1"/>
          <p:nvPr/>
        </p:nvSpPr>
        <p:spPr>
          <a:xfrm>
            <a:off x="548640" y="15087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7200" dirty="0"/>
          </a:p>
        </p:txBody>
      </p:sp>
      <p:sp>
        <p:nvSpPr>
          <p:cNvPr id="11" name="Text 4"/>
          <p:cNvSpPr txBox="1"/>
          <p:nvPr/>
        </p:nvSpPr>
        <p:spPr>
          <a:xfrm>
            <a:off x="548640" y="265176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Sesin efekte dönüşür.</a:t>
            </a:r>
            <a:endParaRPr lang="en-US" sz="2800" dirty="0"/>
          </a:p>
        </p:txBody>
      </p:sp>
      <p:sp>
        <p:nvSpPr>
          <p:cNvPr id="12" name="Text 5"/>
          <p:cNvSpPr txBox="1"/>
          <p:nvPr/>
        </p:nvSpPr>
        <p:spPr>
          <a:xfrm>
            <a:off x="548640" y="34747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Yayıncının söylediklerine göre gerçek zamanlı meme'ler, sesler ve sahneler. Bir saniyeden kısa sürede, eller serbest – TikTok LIVE, Instagram, YouTube ve Twitch'te.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548640" y="48006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 yarın: Sen anlat – sahne oluşsun.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7784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[İsim]</a:t>
            </a:r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Kurucu, yazar ve canlı yayıncı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[Tarih]  ·  [E-posta]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SORUN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yayın ham. Kurgu hep geç kalıyor.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66420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✂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54533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Kısa videoları viral yapan her şey sonradan ekleniyor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192938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Meme'ler, sesler, zoom'lar, çıkartmalar – kayıttan sonra, kurguda. Canlıda bunların hiçbiri yok.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85292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🎛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273405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Yayıncı aynı anda sunucu, yönetmen ve kurgucu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11810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İki el, bir kamera ve beklemeyen bir sohbetle.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04164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92277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Mevcut araçlar izleyiciye ya da tuşlara tepki veriyor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30682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Bağış ve takipte uyarılar, kısayol tuşlu ses panoları. İkisi de bir tıklama istiyor.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80960" y="1417320"/>
            <a:ext cx="3959352" cy="3429000"/>
          </a:xfrm>
          <a:prstGeom prst="roundRect">
            <a:avLst>
              <a:gd name="adj" fmla="val 32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955280" y="169164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Söylenen söze kimse tepki vermiyor.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74904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Otomatik altyazılar gösterdi: Sesten gerçek zamanlı metin çalışıyor. Sesten gerçek zamanlı efekt ise henüz yok.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“‘Efsane’ diyorum – ve hiçbir şey olmuyor, klavyeye kendim uzanmazsam.”  – [İsim], kendi yayınından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ÇÖZÜM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 → efekt, bir saniyeden kısa sürede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Mikrofon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Yayıncı konuşur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54203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81178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1178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290322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Tanıma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0322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/ TR / EN otomatik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0517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07492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7492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516636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Eşleştirici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16636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Şiveye toleranslı, anında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06831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733806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3806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742950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Katman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42950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OBS'te tarayıcı kaynağı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933145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960120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0120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📺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969264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69264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· IG · YouTube · Twitch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“Krass”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🤯 Neon yazı + Airhorn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29768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52628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“Yok artık”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452628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 kartı + Vine-Boom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4672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7532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“Yağmur yağıyordu…”</a:t>
            </a:r>
            <a:endParaRPr lang="en-US" sz="2100" dirty="0"/>
          </a:p>
        </p:txBody>
      </p:sp>
      <p:sp>
        <p:nvSpPr>
          <p:cNvPr id="38" name="Text 35"/>
          <p:cNvSpPr txBox="1"/>
          <p:nvPr/>
        </p:nvSpPr>
        <p:spPr>
          <a:xfrm>
            <a:off x="827532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Yağmur sahnesi + atmosfer döngüsü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800600"/>
            <a:ext cx="128016" cy="128016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2960" y="4709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sn tepki – eşleşme, tanımanın ara sonuçlarında bile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172200" y="4800600"/>
            <a:ext cx="128016" cy="128016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446520" y="4709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Eller serbest – tuş yok, tıklama yok, ikinci ekran yok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422392"/>
            <a:ext cx="128016" cy="128016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2960" y="533095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Yayıncının kendi bilgisayarında, yerel çalışır – veri koruma baştan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6172200" y="5422392"/>
            <a:ext cx="128016" cy="128016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46520" y="533095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Yapay zekâ modu (isteğe bağlı) anahtar kelimesiz cümleleri yakalar: “çok utanç vericiydi” → Awkward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YAYINDA BÖYLE GÖRÜNÜYOR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4</a:t>
            </a:r>
            <a:endParaRPr lang="en-US" sz="900" dirty="0"/>
          </a:p>
        </p:txBody>
      </p:sp>
      <p:pic>
        <p:nvPicPr>
          <p:cNvPr id="6" name="Image 0" descr="/home/user/Notion/live-fx/business/video/stills/tr-16x9-6_9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74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Katman 16:9 – “Efsane!” → neon yazı + konfeti</a:t>
            </a:r>
            <a:endParaRPr lang="en-US" sz="1150" dirty="0"/>
          </a:p>
        </p:txBody>
      </p:sp>
      <p:pic>
        <p:nvPicPr>
          <p:cNvPr id="8" name="Image 1" descr="/home/user/Notion/live-fx/business/video/stills/tr-9x16-29_6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25880"/>
            <a:ext cx="2084832" cy="3703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406640" y="5074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Dikey 9:16 – hikâye modu: “Gece yağmur yağıyordu…”</a:t>
            </a:r>
            <a:endParaRPr lang="en-US" sz="1100" dirty="0"/>
          </a:p>
        </p:txBody>
      </p:sp>
      <p:pic>
        <p:nvPicPr>
          <p:cNvPr id="10" name="Image 2" descr="/home/user/Notion/live-fx/business/landing-assets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1325880"/>
            <a:ext cx="1709928" cy="3703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784080" y="5074920"/>
            <a:ext cx="1856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Telefondan kumanda (PWA)</a:t>
            </a:r>
            <a:endParaRPr lang="en-US" sz="1100" dirty="0"/>
          </a:p>
        </p:txBody>
      </p:sp>
      <p:sp>
        <p:nvSpPr>
          <p:cNvPr id="12" name="Shape 6"/>
          <p:cNvSpPr/>
          <p:nvPr/>
        </p:nvSpPr>
        <p:spPr>
          <a:xfrm>
            <a:off x="548640" y="5623560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22960" y="5669280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Fragman (30 sn): video/LiveFX_Trailer_tr_16x9.mp4  ·  Canlı demo: mikrofonu aç, “bu çok fena… efsane!” de – ya da hikâye modunu aç ve bir paragraf oku.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PROTOTİP DEĞİL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Bugünkü ürün – sürüm 2.0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Tanıma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Tarayıcı ASR, otomatik dil DE/TR/EN, şive toleransı, öğrenme işlevi, kendi kendine test; harici Whisper/Deepgram, çevrimdışı Whisper (deneysel)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64992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47872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547872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Efekt motoru v2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547872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Fizikli Canvas parçacıkları (60 fps), neon/glitch yazı, alt yazı bantları, kombolar, 4 tema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81344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64224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364224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Hikâye modu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364224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tam ekran sahne, 12 atmosfer döngüsü, DE/TR/EN hikâye paketleri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997696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80576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180576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Paketler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180576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85 · Deutsch 49 · English 50 · Aile ve Çocuk 27 · Oyun 27 – artı GIF arama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 motoru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sentetik ses (lisans ücreti yok), limiter, ducking, stereo ve yankılı mikser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64992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547872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3547872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İzleyici tetikleyicileri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547872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 sohbeti, YouTube sohbeti, hediye webhook'u (TikTok için TikFinity / Streamer.bot)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181344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64224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6364224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 ve platformlar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364224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Telefondan kumanda (PWA), OBS/Streamlabs, TikTok LIVE Studio, IG Live Producer, OBS'siz demo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97696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180576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9180576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Açık API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180576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Token'lı HTTP API (Stream Deck, sohbet botları, harici ASR), 240+ otomatik test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ZAMANLAMA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 şimdi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~%50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yayıncı gelirinin hediyelerden geliyor; 20–100 bin takipçi: ayda 500–3.000 USD [Kaynak 5, 6]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100 milyon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içerik üreticisi 2025'te yalnızca Güneydoğu Asya, Kafkasya ve Orta Asya'da TikTok LIVE'a çıktı – %77 artış [Kaynak 2]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%14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içerik üreticisi ekonomisinin (2026'da ~216–260 milyar USD) payı canlı yayına ait [Kaynak 3, 4]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yayın bir gelir kanalı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ticaret ve hediyeler (TikTok LIVE, IG Badges, Super Chat) canlı yayını yan format değil, işin kendisi yapıyor.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4340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Teknoloji olgun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Akışlı ASR &lt; 300 ms, tarayıcıda modeller, tüm büyük tarayıcılarda WebGPU [Kaynak 27], saati &lt; 1 USD'ye yapay zekâ sınıflandırması.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3816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6676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Platformlar üretici araçlarıyla yarışıyor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36676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CapCut ↔ TikTok, Edits ↔ Instagram. Sıradaki adım canlı yayın araçları – ve kimsede sesle tetiklenen efekt yok.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053328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Kaynaklar: QUELLEN.tr.md (araştırma 30.09.2026 ve 03.10.2026) – [Kaynak 2–6, 27]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SAM · SOM · KOMŞU PAZARLAR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Pazar – tek rakam değil, aralıklar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7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280160"/>
          <a:ext cx="60350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6812280" y="128016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995160" y="138988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818120" y="14356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yayın pazarı [Kaynak 1, 2]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6995160" y="17922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97–157 milyar USD (2026) → 250–345 milyar USD (2030), yıllık büyüme yaklaşık %27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12280" y="246888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95160" y="25786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2624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yayın araçları · tahmin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995160" y="298094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1–3 milyar USD – Streamlabs/StreamYard/Voicemod fiyatları × aktif canlı yayıncılar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12280" y="365760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95160" y="376732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381304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yıl · tahmin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6995160" y="41696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20–40 bin Pro abone × ayda 9,99 € ≈ 2,4–4,8 milyon € ARR (DACH + Türkiye + EN niş)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56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Vizyonun komşu pazarları (slayt 12–15)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3,67 milyar USD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13232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Yapay zekâ ile video üretimi ve kurgusu, 2026 [Kaynak 23]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3356534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521126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1,54 milyar USD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521126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öğrenme uygulamaları, uygulama içi gelir 2025 [Kaynak 33]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164428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29020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2,68 milyar USD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6329020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kurgu yazılımı, 2026 [Kaynak 51]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8972321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36913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374 milyon €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9136913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Almanya sesli kitap pazarı 2025, +%13 [Kaynak 19]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6126480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Kaynaklar: QUELLEN.tr.md [Kaynak 1–4, 19, 23, 33, 51] · SAM/SOM kendi tahminimizdir, bir araştırma değildir.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→ PRO → PAKETLER → B2B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İş modeli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Temel işlevler, standart paketler, OBS katmanı. Yaygınlık ve topluluk.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227832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93592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93592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aylık 9,99 €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3593592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Yapay zekâ modu, tüm sahneler ve temalar, telefondan kumanda, bulut senkronu, öncelikli destek.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044184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181344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944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Üretici paketleri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409944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30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6409944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Üreticiden üreticiye meme ve hikâye paketleri pazaryeri. Kullanıcılar tedarikçiye dönüşür.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60536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997696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226296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lisansı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226296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talep üzerine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9226296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 yazılımları, ajanslar ve platform entegrasyonu için SDK / white-label.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4828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Pazardaki fiyat çıpaları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148072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Ultra aylık 27 USD  ·  StreamYard Core aylık 35 USD  ·  Restream aylık 16 USD  ·  Voicemod Pro aylık 10 USD [Kaynak 11, 12, 13]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bilerek Voicemod seviyesinde ve Streamlabs'in belirgin biçimde altında. Vizyon (tahmin): Pro+ “Studio &amp; Sahneler” 14,99 €, Kelime-Resim Aile 4,99 €, okul ve yayınevi lisansları – bkz. slayt 13–15.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GERÇEK YAYINLARDA OLGUNLAŞTI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9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[Sayı]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LiveFX'li kendi canlı yayını, [Ay/Yıl]'dan beri – [Sayı] saat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33756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333756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güncel sürüm (0.1 → 2.0), 240+ otomatik test, DE/TR kılavuzlar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tetikleyici, 5 pakette; 3 hikâye paketi, 38 ses, 13 sahne – 3 dilde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[Sayı]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takipçi · bekleme listesinde [Sayı] üretici · [Sayı] indirme</a:t>
            </a:r>
            <a:endParaRPr lang="en-US" sz="1200" dirty="0"/>
          </a:p>
        </p:txBody>
      </p:sp>
      <p:pic>
        <p:nvPicPr>
          <p:cNvPr id="14" name="Image 0" descr="/home/user/Notion/live-fx/business/landing-assets/pan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46120"/>
            <a:ext cx="4389120" cy="27432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212080" y="3246120"/>
            <a:ext cx="6428232" cy="2788920"/>
          </a:xfrm>
          <a:prstGeom prst="roundRect">
            <a:avLst>
              <a:gd name="adj" fmla="val 393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40680" y="3383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Pratikten gelenler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40680" y="379476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Yankı sorunu (panel + OBS) → sessiz önizleme, ses kontrol kartı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Şiveler (“grass” → krass, “helal olsn”) → tolerans + öğrenme işlevi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TikTok/IG sohbeti alt üçte biri kapatıyor → dikey güvenli alanlar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Yayında kitap okuma → sahneli ve atmosferli hikâye modu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440680" y="53492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Sonraki 60 gün: 10 üretici testi TR/DE · açılış sayfası + fragman · topluluk lansmanı · ilk Pro abonelikleri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2×2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Rekabet – boş kalan çeyrek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1883664" y="15179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103120" y="17373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Platformların yerel efektleri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Çıkartma hediyeleri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84064" y="15179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303520" y="17373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/ StreamElements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Bağış ve takip uyarıları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883664" y="36896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03120" y="39090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 · ses panoları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Deck (kısayol)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84064" y="36896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2A1530"/>
          </a:solidFill>
          <a:ln w="25400">
            <a:solidFill>
              <a:srgbClr val="FF2D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0" y="39090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52395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sağlayıcı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otomatik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11455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izleyici kontrollü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28625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 kontrollü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879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Kullanım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595360" y="1463040"/>
            <a:ext cx="3044952" cy="4343400"/>
          </a:xfrm>
          <a:prstGeom prst="roundRect">
            <a:avLst>
              <a:gd name="adj" fmla="val 360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16276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Yalnızca LiveFX'te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796528" y="2240280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34272" y="2121408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Söylenen söze tepki verir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796528" y="2807208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34272" y="2688336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paketler (85 tetikleyici) + hikâye paketleri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96528" y="3374136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34272" y="3255264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Atmosfer döngülü hikâye sahneleri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796528" y="3941064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34272" y="3822192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İzleyici ve harici tetikleyiciler için açık API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796528" y="4507992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4272" y="4389120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Yerel çalışır – bulut yok, giriş yok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796528" y="5074920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34272" y="4956048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Kendi seslerimiz – telif ihlali yok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KALDIRACA GÖRE SIRALI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 haritası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22960" y="2148840"/>
            <a:ext cx="10545775" cy="0"/>
          </a:xfrm>
          <a:prstGeom prst="line">
            <a:avLst/>
          </a:prstGeom>
          <a:noFill/>
          <a:ln w="25400">
            <a:solidFill>
              <a:srgbClr val="2A2F3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048256"/>
            <a:ext cx="201168" cy="20116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4. çeyrek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Yerel mobil SDK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Efektler yalnızca OBS'te değil, doğrudan kamera uygulamasında · kararlı çevrimdışı tanıma · 10 üretici testi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547872" y="2048256"/>
            <a:ext cx="201168" cy="20116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47872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1. çeyrek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64992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93592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entegrasyonu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93592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LIVE Studio eklentisi / Instagram Live Producer · kurulum programı · pazaryeri beta · öne çıkanları bul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64224" y="2048256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4224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2. çeyrek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181344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9944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Yapay zekâ ile anlama v2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09944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Duygu, bağlam, ironi · cümle başına çoklu tetikleme · Pro aboneliği · canlı ticaret tetikleyicileri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180576" y="2048256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80576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3.–4. çeyrek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997696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26296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Hikâye motoru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26296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Bütün hikâyeler sahne dizisi olarak · prosedürel çizilen sahneler (Anlatı Filmi) · izleyici hediyeli efektler · platform pilotu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 SDK en büyük sorunu çözer (OBS'siz telefon yayıncıları). Platform entegrasyonu bu sunumun talebi. Yapay zekâ ile anlama ve hikâye motoru teknik farkımız – ve 2027–2029 vizyonuna giriş.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VİZYON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Kelimelerden canlı video: Sen anlat – sahne oluşsun.</a:t>
            </a:r>
            <a:endParaRPr lang="en-US" sz="29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VİZYON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Mikrofon, sesli okuma ya da hazır bir video dosyası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098216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8256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82848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195496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Anlama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582848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DE/TR/EN sözlük, şiveye toleranslı, yapay zekâ isteğe bağlı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967832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87872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52464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🎬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7065112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Sahne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6452464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 KB dünya durumu, tek ortak zaman çizelgesi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837447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57487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322079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📺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4727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9322079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Tarayıcıda çizilir, 60 fps, kişinin kendi cihazında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48640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2DFFB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🌳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1234440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Anlatı Filmi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cümleden, canlı görüntünün altında ya da yanında akan bir resimli kitap filmi büyür.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356534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9414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🍎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4042334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Kelime-Resim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3539414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Söylenen kelime → resim, hedef dildeki kelime ve telaffuz. Öğrenme ve okuma desteği.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164428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5AD1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347308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🥽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6850228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Mekânlar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6347308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Sahne, sınıf, resimli sesli kitap, telefonda AR, VR ve ekranlı gözlük.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972321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155201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✂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658121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9155201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editör ve otomatik kurgu: Video girer, kurgulanmış çıkar – yükleme olmadan.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548640" y="4663440"/>
            <a:ext cx="5478628" cy="1097280"/>
          </a:xfrm>
          <a:prstGeom prst="roundRect">
            <a:avLst>
              <a:gd name="adj" fmla="val 10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4754880"/>
            <a:ext cx="502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5047488"/>
            <a:ext cx="50214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 bir saniyeden kısa sürede meme'e, sese ya da sahneye dönüşür – kurucunun kendi yayınlarında kullanılıyor.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164428" y="4663440"/>
            <a:ext cx="5478628" cy="1097280"/>
          </a:xfrm>
          <a:prstGeom prst="roundRect">
            <a:avLst>
              <a:gd name="adj" fmla="val 10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93028" y="4754880"/>
            <a:ext cx="502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YARIN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393028" y="5047488"/>
            <a:ext cx="50214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 bir filme, telaffuzlu bir kelime kartına ya da hazır bir klibe dönüşür – yayında, okulda, sahnede, gözlükte.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89788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Üretmek yerine çizmek – bir veri merkezinin değil, bir altyazının işlem bütçesiyle.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HATTI · ANLATI FİLMİ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Scene Engine: kelimelerden canlı video</a:t>
            </a:r>
            <a:endParaRPr lang="en-US" sz="31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VİZYON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13</a:t>
            </a:r>
            <a:endParaRPr lang="en-US" sz="900" dirty="0"/>
          </a:p>
        </p:txBody>
      </p:sp>
      <p:sp>
        <p:nvSpPr>
          <p:cNvPr id="8" name="Szene-Himmel"/>
          <p:cNvSpPr/>
          <p:nvPr/>
        </p:nvSpPr>
        <p:spPr>
          <a:xfrm>
            <a:off x="548640" y="1298448"/>
            <a:ext cx="5486400" cy="3017520"/>
          </a:xfrm>
          <a:prstGeom prst="rect">
            <a:avLst/>
          </a:prstGeom>
          <a:solidFill>
            <a:srgbClr val="121838"/>
          </a:solidFill>
          <a:ln w="15875">
            <a:solidFill>
              <a:srgbClr val="2DFF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958084"/>
            <a:ext cx="5486400" cy="1357884"/>
          </a:xfrm>
          <a:prstGeom prst="rect">
            <a:avLst/>
          </a:prstGeom>
          <a:solidFill>
            <a:srgbClr val="1A2348">
              <a:alpha val="7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4937760" y="1847088"/>
            <a:ext cx="566928" cy="566928"/>
          </a:xfrm>
          <a:prstGeom prst="ellipse">
            <a:avLst/>
          </a:prstGeom>
          <a:solidFill>
            <a:srgbClr val="F4F1DE"/>
          </a:solidFill>
          <a:ln/>
        </p:spPr>
      </p:sp>
      <p:sp>
        <p:nvSpPr>
          <p:cNvPr id="11" name="Shape 8"/>
          <p:cNvSpPr/>
          <p:nvPr/>
        </p:nvSpPr>
        <p:spPr>
          <a:xfrm>
            <a:off x="5074920" y="1773936"/>
            <a:ext cx="502920" cy="502920"/>
          </a:xfrm>
          <a:prstGeom prst="ellipse">
            <a:avLst/>
          </a:prstGeom>
          <a:solidFill>
            <a:srgbClr val="121838"/>
          </a:solidFill>
          <a:ln/>
        </p:spPr>
      </p:sp>
      <p:sp>
        <p:nvSpPr>
          <p:cNvPr id="12" name="Shape 9"/>
          <p:cNvSpPr/>
          <p:nvPr/>
        </p:nvSpPr>
        <p:spPr>
          <a:xfrm>
            <a:off x="3557402" y="1963237"/>
            <a:ext cx="45369" cy="45369"/>
          </a:xfrm>
          <a:prstGeom prst="ellipse">
            <a:avLst/>
          </a:prstGeom>
          <a:solidFill>
            <a:srgbClr val="FFFFFF">
              <a:alpha val="68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3278804" y="1926105"/>
            <a:ext cx="43643" cy="43643"/>
          </a:xfrm>
          <a:prstGeom prst="ellipse">
            <a:avLst/>
          </a:prstGeom>
          <a:solidFill>
            <a:srgbClr val="FFFFFF">
              <a:alpha val="37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2789481" y="2133188"/>
            <a:ext cx="48991" cy="48991"/>
          </a:xfrm>
          <a:prstGeom prst="ellipse">
            <a:avLst/>
          </a:prstGeom>
          <a:solidFill>
            <a:srgbClr val="FFFFFF">
              <a:alpha val="41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1077948" y="2348551"/>
            <a:ext cx="51479" cy="51479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494746" y="2410760"/>
            <a:ext cx="52010" cy="52010"/>
          </a:xfrm>
          <a:prstGeom prst="ellipse">
            <a:avLst/>
          </a:prstGeom>
          <a:solidFill>
            <a:srgbClr val="FFFFFF">
              <a:alpha val="56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942205" y="2791693"/>
            <a:ext cx="33877" cy="33877"/>
          </a:xfrm>
          <a:prstGeom prst="ellipse">
            <a:avLst/>
          </a:prstGeom>
          <a:solidFill>
            <a:srgbClr val="FFFFFF">
              <a:alpha val="3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2960521" y="2808371"/>
            <a:ext cx="31849" cy="31849"/>
          </a:xfrm>
          <a:prstGeom prst="ellipse">
            <a:avLst/>
          </a:prstGeom>
          <a:solidFill>
            <a:srgbClr val="FFFFFF">
              <a:alpha val="71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3503754" y="2522882"/>
            <a:ext cx="42766" cy="42766"/>
          </a:xfrm>
          <a:prstGeom prst="ellipse">
            <a:avLst/>
          </a:prstGeom>
          <a:solidFill>
            <a:srgbClr val="FFFFFF">
              <a:alpha val="66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732796" y="2295344"/>
            <a:ext cx="33664" cy="33664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2377600" y="2001577"/>
            <a:ext cx="47441" cy="47441"/>
          </a:xfrm>
          <a:prstGeom prst="ellipse">
            <a:avLst/>
          </a:prstGeom>
          <a:solidFill>
            <a:srgbClr val="FFFFFF">
              <a:alpha val="4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2478309" y="1927191"/>
            <a:ext cx="40296" cy="40296"/>
          </a:xfrm>
          <a:prstGeom prst="ellipse">
            <a:avLst/>
          </a:prstGeom>
          <a:solidFill>
            <a:srgbClr val="FFFFFF">
              <a:alpha val="34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5213093" y="2320542"/>
            <a:ext cx="36161" cy="36161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742946" y="2610411"/>
            <a:ext cx="49486" cy="49486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832171" y="2300087"/>
            <a:ext cx="32407" cy="32407"/>
          </a:xfrm>
          <a:prstGeom prst="ellipse">
            <a:avLst/>
          </a:prstGeom>
          <a:solidFill>
            <a:srgbClr val="FFFFFF">
              <a:alpha val="76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796857" y="2532006"/>
            <a:ext cx="29175" cy="29175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349679" y="2287910"/>
            <a:ext cx="62369" cy="62369"/>
          </a:xfrm>
          <a:prstGeom prst="ellipse">
            <a:avLst/>
          </a:prstGeom>
          <a:solidFill>
            <a:srgbClr val="FFFFFF">
              <a:alpha val="56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4979099" y="2300449"/>
            <a:ext cx="43483" cy="43483"/>
          </a:xfrm>
          <a:prstGeom prst="ellipse">
            <a:avLst/>
          </a:prstGeom>
          <a:solidFill>
            <a:srgbClr val="FFFFFF">
              <a:alpha val="59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897847" y="2594457"/>
            <a:ext cx="37090" cy="37090"/>
          </a:xfrm>
          <a:prstGeom prst="ellipse">
            <a:avLst/>
          </a:prstGeom>
          <a:solidFill>
            <a:srgbClr val="FFFFFF">
              <a:alpha val="74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4611558" y="2710477"/>
            <a:ext cx="37320" cy="37320"/>
          </a:xfrm>
          <a:prstGeom prst="ellipse">
            <a:avLst/>
          </a:prstGeom>
          <a:solidFill>
            <a:srgbClr val="FFFFFF">
              <a:alpha val="3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5091574" y="2598838"/>
            <a:ext cx="61333" cy="61333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9184" y="2172615"/>
            <a:ext cx="47715" cy="47715"/>
          </a:xfrm>
          <a:prstGeom prst="ellipse">
            <a:avLst/>
          </a:prstGeom>
          <a:solidFill>
            <a:srgbClr val="FFFFFF">
              <a:alpha val="63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2701064" y="2536990"/>
            <a:ext cx="35302" cy="35302"/>
          </a:xfrm>
          <a:prstGeom prst="ellipse">
            <a:avLst/>
          </a:prstGeom>
          <a:solidFill>
            <a:srgbClr val="FFFFFF">
              <a:alpha val="44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5583356" y="1854133"/>
            <a:ext cx="37187" cy="37187"/>
          </a:xfrm>
          <a:prstGeom prst="ellipse">
            <a:avLst/>
          </a:prstGeom>
          <a:solidFill>
            <a:srgbClr val="FFFFFF">
              <a:alpha val="63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944628" y="1937039"/>
            <a:ext cx="48857" cy="48857"/>
          </a:xfrm>
          <a:prstGeom prst="ellipse">
            <a:avLst/>
          </a:prstGeom>
          <a:solidFill>
            <a:srgbClr val="FFFFFF">
              <a:alpha val="31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5152597" y="2438010"/>
            <a:ext cx="44120" cy="44120"/>
          </a:xfrm>
          <a:prstGeom prst="ellipse">
            <a:avLst/>
          </a:prstGeom>
          <a:solidFill>
            <a:srgbClr val="FFFFFF">
              <a:alpha val="57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747564" y="2748576"/>
            <a:ext cx="32008" cy="32008"/>
          </a:xfrm>
          <a:prstGeom prst="ellipse">
            <a:avLst/>
          </a:prstGeom>
          <a:solidFill>
            <a:srgbClr val="FFFFFF">
              <a:alpha val="67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731520" y="2532888"/>
            <a:ext cx="685800" cy="13716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71600" y="2167128"/>
            <a:ext cx="685800" cy="173736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11680" y="2624328"/>
            <a:ext cx="685800" cy="128016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0" y="2441448"/>
            <a:ext cx="685800" cy="146304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754880" y="2075688"/>
            <a:ext cx="685800" cy="18288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349240" y="2532888"/>
            <a:ext cx="685800" cy="13716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48640" y="3877056"/>
            <a:ext cx="5486400" cy="438912"/>
          </a:xfrm>
          <a:prstGeom prst="rect">
            <a:avLst/>
          </a:prstGeom>
          <a:solidFill>
            <a:srgbClr val="0B2A22"/>
          </a:solidFill>
          <a:ln/>
        </p:spPr>
      </p:sp>
      <p:sp>
        <p:nvSpPr>
          <p:cNvPr id="45" name="Shape 42"/>
          <p:cNvSpPr/>
          <p:nvPr/>
        </p:nvSpPr>
        <p:spPr>
          <a:xfrm>
            <a:off x="765023" y="209794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60747" y="314114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021353" y="347118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816940" y="339622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503793" y="1873188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058942" y="184169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390405" y="339657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957986" y="208096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169757" y="190130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071655" y="273905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8286" y="248432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819399" y="236985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688213" y="206376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482852" y="1803105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3835387" y="196719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2705677" y="201076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087925" y="259762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83323" y="325362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951568" y="322015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2369745" y="358772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311365" y="302875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012125" y="249152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035191" y="349324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64473" y="1932668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594229" y="238518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791144" y="295426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2890808" y="252568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3404760" y="354123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3344484" y="261086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255970" y="352763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029958" y="275925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281450" y="310311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987479" y="365836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5176702" y="259958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2423160" y="3172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👧</a:t>
            </a:r>
            <a:endParaRPr lang="en-US" sz="4000" dirty="0"/>
          </a:p>
        </p:txBody>
      </p:sp>
      <p:sp>
        <p:nvSpPr>
          <p:cNvPr id="80" name="Text 77"/>
          <p:cNvSpPr txBox="1"/>
          <p:nvPr/>
        </p:nvSpPr>
        <p:spPr>
          <a:xfrm>
            <a:off x="3291840" y="2395728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🐉</a:t>
            </a:r>
            <a:endParaRPr lang="en-US" sz="6600" dirty="0"/>
          </a:p>
        </p:txBody>
      </p:sp>
      <p:sp>
        <p:nvSpPr>
          <p:cNvPr id="81" name="Shape 78"/>
          <p:cNvSpPr/>
          <p:nvPr/>
        </p:nvSpPr>
        <p:spPr>
          <a:xfrm>
            <a:off x="548640" y="1298448"/>
            <a:ext cx="5486400" cy="438912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713232" y="133502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“Geceydi … bir kız ormana gitti … yağmur başladı … birden bir ejderha!”</a:t>
            </a:r>
            <a:endParaRPr lang="en-US" sz="1150" dirty="0"/>
          </a:p>
        </p:txBody>
      </p:sp>
      <p:sp>
        <p:nvSpPr>
          <p:cNvPr id="83" name="Shape 80"/>
          <p:cNvSpPr/>
          <p:nvPr/>
        </p:nvSpPr>
        <p:spPr>
          <a:xfrm>
            <a:off x="713232" y="3931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5AD1FF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13232" y="3931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🌧 Atmosfer: Yağmur</a:t>
            </a:r>
            <a:endParaRPr lang="en-US" sz="1000" dirty="0"/>
          </a:p>
        </p:txBody>
      </p:sp>
      <p:sp>
        <p:nvSpPr>
          <p:cNvPr id="85" name="Shape 82"/>
          <p:cNvSpPr/>
          <p:nvPr/>
        </p:nvSpPr>
        <p:spPr>
          <a:xfrm>
            <a:off x="548640" y="4425696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713232" y="4453128"/>
            <a:ext cx="5157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F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{yer:"orman", zaman:"gece", hava:"yağmur", kişiler:[👧,🐉], ton:"gerilim"}</a:t>
            </a:r>
            <a:endParaRPr lang="en-US" sz="1000" dirty="0"/>
          </a:p>
        </p:txBody>
      </p:sp>
      <p:sp>
        <p:nvSpPr>
          <p:cNvPr id="87" name="Text 84"/>
          <p:cNvSpPr txBox="1"/>
          <p:nvPr/>
        </p:nvSpPr>
        <p:spPr>
          <a:xfrm>
            <a:off x="548640" y="4965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Saatlik eşlik videosu maliyeti</a:t>
            </a:r>
            <a:endParaRPr lang="en-US" sz="1100" dirty="0"/>
          </a:p>
        </p:txBody>
      </p:sp>
      <p:sp>
        <p:nvSpPr>
          <p:cNvPr id="88" name="Text 85"/>
          <p:cNvSpPr txBox="1"/>
          <p:nvPr/>
        </p:nvSpPr>
        <p:spPr>
          <a:xfrm>
            <a:off x="548640" y="528523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yapay zekâsı</a:t>
            </a:r>
            <a:endParaRPr lang="en-US" sz="950" dirty="0"/>
          </a:p>
        </p:txBody>
      </p:sp>
      <p:sp>
        <p:nvSpPr>
          <p:cNvPr id="89" name="Shape 86"/>
          <p:cNvSpPr/>
          <p:nvPr/>
        </p:nvSpPr>
        <p:spPr>
          <a:xfrm>
            <a:off x="2468880" y="5312664"/>
            <a:ext cx="1885193" cy="164592"/>
          </a:xfrm>
          <a:prstGeom prst="rect">
            <a:avLst/>
          </a:prstGeom>
          <a:solidFill>
            <a:srgbClr val="FF2D75"/>
          </a:solidFill>
          <a:ln/>
        </p:spPr>
      </p:sp>
      <p:sp>
        <p:nvSpPr>
          <p:cNvPr id="90" name="Shape 87"/>
          <p:cNvSpPr/>
          <p:nvPr/>
        </p:nvSpPr>
        <p:spPr>
          <a:xfrm>
            <a:off x="4354073" y="5312664"/>
            <a:ext cx="681098" cy="164592"/>
          </a:xfrm>
          <a:prstGeom prst="rect">
            <a:avLst/>
          </a:prstGeom>
          <a:solidFill>
            <a:srgbClr val="FF2D75">
              <a:alpha val="45000"/>
            </a:srgbClr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5108323" y="52852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180–2.700 USD</a:t>
            </a:r>
            <a:endParaRPr lang="en-US" sz="950" dirty="0"/>
          </a:p>
        </p:txBody>
      </p:sp>
      <p:sp>
        <p:nvSpPr>
          <p:cNvPr id="92" name="Text 89"/>
          <p:cNvSpPr txBox="1"/>
          <p:nvPr/>
        </p:nvSpPr>
        <p:spPr>
          <a:xfrm>
            <a:off x="548640" y="55321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+ metin YZ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2468880" y="5559552"/>
            <a:ext cx="230455" cy="164592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94" name="Shape 91"/>
          <p:cNvSpPr/>
          <p:nvPr/>
        </p:nvSpPr>
        <p:spPr>
          <a:xfrm>
            <a:off x="2699335" y="5559552"/>
            <a:ext cx="276310" cy="164592"/>
          </a:xfrm>
          <a:prstGeom prst="rect">
            <a:avLst/>
          </a:prstGeom>
          <a:solidFill>
            <a:srgbClr val="FFD166">
              <a:alpha val="45000"/>
            </a:srgbClr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3048797" y="55321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0,25–0,75 USD</a:t>
            </a:r>
            <a:endParaRPr lang="en-US" sz="950" dirty="0"/>
          </a:p>
        </p:txBody>
      </p:sp>
      <p:sp>
        <p:nvSpPr>
          <p:cNvPr id="96" name="Text 93"/>
          <p:cNvSpPr txBox="1"/>
          <p:nvPr/>
        </p:nvSpPr>
        <p:spPr>
          <a:xfrm>
            <a:off x="548640" y="5779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LiveFX, YZ'siz</a:t>
            </a:r>
            <a:endParaRPr lang="en-US" sz="950" dirty="0"/>
          </a:p>
        </p:txBody>
      </p:sp>
      <p:sp>
        <p:nvSpPr>
          <p:cNvPr id="97" name="Shape 94"/>
          <p:cNvSpPr/>
          <p:nvPr/>
        </p:nvSpPr>
        <p:spPr>
          <a:xfrm>
            <a:off x="2468880" y="5806440"/>
            <a:ext cx="54864" cy="164592"/>
          </a:xfrm>
          <a:prstGeom prst="rect">
            <a:avLst/>
          </a:prstGeom>
          <a:solidFill>
            <a:srgbClr val="2DFFB5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2596896" y="57790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950" dirty="0"/>
          </a:p>
        </p:txBody>
      </p:sp>
      <p:sp>
        <p:nvSpPr>
          <p:cNvPr id="99" name="Text 96"/>
          <p:cNvSpPr txBox="1"/>
          <p:nvPr/>
        </p:nvSpPr>
        <p:spPr>
          <a:xfrm>
            <a:off x="548640" y="604418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logaritmik ölçek · video yapay zekâsı liste fiyatı saniyesi 0,05–0,75 USD [Kaynak 24, 25] · LiveFX yapay zekâ maliyeti: proje ölçümü</a:t>
            </a:r>
            <a:endParaRPr lang="en-US" sz="1000" dirty="0"/>
          </a:p>
        </p:txBody>
      </p:sp>
      <p:sp>
        <p:nvSpPr>
          <p:cNvPr id="100" name="Text 97"/>
          <p:cNvSpPr txBox="1"/>
          <p:nvPr/>
        </p:nvSpPr>
        <p:spPr>
          <a:xfrm>
            <a:off x="6355080" y="1325880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cümle dünya durumunu değiştirir:</a:t>
            </a:r>
            <a:endParaRPr lang="en-US" sz="1100" dirty="0"/>
          </a:p>
        </p:txBody>
      </p:sp>
      <p:sp>
        <p:nvSpPr>
          <p:cNvPr id="101" name="Shape 98"/>
          <p:cNvSpPr/>
          <p:nvPr/>
        </p:nvSpPr>
        <p:spPr>
          <a:xfrm>
            <a:off x="6355080" y="164592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6355080" y="16459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Yer</a:t>
            </a:r>
            <a:endParaRPr lang="en-US" sz="950" dirty="0"/>
          </a:p>
        </p:txBody>
      </p:sp>
      <p:sp>
        <p:nvSpPr>
          <p:cNvPr id="103" name="Shape 100"/>
          <p:cNvSpPr/>
          <p:nvPr/>
        </p:nvSpPr>
        <p:spPr>
          <a:xfrm>
            <a:off x="7132320" y="164592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7132320" y="16459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Zaman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8001000" y="164592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8001000" y="16459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Hava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8778240" y="16459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8778240" y="16459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9921240" y="164592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9921240" y="16459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Nesne</a:t>
            </a:r>
            <a:endParaRPr lang="en-US" sz="950" dirty="0"/>
          </a:p>
        </p:txBody>
      </p:sp>
      <p:sp>
        <p:nvSpPr>
          <p:cNvPr id="111" name="Shape 108"/>
          <p:cNvSpPr/>
          <p:nvPr/>
        </p:nvSpPr>
        <p:spPr>
          <a:xfrm>
            <a:off x="10789920" y="164592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10789920" y="16459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Eylem</a:t>
            </a:r>
            <a:endParaRPr lang="en-US" sz="950" dirty="0"/>
          </a:p>
        </p:txBody>
      </p:sp>
      <p:sp>
        <p:nvSpPr>
          <p:cNvPr id="113" name="Shape 110"/>
          <p:cNvSpPr/>
          <p:nvPr/>
        </p:nvSpPr>
        <p:spPr>
          <a:xfrm>
            <a:off x="6355080" y="20116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6355080" y="2011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Ruh hâli</a:t>
            </a:r>
            <a:endParaRPr lang="en-US" sz="950" dirty="0"/>
          </a:p>
        </p:txBody>
      </p:sp>
      <p:sp>
        <p:nvSpPr>
          <p:cNvPr id="115" name="Text 112"/>
          <p:cNvSpPr txBox="1"/>
          <p:nvPr/>
        </p:nvSpPr>
        <p:spPr>
          <a:xfrm>
            <a:off x="6355080" y="2514600"/>
            <a:ext cx="528797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Yayıncı kitap okur ya da anlatır – altında cümle cümle animasyonlu bir film oluşur: gece, orman, yağmur, ejderha.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Tarayıcıda OBS'in yanında 60 fps, çevrimdışı ve deterministik: aynı zaman çizelgesi, aynı görüntü – her anlatı anında klibe dönüşür.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yapay zekâsından 240 ile 10.000 kattan fazla ucuz – ve canlı ancak böyle mümkün.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Sesli okuma, sesli kitap ve podcast formatları için: Almanya sesli kitap 374 milyon €, +%13 [Kaynak 19]; YouTube'da ayda &gt; 1 milyar podcast izleyicisi [Kaynak 21].</a:t>
            </a:r>
            <a:endParaRPr lang="en-US" sz="1400" dirty="0"/>
          </a:p>
        </p:txBody>
      </p:sp>
      <p:sp>
        <p:nvSpPr>
          <p:cNvPr id="116" name="Shape 113"/>
          <p:cNvSpPr/>
          <p:nvPr/>
        </p:nvSpPr>
        <p:spPr>
          <a:xfrm>
            <a:off x="6355080" y="5120640"/>
            <a:ext cx="5287975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17" name="Text 114"/>
          <p:cNvSpPr txBox="1"/>
          <p:nvPr/>
        </p:nvSpPr>
        <p:spPr>
          <a:xfrm>
            <a:off x="6556248" y="5193792"/>
            <a:ext cx="4885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Bilerek resimli kitap, fotogerçekçilik değil</a:t>
            </a:r>
            <a:endParaRPr lang="en-US" sz="1100" dirty="0"/>
          </a:p>
        </p:txBody>
      </p:sp>
      <p:sp>
        <p:nvSpPr>
          <p:cNvPr id="118" name="Text 115"/>
          <p:cNvSpPr txBox="1"/>
          <p:nvPr/>
        </p:nvSpPr>
        <p:spPr>
          <a:xfrm>
            <a:off x="6556248" y="5468112"/>
            <a:ext cx="48856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Emoji/SVG ve parçacıklardan stilize bir dünya – tam da bu yüzden canlı, ucuz ve çocuk dostu. İsteğe bağlı yapay zekâ yalnızca sahneyi seçer, görüntü üretmez.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HATTI · KELİME-RESİM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öğrenme ve eğitim: her kelime bir resim</a:t>
            </a:r>
            <a:endParaRPr lang="en-US" sz="32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VİZYON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14</a:t>
            </a:r>
            <a:endParaRPr lang="en-US" sz="900" dirty="0"/>
          </a:p>
        </p:txBody>
      </p:sp>
      <p:sp>
        <p:nvSpPr>
          <p:cNvPr id="8" name="WortBild-Karte"/>
          <p:cNvSpPr/>
          <p:nvPr/>
        </p:nvSpPr>
        <p:spPr>
          <a:xfrm>
            <a:off x="548640" y="1325880"/>
            <a:ext cx="4846320" cy="35204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31750">
            <a:solidFill>
              <a:srgbClr val="FFD16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43560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🍎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8775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B1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elma</a:t>
            </a:r>
            <a:endParaRPr lang="en-US" sz="5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3375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· ma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7216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pPr algn="ctr" indent="0" marL="0">
              <a:buNone/>
            </a:pPr>
            <a:r>
              <a:rPr lang="en-US" sz="2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algn="ctr" indent="0" marL="0">
              <a:buNone/>
            </a:pPr>
            <a:r>
              <a:rPr lang="en-US" sz="2000" dirty="0">
                <a:solidFill>
                  <a:srgbClr val="1B1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Apfel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011680" y="4206240"/>
            <a:ext cx="457200" cy="45720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116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56032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7A5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“elma” – tr-TR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41732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1732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51460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1460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61188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1188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4132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Üç mod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Çeviri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19456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9456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Okuma desteği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4048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Tekrar et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806440" y="1325880"/>
            <a:ext cx="58366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çocuk “Apfel” der – anında: 🍎, hedef dilde “elma”, renkli artikeliyle “der Apfel” ve telaffuz. Tıklamadan.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Kendi dilinde okuma desteği: okuma çağı öncesi çocuklar, DaZ, uyum kursları ve nöroçeşitli öğrenenler için.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Yerel, hesapsız, çevrimdışı – okul veri koruması bir satış argümanı. Telaffuz cihazın sistem sesleriyle [Kaynak 29].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806440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71032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12,7 milyon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5971032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ücretli Duolingo abonesi, Haziran 2026 [Kaynak 32]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797698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62290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307.000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7962290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2025'te uyum kursuna başlayan kişi [Kaynak 36]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9788957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953549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milyar €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9953549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DigitalPakt 2.0, beş yıl, başlangıç 1.9.2026 [Kaynak 40]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5806440" y="5349240"/>
            <a:ext cx="5836615" cy="868680"/>
          </a:xfrm>
          <a:prstGeom prst="roundRect">
            <a:avLst>
              <a:gd name="adj" fmla="val 12632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07608" y="5394960"/>
            <a:ext cx="54342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Gelirler (tahmin): Kelime-Resim Aile aylık 4,99 € · okul lisansı yıllık 300–800 € · kurs lisansı öğretmen başına yıllık 49 € · iki dilli kitaplar için yayınevi sürümü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+ C HATLARI · STUDIO VE MEKÂNLAR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Otomatik kurgu, editör, VR/AR – ve daha büyük bir pazar</a:t>
            </a:r>
            <a:endParaRPr lang="en-US" sz="27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VİZYON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15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98448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Studio: canlı kurgu ve otomatik kurgu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154680" cy="1325880"/>
          </a:xfrm>
          <a:prstGeom prst="roundRect">
            <a:avLst>
              <a:gd name="adj" fmla="val 827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71907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→ öne çıkanlar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2996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Yayından sonra 9:16 formatında 3–5 klip – meme'lerin, hediyelerin ve sohbetin en yoğun olduğu anlardan. Yüklemesiz.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840480" y="1645920"/>
            <a:ext cx="3154680" cy="1325880"/>
          </a:xfrm>
          <a:prstGeom prst="roundRect">
            <a:avLst>
              <a:gd name="adj" fmla="val 827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23360" y="171907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Dosya girer → hazır çıkar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202996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Videoyu sürükle → yerel transkript → çip olarak efekt, sahne ve kesmeler → donanım kodlayıcıyla MP4 [Kaynak 57, 59].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6446520" cy="868680"/>
          </a:xfrm>
          <a:prstGeom prst="roundRect">
            <a:avLst>
              <a:gd name="adj" fmla="val 12632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200400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🎞 Video.mp4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“Dinliyorum … (yerel)”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103120" y="3291840"/>
            <a:ext cx="4754880" cy="274320"/>
          </a:xfrm>
          <a:prstGeom prst="rect">
            <a:avLst/>
          </a:prstGeom>
          <a:solidFill>
            <a:srgbClr val="262B38"/>
          </a:solidFill>
          <a:ln/>
        </p:spPr>
      </p:sp>
      <p:sp>
        <p:nvSpPr>
          <p:cNvPr id="18" name="Shape 15"/>
          <p:cNvSpPr/>
          <p:nvPr/>
        </p:nvSpPr>
        <p:spPr>
          <a:xfrm>
            <a:off x="2198218" y="331012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19" name="Shape 16"/>
          <p:cNvSpPr/>
          <p:nvPr/>
        </p:nvSpPr>
        <p:spPr>
          <a:xfrm>
            <a:off x="2626157" y="331012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0" name="Shape 17"/>
          <p:cNvSpPr/>
          <p:nvPr/>
        </p:nvSpPr>
        <p:spPr>
          <a:xfrm>
            <a:off x="3054096" y="3310128"/>
            <a:ext cx="190195" cy="237744"/>
          </a:xfrm>
          <a:prstGeom prst="roundRect">
            <a:avLst>
              <a:gd name="adj" fmla="val 28846"/>
            </a:avLst>
          </a:prstGeom>
          <a:solidFill>
            <a:srgbClr val="FFD166"/>
          </a:solidFill>
          <a:ln/>
        </p:spPr>
      </p:sp>
      <p:sp>
        <p:nvSpPr>
          <p:cNvPr id="21" name="Shape 18"/>
          <p:cNvSpPr/>
          <p:nvPr/>
        </p:nvSpPr>
        <p:spPr>
          <a:xfrm>
            <a:off x="3482035" y="3310128"/>
            <a:ext cx="95098" cy="237744"/>
          </a:xfrm>
          <a:prstGeom prst="roundRect">
            <a:avLst>
              <a:gd name="adj" fmla="val 57692"/>
            </a:avLst>
          </a:prstGeom>
          <a:solidFill>
            <a:srgbClr val="FF2D75"/>
          </a:solidFill>
          <a:ln/>
        </p:spPr>
      </p:sp>
      <p:sp>
        <p:nvSpPr>
          <p:cNvPr id="22" name="Shape 19"/>
          <p:cNvSpPr/>
          <p:nvPr/>
        </p:nvSpPr>
        <p:spPr>
          <a:xfrm>
            <a:off x="3814877" y="3310128"/>
            <a:ext cx="332842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23" name="Shape 20"/>
          <p:cNvSpPr/>
          <p:nvPr/>
        </p:nvSpPr>
        <p:spPr>
          <a:xfrm>
            <a:off x="4385462" y="3310128"/>
            <a:ext cx="332842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4" name="Shape 21"/>
          <p:cNvSpPr/>
          <p:nvPr/>
        </p:nvSpPr>
        <p:spPr>
          <a:xfrm>
            <a:off x="4860950" y="3310128"/>
            <a:ext cx="142646" cy="237744"/>
          </a:xfrm>
          <a:prstGeom prst="roundRect">
            <a:avLst>
              <a:gd name="adj" fmla="val 38462"/>
            </a:avLst>
          </a:prstGeom>
          <a:solidFill>
            <a:srgbClr val="FF2D75"/>
          </a:solidFill>
          <a:ln/>
        </p:spPr>
      </p:sp>
      <p:sp>
        <p:nvSpPr>
          <p:cNvPr id="25" name="Shape 22"/>
          <p:cNvSpPr/>
          <p:nvPr/>
        </p:nvSpPr>
        <p:spPr>
          <a:xfrm>
            <a:off x="5241341" y="3310128"/>
            <a:ext cx="190195" cy="237744"/>
          </a:xfrm>
          <a:prstGeom prst="roundRect">
            <a:avLst>
              <a:gd name="adj" fmla="val 28846"/>
            </a:avLst>
          </a:prstGeom>
          <a:solidFill>
            <a:srgbClr val="FFD166"/>
          </a:solidFill>
          <a:ln/>
        </p:spPr>
      </p:sp>
      <p:sp>
        <p:nvSpPr>
          <p:cNvPr id="26" name="Shape 23"/>
          <p:cNvSpPr/>
          <p:nvPr/>
        </p:nvSpPr>
        <p:spPr>
          <a:xfrm>
            <a:off x="5621731" y="3310128"/>
            <a:ext cx="285293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27" name="Shape 24"/>
          <p:cNvSpPr/>
          <p:nvPr/>
        </p:nvSpPr>
        <p:spPr>
          <a:xfrm>
            <a:off x="6097219" y="3310128"/>
            <a:ext cx="285293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8" name="Shape 25"/>
          <p:cNvSpPr/>
          <p:nvPr/>
        </p:nvSpPr>
        <p:spPr>
          <a:xfrm>
            <a:off x="6525158" y="3310128"/>
            <a:ext cx="142646" cy="237744"/>
          </a:xfrm>
          <a:prstGeom prst="roundRect">
            <a:avLst>
              <a:gd name="adj" fmla="val 38462"/>
            </a:avLst>
          </a:prstGeom>
          <a:solidFill>
            <a:srgbClr val="FF2D75"/>
          </a:solidFill>
          <a:ln/>
        </p:spPr>
      </p:sp>
      <p:sp>
        <p:nvSpPr>
          <p:cNvPr id="29" name="Shape 26"/>
          <p:cNvSpPr/>
          <p:nvPr/>
        </p:nvSpPr>
        <p:spPr>
          <a:xfrm>
            <a:off x="2103120" y="3712464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26771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3291840" y="3712464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5643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Sahne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480560" y="3712464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64515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669280" y="3712464"/>
            <a:ext cx="109728" cy="109728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3387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Kesme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114800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Mekânlar: tek durum, birçok ekran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54864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580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Sahne ve etkinlik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 var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274320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8036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🏫 Sınıf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288036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 var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93776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07492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🎧 Resimli sesli kitap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507492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Telefonda AR</a:t>
            </a:r>
            <a:endParaRPr lang="en-US" sz="1150" dirty="0"/>
          </a:p>
        </p:txBody>
      </p:sp>
      <p:sp>
        <p:nvSpPr>
          <p:cNvPr id="49" name="Text 46"/>
          <p:cNvSpPr txBox="1"/>
          <p:nvPr/>
        </p:nvSpPr>
        <p:spPr>
          <a:xfrm>
            <a:off x="68580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274320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88036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🥽 WebXR / VR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288036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Vizyon 2028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493776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07492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👓 Ekranlı gözlük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507492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Vizyon 2028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7269480" y="1298448"/>
            <a:ext cx="4373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Genişleyen pazar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645920"/>
          <a:ext cx="4373575" cy="914400"/>
        </p:xfrm>
        <a:graphic>
          <a:graphicData uri="http://schemas.openxmlformats.org/drawingml/2006/table">
            <a:tbl>
              <a:tblPr/>
              <a:tblGrid>
                <a:gridCol w="2186788"/>
                <a:gridCol w="218678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Büyüklük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Video kurgu yazılımı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2,68 milyar USD [Kaynak 51]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Yapay zekâ video (üretim + kurgu)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3,67 milyar USD [Kaynak 23]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Dil öğrenme uygulamaları (uygulama içi) 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 milyar USD [Kaynak 33]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Almanya sesli kitap 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 milyon € [Kaynak 19]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Akıllı gözlük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 milyon cihaz / 5,1 milyar USD [Kaynak 45]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Canlı yayın (çekirdek)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2D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97–157 milyar USD [Kaynak 1, 2]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</a:tr>
            </a:tbl>
          </a:graphicData>
        </a:graphic>
      </p:graphicFrame>
      <p:sp>
        <p:nvSpPr>
          <p:cNvPr id="58" name="Text 54"/>
          <p:cNvSpPr txBox="1"/>
          <p:nvPr/>
        </p:nvSpPr>
        <p:spPr>
          <a:xfrm>
            <a:off x="7269480" y="4983480"/>
            <a:ext cx="43735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Fiyat çıpaları: OpusClip aylık 15–29 USD, Descript aylık 16–65 USD [Kaynak 54, 55]. LiveFX Pro+ 14,99 € (tahmin) – bulut maliyeti yok, dakika sınırı yok. XR ve gözlük: vitrin, gelir kalemi değil.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KULLANICI, YAZAR, KURUCU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Ekip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5120640" cy="4526280"/>
          </a:xfrm>
          <a:prstGeom prst="roundRect">
            <a:avLst>
              <a:gd name="adj" fmla="val 242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1737360"/>
            <a:ext cx="1188720" cy="1188720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1737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[Fotoğraf]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[İsim]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2860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Kurucu · Alman-Türk yazar ve canlı yayıncı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2004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Ürün, içerik, topluluk – ve test laboratuvarı olarak kendi yayınları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 / DE / EN meme ve hikâye paketleri, birinci elden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Nöroçeşitlilik üzerine çocuk kitabı serisi – Kelime-Resim ve Anlatı Filmi'ne köprü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Kitaplar: [Başlık] · Yayınlar: [Platform / @kullanıcı] · [E-posta]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1371600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72200" y="1746504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2DFFB5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6172200" y="17465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162763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[Açık pozisyon] – Teknik lider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06654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 / gerçek zamanlı, mobil SDK, Canvas/WebGPU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43600" y="2907792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72200" y="3282696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FFD166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6172200" y="32826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16382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[Açık pozisyon] – Üretici ortaklıkları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60273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Büyüme TR + DACH, üretici programı, eğitim satışı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4443984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72200" y="4818888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9AA3B5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6172200" y="4818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4700016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Danışma kurulu / ortaklar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513892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[İsim] · [İsim] · Eğitim teknolojisi/didaktik: [İsim]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tion/live-fx/business/video/stills/tr-16x9-6_9s.jp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TALEBİMİZ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yayınlara kulak verelim.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670734" cy="32461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993392"/>
            <a:ext cx="22135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pilotu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724912"/>
            <a:ext cx="221353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LiveFX, TikTok LIVE Studio, Instagram Live Producer ya da YouTube Live'da bir özellik olarak. Tarayıcı kaynağı bugün çalışıyor. 8 hafta, 20 üretici; izlenme süresi, hediyeler ve klipler ölçülür.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56534" y="1828800"/>
            <a:ext cx="2670734" cy="32461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85134" y="1993392"/>
            <a:ext cx="22135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Eğitim ve dil pilotu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585134" y="2724912"/>
            <a:ext cx="221353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Eğitim kurumları, uyum kursları, okullar, dil öğrenme platformları ve yayınevleri: Kelime-Resim ve Anlatı Filmi'ni [Sayı] kurs/sınıfta ya da [Sayı] kitapla test edin.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64428" y="1828800"/>
            <a:ext cx="2670734" cy="32461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3028" y="1993392"/>
            <a:ext cx="22135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Ortaklar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393028" y="2724912"/>
            <a:ext cx="221353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 yazılımları (OBS eklentisi, Streamlabs), TR / DACH üretici ajansları, ses ve ASR sağlayıcıları, editör sağlayıcıları (Studio SDK).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972321" y="1828800"/>
            <a:ext cx="2670734" cy="32461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00921" y="1993392"/>
            <a:ext cx="22135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Görüşme ve seed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200921" y="2724912"/>
            <a:ext cx="221353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Satın alma görüşmesi: teknoloji + ekip. Paralelinde: 18 ay için [Sayı] € seed – 2 işe alım, üretici programı, pilotlar.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303520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321808"/>
            <a:ext cx="105457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İletişim: [E-posta]   ·   Demo: [Bağlantı]   ·   Kod ve doküman: live-fx/   ·   [İsim]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144768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 sunum Almanca ve İngilizce de mevcut: LiveFX_Pitch.pptx · LiveFX_Pitch_EN.pptx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LiveFX – Sunum</dc:title>
  <dc:subject>LiveFX: Sesin efekte dönüşür – ve görüntüye</dc:subject>
  <dc:creator>[İsim]</dc:creator>
  <cp:lastModifiedBy>[İsim]</cp:lastModifiedBy>
  <cp:revision>1</cp:revision>
  <dcterms:created xsi:type="dcterms:W3CDTF">2026-10-03T13:40:47Z</dcterms:created>
  <dcterms:modified xsi:type="dcterms:W3CDTF">2026-10-03T13:40:47Z</dcterms:modified>
</cp:coreProperties>
</file>