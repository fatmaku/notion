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0859E"/>
            </a:solidFill>
            <a:ln w="38100" cap="flat">
              <a:solidFill>
                <a:srgbClr val="E0859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859E"/>
              </a:solidFill>
              <a:ln w="9525" cap="flat">
                <a:solidFill>
                  <a:srgbClr val="E0859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</c:v>
                </c:pt>
                <c:pt idx="1">
                  <c:v>0.9</c:v>
                </c:pt>
                <c:pt idx="2">
                  <c:v>2.9</c:v>
                </c:pt>
                <c:pt idx="3">
                  <c:v>7.4</c:v>
                </c:pt>
                <c:pt idx="4">
                  <c:v>15.1</c:v>
                </c:pt>
                <c:pt idx="5">
                  <c:v>26</c:v>
                </c:pt>
                <c:pt idx="6">
                  <c:v>39.37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Exit ARR</c:v>
                </c:pt>
              </c:strCache>
            </c:strRef>
          </c:tx>
          <c:spPr>
            <a:solidFill>
              <a:srgbClr val="D4B27A"/>
            </a:solidFill>
            <a:ln w="38100" cap="flat">
              <a:solidFill>
                <a:srgbClr val="D4B2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4B27A"/>
              </a:solidFill>
              <a:ln w="9525" cap="flat">
                <a:solidFill>
                  <a:srgbClr val="D4B2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0.3</c:v>
                </c:pt>
                <c:pt idx="1">
                  <c:v>1.4</c:v>
                </c:pt>
                <c:pt idx="2">
                  <c:v>4.6</c:v>
                </c:pt>
                <c:pt idx="3">
                  <c:v>10.3</c:v>
                </c:pt>
                <c:pt idx="4">
                  <c:v>19.2</c:v>
                </c:pt>
                <c:pt idx="5">
                  <c:v>31</c:v>
                </c:pt>
                <c:pt idx="6">
                  <c:v>43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7A7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9525" cap="flat">
              <a:solidFill>
                <a:srgbClr val="4A2232"/>
              </a:solidFill>
              <a:prstDash val="solid"/>
              <a:round/>
            </a:ln>
          </c:spPr>
        </c:majorGridlines>
        <c:numFmt formatCode="&quot;€&quot;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B7A7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2E0B18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E9DFD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Venture</c:v>
                </c:pt>
              </c:strCache>
            </c:strRef>
          </c:tx>
          <c:spPr>
            <a:solidFill>
              <a:srgbClr val="6E163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-0.15</c:v>
                </c:pt>
                <c:pt idx="1">
                  <c:v>-0.45</c:v>
                </c:pt>
                <c:pt idx="2">
                  <c:v>-0.6</c:v>
                </c:pt>
                <c:pt idx="3">
                  <c:v>-0.4</c:v>
                </c:pt>
                <c:pt idx="4">
                  <c:v>0.2</c:v>
                </c:pt>
                <c:pt idx="5">
                  <c:v>1.6</c:v>
                </c:pt>
                <c:pt idx="6">
                  <c:v>3.35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Strong</c:v>
                </c:pt>
              </c:strCache>
            </c:strRef>
          </c:tx>
          <c:spPr>
            <a:solidFill>
              <a:srgbClr val="B08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  <c:pt idx="5">
                    <c:v>2032</c:v>
                  </c:pt>
                  <c:pt idx="6">
                    <c:v>2033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-0.1</c:v>
                </c:pt>
                <c:pt idx="1">
                  <c:v>-0.25</c:v>
                </c:pt>
                <c:pt idx="2">
                  <c:v>0.05</c:v>
                </c:pt>
                <c:pt idx="3">
                  <c:v>1.1</c:v>
                </c:pt>
                <c:pt idx="4">
                  <c:v>3.2</c:v>
                </c:pt>
                <c:pt idx="5">
                  <c:v>6</c:v>
                </c:pt>
                <c:pt idx="6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6A6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2"/>
        </c:scaling>
        <c:delete val="0"/>
        <c:axPos val="l"/>
        <c:majorGridlines>
          <c:spPr>
            <a:ln w="9525" cap="flat">
              <a:solidFill>
                <a:srgbClr val="DCCFBF"/>
              </a:solidFill>
              <a:prstDash val="solid"/>
              <a:round/>
            </a:ln>
          </c:spPr>
        </c:majorGridlines>
        <c:numFmt formatCode="&quot;€&quot;0&quot;M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6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7A6A6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E1630"/>
              </a:solidFill>
              <a:ln w="25400" cap="flat">
                <a:solidFill>
                  <a:srgbClr val="F4EDE2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B08A4A"/>
              </a:solidFill>
              <a:ln w="25400" cap="flat">
                <a:solidFill>
                  <a:srgbClr val="F4EDE2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35A76"/>
              </a:solidFill>
              <a:ln w="25400" cap="flat">
                <a:solidFill>
                  <a:srgbClr val="F4EDE2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3E1022"/>
              </a:solidFill>
              <a:ln w="25400" cap="flat">
                <a:solidFill>
                  <a:srgbClr val="F4EDE2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Team</c:v>
                </c:pt>
                <c:pt idx="1">
                  <c:v>Marketing</c:v>
                </c:pt>
                <c:pt idx="2">
                  <c:v>EU voice operation + store app development</c:v>
                </c:pt>
                <c:pt idx="3">
                  <c:v>Legal / trust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mission. Introduce yourself as founder and inventor of Aybal, and Gönül as investor relations.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reasons in one line each. Stress: built and tested before financing.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 is huge and underserved: audio that is personal, multilingual and works with the family’s own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product: any book becomes read-aloud audio with word-by-word highlighting.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TAM, SAM, SOM. The SOM is directional, not a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plans; web margins around 75–77%. The family annual plan is the best-value commitment.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Aybal is the only option strong on all five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closed beta in October to profitability: each step unlocks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chart draw. From 2,571 households in 2027 to 313,116 by 2033; revenue reaches €39.37M. Scenario, not forecast.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case breaks even in August 2030, venture case in October 2031. Scenario outputs, not promises.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€250k on a €1.30M pre-money cap, planned close March 2027. Gönül coordinates investor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Half of the round goes into the team; a quarter into marketing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only scales once each gate is cleared with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risks, each with a concrete mitigation.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slide: you invented Aybal and built the product before raising money. Bring in the Mercedes-Benz AI background and the DE/TR community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 and inventor plus investor relations today; hires are tied to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vision and the ask. Invite follow-up via Gönül and founders@aybal.com.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image" Target="../media/image-14-1.png"/><Relationship Id="rId7" Type="http://schemas.openxmlformats.org/officeDocument/2006/relationships/image" Target="../media/image-14-1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17</a:t>
            </a:r>
            <a:endParaRPr lang="en-US" sz="800" dirty="0"/>
          </a:p>
        </p:txBody>
      </p:sp>
      <p:pic>
        <p:nvPicPr>
          <p:cNvPr id="5" name="anim:fade:0:1500" descr="/home/user/Notion/aybal-show/pptx/gen/hero-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0"/>
            <a:ext cx="6430975" cy="6858000"/>
          </a:xfrm>
          <a:prstGeom prst="rect">
            <a:avLst/>
          </a:prstGeom>
        </p:spPr>
      </p:pic>
      <p:sp>
        <p:nvSpPr>
          <p:cNvPr id="6" name="anim:fade:300"/>
          <p:cNvSpPr txBox="1"/>
          <p:nvPr/>
        </p:nvSpPr>
        <p:spPr>
          <a:xfrm>
            <a:off x="713232" y="640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INVESTMENT OPPORTUNITY</a:t>
            </a:r>
            <a:endParaRPr lang="en-US" sz="1000" dirty="0"/>
          </a:p>
        </p:txBody>
      </p:sp>
      <p:sp>
        <p:nvSpPr>
          <p:cNvPr id="7" name="anim:float:500:1200"/>
          <p:cNvSpPr txBox="1"/>
          <p:nvPr/>
        </p:nvSpPr>
        <p:spPr>
          <a:xfrm>
            <a:off x="713232" y="1234440"/>
            <a:ext cx="5852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Aybal: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</a:t>
            </a:r>
            <a:pPr indent="0" marL="0">
              <a:lnSpc>
                <a:spcPct val="95000"/>
              </a:lnSpc>
              <a:buNone/>
            </a:pPr>
            <a:r>
              <a:rPr lang="en-US" sz="5000" b="1" i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</a:t>
            </a:r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Reading</a:t>
            </a:r>
            <a:endParaRPr lang="en-US" sz="5000" dirty="0"/>
          </a:p>
        </p:txBody>
      </p:sp>
      <p:pic>
        <p:nvPicPr>
          <p:cNvPr id="8" name="anim:wipeL:1400:1400" descr="/home/user/Notion/aybal-show/pptx/gen/wave-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97680"/>
            <a:ext cx="4206240" cy="512064"/>
          </a:xfrm>
          <a:prstGeom prst="rect">
            <a:avLst/>
          </a:prstGeom>
        </p:spPr>
      </p:pic>
      <p:sp>
        <p:nvSpPr>
          <p:cNvPr id="9" name="anim:float:2000"/>
          <p:cNvSpPr txBox="1"/>
          <p:nvPr/>
        </p:nvSpPr>
        <p:spPr>
          <a:xfrm>
            <a:off x="713232" y="50292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INVENTOR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Tuncay Sancak</a:t>
            </a:r>
            <a:endParaRPr lang="en-US" sz="1400" dirty="0"/>
          </a:p>
        </p:txBody>
      </p:sp>
      <p:sp>
        <p:nvSpPr>
          <p:cNvPr id="10" name="anim:float:2200"/>
          <p:cNvSpPr txBox="1"/>
          <p:nvPr/>
        </p:nvSpPr>
        <p:spPr>
          <a:xfrm>
            <a:off x="2862072" y="50292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RELATIONS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Gönül</a:t>
            </a:r>
            <a:endParaRPr lang="en-US" sz="1400" dirty="0"/>
          </a:p>
        </p:txBody>
      </p:sp>
      <p:sp>
        <p:nvSpPr>
          <p:cNvPr id="11" name="anim:float:2400"/>
          <p:cNvSpPr txBox="1"/>
          <p:nvPr/>
        </p:nvSpPr>
        <p:spPr>
          <a:xfrm>
            <a:off x="5010912" y="50292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800" b="1" spc="2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9DF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 · Sept 2026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2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00"/>
                            </p:stCondLst>
                            <p:childTnLst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1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200"/>
                            </p:stCondLst>
                            <p:childTnLst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400"/>
                            </p:stCondLst>
                            <p:childTnLst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INVESTMENT THESIS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focused bet on family voice technology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17</a:t>
            </a:r>
            <a:endParaRPr lang="en-US" sz="800" dirty="0"/>
          </a:p>
        </p:txBody>
      </p:sp>
      <p:sp>
        <p:nvSpPr>
          <p:cNvPr id="7" name="anim:float:300"/>
          <p:cNvSpPr txBox="1"/>
          <p:nvPr/>
        </p:nvSpPr>
        <p:spPr>
          <a:xfrm>
            <a:off x="713232" y="1874520"/>
            <a:ext cx="2011680" cy="2834640"/>
          </a:xfrm>
          <a:prstGeom prst="roundRect">
            <a:avLst>
              <a:gd name="adj" fmla="val 6364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177800" tIns="203200" rIns="152400" bIns="15240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0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&amp; tested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platform; 1,779 automated tests passed.</a:t>
            </a:r>
            <a:endParaRPr lang="en-US" sz="1400" dirty="0"/>
          </a:p>
        </p:txBody>
      </p:sp>
      <p:sp>
        <p:nvSpPr>
          <p:cNvPr id="8" name="anim:float:500"/>
          <p:cNvSpPr txBox="1"/>
          <p:nvPr/>
        </p:nvSpPr>
        <p:spPr>
          <a:xfrm>
            <a:off x="2898648" y="1874520"/>
            <a:ext cx="2011680" cy="2834640"/>
          </a:xfrm>
          <a:prstGeom prst="roundRect">
            <a:avLst>
              <a:gd name="adj" fmla="val 6364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177800" tIns="203200" rIns="152400" bIns="15240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0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Multilingual edge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interfaces, 13 voice languages; strong measured intelligibility.</a:t>
            </a:r>
            <a:endParaRPr lang="en-US" sz="1400" dirty="0"/>
          </a:p>
        </p:txBody>
      </p:sp>
      <p:sp>
        <p:nvSpPr>
          <p:cNvPr id="9" name="anim:float:700"/>
          <p:cNvSpPr txBox="1"/>
          <p:nvPr/>
        </p:nvSpPr>
        <p:spPr>
          <a:xfrm>
            <a:off x="5084064" y="1874520"/>
            <a:ext cx="2011680" cy="2834640"/>
          </a:xfrm>
          <a:prstGeom prst="roundRect">
            <a:avLst>
              <a:gd name="adj" fmla="val 6364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177800" tIns="203200" rIns="152400" bIns="15240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0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Large family market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101M families across priority Western markets and Türkiye.</a:t>
            </a:r>
            <a:endParaRPr lang="en-US" sz="1400" dirty="0"/>
          </a:p>
        </p:txBody>
      </p:sp>
      <p:sp>
        <p:nvSpPr>
          <p:cNvPr id="10" name="anim:float:900"/>
          <p:cNvSpPr txBox="1"/>
          <p:nvPr/>
        </p:nvSpPr>
        <p:spPr>
          <a:xfrm>
            <a:off x="7269480" y="1874520"/>
            <a:ext cx="2011680" cy="2834640"/>
          </a:xfrm>
          <a:prstGeom prst="roundRect">
            <a:avLst>
              <a:gd name="adj" fmla="val 6364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177800" tIns="203200" rIns="152400" bIns="15240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0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Credible economics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model; venture case reaches break-even in Oct 2031.</a:t>
            </a:r>
            <a:endParaRPr lang="en-US" sz="1400" dirty="0"/>
          </a:p>
        </p:txBody>
      </p:sp>
      <p:sp>
        <p:nvSpPr>
          <p:cNvPr id="11" name="anim:float:1100"/>
          <p:cNvSpPr txBox="1"/>
          <p:nvPr/>
        </p:nvSpPr>
        <p:spPr>
          <a:xfrm>
            <a:off x="9454896" y="1874520"/>
            <a:ext cx="2011680" cy="2834640"/>
          </a:xfrm>
          <a:prstGeom prst="roundRect">
            <a:avLst>
              <a:gd name="adj" fmla="val 6364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177800" tIns="203200" rIns="152400" bIns="15240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0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Focused validation</a:t>
            </a:r>
            <a:endParaRPr lang="en-US" sz="1400" dirty="0"/>
          </a:p>
          <a:p>
            <a:pPr indent="0" marL="0">
              <a:buNone/>
            </a:pPr>
            <a:r>
              <a:rPr lang="en-US" sz="6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€250k to prove conversion, retention and acquisition efficiency.</a:t>
            </a:r>
            <a:endParaRPr lang="en-US" sz="1400" dirty="0"/>
          </a:p>
        </p:txBody>
      </p:sp>
      <p:sp>
        <p:nvSpPr>
          <p:cNvPr id="12" name="anim:fade:1500"/>
          <p:cNvSpPr txBox="1"/>
          <p:nvPr/>
        </p:nvSpPr>
        <p:spPr>
          <a:xfrm>
            <a:off x="713232" y="5120640"/>
            <a:ext cx="1076523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 thesis: prove family engagement before scaling spend.</a:t>
            </a:r>
            <a:endParaRPr lang="en-US" sz="21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9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"/>
                            </p:stCondLst>
                            <p:childTnLst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00"/>
                            </p:stCondLst>
                            <p:childTnLst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00"/>
                            </p:stCondLst>
                            <p:childTnLst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THE MARKET GAP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is available. Relevance is not.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17</a:t>
            </a:r>
            <a:endParaRPr lang="en-US" sz="800" dirty="0"/>
          </a:p>
        </p:txBody>
      </p:sp>
      <p:sp>
        <p:nvSpPr>
          <p:cNvPr id="7" name="anim:zoom:300:900"/>
          <p:cNvSpPr txBox="1"/>
          <p:nvPr/>
        </p:nvSpPr>
        <p:spPr>
          <a:xfrm>
            <a:off x="713232" y="16459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101M</a:t>
            </a:r>
            <a:endParaRPr lang="en-US" sz="12000" dirty="0"/>
          </a:p>
        </p:txBody>
      </p:sp>
      <p:sp>
        <p:nvSpPr>
          <p:cNvPr id="8" name="anim:fade:800"/>
          <p:cNvSpPr txBox="1"/>
          <p:nvPr/>
        </p:nvSpPr>
        <p:spPr>
          <a:xfrm>
            <a:off x="713232" y="32461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with children across Germany, Türkiye, the UK, the rest of the EU and the US</a:t>
            </a:r>
            <a:endParaRPr lang="en-US" sz="1500" dirty="0"/>
          </a:p>
        </p:txBody>
      </p:sp>
      <p:pic>
        <p:nvPicPr>
          <p:cNvPr id="9" name="anim:wipeL:1200:2000" descr="/home/user/Notion/aybal-show/pptx/gen/d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023360"/>
            <a:ext cx="4663440" cy="1645920"/>
          </a:xfrm>
          <a:prstGeom prst="rect">
            <a:avLst/>
          </a:prstGeom>
        </p:spPr>
      </p:pic>
      <p:sp>
        <p:nvSpPr>
          <p:cNvPr id="10" name="anim:fade:2600"/>
          <p:cNvSpPr txBox="1"/>
          <p:nvPr/>
        </p:nvSpPr>
        <p:spPr>
          <a:xfrm>
            <a:off x="713232" y="57607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≈ 1 MILLION FAMILIES</a:t>
            </a:r>
            <a:endParaRPr lang="en-US" sz="900" dirty="0"/>
          </a:p>
        </p:txBody>
      </p:sp>
      <p:sp>
        <p:nvSpPr>
          <p:cNvPr id="11" name="anim:float:1800"/>
          <p:cNvSpPr txBox="1"/>
          <p:nvPr/>
        </p:nvSpPr>
        <p:spPr>
          <a:xfrm>
            <a:off x="6400800" y="1828800"/>
            <a:ext cx="5074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Families need audio that feels </a:t>
            </a:r>
            <a:pPr indent="0" marL="0">
              <a:lnSpc>
                <a:spcPct val="105000"/>
              </a:lnSpc>
              <a:buNone/>
            </a:pPr>
            <a:r>
              <a:rPr lang="en-US" sz="2500" b="1" i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</a:t>
            </a:r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speaks </a:t>
            </a:r>
            <a:pPr indent="0" marL="0">
              <a:lnSpc>
                <a:spcPct val="105000"/>
              </a:lnSpc>
              <a:buNone/>
            </a:pPr>
            <a:r>
              <a:rPr lang="en-US" sz="2500" b="1" i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their language</a:t>
            </a:r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works with </a:t>
            </a:r>
            <a:pPr indent="0" marL="0">
              <a:lnSpc>
                <a:spcPct val="105000"/>
              </a:lnSpc>
              <a:buNone/>
            </a:pPr>
            <a:r>
              <a:rPr lang="en-US" sz="2500" b="1" i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books they already own</a:t>
            </a:r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500" dirty="0"/>
          </a:p>
        </p:txBody>
      </p:sp>
      <p:sp>
        <p:nvSpPr>
          <p:cNvPr id="12" name="anim:float:2400"/>
          <p:cNvSpPr txBox="1"/>
          <p:nvPr/>
        </p:nvSpPr>
        <p:spPr>
          <a:xfrm>
            <a:off x="6400800" y="43434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offer is fragmented: fixed catalogues, limited personalization, weak family controls and little word-level interactivity.</a:t>
            </a:r>
            <a:endParaRPr lang="en-US" sz="15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800"/>
                            </p:stCondLst>
                            <p:childTnLst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"/>
                            </p:stCondLst>
                            <p:childTnLst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800"/>
                            </p:stCondLst>
                            <p:childTnLst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400"/>
                            </p:stCondLst>
                            <p:childTnLst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600"/>
                            </p:stCondLst>
                            <p:childTnLst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VALIDATED BUILD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family’s book to a shared listening moment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17</a:t>
            </a:r>
            <a:endParaRPr lang="en-US" sz="800" dirty="0"/>
          </a:p>
        </p:txBody>
      </p:sp>
      <p:sp>
        <p:nvSpPr>
          <p:cNvPr id="7" name="anim:zoom:300:800"/>
          <p:cNvSpPr txBox="1"/>
          <p:nvPr/>
        </p:nvSpPr>
        <p:spPr>
          <a:xfrm>
            <a:off x="713232" y="16459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1,779</a:t>
            </a:r>
            <a:endParaRPr lang="en-US" sz="8400" dirty="0"/>
          </a:p>
        </p:txBody>
      </p:sp>
      <p:sp>
        <p:nvSpPr>
          <p:cNvPr id="8" name="anim:fade:700"/>
          <p:cNvSpPr txBox="1"/>
          <p:nvPr/>
        </p:nvSpPr>
        <p:spPr>
          <a:xfrm>
            <a:off x="713232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passed</a:t>
            </a:r>
            <a:endParaRPr lang="en-US" sz="1500" dirty="0"/>
          </a:p>
        </p:txBody>
      </p:sp>
      <p:sp>
        <p:nvSpPr>
          <p:cNvPr id="9" name="anim:float:900"/>
          <p:cNvSpPr txBox="1"/>
          <p:nvPr/>
        </p:nvSpPr>
        <p:spPr>
          <a:xfrm>
            <a:off x="713232" y="32004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PDFs, EPUBs, Word files, text or photos of pages. Aybal converts them into read-aloud audio with word-by-word highlighting.</a:t>
            </a:r>
            <a:endParaRPr lang="en-US" sz="1500" dirty="0"/>
          </a:p>
        </p:txBody>
      </p:sp>
      <p:sp>
        <p:nvSpPr>
          <p:cNvPr id="10" name="anim:float:1100"/>
          <p:cNvSpPr txBox="1"/>
          <p:nvPr/>
        </p:nvSpPr>
        <p:spPr>
          <a:xfrm>
            <a:off x="713232" y="4297680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interface languages</a:t>
            </a:r>
            <a:endParaRPr lang="en-US" sz="1150" dirty="0"/>
          </a:p>
        </p:txBody>
      </p:sp>
      <p:sp>
        <p:nvSpPr>
          <p:cNvPr id="11" name="anim:float:1250"/>
          <p:cNvSpPr txBox="1"/>
          <p:nvPr/>
        </p:nvSpPr>
        <p:spPr>
          <a:xfrm>
            <a:off x="2606040" y="429768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voice languages</a:t>
            </a:r>
            <a:endParaRPr lang="en-US" sz="1150" dirty="0"/>
          </a:p>
        </p:txBody>
      </p:sp>
      <p:sp>
        <p:nvSpPr>
          <p:cNvPr id="12" name="anim:float:1400"/>
          <p:cNvSpPr txBox="1"/>
          <p:nvPr/>
        </p:nvSpPr>
        <p:spPr>
          <a:xfrm>
            <a:off x="713232" y="470916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≥94% measured intelligibility</a:t>
            </a:r>
            <a:endParaRPr lang="en-US" sz="1150" dirty="0"/>
          </a:p>
        </p:txBody>
      </p:sp>
      <p:sp>
        <p:nvSpPr>
          <p:cNvPr id="13" name="anim:fade:1700"/>
          <p:cNvSpPr txBox="1"/>
          <p:nvPr/>
        </p:nvSpPr>
        <p:spPr>
          <a:xfrm>
            <a:off x="713232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  </a:t>
            </a:r>
            <a:pPr indent="0" marL="0">
              <a:buNone/>
            </a:pPr>
            <a:r>
              <a:rPr lang="en-US" sz="13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Oct 2026   →   </a:t>
            </a:r>
            <a:pPr indent="0" marL="0">
              <a:buNone/>
            </a:pPr>
            <a:r>
              <a:rPr lang="en-US" sz="1300" b="1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 launch  </a:t>
            </a:r>
            <a:pPr indent="0" marL="0">
              <a:buNone/>
            </a:pPr>
            <a:r>
              <a:rPr lang="en-US" sz="13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Nov 2026</a:t>
            </a:r>
            <a:endParaRPr lang="en-US" sz="1300" dirty="0"/>
          </a:p>
        </p:txBody>
      </p:sp>
      <p:pic>
        <p:nvPicPr>
          <p:cNvPr id="14" name="anim:zoom:400:900" descr="/home/user/Notion/aybal-show/pptx/../assets/produc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91640"/>
            <a:ext cx="5486400" cy="4352544"/>
          </a:xfrm>
          <a:prstGeom prst="rect">
            <a:avLst/>
          </a:prstGeom>
          <a:effectLst>
            <a:outerShdw sx="100000" sy="100000" kx="0" ky="0" algn="bl" rotWithShape="0" blurRad="381000" dist="127000" dir="5400000">
              <a:srgbClr val="2E0B18">
                <a:alpha val="30000"/>
              </a:srgbClr>
            </a:outerShdw>
          </a:effectLst>
        </p:spPr>
      </p:pic>
      <p:sp>
        <p:nvSpPr>
          <p:cNvPr id="15" name="anim:float:1600"/>
          <p:cNvSpPr txBox="1"/>
          <p:nvPr/>
        </p:nvSpPr>
        <p:spPr>
          <a:xfrm>
            <a:off x="6263640" y="470916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FBF7F0"/>
          </a:solidFill>
          <a:ln w="6350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203200" tIns="127000" rIns="203200" bIns="1016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Once upon a time, a little fox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E0B18"/>
                </a:solidFill>
                <a:highlight>
                  <a:srgbClr val="D4B27A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found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7A6A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 book that could read itself aloud — in her grandmother’s voice.</a:t>
            </a:r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READING ALOUD  ·  WORD-BY-WORD</a:t>
            </a:r>
            <a:endParaRPr lang="en-US" sz="12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"/>
                            </p:stCondLst>
                            <p:childTnLst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00"/>
                            </p:stCondLst>
                            <p:childTnLst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900"/>
                            </p:stCondLst>
                            <p:childTnLst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00"/>
                            </p:stCondLst>
                            <p:childTnLst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250"/>
                            </p:stCondLst>
                            <p:childTnLst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400"/>
                            </p:stCondLst>
                            <p:childTnLst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00"/>
                            </p:stCondLst>
                            <p:childTnLst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9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700"/>
                            </p:stCondLst>
                            <p:childTnLst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ANNUAL MARKET OPPORTUNITY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€7.6B category with a disciplined entry wedge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17</a:t>
            </a:r>
            <a:endParaRPr lang="en-US" sz="800" dirty="0"/>
          </a:p>
        </p:txBody>
      </p:sp>
      <p:sp>
        <p:nvSpPr>
          <p:cNvPr id="7" name="anim:zoom:300:900"/>
          <p:cNvSpPr/>
          <p:nvPr/>
        </p:nvSpPr>
        <p:spPr>
          <a:xfrm>
            <a:off x="777240" y="1737360"/>
            <a:ext cx="4480560" cy="4480560"/>
          </a:xfrm>
          <a:prstGeom prst="ellipse">
            <a:avLst/>
          </a:prstGeom>
          <a:solidFill>
            <a:srgbClr val="EFE3CE"/>
          </a:solidFill>
          <a:ln w="9525">
            <a:solidFill>
              <a:srgbClr val="DCCFBF"/>
            </a:solidFill>
            <a:prstDash val="solid"/>
          </a:ln>
        </p:spPr>
      </p:sp>
      <p:sp>
        <p:nvSpPr>
          <p:cNvPr id="8" name="anim:fade:800"/>
          <p:cNvSpPr txBox="1"/>
          <p:nvPr/>
        </p:nvSpPr>
        <p:spPr>
          <a:xfrm>
            <a:off x="210312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B0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500" dirty="0"/>
          </a:p>
        </p:txBody>
      </p:sp>
      <p:sp>
        <p:nvSpPr>
          <p:cNvPr id="9" name="anim:zoom:1300:800"/>
          <p:cNvSpPr/>
          <p:nvPr/>
        </p:nvSpPr>
        <p:spPr>
          <a:xfrm>
            <a:off x="2150532" y="4483943"/>
            <a:ext cx="1733977" cy="1733977"/>
          </a:xfrm>
          <a:prstGeom prst="ellipse">
            <a:avLst/>
          </a:prstGeom>
          <a:solidFill>
            <a:srgbClr val="B08A4A"/>
          </a:solidFill>
          <a:ln/>
        </p:spPr>
      </p:sp>
      <p:sp>
        <p:nvSpPr>
          <p:cNvPr id="10" name="anim:fade:1800"/>
          <p:cNvSpPr txBox="1"/>
          <p:nvPr/>
        </p:nvSpPr>
        <p:spPr>
          <a:xfrm>
            <a:off x="2103120" y="4758263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500" dirty="0"/>
          </a:p>
        </p:txBody>
      </p:sp>
      <p:sp>
        <p:nvSpPr>
          <p:cNvPr id="11" name="anim:zoom:2200:600"/>
          <p:cNvSpPr/>
          <p:nvPr/>
        </p:nvSpPr>
        <p:spPr>
          <a:xfrm>
            <a:off x="2862072" y="5888736"/>
            <a:ext cx="310896" cy="310896"/>
          </a:xfrm>
          <a:prstGeom prst="ellipse">
            <a:avLst/>
          </a:prstGeom>
          <a:solidFill>
            <a:srgbClr val="6E1630"/>
          </a:solidFill>
          <a:ln/>
        </p:spPr>
      </p:sp>
      <p:sp>
        <p:nvSpPr>
          <p:cNvPr id="12" name="anim:float:500"/>
          <p:cNvSpPr txBox="1"/>
          <p:nvPr/>
        </p:nvSpPr>
        <p:spPr>
          <a:xfrm>
            <a:off x="6035040" y="23591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13" name="anim:float:500"/>
          <p:cNvSpPr txBox="1"/>
          <p:nvPr/>
        </p:nvSpPr>
        <p:spPr>
          <a:xfrm>
            <a:off x="6766560" y="2103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€7.6B</a:t>
            </a:r>
            <a:endParaRPr lang="en-US" sz="4000" dirty="0"/>
          </a:p>
        </p:txBody>
      </p:sp>
      <p:sp>
        <p:nvSpPr>
          <p:cNvPr id="14" name="anim:float:500"/>
          <p:cNvSpPr txBox="1"/>
          <p:nvPr/>
        </p:nvSpPr>
        <p:spPr>
          <a:xfrm>
            <a:off x="8961120" y="22128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family reading spend in target markets</a:t>
            </a:r>
            <a:endParaRPr lang="en-US" sz="1300" dirty="0"/>
          </a:p>
        </p:txBody>
      </p:sp>
      <p:sp>
        <p:nvSpPr>
          <p:cNvPr id="15" name="anim:wipeL:700"/>
          <p:cNvSpPr/>
          <p:nvPr/>
        </p:nvSpPr>
        <p:spPr>
          <a:xfrm>
            <a:off x="6035040" y="3063240"/>
            <a:ext cx="5440680" cy="0"/>
          </a:xfrm>
          <a:prstGeom prst="line">
            <a:avLst/>
          </a:prstGeom>
          <a:noFill/>
          <a:ln w="9525">
            <a:solidFill>
              <a:srgbClr val="DCCFBF"/>
            </a:solidFill>
            <a:prstDash val="solid"/>
          </a:ln>
        </p:spPr>
      </p:sp>
      <p:sp>
        <p:nvSpPr>
          <p:cNvPr id="16" name="anim:float:1350"/>
          <p:cNvSpPr txBox="1"/>
          <p:nvPr/>
        </p:nvSpPr>
        <p:spPr>
          <a:xfrm>
            <a:off x="6035040" y="3593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7" name="anim:float:1350"/>
          <p:cNvSpPr txBox="1"/>
          <p:nvPr/>
        </p:nvSpPr>
        <p:spPr>
          <a:xfrm>
            <a:off x="6766560" y="33375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€1.14B</a:t>
            </a:r>
            <a:endParaRPr lang="en-US" sz="4000" dirty="0"/>
          </a:p>
        </p:txBody>
      </p:sp>
      <p:sp>
        <p:nvSpPr>
          <p:cNvPr id="18" name="anim:float:1350"/>
          <p:cNvSpPr txBox="1"/>
          <p:nvPr/>
        </p:nvSpPr>
        <p:spPr>
          <a:xfrm>
            <a:off x="8961120" y="344728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assumed willingness to pay</a:t>
            </a:r>
            <a:endParaRPr lang="en-US" sz="1300" dirty="0"/>
          </a:p>
        </p:txBody>
      </p:sp>
      <p:sp>
        <p:nvSpPr>
          <p:cNvPr id="19" name="anim:wipeL:1550"/>
          <p:cNvSpPr/>
          <p:nvPr/>
        </p:nvSpPr>
        <p:spPr>
          <a:xfrm>
            <a:off x="6035040" y="4297680"/>
            <a:ext cx="5440680" cy="0"/>
          </a:xfrm>
          <a:prstGeom prst="line">
            <a:avLst/>
          </a:prstGeom>
          <a:noFill/>
          <a:ln w="9525">
            <a:solidFill>
              <a:srgbClr val="DCCFBF"/>
            </a:solidFill>
            <a:prstDash val="solid"/>
          </a:ln>
        </p:spPr>
      </p:sp>
      <p:sp>
        <p:nvSpPr>
          <p:cNvPr id="20" name="anim:float:2200"/>
          <p:cNvSpPr txBox="1"/>
          <p:nvPr/>
        </p:nvSpPr>
        <p:spPr>
          <a:xfrm>
            <a:off x="6035040" y="48280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21" name="anim:float:2200"/>
          <p:cNvSpPr txBox="1"/>
          <p:nvPr/>
        </p:nvSpPr>
        <p:spPr>
          <a:xfrm>
            <a:off x="6766560" y="457200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€38M</a:t>
            </a:r>
            <a:endParaRPr lang="en-US" sz="4000" dirty="0"/>
          </a:p>
        </p:txBody>
      </p:sp>
      <p:sp>
        <p:nvSpPr>
          <p:cNvPr id="22" name="anim:float:2200"/>
          <p:cNvSpPr txBox="1"/>
          <p:nvPr/>
        </p:nvSpPr>
        <p:spPr>
          <a:xfrm>
            <a:off x="8961120" y="468172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 penetration of willing segment; directional, not forecast</a:t>
            </a:r>
            <a:endParaRPr lang="en-US" sz="1300" dirty="0"/>
          </a:p>
        </p:txBody>
      </p:sp>
      <p:sp>
        <p:nvSpPr>
          <p:cNvPr id="23" name="anim:wipeL:2400"/>
          <p:cNvSpPr/>
          <p:nvPr/>
        </p:nvSpPr>
        <p:spPr>
          <a:xfrm>
            <a:off x="6035040" y="5532120"/>
            <a:ext cx="5440680" cy="0"/>
          </a:xfrm>
          <a:prstGeom prst="line">
            <a:avLst/>
          </a:prstGeom>
          <a:noFill/>
          <a:ln w="9525">
            <a:solidFill>
              <a:srgbClr val="DCCFBF"/>
            </a:solidFill>
            <a:prstDash val="solid"/>
          </a:ln>
        </p:spPr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9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8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"/>
                            </p:stCondLst>
                            <p:childTnLst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00"/>
                            </p:stCondLst>
                            <p:childTnLst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50"/>
                            </p:stCondLst>
                            <p:childTnLst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9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350"/>
                            </p:stCondLst>
                            <p:childTnLst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50"/>
                            </p:stCondLst>
                            <p:childTnLst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9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9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50"/>
                            </p:stCondLst>
                            <p:childTnLst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800"/>
                            </p:stCondLst>
                            <p:childTnLst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200"/>
                            </p:stCondLst>
                            <p:childTnLst>
                              <p:par>
                                <p:cTn id="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200"/>
                            </p:stCondLst>
                            <p:childTnLst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200"/>
                            </p:stCondLst>
                            <p:childTnLst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9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9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200"/>
                            </p:stCondLst>
                            <p:childTnLst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9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9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400"/>
                            </p:stCondLst>
                            <p:childTnLst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BUSINESS MODEL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subscriptions, attractive web margins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17</a:t>
            </a:r>
            <a:endParaRPr lang="en-US" sz="800" dirty="0"/>
          </a:p>
        </p:txBody>
      </p:sp>
      <p:sp>
        <p:nvSpPr>
          <p:cNvPr id="7" name="anim:float:300"/>
          <p:cNvSpPr/>
          <p:nvPr/>
        </p:nvSpPr>
        <p:spPr>
          <a:xfrm>
            <a:off x="713232" y="1920240"/>
            <a:ext cx="2560320" cy="3246120"/>
          </a:xfrm>
          <a:prstGeom prst="roundRect">
            <a:avLst>
              <a:gd name="adj" fmla="val 5000"/>
            </a:avLst>
          </a:prstGeom>
          <a:solidFill>
            <a:srgbClr val="FBF7F0"/>
          </a:solidFill>
          <a:ln w="9525">
            <a:solidFill>
              <a:srgbClr val="DCCFBF"/>
            </a:solidFill>
            <a:prstDash val="solid"/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</p:sp>
      <p:sp>
        <p:nvSpPr>
          <p:cNvPr id="8" name="anim:float:300"/>
          <p:cNvSpPr txBox="1"/>
          <p:nvPr/>
        </p:nvSpPr>
        <p:spPr>
          <a:xfrm>
            <a:off x="987552" y="22402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/ MONTH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32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€9.99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9" name="anim:fade:600"/>
          <p:cNvSpPr txBox="1"/>
          <p:nvPr/>
        </p:nvSpPr>
        <p:spPr>
          <a:xfrm>
            <a:off x="987552" y="4297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€6.41 margin</a:t>
            </a:r>
            <a:endParaRPr lang="en-US" sz="1050" dirty="0"/>
          </a:p>
        </p:txBody>
      </p:sp>
      <p:sp>
        <p:nvSpPr>
          <p:cNvPr id="10" name="anim:fade:600"/>
          <p:cNvSpPr txBox="1"/>
          <p:nvPr/>
        </p:nvSpPr>
        <p:spPr>
          <a:xfrm>
            <a:off x="2450592" y="4297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200" dirty="0"/>
          </a:p>
        </p:txBody>
      </p:sp>
      <p:sp>
        <p:nvSpPr>
          <p:cNvPr id="11" name="anim:fade:600"/>
          <p:cNvSpPr/>
          <p:nvPr/>
        </p:nvSpPr>
        <p:spPr>
          <a:xfrm>
            <a:off x="987552" y="4617720"/>
            <a:ext cx="2011680" cy="91440"/>
          </a:xfrm>
          <a:prstGeom prst="roundRect">
            <a:avLst>
              <a:gd name="adj" fmla="val 50000"/>
            </a:avLst>
          </a:prstGeom>
          <a:solidFill>
            <a:srgbClr val="EDE3D3"/>
          </a:solidFill>
          <a:ln/>
        </p:spPr>
      </p:sp>
      <p:sp>
        <p:nvSpPr>
          <p:cNvPr id="12" name="anim:wipeL:1000:1200"/>
          <p:cNvSpPr/>
          <p:nvPr/>
        </p:nvSpPr>
        <p:spPr>
          <a:xfrm>
            <a:off x="987552" y="4617720"/>
            <a:ext cx="1528877" cy="91440"/>
          </a:xfrm>
          <a:prstGeom prst="roundRect">
            <a:avLst>
              <a:gd name="adj" fmla="val 50000"/>
            </a:avLst>
          </a:prstGeom>
          <a:solidFill>
            <a:srgbClr val="6E1630"/>
          </a:solidFill>
          <a:ln/>
        </p:spPr>
      </p:sp>
      <p:sp>
        <p:nvSpPr>
          <p:cNvPr id="13" name="anim:float:520"/>
          <p:cNvSpPr/>
          <p:nvPr/>
        </p:nvSpPr>
        <p:spPr>
          <a:xfrm>
            <a:off x="3447288" y="1920240"/>
            <a:ext cx="2560320" cy="3246120"/>
          </a:xfrm>
          <a:prstGeom prst="roundRect">
            <a:avLst>
              <a:gd name="adj" fmla="val 5000"/>
            </a:avLst>
          </a:prstGeom>
          <a:solidFill>
            <a:srgbClr val="FBF7F0"/>
          </a:solidFill>
          <a:ln w="9525">
            <a:solidFill>
              <a:srgbClr val="DCCFBF"/>
            </a:solidFill>
            <a:prstDash val="solid"/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</p:sp>
      <p:sp>
        <p:nvSpPr>
          <p:cNvPr id="14" name="anim:float:520"/>
          <p:cNvSpPr txBox="1"/>
          <p:nvPr/>
        </p:nvSpPr>
        <p:spPr>
          <a:xfrm>
            <a:off x="3721608" y="22402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/ YEAR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32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€79.99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400" dirty="0"/>
          </a:p>
        </p:txBody>
      </p:sp>
      <p:sp>
        <p:nvSpPr>
          <p:cNvPr id="15" name="anim:fade:820"/>
          <p:cNvSpPr txBox="1"/>
          <p:nvPr/>
        </p:nvSpPr>
        <p:spPr>
          <a:xfrm>
            <a:off x="3721608" y="4297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€4.21 monthly margin</a:t>
            </a:r>
            <a:endParaRPr lang="en-US" sz="1050" dirty="0"/>
          </a:p>
        </p:txBody>
      </p:sp>
      <p:sp>
        <p:nvSpPr>
          <p:cNvPr id="16" name="anim:fade:820"/>
          <p:cNvSpPr txBox="1"/>
          <p:nvPr/>
        </p:nvSpPr>
        <p:spPr>
          <a:xfrm>
            <a:off x="5184648" y="4297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00" dirty="0"/>
          </a:p>
        </p:txBody>
      </p:sp>
      <p:sp>
        <p:nvSpPr>
          <p:cNvPr id="17" name="anim:fade:820"/>
          <p:cNvSpPr/>
          <p:nvPr/>
        </p:nvSpPr>
        <p:spPr>
          <a:xfrm>
            <a:off x="3721608" y="4617720"/>
            <a:ext cx="2011680" cy="91440"/>
          </a:xfrm>
          <a:prstGeom prst="roundRect">
            <a:avLst>
              <a:gd name="adj" fmla="val 50000"/>
            </a:avLst>
          </a:prstGeom>
          <a:solidFill>
            <a:srgbClr val="EDE3D3"/>
          </a:solidFill>
          <a:ln/>
        </p:spPr>
      </p:sp>
      <p:sp>
        <p:nvSpPr>
          <p:cNvPr id="18" name="anim:wipeL:1220:1200"/>
          <p:cNvSpPr/>
          <p:nvPr/>
        </p:nvSpPr>
        <p:spPr>
          <a:xfrm>
            <a:off x="3721608" y="4617720"/>
            <a:ext cx="1508760" cy="91440"/>
          </a:xfrm>
          <a:prstGeom prst="roundRect">
            <a:avLst>
              <a:gd name="adj" fmla="val 50000"/>
            </a:avLst>
          </a:prstGeom>
          <a:solidFill>
            <a:srgbClr val="6E1630"/>
          </a:solidFill>
          <a:ln/>
        </p:spPr>
      </p:sp>
      <p:sp>
        <p:nvSpPr>
          <p:cNvPr id="19" name="anim:float:740"/>
          <p:cNvSpPr/>
          <p:nvPr/>
        </p:nvSpPr>
        <p:spPr>
          <a:xfrm>
            <a:off x="6181344" y="1920240"/>
            <a:ext cx="2560320" cy="3246120"/>
          </a:xfrm>
          <a:prstGeom prst="roundRect">
            <a:avLst>
              <a:gd name="adj" fmla="val 5000"/>
            </a:avLst>
          </a:prstGeom>
          <a:solidFill>
            <a:srgbClr val="FBF7F0"/>
          </a:solidFill>
          <a:ln w="9525">
            <a:solidFill>
              <a:srgbClr val="DCCFBF"/>
            </a:solidFill>
            <a:prstDash val="solid"/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</p:sp>
      <p:sp>
        <p:nvSpPr>
          <p:cNvPr id="20" name="anim:float:740"/>
          <p:cNvSpPr txBox="1"/>
          <p:nvPr/>
        </p:nvSpPr>
        <p:spPr>
          <a:xfrm>
            <a:off x="6455664" y="224028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/ MONTH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32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€24.99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21" name="anim:fade:1040"/>
          <p:cNvSpPr txBox="1"/>
          <p:nvPr/>
        </p:nvSpPr>
        <p:spPr>
          <a:xfrm>
            <a:off x="6455664" y="42976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€16.22 margin</a:t>
            </a:r>
            <a:endParaRPr lang="en-US" sz="1050" dirty="0"/>
          </a:p>
        </p:txBody>
      </p:sp>
      <p:sp>
        <p:nvSpPr>
          <p:cNvPr id="22" name="anim:fade:1040"/>
          <p:cNvSpPr txBox="1"/>
          <p:nvPr/>
        </p:nvSpPr>
        <p:spPr>
          <a:xfrm>
            <a:off x="7918704" y="42976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1200" dirty="0"/>
          </a:p>
        </p:txBody>
      </p:sp>
      <p:sp>
        <p:nvSpPr>
          <p:cNvPr id="23" name="anim:fade:1040"/>
          <p:cNvSpPr/>
          <p:nvPr/>
        </p:nvSpPr>
        <p:spPr>
          <a:xfrm>
            <a:off x="6455664" y="4617720"/>
            <a:ext cx="2011680" cy="91440"/>
          </a:xfrm>
          <a:prstGeom prst="roundRect">
            <a:avLst>
              <a:gd name="adj" fmla="val 50000"/>
            </a:avLst>
          </a:prstGeom>
          <a:solidFill>
            <a:srgbClr val="EDE3D3"/>
          </a:solidFill>
          <a:ln/>
        </p:spPr>
      </p:sp>
      <p:sp>
        <p:nvSpPr>
          <p:cNvPr id="24" name="anim:wipeL:1440:1200"/>
          <p:cNvSpPr/>
          <p:nvPr/>
        </p:nvSpPr>
        <p:spPr>
          <a:xfrm>
            <a:off x="6455664" y="4617720"/>
            <a:ext cx="1548994" cy="91440"/>
          </a:xfrm>
          <a:prstGeom prst="roundRect">
            <a:avLst>
              <a:gd name="adj" fmla="val 50000"/>
            </a:avLst>
          </a:prstGeom>
          <a:solidFill>
            <a:srgbClr val="6E1630"/>
          </a:solidFill>
          <a:ln/>
        </p:spPr>
      </p:sp>
      <p:sp>
        <p:nvSpPr>
          <p:cNvPr id="25" name="anim:float:960"/>
          <p:cNvSpPr/>
          <p:nvPr/>
        </p:nvSpPr>
        <p:spPr>
          <a:xfrm>
            <a:off x="8915400" y="1783080"/>
            <a:ext cx="2560320" cy="3246120"/>
          </a:xfrm>
          <a:prstGeom prst="roundRect">
            <a:avLst>
              <a:gd name="adj" fmla="val 5000"/>
            </a:avLst>
          </a:prstGeom>
          <a:solidFill>
            <a:srgbClr val="2E0B18"/>
          </a:solidFill>
          <a:ln w="9525">
            <a:solidFill>
              <a:srgbClr val="2E0B18"/>
            </a:solidFill>
            <a:prstDash val="solid"/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</p:sp>
      <p:sp>
        <p:nvSpPr>
          <p:cNvPr id="26" name="anim:float:960"/>
          <p:cNvSpPr txBox="1"/>
          <p:nvPr/>
        </p:nvSpPr>
        <p:spPr>
          <a:xfrm>
            <a:off x="9189720" y="2103120"/>
            <a:ext cx="2103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/ YEAR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A0F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32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€199.99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</a:t>
            </a:r>
            <a:endParaRPr lang="en-US" sz="1400" dirty="0"/>
          </a:p>
        </p:txBody>
      </p:sp>
      <p:sp>
        <p:nvSpPr>
          <p:cNvPr id="27" name="anim:fade:1260"/>
          <p:cNvSpPr txBox="1"/>
          <p:nvPr/>
        </p:nvSpPr>
        <p:spPr>
          <a:xfrm>
            <a:off x="9189720" y="40690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Best-value family commitment</a:t>
            </a:r>
            <a:endParaRPr lang="en-US" sz="1800" dirty="0"/>
          </a:p>
        </p:txBody>
      </p:sp>
      <p:sp>
        <p:nvSpPr>
          <p:cNvPr id="28" name="anim:zoom:1560:500"/>
          <p:cNvSpPr txBox="1"/>
          <p:nvPr/>
        </p:nvSpPr>
        <p:spPr>
          <a:xfrm>
            <a:off x="10241280" y="163677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B08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</a:t>
            </a:r>
            <a:endParaRPr lang="en-US" sz="900" dirty="0"/>
          </a:p>
        </p:txBody>
      </p:sp>
      <p:sp>
        <p:nvSpPr>
          <p:cNvPr id="29" name="anim:fade:1600"/>
          <p:cNvSpPr txBox="1"/>
          <p:nvPr/>
        </p:nvSpPr>
        <p:spPr>
          <a:xfrm>
            <a:off x="713232" y="5486400"/>
            <a:ext cx="10765231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begins with Germany launch in Nov 2026. Local pricing will adapt to Türkiye and UK purchasing power; margins shown are Germany/EU web purchases.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"/>
                            </p:stCondLst>
                            <p:childTnLst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9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20"/>
                            </p:stCondLst>
                            <p:childTnLst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9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20"/>
                            </p:stCondLst>
                            <p:childTnLst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60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600"/>
                            </p:stCondLst>
                            <p:childTnLst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00"/>
                            </p:stCondLst>
                            <p:childTnLst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740"/>
                            </p:stCondLst>
                            <p:childTnLst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9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40"/>
                            </p:stCondLst>
                            <p:childTnLst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820"/>
                            </p:stCondLst>
                            <p:childTnLst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20"/>
                            </p:stCondLst>
                            <p:childTnLst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20"/>
                            </p:stCondLst>
                            <p:childTnLst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60"/>
                            </p:stCondLst>
                            <p:childTnLst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9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9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60"/>
                            </p:stCondLst>
                            <p:childTnLst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9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9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1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040"/>
                            </p:stCondLst>
                            <p:childTnLst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040"/>
                            </p:stCondLst>
                            <p:childTnLst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40"/>
                            </p:stCondLst>
                            <p:childTnLst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20"/>
                            </p:stCondLst>
                            <p:childTnLst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1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260"/>
                            </p:stCondLst>
                            <p:childTnLst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440"/>
                            </p:stCondLst>
                            <p:childTnLst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1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560"/>
                            </p:stCondLst>
                            <p:childTnLst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600"/>
                            </p:stCondLst>
                            <p:childTnLst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DIFFERENTIATION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by design—not bolted 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17</a:t>
            </a:r>
            <a:endParaRPr lang="en-US" sz="800" dirty="0"/>
          </a:p>
        </p:txBody>
      </p:sp>
      <p:sp>
        <p:nvSpPr>
          <p:cNvPr id="7" name="anim:fade:200"/>
          <p:cNvSpPr/>
          <p:nvPr/>
        </p:nvSpPr>
        <p:spPr>
          <a:xfrm>
            <a:off x="4983480" y="1737360"/>
            <a:ext cx="1371600" cy="3291840"/>
          </a:xfrm>
          <a:prstGeom prst="roundRect">
            <a:avLst>
              <a:gd name="adj" fmla="val 8000"/>
            </a:avLst>
          </a:prstGeom>
          <a:solidFill>
            <a:srgbClr val="6E1630">
              <a:alpha val="7000"/>
            </a:srgbClr>
          </a:solidFill>
          <a:ln/>
        </p:spPr>
      </p:sp>
      <p:sp>
        <p:nvSpPr>
          <p:cNvPr id="8" name="anim:fade:300"/>
          <p:cNvSpPr txBox="1"/>
          <p:nvPr/>
        </p:nvSpPr>
        <p:spPr>
          <a:xfrm>
            <a:off x="713232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9" name="anim:fade:300"/>
          <p:cNvSpPr txBox="1"/>
          <p:nvPr/>
        </p:nvSpPr>
        <p:spPr>
          <a:xfrm>
            <a:off x="484632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</a:t>
            </a:r>
            <a:endParaRPr lang="en-US" sz="1000" dirty="0"/>
          </a:p>
        </p:txBody>
      </p:sp>
      <p:sp>
        <p:nvSpPr>
          <p:cNvPr id="10" name="anim:fade:300"/>
          <p:cNvSpPr txBox="1"/>
          <p:nvPr/>
        </p:nvSpPr>
        <p:spPr>
          <a:xfrm>
            <a:off x="672084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AUDIOBOOKS</a:t>
            </a:r>
            <a:endParaRPr lang="en-US" sz="1000" dirty="0"/>
          </a:p>
        </p:txBody>
      </p:sp>
      <p:sp>
        <p:nvSpPr>
          <p:cNvPr id="11" name="anim:fade:300"/>
          <p:cNvSpPr txBox="1"/>
          <p:nvPr/>
        </p:nvSpPr>
        <p:spPr>
          <a:xfrm>
            <a:off x="859536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TTS</a:t>
            </a:r>
            <a:endParaRPr lang="en-US" sz="1000" dirty="0"/>
          </a:p>
        </p:txBody>
      </p:sp>
      <p:sp>
        <p:nvSpPr>
          <p:cNvPr id="12" name="anim:fade:300"/>
          <p:cNvSpPr txBox="1"/>
          <p:nvPr/>
        </p:nvSpPr>
        <p:spPr>
          <a:xfrm>
            <a:off x="10195560" y="1874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APPS</a:t>
            </a:r>
            <a:endParaRPr lang="en-US" sz="1000" dirty="0"/>
          </a:p>
        </p:txBody>
      </p:sp>
      <p:sp>
        <p:nvSpPr>
          <p:cNvPr id="13" name="anim:wipeL:300"/>
          <p:cNvSpPr/>
          <p:nvPr/>
        </p:nvSpPr>
        <p:spPr>
          <a:xfrm>
            <a:off x="713232" y="2286000"/>
            <a:ext cx="10765231" cy="0"/>
          </a:xfrm>
          <a:prstGeom prst="line">
            <a:avLst/>
          </a:prstGeom>
          <a:noFill/>
          <a:ln w="9525">
            <a:solidFill>
              <a:srgbClr val="DCCFBF"/>
            </a:solidFill>
            <a:prstDash val="solid"/>
          </a:ln>
        </p:spPr>
      </p:sp>
      <p:sp>
        <p:nvSpPr>
          <p:cNvPr id="14" name="anim:float:400"/>
          <p:cNvSpPr txBox="1"/>
          <p:nvPr/>
        </p:nvSpPr>
        <p:spPr>
          <a:xfrm>
            <a:off x="713232" y="23957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multilingual voices</a:t>
            </a:r>
            <a:endParaRPr lang="en-US" sz="1800" dirty="0"/>
          </a:p>
        </p:txBody>
      </p:sp>
      <p:sp>
        <p:nvSpPr>
          <p:cNvPr id="15" name="anim:zoom:900:400"/>
          <p:cNvSpPr/>
          <p:nvPr/>
        </p:nvSpPr>
        <p:spPr>
          <a:xfrm>
            <a:off x="5559552" y="2459736"/>
            <a:ext cx="219456" cy="219456"/>
          </a:xfrm>
          <a:prstGeom prst="ellipse">
            <a:avLst/>
          </a:prstGeom>
          <a:solidFill>
            <a:srgbClr val="6E1630"/>
          </a:solidFill>
          <a:ln/>
        </p:spPr>
      </p:sp>
      <p:sp>
        <p:nvSpPr>
          <p:cNvPr id="16" name="anim:zoom:1350:400"/>
          <p:cNvSpPr/>
          <p:nvPr/>
        </p:nvSpPr>
        <p:spPr>
          <a:xfrm>
            <a:off x="7434072" y="2459736"/>
            <a:ext cx="219456" cy="219456"/>
          </a:xfrm>
          <a:prstGeom prst="ellipse">
            <a:avLst/>
          </a:prstGeom>
          <a:solidFill>
            <a:srgbClr val="6E1630"/>
          </a:solidFill>
          <a:ln/>
        </p:spPr>
      </p:sp>
      <p:sp>
        <p:nvSpPr>
          <p:cNvPr id="17" name="anim:zoom:1800:400"/>
          <p:cNvSpPr/>
          <p:nvPr/>
        </p:nvSpPr>
        <p:spPr>
          <a:xfrm>
            <a:off x="9308592" y="2459736"/>
            <a:ext cx="219456" cy="219456"/>
          </a:xfrm>
          <a:prstGeom prst="ellipse">
            <a:avLst/>
          </a:prstGeom>
          <a:solidFill>
            <a:srgbClr val="6E1630"/>
          </a:solidFill>
          <a:ln/>
        </p:spPr>
      </p:sp>
      <p:sp>
        <p:nvSpPr>
          <p:cNvPr id="18" name="anim:zoom:2250:400"/>
          <p:cNvSpPr/>
          <p:nvPr/>
        </p:nvSpPr>
        <p:spPr>
          <a:xfrm>
            <a:off x="10908792" y="2459736"/>
            <a:ext cx="219456" cy="219456"/>
          </a:xfrm>
          <a:prstGeom prst="ellipse">
            <a:avLst/>
          </a:prstGeom>
          <a:solidFill>
            <a:srgbClr val="F4EDE2"/>
          </a:solidFill>
          <a:ln w="19050">
            <a:solidFill>
              <a:srgbClr val="C7B8A6"/>
            </a:solidFill>
            <a:prstDash val="solid"/>
          </a:ln>
        </p:spPr>
      </p:sp>
      <p:sp>
        <p:nvSpPr>
          <p:cNvPr id="19" name="anim:wipeL:380"/>
          <p:cNvSpPr/>
          <p:nvPr/>
        </p:nvSpPr>
        <p:spPr>
          <a:xfrm>
            <a:off x="713232" y="2834640"/>
            <a:ext cx="10765231" cy="0"/>
          </a:xfrm>
          <a:prstGeom prst="line">
            <a:avLst/>
          </a:prstGeom>
          <a:noFill/>
          <a:ln w="9525">
            <a:solidFill>
              <a:srgbClr val="DCCFBF"/>
            </a:solidFill>
            <a:prstDash val="solid"/>
          </a:ln>
        </p:spPr>
      </p:sp>
      <p:sp>
        <p:nvSpPr>
          <p:cNvPr id="20" name="anim:float:500"/>
          <p:cNvSpPr txBox="1"/>
          <p:nvPr/>
        </p:nvSpPr>
        <p:spPr>
          <a:xfrm>
            <a:off x="713232" y="29443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Consented personal voices</a:t>
            </a:r>
            <a:endParaRPr lang="en-US" sz="1800" dirty="0"/>
          </a:p>
        </p:txBody>
      </p:sp>
      <p:sp>
        <p:nvSpPr>
          <p:cNvPr id="21" name="anim:zoom:970:400"/>
          <p:cNvSpPr/>
          <p:nvPr/>
        </p:nvSpPr>
        <p:spPr>
          <a:xfrm>
            <a:off x="5559552" y="3008376"/>
            <a:ext cx="219456" cy="219456"/>
          </a:xfrm>
          <a:prstGeom prst="ellipse">
            <a:avLst/>
          </a:prstGeom>
          <a:solidFill>
            <a:srgbClr val="6E1630"/>
          </a:solidFill>
          <a:ln/>
        </p:spPr>
      </p:sp>
      <p:sp>
        <p:nvSpPr>
          <p:cNvPr id="22" name="anim:zoom:1420:400"/>
          <p:cNvSpPr/>
          <p:nvPr/>
        </p:nvSpPr>
        <p:spPr>
          <a:xfrm>
            <a:off x="7434072" y="3008376"/>
            <a:ext cx="219456" cy="219456"/>
          </a:xfrm>
          <a:prstGeom prst="ellipse">
            <a:avLst/>
          </a:prstGeom>
          <a:solidFill>
            <a:srgbClr val="F4EDE2"/>
          </a:solidFill>
          <a:ln w="19050">
            <a:solidFill>
              <a:srgbClr val="C7B8A6"/>
            </a:solidFill>
            <a:prstDash val="solid"/>
          </a:ln>
        </p:spPr>
      </p:sp>
      <p:sp>
        <p:nvSpPr>
          <p:cNvPr id="23" name="anim:zoom:1870:400"/>
          <p:cNvSpPr/>
          <p:nvPr/>
        </p:nvSpPr>
        <p:spPr>
          <a:xfrm>
            <a:off x="9308592" y="3008376"/>
            <a:ext cx="219456" cy="219456"/>
          </a:xfrm>
          <a:prstGeom prst="triangle">
            <a:avLst/>
          </a:prstGeom>
          <a:solidFill>
            <a:srgbClr val="B08A4A"/>
          </a:solidFill>
          <a:ln/>
        </p:spPr>
      </p:sp>
      <p:sp>
        <p:nvSpPr>
          <p:cNvPr id="24" name="anim:zoom:2320:400"/>
          <p:cNvSpPr/>
          <p:nvPr/>
        </p:nvSpPr>
        <p:spPr>
          <a:xfrm>
            <a:off x="10908792" y="3008376"/>
            <a:ext cx="219456" cy="219456"/>
          </a:xfrm>
          <a:prstGeom prst="ellipse">
            <a:avLst/>
          </a:prstGeom>
          <a:solidFill>
            <a:srgbClr val="F4EDE2"/>
          </a:solidFill>
          <a:ln w="19050">
            <a:solidFill>
              <a:srgbClr val="C7B8A6"/>
            </a:solidFill>
            <a:prstDash val="solid"/>
          </a:ln>
        </p:spPr>
      </p:sp>
      <p:sp>
        <p:nvSpPr>
          <p:cNvPr id="25" name="anim:wipeL:460"/>
          <p:cNvSpPr/>
          <p:nvPr/>
        </p:nvSpPr>
        <p:spPr>
          <a:xfrm>
            <a:off x="713232" y="3383280"/>
            <a:ext cx="10765231" cy="0"/>
          </a:xfrm>
          <a:prstGeom prst="line">
            <a:avLst/>
          </a:prstGeom>
          <a:noFill/>
          <a:ln w="9525">
            <a:solidFill>
              <a:srgbClr val="DCCFBF"/>
            </a:solidFill>
            <a:prstDash val="solid"/>
          </a:ln>
        </p:spPr>
      </p:sp>
      <p:sp>
        <p:nvSpPr>
          <p:cNvPr id="26" name="anim:float:600"/>
          <p:cNvSpPr txBox="1"/>
          <p:nvPr/>
        </p:nvSpPr>
        <p:spPr>
          <a:xfrm>
            <a:off x="713232" y="3493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User-owned content</a:t>
            </a:r>
            <a:endParaRPr lang="en-US" sz="1800" dirty="0"/>
          </a:p>
        </p:txBody>
      </p:sp>
      <p:sp>
        <p:nvSpPr>
          <p:cNvPr id="27" name="anim:zoom:1040:400"/>
          <p:cNvSpPr/>
          <p:nvPr/>
        </p:nvSpPr>
        <p:spPr>
          <a:xfrm>
            <a:off x="5559552" y="3557016"/>
            <a:ext cx="219456" cy="219456"/>
          </a:xfrm>
          <a:prstGeom prst="ellipse">
            <a:avLst/>
          </a:prstGeom>
          <a:solidFill>
            <a:srgbClr val="6E1630"/>
          </a:solidFill>
          <a:ln/>
        </p:spPr>
      </p:sp>
      <p:sp>
        <p:nvSpPr>
          <p:cNvPr id="28" name="anim:zoom:1490:400"/>
          <p:cNvSpPr/>
          <p:nvPr/>
        </p:nvSpPr>
        <p:spPr>
          <a:xfrm>
            <a:off x="7434072" y="3557016"/>
            <a:ext cx="219456" cy="219456"/>
          </a:xfrm>
          <a:prstGeom prst="ellipse">
            <a:avLst/>
          </a:prstGeom>
          <a:solidFill>
            <a:srgbClr val="F4EDE2"/>
          </a:solidFill>
          <a:ln w="19050">
            <a:solidFill>
              <a:srgbClr val="C7B8A6"/>
            </a:solidFill>
            <a:prstDash val="solid"/>
          </a:ln>
        </p:spPr>
      </p:sp>
      <p:sp>
        <p:nvSpPr>
          <p:cNvPr id="29" name="anim:zoom:1940:400"/>
          <p:cNvSpPr/>
          <p:nvPr/>
        </p:nvSpPr>
        <p:spPr>
          <a:xfrm>
            <a:off x="9308592" y="3557016"/>
            <a:ext cx="219456" cy="219456"/>
          </a:xfrm>
          <a:prstGeom prst="ellipse">
            <a:avLst/>
          </a:prstGeom>
          <a:solidFill>
            <a:srgbClr val="6E1630"/>
          </a:solidFill>
          <a:ln/>
        </p:spPr>
      </p:sp>
      <p:sp>
        <p:nvSpPr>
          <p:cNvPr id="30" name="anim:zoom:2390:400"/>
          <p:cNvSpPr/>
          <p:nvPr/>
        </p:nvSpPr>
        <p:spPr>
          <a:xfrm>
            <a:off x="10908792" y="3557016"/>
            <a:ext cx="219456" cy="219456"/>
          </a:xfrm>
          <a:prstGeom prst="triangle">
            <a:avLst/>
          </a:prstGeom>
          <a:solidFill>
            <a:srgbClr val="B08A4A"/>
          </a:solidFill>
          <a:ln/>
        </p:spPr>
      </p:sp>
      <p:sp>
        <p:nvSpPr>
          <p:cNvPr id="31" name="anim:wipeL:540"/>
          <p:cNvSpPr/>
          <p:nvPr/>
        </p:nvSpPr>
        <p:spPr>
          <a:xfrm>
            <a:off x="713232" y="3931920"/>
            <a:ext cx="10765231" cy="0"/>
          </a:xfrm>
          <a:prstGeom prst="line">
            <a:avLst/>
          </a:prstGeom>
          <a:noFill/>
          <a:ln w="9525">
            <a:solidFill>
              <a:srgbClr val="DCCFBF"/>
            </a:solidFill>
            <a:prstDash val="solid"/>
          </a:ln>
        </p:spPr>
      </p:sp>
      <p:sp>
        <p:nvSpPr>
          <p:cNvPr id="32" name="anim:float:700"/>
          <p:cNvSpPr txBox="1"/>
          <p:nvPr/>
        </p:nvSpPr>
        <p:spPr>
          <a:xfrm>
            <a:off x="713232" y="40416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Word-level highlighting</a:t>
            </a:r>
            <a:endParaRPr lang="en-US" sz="1800" dirty="0"/>
          </a:p>
        </p:txBody>
      </p:sp>
      <p:sp>
        <p:nvSpPr>
          <p:cNvPr id="33" name="anim:zoom:1110:400"/>
          <p:cNvSpPr/>
          <p:nvPr/>
        </p:nvSpPr>
        <p:spPr>
          <a:xfrm>
            <a:off x="5559552" y="4105656"/>
            <a:ext cx="219456" cy="219456"/>
          </a:xfrm>
          <a:prstGeom prst="ellipse">
            <a:avLst/>
          </a:prstGeom>
          <a:solidFill>
            <a:srgbClr val="6E1630"/>
          </a:solidFill>
          <a:ln/>
        </p:spPr>
      </p:sp>
      <p:sp>
        <p:nvSpPr>
          <p:cNvPr id="34" name="anim:zoom:1560:400"/>
          <p:cNvSpPr/>
          <p:nvPr/>
        </p:nvSpPr>
        <p:spPr>
          <a:xfrm>
            <a:off x="7434072" y="4105656"/>
            <a:ext cx="219456" cy="219456"/>
          </a:xfrm>
          <a:prstGeom prst="ellipse">
            <a:avLst/>
          </a:prstGeom>
          <a:solidFill>
            <a:srgbClr val="F4EDE2"/>
          </a:solidFill>
          <a:ln w="19050">
            <a:solidFill>
              <a:srgbClr val="C7B8A6"/>
            </a:solidFill>
            <a:prstDash val="solid"/>
          </a:ln>
        </p:spPr>
      </p:sp>
      <p:sp>
        <p:nvSpPr>
          <p:cNvPr id="35" name="anim:zoom:2010:400"/>
          <p:cNvSpPr/>
          <p:nvPr/>
        </p:nvSpPr>
        <p:spPr>
          <a:xfrm>
            <a:off x="9308592" y="4105656"/>
            <a:ext cx="219456" cy="219456"/>
          </a:xfrm>
          <a:prstGeom prst="triangle">
            <a:avLst/>
          </a:prstGeom>
          <a:solidFill>
            <a:srgbClr val="B08A4A"/>
          </a:solidFill>
          <a:ln/>
        </p:spPr>
      </p:sp>
      <p:sp>
        <p:nvSpPr>
          <p:cNvPr id="36" name="anim:zoom:2460:400"/>
          <p:cNvSpPr/>
          <p:nvPr/>
        </p:nvSpPr>
        <p:spPr>
          <a:xfrm>
            <a:off x="10908792" y="4105656"/>
            <a:ext cx="219456" cy="219456"/>
          </a:xfrm>
          <a:prstGeom prst="ellipse">
            <a:avLst/>
          </a:prstGeom>
          <a:solidFill>
            <a:srgbClr val="6E1630"/>
          </a:solidFill>
          <a:ln/>
        </p:spPr>
      </p:sp>
      <p:sp>
        <p:nvSpPr>
          <p:cNvPr id="37" name="anim:wipeL:620"/>
          <p:cNvSpPr/>
          <p:nvPr/>
        </p:nvSpPr>
        <p:spPr>
          <a:xfrm>
            <a:off x="713232" y="4480560"/>
            <a:ext cx="10765231" cy="0"/>
          </a:xfrm>
          <a:prstGeom prst="line">
            <a:avLst/>
          </a:prstGeom>
          <a:noFill/>
          <a:ln w="9525">
            <a:solidFill>
              <a:srgbClr val="DCCFBF"/>
            </a:solidFill>
            <a:prstDash val="solid"/>
          </a:ln>
        </p:spPr>
      </p:sp>
      <p:sp>
        <p:nvSpPr>
          <p:cNvPr id="38" name="anim:float:800"/>
          <p:cNvSpPr txBox="1"/>
          <p:nvPr/>
        </p:nvSpPr>
        <p:spPr>
          <a:xfrm>
            <a:off x="713232" y="45902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accounts &amp; controls</a:t>
            </a:r>
            <a:endParaRPr lang="en-US" sz="1800" dirty="0"/>
          </a:p>
        </p:txBody>
      </p:sp>
      <p:sp>
        <p:nvSpPr>
          <p:cNvPr id="39" name="anim:zoom:1180:400"/>
          <p:cNvSpPr/>
          <p:nvPr/>
        </p:nvSpPr>
        <p:spPr>
          <a:xfrm>
            <a:off x="5559552" y="4654296"/>
            <a:ext cx="219456" cy="219456"/>
          </a:xfrm>
          <a:prstGeom prst="ellipse">
            <a:avLst/>
          </a:prstGeom>
          <a:solidFill>
            <a:srgbClr val="6E1630"/>
          </a:solidFill>
          <a:ln/>
        </p:spPr>
      </p:sp>
      <p:sp>
        <p:nvSpPr>
          <p:cNvPr id="40" name="anim:zoom:1630:400"/>
          <p:cNvSpPr/>
          <p:nvPr/>
        </p:nvSpPr>
        <p:spPr>
          <a:xfrm>
            <a:off x="7434072" y="4654296"/>
            <a:ext cx="219456" cy="219456"/>
          </a:xfrm>
          <a:prstGeom prst="triangle">
            <a:avLst/>
          </a:prstGeom>
          <a:solidFill>
            <a:srgbClr val="B08A4A"/>
          </a:solidFill>
          <a:ln/>
        </p:spPr>
      </p:sp>
      <p:sp>
        <p:nvSpPr>
          <p:cNvPr id="41" name="anim:zoom:2080:400"/>
          <p:cNvSpPr/>
          <p:nvPr/>
        </p:nvSpPr>
        <p:spPr>
          <a:xfrm>
            <a:off x="9308592" y="4654296"/>
            <a:ext cx="219456" cy="219456"/>
          </a:xfrm>
          <a:prstGeom prst="ellipse">
            <a:avLst/>
          </a:prstGeom>
          <a:solidFill>
            <a:srgbClr val="F4EDE2"/>
          </a:solidFill>
          <a:ln w="19050">
            <a:solidFill>
              <a:srgbClr val="C7B8A6"/>
            </a:solidFill>
            <a:prstDash val="solid"/>
          </a:ln>
        </p:spPr>
      </p:sp>
      <p:sp>
        <p:nvSpPr>
          <p:cNvPr id="42" name="anim:zoom:2530:400"/>
          <p:cNvSpPr/>
          <p:nvPr/>
        </p:nvSpPr>
        <p:spPr>
          <a:xfrm>
            <a:off x="10908792" y="4654296"/>
            <a:ext cx="219456" cy="219456"/>
          </a:xfrm>
          <a:prstGeom prst="ellipse">
            <a:avLst/>
          </a:prstGeom>
          <a:solidFill>
            <a:srgbClr val="6E1630"/>
          </a:solidFill>
          <a:ln/>
        </p:spPr>
      </p:sp>
      <p:sp>
        <p:nvSpPr>
          <p:cNvPr id="43" name="anim:fade:3000"/>
          <p:cNvSpPr txBox="1"/>
          <p:nvPr/>
        </p:nvSpPr>
        <p:spPr>
          <a:xfrm>
            <a:off x="713232" y="5230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pPr indent="0" marL="0">
              <a:buNone/>
            </a:pPr>
            <a:r>
              <a:rPr lang="en-US" sz="12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Strong      </a:t>
            </a:r>
            <a:pPr indent="0" marL="0">
              <a:buNone/>
            </a:pPr>
            <a:r>
              <a:rPr lang="en-US" sz="120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pPr indent="0" marL="0">
              <a:buNone/>
            </a:pPr>
            <a:r>
              <a:rPr lang="en-US" sz="12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Partial      </a:t>
            </a:r>
            <a:pPr indent="0" marL="0">
              <a:buNone/>
            </a:pPr>
            <a:r>
              <a:rPr lang="en-US" sz="1200" dirty="0">
                <a:solidFill>
                  <a:srgbClr val="B0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pPr indent="0" marL="0">
              <a:buNone/>
            </a:pPr>
            <a:r>
              <a:rPr lang="en-US" sz="12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Weak / absent</a:t>
            </a:r>
            <a:endParaRPr lang="en-US" sz="1200" dirty="0"/>
          </a:p>
        </p:txBody>
      </p:sp>
      <p:sp>
        <p:nvSpPr>
          <p:cNvPr id="44" name="anim:fade:3200"/>
          <p:cNvSpPr txBox="1"/>
          <p:nvPr/>
        </p:nvSpPr>
        <p:spPr>
          <a:xfrm>
            <a:off x="5760720" y="5230368"/>
            <a:ext cx="571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voice intelligibility: German 98%  •  Turkish 97%</a:t>
            </a:r>
            <a:endParaRPr lang="en-US" sz="1300" dirty="0"/>
          </a:p>
        </p:txBody>
      </p:sp>
      <p:sp>
        <p:nvSpPr>
          <p:cNvPr id="45" name="anim:fade:3400"/>
          <p:cNvSpPr txBox="1"/>
          <p:nvPr/>
        </p:nvSpPr>
        <p:spPr>
          <a:xfrm>
            <a:off x="713232" y="5623560"/>
            <a:ext cx="107652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metrics will test whether technical differentiation translates into retention.</a:t>
            </a:r>
            <a:endParaRPr lang="en-US" sz="12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"/>
                            </p:stCondLst>
                            <p:childTnLst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"/>
                            </p:stCondLst>
                            <p:childTnLst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"/>
                            </p:stCondLst>
                            <p:childTnLst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"/>
                            </p:stCondLst>
                            <p:childTnLst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"/>
                            </p:stCondLst>
                            <p:childTnLst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"/>
                            </p:stCondLst>
                            <p:childTnLst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80"/>
                            </p:stCondLst>
                            <p:childTnLst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8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"/>
                            </p:stCondLst>
                            <p:childTnLst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60"/>
                            </p:stCondLst>
                            <p:childTnLst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40"/>
                            </p:stCondLst>
                            <p:childTnLst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8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00"/>
                            </p:stCondLst>
                            <p:childTnLst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9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9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20"/>
                            </p:stCondLst>
                            <p:childTnLst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8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00"/>
                            </p:stCondLst>
                            <p:childTnLst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9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900" fill="hold" decel="100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00"/>
                            </p:stCondLst>
                            <p:childTnLst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9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9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900" fill="hold" decel="1000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900"/>
                            </p:stCondLst>
                            <p:childTnLst>
                              <p:par>
                                <p:cTn id="9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4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70"/>
                            </p:stCondLst>
                            <p:childTnLst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4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40"/>
                            </p:stCondLst>
                            <p:childTnLst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4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4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110"/>
                            </p:stCondLst>
                            <p:childTnLst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4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00" fill="hold" decel="100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80"/>
                            </p:stCondLst>
                            <p:childTnLst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40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400" fill="hold" decel="100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350"/>
                            </p:stCondLst>
                            <p:childTnLst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4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4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420"/>
                            </p:stCondLst>
                            <p:childTnLst>
                              <p:par>
                                <p:cTn id="1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4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4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1490"/>
                            </p:stCondLst>
                            <p:childTnLst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4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400" fill="hold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560"/>
                            </p:stCondLst>
                            <p:childTnLst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4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400" fill="hold" decel="100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630"/>
                            </p:stCondLst>
                            <p:childTnLst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4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400" fill="hold" decel="100000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800"/>
                            </p:stCondLst>
                            <p:childTnLst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4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4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1870"/>
                            </p:stCondLst>
                            <p:childTnLst>
                              <p:par>
                                <p:cTn id="1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4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4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940"/>
                            </p:stCondLst>
                            <p:childTnLst>
                              <p:par>
                                <p:cTn id="1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4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4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2010"/>
                            </p:stCondLst>
                            <p:childTnLst>
                              <p:par>
                                <p:cTn id="1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4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400" fill="hold" decel="1000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2080"/>
                            </p:stCondLst>
                            <p:childTnLst>
                              <p:par>
                                <p:cTn id="17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2" dur="40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400" fill="hold" decel="100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2250"/>
                            </p:stCondLst>
                            <p:childTnLst>
                              <p:par>
                                <p:cTn id="18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8" dur="4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4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2320"/>
                            </p:stCondLst>
                            <p:childTnLst>
                              <p:par>
                                <p:cTn id="1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4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4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3" fill="hold">
                            <p:stCondLst>
                              <p:cond delay="2390"/>
                            </p:stCondLst>
                            <p:childTnLst>
                              <p:par>
                                <p:cTn id="19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0" dur="4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4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2460"/>
                            </p:stCondLst>
                            <p:childTnLst>
                              <p:par>
                                <p:cTn id="2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4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400" fill="hold" decel="100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2530"/>
                            </p:stCondLst>
                            <p:childTnLst>
                              <p:par>
                                <p:cTn id="2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40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400" fill="hold" decel="1000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3000"/>
                            </p:stCondLst>
                            <p:childTnLst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7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>
                            <p:stCondLst>
                              <p:cond delay="3200"/>
                            </p:stCondLst>
                            <p:childTnLst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7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3400"/>
                            </p:stCondLst>
                            <p:childTnLst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7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ROADMAP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Validate. Launch. Expand. Compound.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17</a:t>
            </a:r>
            <a:endParaRPr lang="en-US" sz="800" dirty="0"/>
          </a:p>
        </p:txBody>
      </p:sp>
      <p:pic>
        <p:nvPicPr>
          <p:cNvPr id="7" name="anim:wipeL:300:2600" descr="/home/user/Notion/aybal-show/pptx/gen/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20240"/>
            <a:ext cx="10765231" cy="1371600"/>
          </a:xfrm>
          <a:prstGeom prst="rect">
            <a:avLst/>
          </a:prstGeom>
        </p:spPr>
      </p:pic>
      <p:sp>
        <p:nvSpPr>
          <p:cNvPr id="8" name="anim:zoom:500:500"/>
          <p:cNvSpPr/>
          <p:nvPr/>
        </p:nvSpPr>
        <p:spPr>
          <a:xfrm>
            <a:off x="694944" y="3118104"/>
            <a:ext cx="256032" cy="256032"/>
          </a:xfrm>
          <a:prstGeom prst="ellipse">
            <a:avLst/>
          </a:prstGeom>
          <a:solidFill>
            <a:srgbClr val="6E1630"/>
          </a:solidFill>
          <a:ln w="31750">
            <a:solidFill>
              <a:srgbClr val="6E1630"/>
            </a:solidFill>
            <a:prstDash val="solid"/>
          </a:ln>
        </p:spPr>
      </p:sp>
      <p:sp>
        <p:nvSpPr>
          <p:cNvPr id="9" name="anim:float:650"/>
          <p:cNvSpPr txBox="1"/>
          <p:nvPr/>
        </p:nvSpPr>
        <p:spPr>
          <a:xfrm>
            <a:off x="694944" y="361188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3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beta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founding families</a:t>
            </a:r>
            <a:endParaRPr lang="en-US" sz="1400" dirty="0"/>
          </a:p>
        </p:txBody>
      </p:sp>
      <p:sp>
        <p:nvSpPr>
          <p:cNvPr id="10" name="anim:zoom:1020:500"/>
          <p:cNvSpPr/>
          <p:nvPr/>
        </p:nvSpPr>
        <p:spPr>
          <a:xfrm>
            <a:off x="3090672" y="2880360"/>
            <a:ext cx="256032" cy="256032"/>
          </a:xfrm>
          <a:prstGeom prst="ellipse">
            <a:avLst/>
          </a:prstGeom>
          <a:solidFill>
            <a:srgbClr val="F4EDE2"/>
          </a:solidFill>
          <a:ln w="31750">
            <a:solidFill>
              <a:srgbClr val="6E1630"/>
            </a:solidFill>
            <a:prstDash val="solid"/>
          </a:ln>
        </p:spPr>
      </p:sp>
      <p:sp>
        <p:nvSpPr>
          <p:cNvPr id="11" name="anim:float:1170"/>
          <p:cNvSpPr txBox="1"/>
          <p:nvPr/>
        </p:nvSpPr>
        <p:spPr>
          <a:xfrm>
            <a:off x="3090672" y="3374136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3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2026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 launch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starts</a:t>
            </a:r>
            <a:endParaRPr lang="en-US" sz="1400" dirty="0"/>
          </a:p>
        </p:txBody>
      </p:sp>
      <p:sp>
        <p:nvSpPr>
          <p:cNvPr id="12" name="anim:zoom:1540:500"/>
          <p:cNvSpPr/>
          <p:nvPr/>
        </p:nvSpPr>
        <p:spPr>
          <a:xfrm>
            <a:off x="5486400" y="2642616"/>
            <a:ext cx="256032" cy="256032"/>
          </a:xfrm>
          <a:prstGeom prst="ellipse">
            <a:avLst/>
          </a:prstGeom>
          <a:solidFill>
            <a:srgbClr val="F4EDE2"/>
          </a:solidFill>
          <a:ln w="31750">
            <a:solidFill>
              <a:srgbClr val="6E1630"/>
            </a:solidFill>
            <a:prstDash val="solid"/>
          </a:ln>
        </p:spPr>
      </p:sp>
      <p:sp>
        <p:nvSpPr>
          <p:cNvPr id="13" name="anim:float:1690"/>
          <p:cNvSpPr txBox="1"/>
          <p:nvPr/>
        </p:nvSpPr>
        <p:spPr>
          <a:xfrm>
            <a:off x="5486400" y="3136392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3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– 28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retention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1–2; market expansion</a:t>
            </a:r>
            <a:endParaRPr lang="en-US" sz="1400" dirty="0"/>
          </a:p>
        </p:txBody>
      </p:sp>
      <p:sp>
        <p:nvSpPr>
          <p:cNvPr id="14" name="anim:zoom:2060:500"/>
          <p:cNvSpPr/>
          <p:nvPr/>
        </p:nvSpPr>
        <p:spPr>
          <a:xfrm>
            <a:off x="7882128" y="2331720"/>
            <a:ext cx="256032" cy="256032"/>
          </a:xfrm>
          <a:prstGeom prst="ellipse">
            <a:avLst/>
          </a:prstGeom>
          <a:solidFill>
            <a:srgbClr val="F4EDE2"/>
          </a:solidFill>
          <a:ln w="31750">
            <a:solidFill>
              <a:srgbClr val="6E1630"/>
            </a:solidFill>
            <a:prstDash val="solid"/>
          </a:ln>
        </p:spPr>
      </p:sp>
      <p:sp>
        <p:nvSpPr>
          <p:cNvPr id="15" name="anim:float:2210"/>
          <p:cNvSpPr txBox="1"/>
          <p:nvPr/>
        </p:nvSpPr>
        <p:spPr>
          <a:xfrm>
            <a:off x="7882128" y="2825496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3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 – 30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to 5 markets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pilot; subscriber growth</a:t>
            </a:r>
            <a:endParaRPr lang="en-US" sz="1400" dirty="0"/>
          </a:p>
        </p:txBody>
      </p:sp>
      <p:sp>
        <p:nvSpPr>
          <p:cNvPr id="16" name="anim:zoom:2580:500"/>
          <p:cNvSpPr/>
          <p:nvPr/>
        </p:nvSpPr>
        <p:spPr>
          <a:xfrm>
            <a:off x="10277856" y="2020824"/>
            <a:ext cx="256032" cy="256032"/>
          </a:xfrm>
          <a:prstGeom prst="ellipse">
            <a:avLst/>
          </a:prstGeom>
          <a:solidFill>
            <a:srgbClr val="F4EDE2"/>
          </a:solidFill>
          <a:ln w="31750">
            <a:solidFill>
              <a:srgbClr val="6E1630"/>
            </a:solidFill>
            <a:prstDash val="solid"/>
          </a:ln>
        </p:spPr>
      </p:sp>
      <p:sp>
        <p:nvSpPr>
          <p:cNvPr id="17" name="anim:float:2730"/>
          <p:cNvSpPr txBox="1"/>
          <p:nvPr/>
        </p:nvSpPr>
        <p:spPr>
          <a:xfrm>
            <a:off x="10277856" y="251460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b="1" spc="3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– 33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Profitability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BE Aug ’30 · Venture BE Oct ’31</a:t>
            </a:r>
            <a:endParaRPr lang="en-US" sz="1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"/>
                            </p:stCondLst>
                            <p:childTnLst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2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50"/>
                            </p:stCondLst>
                            <p:childTnLst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20"/>
                            </p:stCondLst>
                            <p:childTnLst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170"/>
                            </p:stCondLst>
                            <p:childTnLst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40"/>
                            </p:stCondLst>
                            <p:childTnLst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690"/>
                            </p:stCondLst>
                            <p:childTnLst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9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60"/>
                            </p:stCondLst>
                            <p:childTnLst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210"/>
                            </p:stCondLst>
                            <p:childTnLst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9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80"/>
                            </p:stCondLst>
                            <p:childTnLst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730"/>
                            </p:stCondLst>
                            <p:childTnLst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9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9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VENTURE SCENARIO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venture case built on household growth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17</a:t>
            </a:r>
            <a:endParaRPr lang="en-US" sz="800" dirty="0"/>
          </a:p>
        </p:txBody>
      </p:sp>
      <p:graphicFrame>
        <p:nvGraphicFramePr>
          <p:cNvPr id="7" name="anim:wipeL:500:2800" descr=""/>
          <p:cNvGraphicFramePr/>
          <p:nvPr/>
        </p:nvGraphicFramePr>
        <p:xfrm>
          <a:off x="502920" y="1645920"/>
          <a:ext cx="73152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anim:fade:600"/>
          <p:cNvSpPr txBox="1"/>
          <p:nvPr/>
        </p:nvSpPr>
        <p:spPr>
          <a:xfrm>
            <a:off x="8229600" y="1783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 →  2033</a:t>
            </a:r>
            <a:endParaRPr lang="en-US" sz="1300" dirty="0"/>
          </a:p>
        </p:txBody>
      </p:sp>
      <p:sp>
        <p:nvSpPr>
          <p:cNvPr id="9" name="anim:zoom:3100:800"/>
          <p:cNvSpPr txBox="1"/>
          <p:nvPr/>
        </p:nvSpPr>
        <p:spPr>
          <a:xfrm>
            <a:off x="8229600" y="21031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313,116</a:t>
            </a:r>
            <a:endParaRPr lang="en-US" sz="6000" dirty="0"/>
          </a:p>
        </p:txBody>
      </p:sp>
      <p:sp>
        <p:nvSpPr>
          <p:cNvPr id="10" name="anim:fade:3300"/>
          <p:cNvSpPr txBox="1"/>
          <p:nvPr/>
        </p:nvSpPr>
        <p:spPr>
          <a:xfrm>
            <a:off x="822960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households by 2033</a:t>
            </a:r>
            <a:endParaRPr lang="en-US" sz="1400" dirty="0"/>
          </a:p>
        </p:txBody>
      </p:sp>
      <p:pic>
        <p:nvPicPr>
          <p:cNvPr id="11" name="anim:wipeL:3400:1600" descr="/home/user/Notion/aybal-show/pptx/gen/hous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429000"/>
            <a:ext cx="3200400" cy="800100"/>
          </a:xfrm>
          <a:prstGeom prst="rect">
            <a:avLst/>
          </a:prstGeom>
        </p:spPr>
      </p:pic>
      <p:sp>
        <p:nvSpPr>
          <p:cNvPr id="12" name="anim:zoom:4200:700"/>
          <p:cNvSpPr txBox="1"/>
          <p:nvPr/>
        </p:nvSpPr>
        <p:spPr>
          <a:xfrm>
            <a:off x="8229600" y="44348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085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€39.37M</a:t>
            </a:r>
            <a:endParaRPr lang="en-US" sz="4600" dirty="0"/>
          </a:p>
        </p:txBody>
      </p:sp>
      <p:sp>
        <p:nvSpPr>
          <p:cNvPr id="13" name="anim:fade:4400"/>
          <p:cNvSpPr txBox="1"/>
          <p:nvPr/>
        </p:nvSpPr>
        <p:spPr>
          <a:xfrm>
            <a:off x="8229600" y="5166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2033 revenue</a:t>
            </a:r>
            <a:endParaRPr lang="en-US" sz="1400" dirty="0"/>
          </a:p>
        </p:txBody>
      </p:sp>
      <p:sp>
        <p:nvSpPr>
          <p:cNvPr id="14" name="anim:fade:4600"/>
          <p:cNvSpPr txBox="1"/>
          <p:nvPr/>
        </p:nvSpPr>
        <p:spPr>
          <a:xfrm>
            <a:off x="8229600" y="5577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2,571 households in 2027 · scenario, not forecast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28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100"/>
                            </p:stCondLst>
                            <p:childTnLst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30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400"/>
                            </p:stCondLst>
                            <p:childTnLst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1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200"/>
                            </p:stCondLst>
                            <p:childTnLst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7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400"/>
                            </p:stCondLst>
                            <p:childTnLst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600"/>
                            </p:stCondLst>
                            <p:childTnLst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7" grpId="0">
        <p:bldAsOne/>
      </p:bldGraphic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ILLUSTRATIVE EBITDA SCENARIOS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Profitability follows disciplined scale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800" dirty="0"/>
          </a:p>
        </p:txBody>
      </p:sp>
      <p:graphicFrame>
        <p:nvGraphicFramePr>
          <p:cNvPr id="7" name="anim:wipeU:400:2400" descr=""/>
          <p:cNvGraphicFramePr/>
          <p:nvPr/>
        </p:nvGraphicFramePr>
        <p:xfrm>
          <a:off x="502920" y="1645920"/>
          <a:ext cx="73152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anim:zoom:2800:400"/>
          <p:cNvSpPr txBox="1"/>
          <p:nvPr/>
        </p:nvSpPr>
        <p:spPr>
          <a:xfrm>
            <a:off x="8229600" y="182880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B08A4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CASE</a:t>
            </a:r>
            <a:endParaRPr lang="en-US" sz="850" dirty="0"/>
          </a:p>
        </p:txBody>
      </p:sp>
      <p:sp>
        <p:nvSpPr>
          <p:cNvPr id="9" name="anim:float:2900"/>
          <p:cNvSpPr txBox="1"/>
          <p:nvPr/>
        </p:nvSpPr>
        <p:spPr>
          <a:xfrm>
            <a:off x="8229600" y="2148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 ’30</a:t>
            </a:r>
            <a:endParaRPr lang="en-US" sz="5000" dirty="0"/>
          </a:p>
        </p:txBody>
      </p:sp>
      <p:sp>
        <p:nvSpPr>
          <p:cNvPr id="10" name="anim:fade:3000"/>
          <p:cNvSpPr txBox="1"/>
          <p:nvPr/>
        </p:nvSpPr>
        <p:spPr>
          <a:xfrm>
            <a:off x="822960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case break-even</a:t>
            </a:r>
            <a:endParaRPr lang="en-US" sz="1400" dirty="0"/>
          </a:p>
        </p:txBody>
      </p:sp>
      <p:sp>
        <p:nvSpPr>
          <p:cNvPr id="11" name="anim:zoom:3400:400"/>
          <p:cNvSpPr txBox="1"/>
          <p:nvPr/>
        </p:nvSpPr>
        <p:spPr>
          <a:xfrm>
            <a:off x="8229600" y="3429000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6E163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CASE</a:t>
            </a:r>
            <a:endParaRPr lang="en-US" sz="850" dirty="0"/>
          </a:p>
        </p:txBody>
      </p:sp>
      <p:sp>
        <p:nvSpPr>
          <p:cNvPr id="12" name="anim:float:3500"/>
          <p:cNvSpPr txBox="1"/>
          <p:nvPr/>
        </p:nvSpPr>
        <p:spPr>
          <a:xfrm>
            <a:off x="8229600" y="3749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OCT ’31</a:t>
            </a:r>
            <a:endParaRPr lang="en-US" sz="5000" dirty="0"/>
          </a:p>
        </p:txBody>
      </p:sp>
      <p:sp>
        <p:nvSpPr>
          <p:cNvPr id="13" name="anim:fade:3600"/>
          <p:cNvSpPr txBox="1"/>
          <p:nvPr/>
        </p:nvSpPr>
        <p:spPr>
          <a:xfrm>
            <a:off x="8229600" y="45262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case break-even</a:t>
            </a:r>
            <a:endParaRPr lang="en-US" sz="1400" dirty="0"/>
          </a:p>
        </p:txBody>
      </p:sp>
      <p:sp>
        <p:nvSpPr>
          <p:cNvPr id="14" name="anim:fade:4200"/>
          <p:cNvSpPr txBox="1"/>
          <p:nvPr/>
        </p:nvSpPr>
        <p:spPr>
          <a:xfrm>
            <a:off x="8229600" y="52578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outputs, not promises. Demand and retention remain unproven; an investment may result in total loss.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"/>
                            </p:stCondLst>
                            <p:childTnLst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800"/>
                            </p:stCondLst>
                            <p:childTnLst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900"/>
                            </p:stCondLst>
                            <p:childTnLst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400"/>
                            </p:stCondLst>
                            <p:childTnLst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4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600"/>
                            </p:stCondLst>
                            <p:childTnLst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200"/>
                            </p:stCondLst>
                            <p:childTnLst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THE ROUND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focused €250k pre-seed round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800" dirty="0"/>
          </a:p>
        </p:txBody>
      </p:sp>
      <p:sp>
        <p:nvSpPr>
          <p:cNvPr id="7" name="anim:zoom:300:900"/>
          <p:cNvSpPr txBox="1"/>
          <p:nvPr/>
        </p:nvSpPr>
        <p:spPr>
          <a:xfrm>
            <a:off x="713232" y="1737360"/>
            <a:ext cx="5760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€250,000</a:t>
            </a:r>
            <a:endParaRPr lang="en-US" sz="7600" dirty="0"/>
          </a:p>
        </p:txBody>
      </p:sp>
      <p:sp>
        <p:nvSpPr>
          <p:cNvPr id="8" name="anim:fade:900"/>
          <p:cNvSpPr txBox="1"/>
          <p:nvPr/>
        </p:nvSpPr>
        <p:spPr>
          <a:xfrm>
            <a:off x="713232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$285,000</a:t>
            </a:r>
            <a:endParaRPr lang="en-US" sz="1700" dirty="0"/>
          </a:p>
        </p:txBody>
      </p:sp>
      <p:sp>
        <p:nvSpPr>
          <p:cNvPr id="9" name="anim:wipeL:1100"/>
          <p:cNvSpPr/>
          <p:nvPr/>
        </p:nvSpPr>
        <p:spPr>
          <a:xfrm>
            <a:off x="713232" y="3931920"/>
            <a:ext cx="2560320" cy="0"/>
          </a:xfrm>
          <a:prstGeom prst="line">
            <a:avLst/>
          </a:prstGeom>
          <a:noFill/>
          <a:ln w="9525">
            <a:solidFill>
              <a:srgbClr val="6B5040"/>
            </a:solidFill>
            <a:prstDash val="solid"/>
          </a:ln>
        </p:spPr>
      </p:sp>
      <p:sp>
        <p:nvSpPr>
          <p:cNvPr id="10" name="anim:float:1100"/>
          <p:cNvSpPr txBox="1"/>
          <p:nvPr/>
        </p:nvSpPr>
        <p:spPr>
          <a:xfrm>
            <a:off x="713232" y="40690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3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CAP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€1.30M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pre-money · ~16% equity at cap</a:t>
            </a:r>
            <a:endParaRPr lang="en-US" sz="1400" dirty="0"/>
          </a:p>
        </p:txBody>
      </p:sp>
      <p:sp>
        <p:nvSpPr>
          <p:cNvPr id="11" name="anim:wipeL:1300"/>
          <p:cNvSpPr/>
          <p:nvPr/>
        </p:nvSpPr>
        <p:spPr>
          <a:xfrm>
            <a:off x="3547872" y="3931920"/>
            <a:ext cx="2560320" cy="0"/>
          </a:xfrm>
          <a:prstGeom prst="line">
            <a:avLst/>
          </a:prstGeom>
          <a:noFill/>
          <a:ln w="9525">
            <a:solidFill>
              <a:srgbClr val="6B5040"/>
            </a:solidFill>
            <a:prstDash val="solid"/>
          </a:ln>
        </p:spPr>
      </p:sp>
      <p:sp>
        <p:nvSpPr>
          <p:cNvPr id="12" name="anim:float:1300"/>
          <p:cNvSpPr txBox="1"/>
          <p:nvPr/>
        </p:nvSpPr>
        <p:spPr>
          <a:xfrm>
            <a:off x="3547872" y="4069080"/>
            <a:ext cx="2651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3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CLOSE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March 2027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contact: Gönül</a:t>
            </a:r>
            <a:endParaRPr lang="en-US" sz="1400" dirty="0"/>
          </a:p>
        </p:txBody>
      </p:sp>
      <p:sp>
        <p:nvSpPr>
          <p:cNvPr id="13" name="anim:fade:1000"/>
          <p:cNvSpPr txBox="1"/>
          <p:nvPr/>
        </p:nvSpPr>
        <p:spPr>
          <a:xfrm>
            <a:off x="676656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VALUATION FRAME</a:t>
            </a:r>
            <a:endParaRPr lang="en-US" sz="1000" dirty="0"/>
          </a:p>
        </p:txBody>
      </p:sp>
      <p:sp>
        <p:nvSpPr>
          <p:cNvPr id="14" name="anim:float:1400"/>
          <p:cNvSpPr txBox="1"/>
          <p:nvPr/>
        </p:nvSpPr>
        <p:spPr>
          <a:xfrm>
            <a:off x="67665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€52M</a:t>
            </a:r>
            <a:endParaRPr lang="en-US" sz="3000" dirty="0"/>
          </a:p>
        </p:txBody>
      </p:sp>
      <p:sp>
        <p:nvSpPr>
          <p:cNvPr id="15" name="anim:float:1400"/>
          <p:cNvSpPr txBox="1"/>
          <p:nvPr/>
        </p:nvSpPr>
        <p:spPr>
          <a:xfrm>
            <a:off x="8595360" y="24048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 reference</a:t>
            </a:r>
            <a:endParaRPr lang="en-US" sz="1200" dirty="0"/>
          </a:p>
        </p:txBody>
      </p:sp>
      <p:sp>
        <p:nvSpPr>
          <p:cNvPr id="16" name="anim:fade:1400"/>
          <p:cNvSpPr/>
          <p:nvPr/>
        </p:nvSpPr>
        <p:spPr>
          <a:xfrm>
            <a:off x="6766560" y="2807208"/>
            <a:ext cx="4709160" cy="128016"/>
          </a:xfrm>
          <a:prstGeom prst="roundRect">
            <a:avLst>
              <a:gd name="adj" fmla="val 50000"/>
            </a:avLst>
          </a:prstGeom>
          <a:solidFill>
            <a:srgbClr val="451828"/>
          </a:solidFill>
          <a:ln/>
        </p:spPr>
      </p:sp>
      <p:sp>
        <p:nvSpPr>
          <p:cNvPr id="17" name="anim:wipeL:1700:756"/>
          <p:cNvSpPr/>
          <p:nvPr/>
        </p:nvSpPr>
        <p:spPr>
          <a:xfrm>
            <a:off x="6766560" y="2807208"/>
            <a:ext cx="612191" cy="128016"/>
          </a:xfrm>
          <a:prstGeom prst="roundRect">
            <a:avLst>
              <a:gd name="adj" fmla="val 50000"/>
            </a:avLst>
          </a:prstGeom>
          <a:solidFill>
            <a:srgbClr val="D4B27A"/>
          </a:solidFill>
          <a:ln/>
        </p:spPr>
      </p:sp>
      <p:sp>
        <p:nvSpPr>
          <p:cNvPr id="18" name="anim:float:1850"/>
          <p:cNvSpPr txBox="1"/>
          <p:nvPr/>
        </p:nvSpPr>
        <p:spPr>
          <a:xfrm>
            <a:off x="6766560" y="3246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€175M</a:t>
            </a:r>
            <a:endParaRPr lang="en-US" sz="3000" dirty="0"/>
          </a:p>
        </p:txBody>
      </p:sp>
      <p:sp>
        <p:nvSpPr>
          <p:cNvPr id="19" name="anim:float:1850"/>
          <p:cNvSpPr txBox="1"/>
          <p:nvPr/>
        </p:nvSpPr>
        <p:spPr>
          <a:xfrm>
            <a:off x="8595360" y="34107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scenario — 2033</a:t>
            </a:r>
            <a:endParaRPr lang="en-US" sz="1200" dirty="0"/>
          </a:p>
        </p:txBody>
      </p:sp>
      <p:sp>
        <p:nvSpPr>
          <p:cNvPr id="20" name="anim:fade:1850"/>
          <p:cNvSpPr/>
          <p:nvPr/>
        </p:nvSpPr>
        <p:spPr>
          <a:xfrm>
            <a:off x="6766560" y="3813048"/>
            <a:ext cx="4709160" cy="128016"/>
          </a:xfrm>
          <a:prstGeom prst="roundRect">
            <a:avLst>
              <a:gd name="adj" fmla="val 50000"/>
            </a:avLst>
          </a:prstGeom>
          <a:solidFill>
            <a:srgbClr val="451828"/>
          </a:solidFill>
          <a:ln/>
        </p:spPr>
      </p:sp>
      <p:sp>
        <p:nvSpPr>
          <p:cNvPr id="21" name="anim:wipeL:2150:1125"/>
          <p:cNvSpPr/>
          <p:nvPr/>
        </p:nvSpPr>
        <p:spPr>
          <a:xfrm>
            <a:off x="6766560" y="3813048"/>
            <a:ext cx="2060258" cy="128016"/>
          </a:xfrm>
          <a:prstGeom prst="roundRect">
            <a:avLst>
              <a:gd name="adj" fmla="val 50000"/>
            </a:avLst>
          </a:prstGeom>
          <a:solidFill>
            <a:srgbClr val="D4B27A"/>
          </a:solidFill>
          <a:ln/>
        </p:spPr>
      </p:sp>
      <p:sp>
        <p:nvSpPr>
          <p:cNvPr id="22" name="anim:float:2300"/>
          <p:cNvSpPr txBox="1"/>
          <p:nvPr/>
        </p:nvSpPr>
        <p:spPr>
          <a:xfrm>
            <a:off x="6766560" y="4251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€400M</a:t>
            </a:r>
            <a:endParaRPr lang="en-US" sz="3000" dirty="0"/>
          </a:p>
        </p:txBody>
      </p:sp>
      <p:sp>
        <p:nvSpPr>
          <p:cNvPr id="23" name="anim:float:2300"/>
          <p:cNvSpPr txBox="1"/>
          <p:nvPr/>
        </p:nvSpPr>
        <p:spPr>
          <a:xfrm>
            <a:off x="8595360" y="44165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scenario — 2030</a:t>
            </a:r>
            <a:endParaRPr lang="en-US" sz="1200" dirty="0"/>
          </a:p>
        </p:txBody>
      </p:sp>
      <p:sp>
        <p:nvSpPr>
          <p:cNvPr id="24" name="anim:fade:2300"/>
          <p:cNvSpPr/>
          <p:nvPr/>
        </p:nvSpPr>
        <p:spPr>
          <a:xfrm>
            <a:off x="6766560" y="4818888"/>
            <a:ext cx="4709160" cy="128016"/>
          </a:xfrm>
          <a:prstGeom prst="roundRect">
            <a:avLst>
              <a:gd name="adj" fmla="val 50000"/>
            </a:avLst>
          </a:prstGeom>
          <a:solidFill>
            <a:srgbClr val="451828"/>
          </a:solidFill>
          <a:ln/>
        </p:spPr>
      </p:sp>
      <p:sp>
        <p:nvSpPr>
          <p:cNvPr id="25" name="anim:wipeL:2600:1800"/>
          <p:cNvSpPr/>
          <p:nvPr/>
        </p:nvSpPr>
        <p:spPr>
          <a:xfrm>
            <a:off x="6766560" y="4818888"/>
            <a:ext cx="4709160" cy="128016"/>
          </a:xfrm>
          <a:prstGeom prst="roundRect">
            <a:avLst>
              <a:gd name="adj" fmla="val 50000"/>
            </a:avLst>
          </a:prstGeom>
          <a:solidFill>
            <a:srgbClr val="D4B27A"/>
          </a:solidFill>
          <a:ln/>
        </p:spPr>
      </p:sp>
      <p:sp>
        <p:nvSpPr>
          <p:cNvPr id="26" name="anim:fade:3200"/>
          <p:cNvSpPr txBox="1"/>
          <p:nvPr/>
        </p:nvSpPr>
        <p:spPr>
          <a:xfrm>
            <a:off x="6766560" y="53492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 beta evidence, diligence and final legal terms. All valuations are forward-looking scenarios, not guarantees.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900"/>
                            </p:stCondLst>
                            <p:childTnLst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100"/>
                            </p:stCondLst>
                            <p:childTnLst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100"/>
                            </p:stCondLst>
                            <p:childTnLst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00"/>
                            </p:stCondLst>
                            <p:childTnLst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8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300"/>
                            </p:stCondLst>
                            <p:childTnLst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400"/>
                            </p:stCondLst>
                            <p:childTnLst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400"/>
                            </p:stCondLst>
                            <p:childTnLst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9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400"/>
                            </p:stCondLst>
                            <p:childTnLst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700"/>
                            </p:stCondLst>
                            <p:childTnLst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756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850"/>
                            </p:stCondLst>
                            <p:childTnLst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9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9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850"/>
                            </p:stCondLst>
                            <p:childTnLst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9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9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850"/>
                            </p:stCondLst>
                            <p:childTnLst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150"/>
                            </p:stCondLst>
                            <p:childTnLst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1125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300"/>
                            </p:stCondLst>
                            <p:childTnLst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9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9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300"/>
                            </p:stCondLst>
                            <p:childTnLst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9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9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300"/>
                            </p:stCondLst>
                            <p:childTnLst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600"/>
                            </p:stCondLst>
                            <p:childTnLst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4" dur="18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200"/>
                            </p:stCondLst>
                            <p:childTnLst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USE OF FUNDS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Capital goes first to execution capacity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800" dirty="0"/>
          </a:p>
        </p:txBody>
      </p:sp>
      <p:graphicFrame>
        <p:nvGraphicFramePr>
          <p:cNvPr id="7" name="anim:wheel:300:1600" descr=""/>
          <p:cNvGraphicFramePr/>
          <p:nvPr/>
        </p:nvGraphicFramePr>
        <p:xfrm>
          <a:off x="640080" y="1600200"/>
          <a:ext cx="4572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anim:zoom:1700:600"/>
          <p:cNvSpPr txBox="1"/>
          <p:nvPr/>
        </p:nvSpPr>
        <p:spPr>
          <a:xfrm>
            <a:off x="2011680" y="34290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€250k</a:t>
            </a:r>
            <a:endParaRPr lang="en-US" sz="1400" dirty="0"/>
          </a:p>
          <a:p>
            <a:pPr algn="ctr" indent="0" marL="0">
              <a:buNone/>
            </a:pPr>
            <a:r>
              <a:rPr lang="en-US" sz="900" b="1" spc="3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</a:t>
            </a:r>
            <a:endParaRPr lang="en-US" sz="1400" dirty="0"/>
          </a:p>
        </p:txBody>
      </p:sp>
      <p:sp>
        <p:nvSpPr>
          <p:cNvPr id="9" name="anim:zoom:700:400"/>
          <p:cNvSpPr/>
          <p:nvPr/>
        </p:nvSpPr>
        <p:spPr>
          <a:xfrm>
            <a:off x="6035040" y="213969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E1630"/>
          </a:solidFill>
          <a:ln/>
        </p:spPr>
      </p:sp>
      <p:sp>
        <p:nvSpPr>
          <p:cNvPr id="10" name="anim:float:700"/>
          <p:cNvSpPr txBox="1"/>
          <p:nvPr/>
        </p:nvSpPr>
        <p:spPr>
          <a:xfrm>
            <a:off x="6400800" y="19202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3200" dirty="0"/>
          </a:p>
        </p:txBody>
      </p:sp>
      <p:sp>
        <p:nvSpPr>
          <p:cNvPr id="11" name="anim:float:700"/>
          <p:cNvSpPr txBox="1"/>
          <p:nvPr/>
        </p:nvSpPr>
        <p:spPr>
          <a:xfrm>
            <a:off x="754380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600" dirty="0"/>
          </a:p>
        </p:txBody>
      </p:sp>
      <p:sp>
        <p:nvSpPr>
          <p:cNvPr id="12" name="anim:float:700"/>
          <p:cNvSpPr txBox="1"/>
          <p:nvPr/>
        </p:nvSpPr>
        <p:spPr>
          <a:xfrm>
            <a:off x="10149840" y="192024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€125,000</a:t>
            </a:r>
            <a:endParaRPr lang="en-US" sz="1400" dirty="0"/>
          </a:p>
        </p:txBody>
      </p:sp>
      <p:sp>
        <p:nvSpPr>
          <p:cNvPr id="13" name="anim:wipeL:800"/>
          <p:cNvSpPr/>
          <p:nvPr/>
        </p:nvSpPr>
        <p:spPr>
          <a:xfrm>
            <a:off x="6035040" y="2670048"/>
            <a:ext cx="5440680" cy="0"/>
          </a:xfrm>
          <a:prstGeom prst="line">
            <a:avLst/>
          </a:prstGeom>
          <a:noFill/>
          <a:ln w="9525">
            <a:solidFill>
              <a:srgbClr val="DCCFBF"/>
            </a:solidFill>
            <a:prstDash val="solid"/>
          </a:ln>
        </p:spPr>
      </p:sp>
      <p:sp>
        <p:nvSpPr>
          <p:cNvPr id="14" name="anim:zoom:1100:400"/>
          <p:cNvSpPr/>
          <p:nvPr/>
        </p:nvSpPr>
        <p:spPr>
          <a:xfrm>
            <a:off x="6035040" y="300837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B08A4A"/>
          </a:solidFill>
          <a:ln/>
        </p:spPr>
      </p:sp>
      <p:sp>
        <p:nvSpPr>
          <p:cNvPr id="15" name="anim:float:1100"/>
          <p:cNvSpPr txBox="1"/>
          <p:nvPr/>
        </p:nvSpPr>
        <p:spPr>
          <a:xfrm>
            <a:off x="6400800" y="27889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3200" dirty="0"/>
          </a:p>
        </p:txBody>
      </p:sp>
      <p:sp>
        <p:nvSpPr>
          <p:cNvPr id="16" name="anim:float:1100"/>
          <p:cNvSpPr txBox="1"/>
          <p:nvPr/>
        </p:nvSpPr>
        <p:spPr>
          <a:xfrm>
            <a:off x="7543800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17" name="anim:float:1100"/>
          <p:cNvSpPr txBox="1"/>
          <p:nvPr/>
        </p:nvSpPr>
        <p:spPr>
          <a:xfrm>
            <a:off x="10149840" y="278892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€62,500</a:t>
            </a:r>
            <a:endParaRPr lang="en-US" sz="1400" dirty="0"/>
          </a:p>
        </p:txBody>
      </p:sp>
      <p:sp>
        <p:nvSpPr>
          <p:cNvPr id="18" name="anim:wipeL:1200"/>
          <p:cNvSpPr/>
          <p:nvPr/>
        </p:nvSpPr>
        <p:spPr>
          <a:xfrm>
            <a:off x="6035040" y="3538728"/>
            <a:ext cx="5440680" cy="0"/>
          </a:xfrm>
          <a:prstGeom prst="line">
            <a:avLst/>
          </a:prstGeom>
          <a:noFill/>
          <a:ln w="9525">
            <a:solidFill>
              <a:srgbClr val="DCCFBF"/>
            </a:solidFill>
            <a:prstDash val="solid"/>
          </a:ln>
        </p:spPr>
      </p:sp>
      <p:sp>
        <p:nvSpPr>
          <p:cNvPr id="19" name="anim:zoom:1500:400"/>
          <p:cNvSpPr/>
          <p:nvPr/>
        </p:nvSpPr>
        <p:spPr>
          <a:xfrm>
            <a:off x="6035040" y="38770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C35A76"/>
          </a:solidFill>
          <a:ln/>
        </p:spPr>
      </p:sp>
      <p:sp>
        <p:nvSpPr>
          <p:cNvPr id="20" name="anim:float:1500"/>
          <p:cNvSpPr txBox="1"/>
          <p:nvPr/>
        </p:nvSpPr>
        <p:spPr>
          <a:xfrm>
            <a:off x="6400800" y="3657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3200" dirty="0"/>
          </a:p>
        </p:txBody>
      </p:sp>
      <p:sp>
        <p:nvSpPr>
          <p:cNvPr id="21" name="anim:float:1500"/>
          <p:cNvSpPr txBox="1"/>
          <p:nvPr/>
        </p:nvSpPr>
        <p:spPr>
          <a:xfrm>
            <a:off x="754380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voice operation + store app development</a:t>
            </a:r>
            <a:endParaRPr lang="en-US" sz="1600" dirty="0"/>
          </a:p>
        </p:txBody>
      </p:sp>
      <p:sp>
        <p:nvSpPr>
          <p:cNvPr id="22" name="anim:float:1500"/>
          <p:cNvSpPr txBox="1"/>
          <p:nvPr/>
        </p:nvSpPr>
        <p:spPr>
          <a:xfrm>
            <a:off x="10149840" y="36576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€37,500</a:t>
            </a:r>
            <a:endParaRPr lang="en-US" sz="1400" dirty="0"/>
          </a:p>
        </p:txBody>
      </p:sp>
      <p:sp>
        <p:nvSpPr>
          <p:cNvPr id="23" name="anim:wipeL:1600"/>
          <p:cNvSpPr/>
          <p:nvPr/>
        </p:nvSpPr>
        <p:spPr>
          <a:xfrm>
            <a:off x="6035040" y="4407408"/>
            <a:ext cx="5440680" cy="0"/>
          </a:xfrm>
          <a:prstGeom prst="line">
            <a:avLst/>
          </a:prstGeom>
          <a:noFill/>
          <a:ln w="9525">
            <a:solidFill>
              <a:srgbClr val="DCCFBF"/>
            </a:solidFill>
            <a:prstDash val="solid"/>
          </a:ln>
        </p:spPr>
      </p:sp>
      <p:sp>
        <p:nvSpPr>
          <p:cNvPr id="24" name="anim:zoom:1900:400"/>
          <p:cNvSpPr/>
          <p:nvPr/>
        </p:nvSpPr>
        <p:spPr>
          <a:xfrm>
            <a:off x="6035040" y="474573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3E1022"/>
          </a:solidFill>
          <a:ln/>
        </p:spPr>
      </p:sp>
      <p:sp>
        <p:nvSpPr>
          <p:cNvPr id="25" name="anim:float:1900"/>
          <p:cNvSpPr txBox="1"/>
          <p:nvPr/>
        </p:nvSpPr>
        <p:spPr>
          <a:xfrm>
            <a:off x="6400800" y="4526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3200" dirty="0"/>
          </a:p>
        </p:txBody>
      </p:sp>
      <p:sp>
        <p:nvSpPr>
          <p:cNvPr id="26" name="anim:float:1900"/>
          <p:cNvSpPr txBox="1"/>
          <p:nvPr/>
        </p:nvSpPr>
        <p:spPr>
          <a:xfrm>
            <a:off x="7543800" y="4526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Legal / trust</a:t>
            </a:r>
            <a:endParaRPr lang="en-US" sz="1600" dirty="0"/>
          </a:p>
        </p:txBody>
      </p:sp>
      <p:sp>
        <p:nvSpPr>
          <p:cNvPr id="27" name="anim:float:1900"/>
          <p:cNvSpPr txBox="1"/>
          <p:nvPr/>
        </p:nvSpPr>
        <p:spPr>
          <a:xfrm>
            <a:off x="10149840" y="452628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€25,000</a:t>
            </a:r>
            <a:endParaRPr lang="en-US" sz="1400" dirty="0"/>
          </a:p>
        </p:txBody>
      </p:sp>
      <p:sp>
        <p:nvSpPr>
          <p:cNvPr id="28" name="anim:wipeL:2000"/>
          <p:cNvSpPr/>
          <p:nvPr/>
        </p:nvSpPr>
        <p:spPr>
          <a:xfrm>
            <a:off x="6035040" y="5276088"/>
            <a:ext cx="5440680" cy="0"/>
          </a:xfrm>
          <a:prstGeom prst="line">
            <a:avLst/>
          </a:prstGeom>
          <a:noFill/>
          <a:ln w="9525">
            <a:solidFill>
              <a:srgbClr val="DCCFBF"/>
            </a:solidFill>
            <a:prstDash val="solid"/>
          </a:ln>
        </p:spPr>
      </p:sp>
      <p:sp>
        <p:nvSpPr>
          <p:cNvPr id="29" name="anim:fade:2600"/>
          <p:cNvSpPr txBox="1"/>
          <p:nvPr/>
        </p:nvSpPr>
        <p:spPr>
          <a:xfrm>
            <a:off x="6035040" y="5486400"/>
            <a:ext cx="5440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totals reflect the operating budget and may vary slightly from round proceeds due to timing and FX.</a:t>
            </a:r>
            <a:endParaRPr lang="en-US" sz="11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"/>
                            </p:stCondLst>
                            <p:childTnLst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00"/>
                            </p:stCondLst>
                            <p:childTnLst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00"/>
                            </p:stCondLst>
                            <p:childTnLst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"/>
                            </p:stCondLst>
                            <p:childTnLst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8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100"/>
                            </p:stCondLst>
                            <p:childTnLst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4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4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100"/>
                            </p:stCondLst>
                            <p:childTnLst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9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100"/>
                            </p:stCondLst>
                            <p:childTnLst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9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100"/>
                            </p:stCondLst>
                            <p:childTnLst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9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9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200"/>
                            </p:stCondLst>
                            <p:childTnLst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8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4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9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9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9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00"/>
                            </p:stCondLst>
                            <p:childTnLst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9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9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600"/>
                            </p:stCondLst>
                            <p:childTnLst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8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700"/>
                            </p:stCondLst>
                            <p:childTnLst>
                              <p:par>
                                <p:cTn id="10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6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900"/>
                            </p:stCondLst>
                            <p:childTnLst>
                              <p:par>
                                <p:cTn id="11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4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400" fill="hold" decel="100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9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9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900"/>
                            </p:stCondLst>
                            <p:childTnLst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9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9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9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900"/>
                            </p:stCondLst>
                            <p:childTnLst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9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9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000"/>
                            </p:stCondLst>
                            <p:childTnLst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2" dur="8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2600"/>
                            </p:stCondLst>
                            <p:childTnLst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7" grpId="0">
        <p:bldAsOne/>
      </p:bldGraphic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MILESTONE GATES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only after evidence clears the gate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800" dirty="0"/>
          </a:p>
        </p:txBody>
      </p:sp>
      <p:sp>
        <p:nvSpPr>
          <p:cNvPr id="7" name="anim:wipeU:300:900"/>
          <p:cNvSpPr txBox="1"/>
          <p:nvPr/>
        </p:nvSpPr>
        <p:spPr>
          <a:xfrm>
            <a:off x="713232" y="3840480"/>
            <a:ext cx="2011680" cy="2514600"/>
          </a:xfrm>
          <a:prstGeom prst="roundRect">
            <a:avLst>
              <a:gd name="adj" fmla="val 6364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177800" tIns="203200" rIns="152400" bIns="152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0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spc="3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2027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trials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≥43% trial-to-pay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≤25% month-one churn</a:t>
            </a:r>
            <a:endParaRPr lang="en-US" sz="1400" dirty="0"/>
          </a:p>
        </p:txBody>
      </p:sp>
      <p:sp>
        <p:nvSpPr>
          <p:cNvPr id="8" name="anim:wipeU:750:900"/>
          <p:cNvSpPr txBox="1"/>
          <p:nvPr/>
        </p:nvSpPr>
        <p:spPr>
          <a:xfrm>
            <a:off x="2898648" y="3429000"/>
            <a:ext cx="2011680" cy="2926080"/>
          </a:xfrm>
          <a:prstGeom prst="roundRect">
            <a:avLst>
              <a:gd name="adj" fmla="val 6364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177800" tIns="203200" rIns="152400" bIns="152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0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spc="3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2028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retention ≥38%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K-factor ≥0.25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≥3</a:t>
            </a:r>
            <a:endParaRPr lang="en-US" sz="1400" dirty="0"/>
          </a:p>
        </p:txBody>
      </p:sp>
      <p:sp>
        <p:nvSpPr>
          <p:cNvPr id="9" name="anim:wipeU:1200:900"/>
          <p:cNvSpPr txBox="1"/>
          <p:nvPr/>
        </p:nvSpPr>
        <p:spPr>
          <a:xfrm>
            <a:off x="5084064" y="3017520"/>
            <a:ext cx="2011680" cy="3337560"/>
          </a:xfrm>
          <a:prstGeom prst="roundRect">
            <a:avLst>
              <a:gd name="adj" fmla="val 6364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177800" tIns="203200" rIns="152400" bIns="152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0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spc="3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Efficiency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≥5.5%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signup ≤€3.50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CAC ≤€54</a:t>
            </a:r>
            <a:endParaRPr lang="en-US" sz="1400" dirty="0"/>
          </a:p>
        </p:txBody>
      </p:sp>
      <p:sp>
        <p:nvSpPr>
          <p:cNvPr id="10" name="anim:wipeU:1650:900"/>
          <p:cNvSpPr txBox="1"/>
          <p:nvPr/>
        </p:nvSpPr>
        <p:spPr>
          <a:xfrm>
            <a:off x="7269480" y="2606040"/>
            <a:ext cx="2011680" cy="3749040"/>
          </a:xfrm>
          <a:prstGeom prst="roundRect">
            <a:avLst>
              <a:gd name="adj" fmla="val 6364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177800" tIns="203200" rIns="152400" bIns="152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B0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spc="3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markets live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pilot</a:t>
            </a:r>
            <a:endParaRPr lang="en-US" sz="1400" dirty="0"/>
          </a:p>
        </p:txBody>
      </p:sp>
      <p:sp>
        <p:nvSpPr>
          <p:cNvPr id="11" name="anim:wipeU:2100:900"/>
          <p:cNvSpPr txBox="1"/>
          <p:nvPr/>
        </p:nvSpPr>
        <p:spPr>
          <a:xfrm>
            <a:off x="9454896" y="2103120"/>
            <a:ext cx="2011680" cy="4251960"/>
          </a:xfrm>
          <a:prstGeom prst="roundRect">
            <a:avLst>
              <a:gd name="adj" fmla="val 6364"/>
            </a:avLst>
          </a:prstGeom>
          <a:solidFill>
            <a:srgbClr val="6E1630"/>
          </a:solidFill>
          <a:ln w="9525">
            <a:solidFill>
              <a:srgbClr val="6E1630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177800" tIns="203200" rIns="152400" bIns="15240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b="1" spc="300" kern="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€400M enterprise value target — not a forecast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F4EDE2"/>
          </a:solidFill>
          <a:ln w="12700">
            <a:solidFill>
              <a:srgbClr val="F4EDE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8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"/>
                            </p:stCondLst>
                            <p:childTnLst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00"/>
                            </p:stCondLst>
                            <p:childTnLst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650"/>
                            </p:stCondLst>
                            <p:childTnLst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100"/>
                            </p:stCondLst>
                            <p:childTnLst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RISK MANAGEMENT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is explicit—and instrumented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800" dirty="0"/>
          </a:p>
        </p:txBody>
      </p:sp>
      <p:sp>
        <p:nvSpPr>
          <p:cNvPr id="7" name="anim:float:250"/>
          <p:cNvSpPr txBox="1"/>
          <p:nvPr/>
        </p:nvSpPr>
        <p:spPr>
          <a:xfrm>
            <a:off x="713232" y="182880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2E0B18"/>
          </a:solidFill>
          <a:ln w="9525">
            <a:solidFill>
              <a:srgbClr val="2E0B18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203200" tIns="203200" rIns="177800" bIns="1524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 up front. Mitigated by design.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risks, each with a concrete mitigation.</a:t>
            </a:r>
            <a:endParaRPr lang="en-US" sz="1200" dirty="0"/>
          </a:p>
        </p:txBody>
      </p:sp>
      <p:sp>
        <p:nvSpPr>
          <p:cNvPr id="8" name="anim:float:420"/>
          <p:cNvSpPr txBox="1"/>
          <p:nvPr/>
        </p:nvSpPr>
        <p:spPr>
          <a:xfrm>
            <a:off x="3447288" y="182880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203200" tIns="203200" rIns="482600" bIns="1524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Retention &amp; demand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beta cohorts; gate spend on conversion and churn.</a:t>
            </a:r>
            <a:endParaRPr lang="en-US" sz="1200" dirty="0"/>
          </a:p>
        </p:txBody>
      </p:sp>
      <p:pic>
        <p:nvPicPr>
          <p:cNvPr id="9" name="anim:zoom:720:400" descr="/home/user/Notion/aybal-show/pptx/gen/icon-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2057400"/>
            <a:ext cx="274320" cy="274320"/>
          </a:xfrm>
          <a:prstGeom prst="rect">
            <a:avLst/>
          </a:prstGeom>
        </p:spPr>
      </p:pic>
      <p:sp>
        <p:nvSpPr>
          <p:cNvPr id="10" name="anim:float:590"/>
          <p:cNvSpPr txBox="1"/>
          <p:nvPr/>
        </p:nvSpPr>
        <p:spPr>
          <a:xfrm>
            <a:off x="6181344" y="182880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203200" tIns="203200" rIns="482600" bIns="1524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CAC &amp; marketing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tests, capped budgets, LTV/CAC thresholds.</a:t>
            </a:r>
            <a:endParaRPr lang="en-US" sz="1200" dirty="0"/>
          </a:p>
        </p:txBody>
      </p:sp>
      <p:pic>
        <p:nvPicPr>
          <p:cNvPr id="11" name="anim:zoom:890:400" descr="/home/user/Notion/aybal-show/pptx/gen/icon-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896" y="2057400"/>
            <a:ext cx="274320" cy="274320"/>
          </a:xfrm>
          <a:prstGeom prst="rect">
            <a:avLst/>
          </a:prstGeom>
        </p:spPr>
      </p:pic>
      <p:sp>
        <p:nvSpPr>
          <p:cNvPr id="12" name="anim:float:760"/>
          <p:cNvSpPr txBox="1"/>
          <p:nvPr/>
        </p:nvSpPr>
        <p:spPr>
          <a:xfrm>
            <a:off x="8915400" y="182880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203200" tIns="203200" rIns="482600" bIns="1524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concentration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hiring, documented operations, advisor support.</a:t>
            </a:r>
            <a:endParaRPr lang="en-US" sz="1200" dirty="0"/>
          </a:p>
        </p:txBody>
      </p:sp>
      <p:pic>
        <p:nvPicPr>
          <p:cNvPr id="13" name="anim:zoom:1060:400" descr="/home/user/Notion/aybal-show/pptx/gen/icon-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2057400"/>
            <a:ext cx="274320" cy="274320"/>
          </a:xfrm>
          <a:prstGeom prst="rect">
            <a:avLst/>
          </a:prstGeom>
        </p:spPr>
      </p:pic>
      <p:sp>
        <p:nvSpPr>
          <p:cNvPr id="14" name="anim:float:930"/>
          <p:cNvSpPr txBox="1"/>
          <p:nvPr/>
        </p:nvSpPr>
        <p:spPr>
          <a:xfrm>
            <a:off x="713232" y="388620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203200" tIns="203200" rIns="482600" bIns="1524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/ copyright / privacy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controls, rights workflow, DPIA and regulatory review.</a:t>
            </a:r>
            <a:endParaRPr lang="en-US" sz="1200" dirty="0"/>
          </a:p>
        </p:txBody>
      </p:sp>
      <p:pic>
        <p:nvPicPr>
          <p:cNvPr id="15" name="anim:zoom:1230:400" descr="/home/user/Notion/aybal-show/pptx/gen/icon-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4114800"/>
            <a:ext cx="274320" cy="274320"/>
          </a:xfrm>
          <a:prstGeom prst="rect">
            <a:avLst/>
          </a:prstGeom>
        </p:spPr>
      </p:pic>
      <p:sp>
        <p:nvSpPr>
          <p:cNvPr id="16" name="anim:float:1100"/>
          <p:cNvSpPr txBox="1"/>
          <p:nvPr/>
        </p:nvSpPr>
        <p:spPr>
          <a:xfrm>
            <a:off x="3447288" y="388620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203200" tIns="203200" rIns="482600" bIns="1524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Trademark &amp; app stores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Clearance before scale; preserve web-first economics.</a:t>
            </a:r>
            <a:endParaRPr lang="en-US" sz="1200" dirty="0"/>
          </a:p>
        </p:txBody>
      </p:sp>
      <p:pic>
        <p:nvPicPr>
          <p:cNvPr id="17" name="anim:zoom:1400:400" descr="/home/user/Notion/aybal-show/pptx/gen/icon-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4114800"/>
            <a:ext cx="274320" cy="274320"/>
          </a:xfrm>
          <a:prstGeom prst="rect">
            <a:avLst/>
          </a:prstGeom>
        </p:spPr>
      </p:pic>
      <p:sp>
        <p:nvSpPr>
          <p:cNvPr id="18" name="anim:float:1270"/>
          <p:cNvSpPr txBox="1"/>
          <p:nvPr/>
        </p:nvSpPr>
        <p:spPr>
          <a:xfrm>
            <a:off x="6181344" y="388620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203200" tIns="203200" rIns="482600" bIns="1524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Türkiye FX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Localized pricing and regular FX sensitivity review.</a:t>
            </a:r>
            <a:endParaRPr lang="en-US" sz="1200" dirty="0"/>
          </a:p>
        </p:txBody>
      </p:sp>
      <p:pic>
        <p:nvPicPr>
          <p:cNvPr id="19" name="anim:zoom:1570:400" descr="/home/user/Notion/aybal-show/pptx/gen/icon-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1896" y="4114800"/>
            <a:ext cx="274320" cy="274320"/>
          </a:xfrm>
          <a:prstGeom prst="rect">
            <a:avLst/>
          </a:prstGeom>
        </p:spPr>
      </p:pic>
      <p:sp>
        <p:nvSpPr>
          <p:cNvPr id="20" name="anim:float:1440"/>
          <p:cNvSpPr txBox="1"/>
          <p:nvPr/>
        </p:nvSpPr>
        <p:spPr>
          <a:xfrm>
            <a:off x="8915400" y="388620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BF7F0"/>
          </a:solidFill>
          <a:ln w="9525">
            <a:solidFill>
              <a:srgbClr val="DCCFBF"/>
            </a:solidFill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  <p:txBody>
          <a:bodyPr wrap="square" lIns="203200" tIns="203200" rIns="482600" bIns="15240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contracts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 excludes uncontracted platform revenue.</a:t>
            </a:r>
            <a:endParaRPr lang="en-US" sz="1200" dirty="0"/>
          </a:p>
        </p:txBody>
      </p:sp>
      <p:pic>
        <p:nvPicPr>
          <p:cNvPr id="21" name="anim:zoom:1740:400" descr="/home/user/Notion/aybal-show/pptx/gen/icon-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5952" y="4114800"/>
            <a:ext cx="274320" cy="274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20"/>
                            </p:stCondLst>
                            <p:childTnLst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9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9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90"/>
                            </p:stCondLst>
                            <p:childTnLst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720"/>
                            </p:stCondLst>
                            <p:childTnLst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4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760"/>
                            </p:stCondLst>
                            <p:childTnLst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90"/>
                            </p:stCondLst>
                            <p:childTnLst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930"/>
                            </p:stCondLst>
                            <p:childTnLst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60"/>
                            </p:stCondLst>
                            <p:childTnLst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4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4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100"/>
                            </p:stCondLst>
                            <p:childTnLst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9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9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230"/>
                            </p:stCondLst>
                            <p:childTnLst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270"/>
                            </p:stCondLst>
                            <p:childTnLst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9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9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400"/>
                            </p:stCondLst>
                            <p:childTnLst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4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4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440"/>
                            </p:stCondLst>
                            <p:childTnLst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1570"/>
                            </p:stCondLst>
                            <p:childTnLst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4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4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740"/>
                            </p:stCondLst>
                            <p:childTnLst>
                              <p:par>
                                <p:cTn id="10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4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0B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800" dirty="0"/>
          </a:p>
        </p:txBody>
      </p:sp>
      <p:sp>
        <p:nvSpPr>
          <p:cNvPr id="5" name="anim:zoom:100:900"/>
          <p:cNvSpPr/>
          <p:nvPr/>
        </p:nvSpPr>
        <p:spPr>
          <a:xfrm>
            <a:off x="713232" y="594360"/>
            <a:ext cx="1143000" cy="1143000"/>
          </a:xfrm>
          <a:prstGeom prst="ellipse">
            <a:avLst/>
          </a:prstGeom>
          <a:solidFill>
            <a:srgbClr val="2E0B18"/>
          </a:solidFill>
          <a:ln w="19050">
            <a:solidFill>
              <a:srgbClr val="D4B27A"/>
            </a:solidFill>
            <a:prstDash val="solid"/>
          </a:ln>
        </p:spPr>
      </p:sp>
      <p:sp>
        <p:nvSpPr>
          <p:cNvPr id="6" name="anim:zoom:400:700"/>
          <p:cNvSpPr txBox="1"/>
          <p:nvPr/>
        </p:nvSpPr>
        <p:spPr>
          <a:xfrm>
            <a:off x="713232" y="59436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</a:t>
            </a:r>
            <a:endParaRPr lang="en-US" sz="3400" dirty="0"/>
          </a:p>
        </p:txBody>
      </p:sp>
      <p:sp>
        <p:nvSpPr>
          <p:cNvPr id="7" name="anim:fade:500"/>
          <p:cNvSpPr txBox="1"/>
          <p:nvPr/>
        </p:nvSpPr>
        <p:spPr>
          <a:xfrm>
            <a:off x="2103120" y="777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 &amp; INVENTOR</a:t>
            </a:r>
            <a:endParaRPr lang="en-US" sz="1000" dirty="0"/>
          </a:p>
        </p:txBody>
      </p:sp>
      <p:sp>
        <p:nvSpPr>
          <p:cNvPr id="8" name="anim:fade:700"/>
          <p:cNvSpPr txBox="1"/>
          <p:nvPr/>
        </p:nvSpPr>
        <p:spPr>
          <a:xfrm>
            <a:off x="2103120" y="10515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B7A7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person who invented Aybal—and built it before asking anyone to fund it.</a:t>
            </a:r>
            <a:endParaRPr lang="en-US" sz="1600" dirty="0"/>
          </a:p>
        </p:txBody>
      </p:sp>
      <p:sp>
        <p:nvSpPr>
          <p:cNvPr id="9" name="anim:float:900:1200"/>
          <p:cNvSpPr txBox="1"/>
          <p:nvPr/>
        </p:nvSpPr>
        <p:spPr>
          <a:xfrm>
            <a:off x="713232" y="18745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Tuncay Sancak</a:t>
            </a:r>
            <a:endParaRPr lang="en-US" sz="5400" dirty="0"/>
          </a:p>
        </p:txBody>
      </p:sp>
      <p:sp>
        <p:nvSpPr>
          <p:cNvPr id="10" name="anim:zoom:1600:400"/>
          <p:cNvSpPr txBox="1"/>
          <p:nvPr/>
        </p:nvSpPr>
        <p:spPr>
          <a:xfrm>
            <a:off x="713232" y="2926080"/>
            <a:ext cx="2148840" cy="329184"/>
          </a:xfrm>
          <a:prstGeom prst="roundRect">
            <a:avLst>
              <a:gd name="adj" fmla="val 50000"/>
            </a:avLst>
          </a:prstGeom>
          <a:solidFill>
            <a:srgbClr val="B08A4A"/>
          </a:solidFill>
          <a:ln w="9525">
            <a:solidFill>
              <a:srgbClr val="B08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0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INVENTOR</a:t>
            </a:r>
            <a:endParaRPr lang="en-US" sz="850" dirty="0"/>
          </a:p>
        </p:txBody>
      </p:sp>
      <p:sp>
        <p:nvSpPr>
          <p:cNvPr id="11" name="anim:zoom:1750:400"/>
          <p:cNvSpPr txBox="1"/>
          <p:nvPr/>
        </p:nvSpPr>
        <p:spPr>
          <a:xfrm>
            <a:off x="2999232" y="292608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2E0B18"/>
          </a:solidFill>
          <a:ln w="9525">
            <a:solidFill>
              <a:srgbClr val="B08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DIRECTOR</a:t>
            </a:r>
            <a:endParaRPr lang="en-US" sz="850" dirty="0"/>
          </a:p>
        </p:txBody>
      </p:sp>
      <p:sp>
        <p:nvSpPr>
          <p:cNvPr id="12" name="anim:zoom:1900:400"/>
          <p:cNvSpPr txBox="1"/>
          <p:nvPr/>
        </p:nvSpPr>
        <p:spPr>
          <a:xfrm>
            <a:off x="5193792" y="2926080"/>
            <a:ext cx="2057400" cy="329184"/>
          </a:xfrm>
          <a:prstGeom prst="roundRect">
            <a:avLst>
              <a:gd name="adj" fmla="val 50000"/>
            </a:avLst>
          </a:prstGeom>
          <a:solidFill>
            <a:srgbClr val="2E0B18"/>
          </a:solidFill>
          <a:ln w="9525">
            <a:solidFill>
              <a:srgbClr val="B08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D4B2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</a:t>
            </a:r>
            <a:endParaRPr lang="en-US" sz="850" dirty="0"/>
          </a:p>
        </p:txBody>
      </p:sp>
      <p:sp>
        <p:nvSpPr>
          <p:cNvPr id="13" name="anim:float:2000"/>
          <p:cNvSpPr txBox="1"/>
          <p:nvPr/>
        </p:nvSpPr>
        <p:spPr>
          <a:xfrm>
            <a:off x="713232" y="3474720"/>
            <a:ext cx="6858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architect and Germany–Türkiye bridge.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project lead, AI expert and data scientist at Mercedes-Benz.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German and Turkish speaker, trilingual in business.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the HappyiZ movement, with a network across families, professionals and educational institutions in Türkiye.</a:t>
            </a:r>
            <a:endParaRPr lang="en-US" sz="13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of children’s books, including the gift book “Good That You Exist”, available in German, Turkish and English.</a:t>
            </a:r>
            <a:endParaRPr lang="en-US" sz="1300" dirty="0"/>
          </a:p>
        </p:txBody>
      </p:sp>
      <p:sp>
        <p:nvSpPr>
          <p:cNvPr id="14" name="anim:zoom:2600:500"/>
          <p:cNvSpPr txBox="1"/>
          <p:nvPr/>
        </p:nvSpPr>
        <p:spPr>
          <a:xfrm>
            <a:off x="713232" y="544068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3A1020"/>
          </a:solidFill>
          <a:ln w="9525">
            <a:solidFill>
              <a:srgbClr val="6B4A36"/>
            </a:solidFill>
          </a:ln>
        </p:spPr>
        <p:txBody>
          <a:bodyPr wrap="square" lIns="127000" tIns="76200" rIns="101600" bIns="7620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1,779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400" dirty="0"/>
          </a:p>
        </p:txBody>
      </p:sp>
      <p:sp>
        <p:nvSpPr>
          <p:cNvPr id="15" name="anim:zoom:2780:500"/>
          <p:cNvSpPr txBox="1"/>
          <p:nvPr/>
        </p:nvSpPr>
        <p:spPr>
          <a:xfrm>
            <a:off x="2450592" y="544068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3A1020"/>
          </a:solidFill>
          <a:ln w="9525">
            <a:solidFill>
              <a:srgbClr val="6B4A36"/>
            </a:solidFill>
          </a:ln>
        </p:spPr>
        <p:txBody>
          <a:bodyPr wrap="square" lIns="127000" tIns="76200" rIns="101600" bIns="7620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languages</a:t>
            </a:r>
            <a:endParaRPr lang="en-US" sz="1400" dirty="0"/>
          </a:p>
        </p:txBody>
      </p:sp>
      <p:sp>
        <p:nvSpPr>
          <p:cNvPr id="16" name="anim:zoom:2960:500"/>
          <p:cNvSpPr txBox="1"/>
          <p:nvPr/>
        </p:nvSpPr>
        <p:spPr>
          <a:xfrm>
            <a:off x="4187952" y="544068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3A1020"/>
          </a:solidFill>
          <a:ln w="9525">
            <a:solidFill>
              <a:srgbClr val="6B4A36"/>
            </a:solidFill>
          </a:ln>
        </p:spPr>
        <p:txBody>
          <a:bodyPr wrap="square" lIns="127000" tIns="76200" rIns="101600" bIns="7620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languages</a:t>
            </a:r>
            <a:endParaRPr lang="en-US" sz="1400" dirty="0"/>
          </a:p>
        </p:txBody>
      </p:sp>
      <p:sp>
        <p:nvSpPr>
          <p:cNvPr id="17" name="anim:zoom:3140:500"/>
          <p:cNvSpPr txBox="1"/>
          <p:nvPr/>
        </p:nvSpPr>
        <p:spPr>
          <a:xfrm>
            <a:off x="5925312" y="5440680"/>
            <a:ext cx="1645920" cy="822960"/>
          </a:xfrm>
          <a:prstGeom prst="roundRect">
            <a:avLst>
              <a:gd name="adj" fmla="val 11111"/>
            </a:avLst>
          </a:prstGeom>
          <a:solidFill>
            <a:srgbClr val="3A1020"/>
          </a:solidFill>
          <a:ln w="9525">
            <a:solidFill>
              <a:srgbClr val="6B4A36"/>
            </a:solidFill>
          </a:ln>
        </p:spPr>
        <p:txBody>
          <a:bodyPr wrap="square" lIns="127000" tIns="76200" rIns="101600" bIns="7620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B7A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financing</a:t>
            </a:r>
            <a:endParaRPr lang="en-US" sz="1400" dirty="0"/>
          </a:p>
        </p:txBody>
      </p:sp>
      <p:sp>
        <p:nvSpPr>
          <p:cNvPr id="18" name="anim:float:1000"/>
          <p:cNvSpPr/>
          <p:nvPr/>
        </p:nvSpPr>
        <p:spPr>
          <a:xfrm>
            <a:off x="8001000" y="914400"/>
            <a:ext cx="3474720" cy="5120640"/>
          </a:xfrm>
          <a:prstGeom prst="roundRect">
            <a:avLst>
              <a:gd name="adj" fmla="val 5263"/>
            </a:avLst>
          </a:prstGeom>
          <a:solidFill>
            <a:srgbClr val="1F0710"/>
          </a:solidFill>
          <a:ln w="12700">
            <a:solidFill>
              <a:srgbClr val="B08A4A"/>
            </a:solidFill>
            <a:prstDash val="solid"/>
          </a:ln>
        </p:spPr>
      </p:sp>
      <p:sp>
        <p:nvSpPr>
          <p:cNvPr id="19" name="anim:fade:1300"/>
          <p:cNvSpPr txBox="1"/>
          <p:nvPr/>
        </p:nvSpPr>
        <p:spPr>
          <a:xfrm>
            <a:off x="8183880" y="1188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founder matters</a:t>
            </a:r>
            <a:endParaRPr lang="en-US" sz="2100" dirty="0"/>
          </a:p>
        </p:txBody>
      </p:sp>
      <p:sp>
        <p:nvSpPr>
          <p:cNvPr id="20" name="anim:fade:1600"/>
          <p:cNvSpPr/>
          <p:nvPr/>
        </p:nvSpPr>
        <p:spPr>
          <a:xfrm>
            <a:off x="8275320" y="1828800"/>
            <a:ext cx="2926080" cy="0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21" name="anim:zoom:1600:500"/>
          <p:cNvSpPr/>
          <p:nvPr/>
        </p:nvSpPr>
        <p:spPr>
          <a:xfrm>
            <a:off x="8275320" y="2103120"/>
            <a:ext cx="640080" cy="640080"/>
          </a:xfrm>
          <a:prstGeom prst="ellipse">
            <a:avLst/>
          </a:prstGeom>
          <a:solidFill>
            <a:srgbClr val="1F0710"/>
          </a:solidFill>
          <a:ln w="12700">
            <a:solidFill>
              <a:srgbClr val="B08A4A"/>
            </a:solidFill>
            <a:prstDash val="solid"/>
          </a:ln>
        </p:spPr>
      </p:sp>
      <p:pic>
        <p:nvPicPr>
          <p:cNvPr id="22" name="anim:zoom:1700:500" descr="/home/user/Notion/aybal-show/pptx/gen/icon-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0768" y="2240280"/>
            <a:ext cx="329184" cy="384048"/>
          </a:xfrm>
          <a:prstGeom prst="rect">
            <a:avLst/>
          </a:prstGeom>
        </p:spPr>
      </p:pic>
      <p:sp>
        <p:nvSpPr>
          <p:cNvPr id="23" name="anim:float:1700"/>
          <p:cNvSpPr txBox="1"/>
          <p:nvPr/>
        </p:nvSpPr>
        <p:spPr>
          <a:xfrm>
            <a:off x="909828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technology and content already integrated</a:t>
            </a:r>
            <a:endParaRPr lang="en-US" sz="1300" dirty="0"/>
          </a:p>
        </p:txBody>
      </p:sp>
      <p:sp>
        <p:nvSpPr>
          <p:cNvPr id="24" name="anim:fade:1950"/>
          <p:cNvSpPr/>
          <p:nvPr/>
        </p:nvSpPr>
        <p:spPr>
          <a:xfrm>
            <a:off x="8275320" y="3108960"/>
            <a:ext cx="2926080" cy="0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25" name="anim:zoom:1950:500"/>
          <p:cNvSpPr/>
          <p:nvPr/>
        </p:nvSpPr>
        <p:spPr>
          <a:xfrm>
            <a:off x="8275320" y="3383280"/>
            <a:ext cx="640080" cy="640080"/>
          </a:xfrm>
          <a:prstGeom prst="ellipse">
            <a:avLst/>
          </a:prstGeom>
          <a:solidFill>
            <a:srgbClr val="1F0710"/>
          </a:solidFill>
          <a:ln w="12700">
            <a:solidFill>
              <a:srgbClr val="B08A4A"/>
            </a:solidFill>
            <a:prstDash val="solid"/>
          </a:ln>
        </p:spPr>
      </p:sp>
      <p:pic>
        <p:nvPicPr>
          <p:cNvPr id="26" name="anim:zoom:2050:500" descr="/home/user/Notion/aybal-show/pptx/gen/icon-peop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0768" y="3520440"/>
            <a:ext cx="329184" cy="384048"/>
          </a:xfrm>
          <a:prstGeom prst="rect">
            <a:avLst/>
          </a:prstGeom>
        </p:spPr>
      </p:pic>
      <p:sp>
        <p:nvSpPr>
          <p:cNvPr id="27" name="anim:float:2050"/>
          <p:cNvSpPr txBox="1"/>
          <p:nvPr/>
        </p:nvSpPr>
        <p:spPr>
          <a:xfrm>
            <a:off x="9098280" y="33375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the initial DE/TR customer communities</a:t>
            </a:r>
            <a:endParaRPr lang="en-US" sz="1300" dirty="0"/>
          </a:p>
        </p:txBody>
      </p:sp>
      <p:sp>
        <p:nvSpPr>
          <p:cNvPr id="28" name="anim:fade:2300"/>
          <p:cNvSpPr/>
          <p:nvPr/>
        </p:nvSpPr>
        <p:spPr>
          <a:xfrm>
            <a:off x="8275320" y="4389120"/>
            <a:ext cx="2926080" cy="0"/>
          </a:xfrm>
          <a:prstGeom prst="line">
            <a:avLst/>
          </a:prstGeom>
          <a:noFill/>
          <a:ln w="9525">
            <a:solidFill>
              <a:srgbClr val="5A4030"/>
            </a:solidFill>
            <a:prstDash val="solid"/>
          </a:ln>
        </p:spPr>
      </p:sp>
      <p:sp>
        <p:nvSpPr>
          <p:cNvPr id="29" name="anim:zoom:2300:500"/>
          <p:cNvSpPr/>
          <p:nvPr/>
        </p:nvSpPr>
        <p:spPr>
          <a:xfrm>
            <a:off x="8275320" y="4663440"/>
            <a:ext cx="640080" cy="640080"/>
          </a:xfrm>
          <a:prstGeom prst="ellipse">
            <a:avLst/>
          </a:prstGeom>
          <a:solidFill>
            <a:srgbClr val="1F0710"/>
          </a:solidFill>
          <a:ln w="12700">
            <a:solidFill>
              <a:srgbClr val="B08A4A"/>
            </a:solidFill>
            <a:prstDash val="solid"/>
          </a:ln>
        </p:spPr>
      </p:sp>
      <p:pic>
        <p:nvPicPr>
          <p:cNvPr id="30" name="anim:zoom:2400:500" descr="/home/user/Notion/aybal-show/pptx/gen/icon-growt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4800600"/>
            <a:ext cx="329184" cy="384048"/>
          </a:xfrm>
          <a:prstGeom prst="rect">
            <a:avLst/>
          </a:prstGeom>
        </p:spPr>
      </p:pic>
      <p:sp>
        <p:nvSpPr>
          <p:cNvPr id="31" name="anim:float:2400"/>
          <p:cNvSpPr txBox="1"/>
          <p:nvPr/>
        </p:nvSpPr>
        <p:spPr>
          <a:xfrm>
            <a:off x="9098280" y="4617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Founder-led, milestone-based team build after the round</a:t>
            </a:r>
            <a:endParaRPr lang="en-US" sz="13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100"/>
                            </p:stCondLst>
                            <p:childTnLst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" dur="9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" dur="900" fill="hold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"/>
                            </p:stCondLst>
                            <p:childTnLst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7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7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900"/>
                            </p:stCondLst>
                            <p:childTnLst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2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9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300"/>
                            </p:stCondLst>
                            <p:childTnLst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600"/>
                            </p:stCondLst>
                            <p:childTnLst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4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600"/>
                            </p:stCondLst>
                            <p:childTnLst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00"/>
                            </p:stCondLst>
                            <p:childTnLst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700"/>
                            </p:stCondLst>
                            <p:childTnLst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700"/>
                            </p:stCondLst>
                            <p:childTnLst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9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9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900" fill="hold" decel="100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750"/>
                            </p:stCondLst>
                            <p:childTnLst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4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900"/>
                            </p:stCondLst>
                            <p:childTnLst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4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950"/>
                            </p:stCondLst>
                            <p:childTnLst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950"/>
                            </p:stCondLst>
                            <p:childTnLst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2000"/>
                            </p:stCondLst>
                            <p:childTnLst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9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9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050"/>
                            </p:stCondLst>
                            <p:childTnLst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 decel="100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50"/>
                            </p:stCondLst>
                            <p:childTnLst>
                              <p:par>
                                <p:cTn id="10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9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9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900" fill="hold" decel="1000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300"/>
                            </p:stCondLst>
                            <p:childTnLst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2300"/>
                            </p:stCondLst>
                            <p:childTnLst>
                              <p:par>
                                <p:cTn id="1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 decel="100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400"/>
                            </p:stCondLst>
                            <p:childTnLst>
                              <p:par>
                                <p:cTn id="1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 decel="1000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2400"/>
                            </p:stCondLst>
                            <p:childTnLst>
                              <p:par>
                                <p:cTn id="1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9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9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900" fill="hold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600"/>
                            </p:stCondLst>
                            <p:childTnLst>
                              <p:par>
                                <p:cTn id="1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2780"/>
                            </p:stCondLst>
                            <p:childTnLst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2960"/>
                            </p:stCondLst>
                            <p:childTnLst>
                              <p:par>
                                <p:cTn id="1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3140"/>
                            </p:stCondLst>
                            <p:childTnLst>
                              <p:par>
                                <p:cTn id="15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nim:fade:0"/>
          <p:cNvSpPr txBox="1"/>
          <p:nvPr/>
        </p:nvSpPr>
        <p:spPr>
          <a:xfrm>
            <a:off x="713232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AYBAL / TEAM</a:t>
            </a:r>
            <a:endParaRPr lang="en-US" sz="1000" dirty="0"/>
          </a:p>
        </p:txBody>
      </p:sp>
      <p:sp>
        <p:nvSpPr>
          <p:cNvPr id="3" name="anim:float:100"/>
          <p:cNvSpPr txBox="1"/>
          <p:nvPr/>
        </p:nvSpPr>
        <p:spPr>
          <a:xfrm>
            <a:off x="713232" y="777240"/>
            <a:ext cx="1076523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 behind Aybal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800" dirty="0"/>
          </a:p>
        </p:txBody>
      </p:sp>
      <p:sp>
        <p:nvSpPr>
          <p:cNvPr id="7" name="anim:float:300"/>
          <p:cNvSpPr/>
          <p:nvPr/>
        </p:nvSpPr>
        <p:spPr>
          <a:xfrm>
            <a:off x="713232" y="1783080"/>
            <a:ext cx="5285232" cy="1417320"/>
          </a:xfrm>
          <a:prstGeom prst="roundRect">
            <a:avLst>
              <a:gd name="adj" fmla="val 9032"/>
            </a:avLst>
          </a:prstGeom>
          <a:solidFill>
            <a:srgbClr val="2E0B18"/>
          </a:solidFill>
          <a:ln w="9525">
            <a:solidFill>
              <a:srgbClr val="2E0B18"/>
            </a:solidFill>
            <a:prstDash val="solid"/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</p:sp>
      <p:sp>
        <p:nvSpPr>
          <p:cNvPr id="8" name="anim:zoom:500:500"/>
          <p:cNvSpPr txBox="1"/>
          <p:nvPr/>
        </p:nvSpPr>
        <p:spPr>
          <a:xfrm>
            <a:off x="987552" y="2057400"/>
            <a:ext cx="868680" cy="868680"/>
          </a:xfrm>
          <a:prstGeom prst="ellipse">
            <a:avLst/>
          </a:prstGeom>
          <a:solidFill>
            <a:srgbClr val="6E1630"/>
          </a:solidFill>
          <a:ln w="19050">
            <a:solidFill>
              <a:srgbClr val="B08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B2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</a:t>
            </a:r>
            <a:endParaRPr lang="en-US" sz="2600" dirty="0"/>
          </a:p>
        </p:txBody>
      </p:sp>
      <p:sp>
        <p:nvSpPr>
          <p:cNvPr id="9" name="anim:float:500"/>
          <p:cNvSpPr txBox="1"/>
          <p:nvPr/>
        </p:nvSpPr>
        <p:spPr>
          <a:xfrm>
            <a:off x="2084832" y="19202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F4E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Tuncay Sancak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spc="2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INVENTOR · MANAGING DIRECTOR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9DF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and built the Aybal platform. Leads product, technology and content.</a:t>
            </a:r>
            <a:endParaRPr lang="en-US" sz="1400" dirty="0"/>
          </a:p>
        </p:txBody>
      </p:sp>
      <p:sp>
        <p:nvSpPr>
          <p:cNvPr id="10" name="anim:float:600"/>
          <p:cNvSpPr/>
          <p:nvPr/>
        </p:nvSpPr>
        <p:spPr>
          <a:xfrm>
            <a:off x="6190488" y="1783080"/>
            <a:ext cx="5285232" cy="1417320"/>
          </a:xfrm>
          <a:prstGeom prst="roundRect">
            <a:avLst>
              <a:gd name="adj" fmla="val 9032"/>
            </a:avLst>
          </a:prstGeom>
          <a:solidFill>
            <a:srgbClr val="FBF7F0"/>
          </a:solidFill>
          <a:ln w="9525">
            <a:solidFill>
              <a:srgbClr val="DCCFBF"/>
            </a:solidFill>
            <a:prstDash val="solid"/>
          </a:ln>
          <a:effectLst>
            <a:outerShdw sx="100000" sy="100000" kx="0" ky="0" algn="bl" rotWithShape="0" blurRad="228600" dist="76200" dir="5400000">
              <a:srgbClr val="2E0B18">
                <a:alpha val="12000"/>
              </a:srgbClr>
            </a:outerShdw>
          </a:effectLst>
        </p:spPr>
      </p:sp>
      <p:sp>
        <p:nvSpPr>
          <p:cNvPr id="11" name="anim:zoom:800:500"/>
          <p:cNvSpPr txBox="1"/>
          <p:nvPr/>
        </p:nvSpPr>
        <p:spPr>
          <a:xfrm>
            <a:off x="6464808" y="2057400"/>
            <a:ext cx="868680" cy="868680"/>
          </a:xfrm>
          <a:prstGeom prst="ellipse">
            <a:avLst/>
          </a:prstGeom>
          <a:solidFill>
            <a:srgbClr val="EDE3D3"/>
          </a:solidFill>
          <a:ln w="19050">
            <a:solidFill>
              <a:srgbClr val="B08A4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600" dirty="0"/>
          </a:p>
        </p:txBody>
      </p:sp>
      <p:sp>
        <p:nvSpPr>
          <p:cNvPr id="12" name="anim:float:800"/>
          <p:cNvSpPr txBox="1"/>
          <p:nvPr/>
        </p:nvSpPr>
        <p:spPr>
          <a:xfrm>
            <a:off x="7562088" y="19202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Gönül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b="1" spc="20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RELATIONS &amp; FUNDRAISING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investor outreach for the pre-seed round and prepared this investment deck.</a:t>
            </a:r>
            <a:endParaRPr lang="en-US" sz="1400" dirty="0"/>
          </a:p>
        </p:txBody>
      </p:sp>
      <p:sp>
        <p:nvSpPr>
          <p:cNvPr id="13" name="anim:fade:900"/>
          <p:cNvSpPr txBox="1"/>
          <p:nvPr/>
        </p:nvSpPr>
        <p:spPr>
          <a:xfrm>
            <a:off x="713232" y="3611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formation after financing</a:t>
            </a:r>
            <a:endParaRPr lang="en-US" sz="2000" dirty="0"/>
          </a:p>
        </p:txBody>
      </p:sp>
      <p:sp>
        <p:nvSpPr>
          <p:cNvPr id="14" name="anim:wipeL:1100:2200"/>
          <p:cNvSpPr/>
          <p:nvPr/>
        </p:nvSpPr>
        <p:spPr>
          <a:xfrm>
            <a:off x="713232" y="4343400"/>
            <a:ext cx="10765231" cy="0"/>
          </a:xfrm>
          <a:prstGeom prst="line">
            <a:avLst/>
          </a:prstGeom>
          <a:noFill/>
          <a:ln w="25400">
            <a:solidFill>
              <a:srgbClr val="B08A4A"/>
            </a:solidFill>
            <a:prstDash val="solid"/>
          </a:ln>
        </p:spPr>
      </p:sp>
      <p:sp>
        <p:nvSpPr>
          <p:cNvPr id="15" name="anim:zoom:1200:400"/>
          <p:cNvSpPr/>
          <p:nvPr/>
        </p:nvSpPr>
        <p:spPr>
          <a:xfrm>
            <a:off x="713232" y="4224528"/>
            <a:ext cx="237744" cy="237744"/>
          </a:xfrm>
          <a:prstGeom prst="ellipse">
            <a:avLst/>
          </a:prstGeom>
          <a:solidFill>
            <a:srgbClr val="F4EDE2"/>
          </a:solidFill>
          <a:ln w="31750">
            <a:solidFill>
              <a:srgbClr val="6E1630"/>
            </a:solidFill>
            <a:prstDash val="solid"/>
          </a:ln>
        </p:spPr>
      </p:sp>
      <p:sp>
        <p:nvSpPr>
          <p:cNvPr id="16" name="anim:float:1300"/>
          <p:cNvSpPr txBox="1"/>
          <p:nvPr/>
        </p:nvSpPr>
        <p:spPr>
          <a:xfrm>
            <a:off x="713232" y="4572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co-founder &amp; growth/community lead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round</a:t>
            </a:r>
            <a:endParaRPr lang="en-US" sz="1400" dirty="0"/>
          </a:p>
        </p:txBody>
      </p:sp>
      <p:sp>
        <p:nvSpPr>
          <p:cNvPr id="17" name="anim:zoom:1700:400"/>
          <p:cNvSpPr/>
          <p:nvPr/>
        </p:nvSpPr>
        <p:spPr>
          <a:xfrm>
            <a:off x="3447288" y="4224528"/>
            <a:ext cx="237744" cy="237744"/>
          </a:xfrm>
          <a:prstGeom prst="ellipse">
            <a:avLst/>
          </a:prstGeom>
          <a:solidFill>
            <a:srgbClr val="F4EDE2"/>
          </a:solidFill>
          <a:ln w="31750">
            <a:solidFill>
              <a:srgbClr val="6E1630"/>
            </a:solidFill>
            <a:prstDash val="solid"/>
          </a:ln>
        </p:spPr>
      </p:sp>
      <p:sp>
        <p:nvSpPr>
          <p:cNvPr id="18" name="anim:float:1800"/>
          <p:cNvSpPr txBox="1"/>
          <p:nvPr/>
        </p:nvSpPr>
        <p:spPr>
          <a:xfrm>
            <a:off x="3447288" y="4572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service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1,500 subscriptions</a:t>
            </a:r>
            <a:endParaRPr lang="en-US" sz="1400" dirty="0"/>
          </a:p>
        </p:txBody>
      </p:sp>
      <p:sp>
        <p:nvSpPr>
          <p:cNvPr id="19" name="anim:zoom:2200:400"/>
          <p:cNvSpPr/>
          <p:nvPr/>
        </p:nvSpPr>
        <p:spPr>
          <a:xfrm>
            <a:off x="6181344" y="4224528"/>
            <a:ext cx="237744" cy="237744"/>
          </a:xfrm>
          <a:prstGeom prst="ellipse">
            <a:avLst/>
          </a:prstGeom>
          <a:solidFill>
            <a:srgbClr val="F4EDE2"/>
          </a:solidFill>
          <a:ln w="31750">
            <a:solidFill>
              <a:srgbClr val="6E1630"/>
            </a:solidFill>
            <a:prstDash val="solid"/>
          </a:ln>
        </p:spPr>
      </p:sp>
      <p:sp>
        <p:nvSpPr>
          <p:cNvPr id="20" name="anim:float:2300"/>
          <p:cNvSpPr txBox="1"/>
          <p:nvPr/>
        </p:nvSpPr>
        <p:spPr>
          <a:xfrm>
            <a:off x="6181344" y="4572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developer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€40,000 MRR</a:t>
            </a:r>
            <a:endParaRPr lang="en-US" sz="1400" dirty="0"/>
          </a:p>
        </p:txBody>
      </p:sp>
      <p:sp>
        <p:nvSpPr>
          <p:cNvPr id="21" name="anim:zoom:2700:400"/>
          <p:cNvSpPr/>
          <p:nvPr/>
        </p:nvSpPr>
        <p:spPr>
          <a:xfrm>
            <a:off x="8915400" y="4224528"/>
            <a:ext cx="237744" cy="237744"/>
          </a:xfrm>
          <a:prstGeom prst="ellipse">
            <a:avLst/>
          </a:prstGeom>
          <a:solidFill>
            <a:srgbClr val="F4EDE2"/>
          </a:solidFill>
          <a:ln w="31750">
            <a:solidFill>
              <a:srgbClr val="6E1630"/>
            </a:solidFill>
            <a:prstDash val="solid"/>
          </a:ln>
        </p:spPr>
      </p:sp>
      <p:sp>
        <p:nvSpPr>
          <p:cNvPr id="22" name="anim:float:2800"/>
          <p:cNvSpPr txBox="1"/>
          <p:nvPr/>
        </p:nvSpPr>
        <p:spPr>
          <a:xfrm>
            <a:off x="8915400" y="4572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Country leads, partnerships, legal/data protection &amp; finance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seed round</a:t>
            </a:r>
            <a:endParaRPr lang="en-US" sz="1400" dirty="0"/>
          </a:p>
        </p:txBody>
      </p:sp>
      <p:sp>
        <p:nvSpPr>
          <p:cNvPr id="23" name="anim:fade:3400"/>
          <p:cNvSpPr txBox="1"/>
          <p:nvPr/>
        </p:nvSpPr>
        <p:spPr>
          <a:xfrm>
            <a:off x="713232" y="5806440"/>
            <a:ext cx="1076523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6E1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commitment: long-term and exclusive leadership, four-year vesting, non-compete and key-person insurance planned.</a:t>
            </a:r>
            <a:endParaRPr lang="en-US" sz="13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"/>
                            </p:stCondLst>
                            <p:childTnLst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9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900" fill="hold" decel="100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9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600"/>
                            </p:stCondLst>
                            <p:childTnLst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fill="hold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800"/>
                            </p:stCondLst>
                            <p:childTnLst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800"/>
                            </p:stCondLst>
                            <p:childTnLst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900"/>
                            </p:stCondLst>
                            <p:childTnLst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100"/>
                            </p:stCondLst>
                            <p:childTnLst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2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200"/>
                            </p:stCondLst>
                            <p:childTnLst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300"/>
                            </p:stCondLst>
                            <p:childTnLst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9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900" fill="hold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700"/>
                            </p:stCondLst>
                            <p:childTnLst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 decel="100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800"/>
                            </p:stCondLst>
                            <p:childTnLst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9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900" fill="hold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200"/>
                            </p:stCondLst>
                            <p:childTnLst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4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400" fill="hold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300"/>
                            </p:stCondLst>
                            <p:childTnLst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900" fill="hold" decel="100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700"/>
                            </p:stCondLst>
                            <p:childTnLst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4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00" fill="hold" decel="100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800"/>
                            </p:stCondLst>
                            <p:childTnLst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9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900" fill="hold" decel="100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400"/>
                            </p:stCondLst>
                            <p:childTnLst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641908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•  PRE-SEED  •  SEPTEMBER 2026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649663" y="6419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800" dirty="0"/>
          </a:p>
        </p:txBody>
      </p:sp>
      <p:sp>
        <p:nvSpPr>
          <p:cNvPr id="5" name="anim:wipeU:0:90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6E1630"/>
          </a:solidFill>
          <a:ln w="12700">
            <a:solidFill>
              <a:srgbClr val="6E1630"/>
            </a:solidFill>
            <a:prstDash val="solid"/>
          </a:ln>
        </p:spPr>
      </p:sp>
      <p:sp>
        <p:nvSpPr>
          <p:cNvPr id="6" name="anim:zoom:700:900"/>
          <p:cNvSpPr/>
          <p:nvPr/>
        </p:nvSpPr>
        <p:spPr>
          <a:xfrm>
            <a:off x="7406640" y="914400"/>
            <a:ext cx="1737360" cy="1737360"/>
          </a:xfrm>
          <a:prstGeom prst="ellipse">
            <a:avLst/>
          </a:prstGeom>
          <a:solidFill>
            <a:srgbClr val="B08A4A"/>
          </a:solidFill>
          <a:ln/>
        </p:spPr>
      </p:sp>
      <p:pic>
        <p:nvPicPr>
          <p:cNvPr id="7" name="anim:float:1100:1100" descr="/home/user/Notion/aybal-show/pptx/../assets/tabl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743200"/>
            <a:ext cx="2852928" cy="3566160"/>
          </a:xfrm>
          <a:prstGeom prst="rect">
            <a:avLst/>
          </a:prstGeom>
          <a:effectLst>
            <a:outerShdw sx="100000" sy="100000" kx="0" ky="0" algn="bl" rotWithShape="0" blurRad="381000" dist="127000" dir="5400000">
              <a:srgbClr val="000000">
                <a:alpha val="35000"/>
              </a:srgbClr>
            </a:outerShdw>
          </a:effectLst>
        </p:spPr>
      </p:pic>
      <p:sp>
        <p:nvSpPr>
          <p:cNvPr id="8" name="anim:fade:300"/>
          <p:cNvSpPr txBox="1"/>
          <p:nvPr/>
        </p:nvSpPr>
        <p:spPr>
          <a:xfrm>
            <a:off x="713232" y="822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CONSIDERATION</a:t>
            </a:r>
            <a:endParaRPr lang="en-US" sz="1000" dirty="0"/>
          </a:p>
        </p:txBody>
      </p:sp>
      <p:sp>
        <p:nvSpPr>
          <p:cNvPr id="9" name="anim:float:500:1200"/>
          <p:cNvSpPr txBox="1"/>
          <p:nvPr/>
        </p:nvSpPr>
        <p:spPr>
          <a:xfrm>
            <a:off x="713232" y="1280160"/>
            <a:ext cx="6766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every family a new voice in reading.</a:t>
            </a:r>
            <a:endParaRPr lang="en-US" sz="4200" dirty="0"/>
          </a:p>
        </p:txBody>
      </p:sp>
      <p:pic>
        <p:nvPicPr>
          <p:cNvPr id="10" name="anim:wipeL:1300:1400" descr="/home/user/Notion/aybal-show/pptx/gen/wave-w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566160"/>
            <a:ext cx="3657600" cy="457200"/>
          </a:xfrm>
          <a:prstGeom prst="rect">
            <a:avLst/>
          </a:prstGeom>
        </p:spPr>
      </p:pic>
      <p:sp>
        <p:nvSpPr>
          <p:cNvPr id="11" name="anim:fade:1700"/>
          <p:cNvSpPr txBox="1"/>
          <p:nvPr/>
        </p:nvSpPr>
        <p:spPr>
          <a:xfrm>
            <a:off x="713232" y="4114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E1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Aybal in proving the next chapter of family reading.</a:t>
            </a:r>
            <a:endParaRPr lang="en-US" sz="1800" dirty="0"/>
          </a:p>
        </p:txBody>
      </p:sp>
      <p:sp>
        <p:nvSpPr>
          <p:cNvPr id="12" name="anim:float:2000"/>
          <p:cNvSpPr txBox="1"/>
          <p:nvPr/>
        </p:nvSpPr>
        <p:spPr>
          <a:xfrm>
            <a:off x="713232" y="4800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b="1" spc="15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INVENTOR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Tuncay Sancak</a:t>
            </a:r>
            <a:endParaRPr lang="en-US" sz="1400" dirty="0"/>
          </a:p>
        </p:txBody>
      </p:sp>
      <p:sp>
        <p:nvSpPr>
          <p:cNvPr id="13" name="anim:float:2200"/>
          <p:cNvSpPr txBox="1"/>
          <p:nvPr/>
        </p:nvSpPr>
        <p:spPr>
          <a:xfrm>
            <a:off x="2816352" y="48006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b="1" spc="15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RELATIONS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Gönül</a:t>
            </a:r>
            <a:endParaRPr lang="en-US" sz="1400" dirty="0"/>
          </a:p>
        </p:txBody>
      </p:sp>
      <p:sp>
        <p:nvSpPr>
          <p:cNvPr id="14" name="anim:float:2400"/>
          <p:cNvSpPr txBox="1"/>
          <p:nvPr/>
        </p:nvSpPr>
        <p:spPr>
          <a:xfrm>
            <a:off x="4919472" y="48006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b="1" spc="150" kern="0" dirty="0">
                <a:solidFill>
                  <a:srgbClr val="B0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founders@aybal.com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A0F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aybal.com</a:t>
            </a:r>
            <a:endParaRPr lang="en-US" sz="1400" dirty="0"/>
          </a:p>
        </p:txBody>
      </p:sp>
      <p:sp>
        <p:nvSpPr>
          <p:cNvPr id="15" name="anim:fade:2700"/>
          <p:cNvSpPr txBox="1"/>
          <p:nvPr/>
        </p:nvSpPr>
        <p:spPr>
          <a:xfrm>
            <a:off x="713232" y="5897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pre-seed materials. Forward-looking statements are subject to material risks and uncertainty.</a:t>
            </a:r>
            <a:endParaRPr lang="en-US" sz="95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2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200" fill="hold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700"/>
                            </p:stCondLst>
                            <p:childTnLst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9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900" fill="hold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100"/>
                            </p:stCondLst>
                            <p:childTnLst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1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100" fill="hold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300"/>
                            </p:stCondLst>
                            <p:childTnLst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1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700"/>
                            </p:stCondLst>
                            <p:childTnLst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fill="hold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00"/>
                            </p:stCondLst>
                            <p:childTnLst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9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fill="hold" decel="1000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400"/>
                            </p:stCondLst>
                            <p:childTnLst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fill="hold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700"/>
                            </p:stCondLst>
                            <p:childTnLst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Aybal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Aybal — Pre-Seed Investor Deck</dc:title>
  <dc:subject>PptxGenJS Presentation</dc:subject>
  <dc:creator>Tuncay Sancak (Founder &amp; Inventor) · Gönül (Investor Relations)</dc:creator>
  <cp:lastModifiedBy>Tuncay Sancak (Founder &amp; Inventor) · Gönül (Investor Relations)</cp:lastModifiedBy>
  <cp:revision>1</cp:revision>
  <dcterms:created xsi:type="dcterms:W3CDTF">2026-09-29T20:12:46Z</dcterms:created>
  <dcterms:modified xsi:type="dcterms:W3CDTF">2026-09-29T20:12:46Z</dcterms:modified>
</cp:coreProperties>
</file>