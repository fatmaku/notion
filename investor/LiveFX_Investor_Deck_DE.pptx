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legenheit" id="{20323bb2-8488-9593-eb52-0249c4a68a58}">
          <p14:sldIdLst>
            <p14:sldId id="256"/>
            <p14:sldId id="257"/>
            <p14:sldId id="258"/>
          </p14:sldIdLst>
        </p14:section>
        <p14:section name="Produkt &amp; Vision" id="{b0cef136-d8f6-e87f-29e6-93875e0ee0b2}">
          <p14:sldIdLst>
            <p14:sldId id="259"/>
            <p14:sldId id="260"/>
            <p14:sldId id="261"/>
          </p14:sldIdLst>
        </p14:section>
        <p14:section name="Markt &amp; Modell" id="{395e1424-bf7f-554a-632a-139b84fe01ae}">
          <p14:sldIdLst>
            <p14:sldId id="262"/>
            <p14:sldId id="263"/>
            <p14:sldId id="264"/>
          </p14:sldIdLst>
        </p14:section>
        <p14:section name="Plan &amp; Runde" id="{fd996f4e-3b64-8bc2-82bb-fd4f2a6e830f}">
          <p14:sldIdLst>
            <p14:sldId id="265"/>
            <p14:sldId id="266"/>
            <p14:sldId id="267"/>
            <p14:sldId id="268"/>
            <p14:sldId id="269"/>
          </p14:sldIdLst>
        </p14:section>
        <p14:section name="Team" id="{6ad92073-6d71-04df-9db7-bfa2b2ec22b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250 T€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2D7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DFFB5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D166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CC4FF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6070"/>
              </a:solidFill>
              <a:ln w="25400" cap="flat">
                <a:solidFill>
                  <a:srgbClr val="0F1115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Team/Produkt</c:v>
                </c:pt>
                <c:pt idx="1">
                  <c:v>Markteintritt</c:v>
                </c:pt>
                <c:pt idx="2">
                  <c:v>WortBild (Vision B)</c:v>
                </c:pt>
                <c:pt idx="3">
                  <c:v>Recht, Marke, Datenschutz</c:v>
                </c:pt>
                <c:pt idx="4">
                  <c:v>Reserve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50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9B0B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9B0BD"/>
                </a:solidFill>
                <a:latin typeface="+mn-lt"/>
              </a:rPr>
              <a:t>GuV 5 Jahre, Basis, T€ (Schätzung)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J1 2027</c:v>
                  </c:pt>
                  <c:pt idx="1">
                    <c:v>J2 2028</c:v>
                  </c:pt>
                  <c:pt idx="2">
                    <c:v>J3 2029</c:v>
                  </c:pt>
                  <c:pt idx="3">
                    <c:v>J4 2030</c:v>
                  </c:pt>
                  <c:pt idx="4">
                    <c:v>J5 2031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</c:v>
                </c:pt>
                <c:pt idx="1">
                  <c:v>336</c:v>
                </c:pt>
                <c:pt idx="2">
                  <c:v>1038</c:v>
                </c:pt>
                <c:pt idx="3">
                  <c:v>1984</c:v>
                </c:pt>
                <c:pt idx="4">
                  <c:v>3152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rgbClr val="5A60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J1 2027</c:v>
                  </c:pt>
                  <c:pt idx="1">
                    <c:v>J2 2028</c:v>
                  </c:pt>
                  <c:pt idx="2">
                    <c:v>J3 2029</c:v>
                  </c:pt>
                  <c:pt idx="3">
                    <c:v>J4 2030</c:v>
                  </c:pt>
                  <c:pt idx="4">
                    <c:v>J5 2031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166</c:v>
                </c:pt>
                <c:pt idx="1">
                  <c:v>295</c:v>
                </c:pt>
                <c:pt idx="2">
                  <c:v>710</c:v>
                </c:pt>
                <c:pt idx="3">
                  <c:v>1065</c:v>
                </c:pt>
                <c:pt idx="4">
                  <c:v>1491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J1 2027</c:v>
                  </c:pt>
                  <c:pt idx="1">
                    <c:v>J2 2028</c:v>
                  </c:pt>
                  <c:pt idx="2">
                    <c:v>J3 2029</c:v>
                  </c:pt>
                  <c:pt idx="3">
                    <c:v>J4 2030</c:v>
                  </c:pt>
                  <c:pt idx="4">
                    <c:v>J5 2031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-116</c:v>
                </c:pt>
                <c:pt idx="1">
                  <c:v>41</c:v>
                </c:pt>
                <c:pt idx="2">
                  <c:v>328</c:v>
                </c:pt>
                <c:pt idx="3">
                  <c:v>919</c:v>
                </c:pt>
                <c:pt idx="4">
                  <c:v>1661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9B0B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LiveFX: Live-Streams, die zuhören – Die Stimme des Creators wird in unter einer Sekunde zu Meme, Sound und Szene – und morgen zum Bild für alles Gesprochene.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250.000 € bringen LiveFX in 18 Monaten an den Markt und WortBild vom Prototyp zum Produkt.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TITLE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VERTRAULICH  ·  PRE-SEED  ·  OKTOBER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FX_CONTENT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VERTRAULICH  ·  PRE-SEED  ·  OKTOBER 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PRE-SEED-INVESTMENTGELEGENHEIT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09728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LiveFX: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Live-Streams,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zuhören</a:t>
            </a:r>
            <a:endParaRPr lang="en-US" sz="4800" dirty="0"/>
          </a:p>
        </p:txBody>
      </p:sp>
      <p:sp>
        <p:nvSpPr>
          <p:cNvPr id="4" name="Text-2"/>
          <p:cNvSpPr txBox="1"/>
          <p:nvPr/>
        </p:nvSpPr>
        <p:spPr>
          <a:xfrm>
            <a:off x="548640" y="35661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Stimme des Creators wird in unter einer Sekunde zu Meme, Sound und Szene – und morgen zum Bild für alles Gesprochene.</a:t>
            </a:r>
            <a:endParaRPr lang="en-US" sz="1500" dirty="0"/>
          </a:p>
        </p:txBody>
      </p:sp>
      <p:sp>
        <p:nvSpPr>
          <p:cNvPr id="5" name="Wave-3"/>
          <p:cNvSpPr/>
          <p:nvPr/>
        </p:nvSpPr>
        <p:spPr>
          <a:xfrm>
            <a:off x="548640" y="4535424"/>
            <a:ext cx="76200" cy="73152"/>
          </a:xfrm>
          <a:prstGeom prst="roundRect">
            <a:avLst>
              <a:gd name="adj" fmla="val 52083"/>
            </a:avLst>
          </a:prstGeom>
          <a:solidFill>
            <a:schemeClr val="accent1"/>
          </a:solidFill>
          <a:ln/>
        </p:spPr>
      </p:sp>
      <p:sp>
        <p:nvSpPr>
          <p:cNvPr id="6" name="Wave-4"/>
          <p:cNvSpPr/>
          <p:nvPr/>
        </p:nvSpPr>
        <p:spPr>
          <a:xfrm>
            <a:off x="701040" y="4441799"/>
            <a:ext cx="76200" cy="2604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Wave-5"/>
          <p:cNvSpPr/>
          <p:nvPr/>
        </p:nvSpPr>
        <p:spPr>
          <a:xfrm>
            <a:off x="853440" y="4446980"/>
            <a:ext cx="76200" cy="25003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Wave-6"/>
          <p:cNvSpPr/>
          <p:nvPr/>
        </p:nvSpPr>
        <p:spPr>
          <a:xfrm>
            <a:off x="1005840" y="4459903"/>
            <a:ext cx="76200" cy="2241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Wave-7"/>
          <p:cNvSpPr/>
          <p:nvPr/>
        </p:nvSpPr>
        <p:spPr>
          <a:xfrm>
            <a:off x="1158240" y="4428637"/>
            <a:ext cx="76200" cy="2867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Wave-8"/>
          <p:cNvSpPr/>
          <p:nvPr/>
        </p:nvSpPr>
        <p:spPr>
          <a:xfrm>
            <a:off x="1310640" y="4464340"/>
            <a:ext cx="76200" cy="2153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Wave-9"/>
          <p:cNvSpPr/>
          <p:nvPr/>
        </p:nvSpPr>
        <p:spPr>
          <a:xfrm>
            <a:off x="1463040" y="4492516"/>
            <a:ext cx="76200" cy="15896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Wave-10"/>
          <p:cNvSpPr/>
          <p:nvPr/>
        </p:nvSpPr>
        <p:spPr>
          <a:xfrm>
            <a:off x="1615440" y="4441423"/>
            <a:ext cx="76200" cy="26115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Wave-11"/>
          <p:cNvSpPr/>
          <p:nvPr/>
        </p:nvSpPr>
        <p:spPr>
          <a:xfrm>
            <a:off x="1767840" y="4462431"/>
            <a:ext cx="76200" cy="21913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Wave-12"/>
          <p:cNvSpPr/>
          <p:nvPr/>
        </p:nvSpPr>
        <p:spPr>
          <a:xfrm>
            <a:off x="1920240" y="4443290"/>
            <a:ext cx="76200" cy="2574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Wave-13"/>
          <p:cNvSpPr/>
          <p:nvPr/>
        </p:nvSpPr>
        <p:spPr>
          <a:xfrm>
            <a:off x="2072640" y="4422842"/>
            <a:ext cx="76200" cy="2983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Wave-14"/>
          <p:cNvSpPr/>
          <p:nvPr/>
        </p:nvSpPr>
        <p:spPr>
          <a:xfrm>
            <a:off x="2225040" y="4504619"/>
            <a:ext cx="76200" cy="13476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Wave-15"/>
          <p:cNvSpPr/>
          <p:nvPr/>
        </p:nvSpPr>
        <p:spPr>
          <a:xfrm>
            <a:off x="2377440" y="4464671"/>
            <a:ext cx="76200" cy="21465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Wave-16"/>
          <p:cNvSpPr/>
          <p:nvPr/>
        </p:nvSpPr>
        <p:spPr>
          <a:xfrm>
            <a:off x="2529840" y="4455755"/>
            <a:ext cx="76200" cy="2324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Wave-17"/>
          <p:cNvSpPr/>
          <p:nvPr/>
        </p:nvSpPr>
        <p:spPr>
          <a:xfrm>
            <a:off x="2682240" y="4462539"/>
            <a:ext cx="76200" cy="21892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Wave-18"/>
          <p:cNvSpPr/>
          <p:nvPr/>
        </p:nvSpPr>
        <p:spPr>
          <a:xfrm>
            <a:off x="2834640" y="4421056"/>
            <a:ext cx="76200" cy="3018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Wave-19"/>
          <p:cNvSpPr/>
          <p:nvPr/>
        </p:nvSpPr>
        <p:spPr>
          <a:xfrm>
            <a:off x="2987040" y="4439082"/>
            <a:ext cx="76200" cy="2658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Wave-20"/>
          <p:cNvSpPr/>
          <p:nvPr/>
        </p:nvSpPr>
        <p:spPr>
          <a:xfrm>
            <a:off x="3139440" y="4522201"/>
            <a:ext cx="76200" cy="9959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Wave-21"/>
          <p:cNvSpPr/>
          <p:nvPr/>
        </p:nvSpPr>
        <p:spPr>
          <a:xfrm>
            <a:off x="3291840" y="4458579"/>
            <a:ext cx="76200" cy="22684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4" name="Wave-22"/>
          <p:cNvSpPr/>
          <p:nvPr/>
        </p:nvSpPr>
        <p:spPr>
          <a:xfrm>
            <a:off x="3444240" y="4469911"/>
            <a:ext cx="76200" cy="20417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Wave-23"/>
          <p:cNvSpPr/>
          <p:nvPr/>
        </p:nvSpPr>
        <p:spPr>
          <a:xfrm>
            <a:off x="3596640" y="4445049"/>
            <a:ext cx="76200" cy="25390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6" name="Wave-24"/>
          <p:cNvSpPr/>
          <p:nvPr/>
        </p:nvSpPr>
        <p:spPr>
          <a:xfrm>
            <a:off x="3749040" y="4408861"/>
            <a:ext cx="76200" cy="32627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7" name="Wave-25"/>
          <p:cNvSpPr/>
          <p:nvPr/>
        </p:nvSpPr>
        <p:spPr>
          <a:xfrm>
            <a:off x="3901440" y="4475307"/>
            <a:ext cx="76200" cy="1933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8" name="Wave-26"/>
          <p:cNvSpPr/>
          <p:nvPr/>
        </p:nvSpPr>
        <p:spPr>
          <a:xfrm>
            <a:off x="4053840" y="4490209"/>
            <a:ext cx="76200" cy="16358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9" name="Wave-27"/>
          <p:cNvSpPr/>
          <p:nvPr/>
        </p:nvSpPr>
        <p:spPr>
          <a:xfrm>
            <a:off x="4206240" y="4468969"/>
            <a:ext cx="76200" cy="2060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0" name="Wave-28"/>
          <p:cNvSpPr/>
          <p:nvPr/>
        </p:nvSpPr>
        <p:spPr>
          <a:xfrm>
            <a:off x="4358640" y="4470251"/>
            <a:ext cx="76200" cy="2034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1" name="Wave-29"/>
          <p:cNvSpPr/>
          <p:nvPr/>
        </p:nvSpPr>
        <p:spPr>
          <a:xfrm>
            <a:off x="4511040" y="4419248"/>
            <a:ext cx="76200" cy="30550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2" name="Wave-30"/>
          <p:cNvSpPr/>
          <p:nvPr/>
        </p:nvSpPr>
        <p:spPr>
          <a:xfrm>
            <a:off x="4663440" y="4418016"/>
            <a:ext cx="76200" cy="30796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3" name="Wave-31"/>
          <p:cNvSpPr/>
          <p:nvPr/>
        </p:nvSpPr>
        <p:spPr>
          <a:xfrm>
            <a:off x="4815840" y="4518927"/>
            <a:ext cx="76200" cy="1061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4" name="Wave-32"/>
          <p:cNvSpPr/>
          <p:nvPr/>
        </p:nvSpPr>
        <p:spPr>
          <a:xfrm>
            <a:off x="4968240" y="4479047"/>
            <a:ext cx="76200" cy="18590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5" name="Wave-33"/>
          <p:cNvSpPr/>
          <p:nvPr/>
        </p:nvSpPr>
        <p:spPr>
          <a:xfrm>
            <a:off x="5120640" y="4481836"/>
            <a:ext cx="76200" cy="18032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34"/>
          <p:cNvSpPr/>
          <p:nvPr/>
        </p:nvSpPr>
        <p:spPr>
          <a:xfrm>
            <a:off x="5273040" y="4452315"/>
            <a:ext cx="76200" cy="23937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35"/>
          <p:cNvSpPr/>
          <p:nvPr/>
        </p:nvSpPr>
        <p:spPr>
          <a:xfrm>
            <a:off x="5425440" y="4400672"/>
            <a:ext cx="76200" cy="34265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36"/>
          <p:cNvSpPr/>
          <p:nvPr/>
        </p:nvSpPr>
        <p:spPr>
          <a:xfrm>
            <a:off x="5577840" y="4448907"/>
            <a:ext cx="76200" cy="24618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37"/>
          <p:cNvSpPr/>
          <p:nvPr/>
        </p:nvSpPr>
        <p:spPr>
          <a:xfrm>
            <a:off x="5730240" y="4517048"/>
            <a:ext cx="76200" cy="1099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38"/>
          <p:cNvSpPr/>
          <p:nvPr/>
        </p:nvSpPr>
        <p:spPr>
          <a:xfrm>
            <a:off x="5882640" y="4485732"/>
            <a:ext cx="76200" cy="1725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Card-39"/>
          <p:cNvSpPr/>
          <p:nvPr/>
        </p:nvSpPr>
        <p:spPr>
          <a:xfrm>
            <a:off x="548640" y="4937760"/>
            <a:ext cx="28346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2" name="Text-40"/>
          <p:cNvSpPr txBox="1"/>
          <p:nvPr/>
        </p:nvSpPr>
        <p:spPr>
          <a:xfrm>
            <a:off x="777240" y="50474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RUNDE</a:t>
            </a:r>
            <a:endParaRPr lang="en-US" sz="1000" dirty="0"/>
          </a:p>
        </p:txBody>
      </p:sp>
      <p:sp>
        <p:nvSpPr>
          <p:cNvPr id="43" name="Text-41"/>
          <p:cNvSpPr txBox="1"/>
          <p:nvPr/>
        </p:nvSpPr>
        <p:spPr>
          <a:xfrm>
            <a:off x="777240" y="5303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</a:t>
            </a:r>
            <a:endParaRPr lang="en-US" sz="3000" dirty="0"/>
          </a:p>
        </p:txBody>
      </p:sp>
      <p:sp>
        <p:nvSpPr>
          <p:cNvPr id="44" name="Text-42"/>
          <p:cNvSpPr txBox="1"/>
          <p:nvPr/>
        </p:nvSpPr>
        <p:spPr>
          <a:xfrm>
            <a:off x="777240" y="5760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Monate · Runway 18 Monate auch ohne Umsatz</a:t>
            </a:r>
            <a:endParaRPr lang="en-US" sz="1000" dirty="0"/>
          </a:p>
        </p:txBody>
      </p:sp>
      <p:sp>
        <p:nvSpPr>
          <p:cNvPr id="45" name="Text-43"/>
          <p:cNvSpPr txBox="1"/>
          <p:nvPr/>
        </p:nvSpPr>
        <p:spPr>
          <a:xfrm>
            <a:off x="3657600" y="4983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 &amp; ERFINDER</a:t>
            </a:r>
            <a:endParaRPr lang="en-US" sz="900" dirty="0"/>
          </a:p>
        </p:txBody>
      </p:sp>
      <p:sp>
        <p:nvSpPr>
          <p:cNvPr id="46" name="Text-44"/>
          <p:cNvSpPr txBox="1"/>
          <p:nvPr/>
        </p:nvSpPr>
        <p:spPr>
          <a:xfrm>
            <a:off x="3657600" y="51846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800" dirty="0"/>
          </a:p>
        </p:txBody>
      </p:sp>
      <p:sp>
        <p:nvSpPr>
          <p:cNvPr id="47" name="Text-45"/>
          <p:cNvSpPr txBox="1"/>
          <p:nvPr/>
        </p:nvSpPr>
        <p:spPr>
          <a:xfrm>
            <a:off x="3657600" y="5623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</a:t>
            </a:r>
            <a:endParaRPr lang="en-US" sz="900" dirty="0"/>
          </a:p>
        </p:txBody>
      </p:sp>
      <p:sp>
        <p:nvSpPr>
          <p:cNvPr id="48" name="Text-46"/>
          <p:cNvSpPr txBox="1"/>
          <p:nvPr/>
        </p:nvSpPr>
        <p:spPr>
          <a:xfrm>
            <a:off x="3657600" y="5824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800" dirty="0"/>
          </a:p>
        </p:txBody>
      </p:sp>
      <p:pic>
        <p:nvPicPr>
          <p:cNvPr id="49" name="Image-47" descr="/home/user/Notion/live-fx/business/landing-assets/overlay-ne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548640"/>
            <a:ext cx="5056632" cy="2843784"/>
          </a:xfrm>
          <a:prstGeom prst="rect">
            <a:avLst/>
          </a:prstGeom>
        </p:spPr>
      </p:pic>
      <p:pic>
        <p:nvPicPr>
          <p:cNvPr id="50" name="Image-48" descr="/home/user/Notion/live-fx/business/video/stills/vision-de-16x9-8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0" y="3566160"/>
            <a:ext cx="5056632" cy="2843784"/>
          </a:xfrm>
          <a:prstGeom prst="rect">
            <a:avLst/>
          </a:prstGeom>
        </p:spPr>
      </p:pic>
      <p:sp>
        <p:nvSpPr>
          <p:cNvPr id="51" name="Pill-49"/>
          <p:cNvSpPr txBox="1"/>
          <p:nvPr/>
        </p:nvSpPr>
        <p:spPr>
          <a:xfrm>
            <a:off x="6766560" y="731520"/>
            <a:ext cx="146304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INVESTMENT-THESE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fokussierte Wette auf Sprache als Live-Auslöser</a:t>
            </a:r>
            <a:endParaRPr lang="en-US" sz="3200" dirty="0"/>
          </a:p>
        </p:txBody>
      </p:sp>
      <p:sp>
        <p:nvSpPr>
          <p:cNvPr id="4" name="Card-50"/>
          <p:cNvSpPr/>
          <p:nvPr/>
        </p:nvSpPr>
        <p:spPr>
          <a:xfrm>
            <a:off x="548640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51"/>
          <p:cNvSpPr txBox="1"/>
          <p:nvPr/>
        </p:nvSpPr>
        <p:spPr>
          <a:xfrm>
            <a:off x="777240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-52"/>
          <p:cNvSpPr txBox="1"/>
          <p:nvPr/>
        </p:nvSpPr>
        <p:spPr>
          <a:xfrm>
            <a:off x="777240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Gebaut &amp; getestet</a:t>
            </a:r>
            <a:endParaRPr lang="en-US" sz="1800" dirty="0"/>
          </a:p>
        </p:txBody>
      </p:sp>
      <p:sp>
        <p:nvSpPr>
          <p:cNvPr id="7" name="Text-53"/>
          <p:cNvSpPr txBox="1"/>
          <p:nvPr/>
        </p:nvSpPr>
        <p:spPr>
          <a:xfrm>
            <a:off x="777240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2.1 läuft: 238 Trigger, 143 freie Sticker, 575+ automatisierte Tests.</a:t>
            </a:r>
            <a:endParaRPr lang="en-US" sz="1300" dirty="0"/>
          </a:p>
        </p:txBody>
      </p:sp>
      <p:sp>
        <p:nvSpPr>
          <p:cNvPr id="8" name="Card-54"/>
          <p:cNvSpPr/>
          <p:nvPr/>
        </p:nvSpPr>
        <p:spPr>
          <a:xfrm>
            <a:off x="2813243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55"/>
          <p:cNvSpPr txBox="1"/>
          <p:nvPr/>
        </p:nvSpPr>
        <p:spPr>
          <a:xfrm>
            <a:off x="3041843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-56"/>
          <p:cNvSpPr txBox="1"/>
          <p:nvPr/>
        </p:nvSpPr>
        <p:spPr>
          <a:xfrm>
            <a:off x="3041843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Leere Lücke</a:t>
            </a:r>
            <a:endParaRPr lang="en-US" sz="1800" dirty="0"/>
          </a:p>
        </p:txBody>
      </p:sp>
      <p:sp>
        <p:nvSpPr>
          <p:cNvPr id="11" name="Text-57"/>
          <p:cNvSpPr txBox="1"/>
          <p:nvPr/>
        </p:nvSpPr>
        <p:spPr>
          <a:xfrm>
            <a:off x="3041843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verbreitetes Tool reagiert auf das, was der Creator sagt.</a:t>
            </a:r>
            <a:endParaRPr lang="en-US" sz="1300" dirty="0"/>
          </a:p>
        </p:txBody>
      </p:sp>
      <p:sp>
        <p:nvSpPr>
          <p:cNvPr id="12" name="Card-58"/>
          <p:cNvSpPr/>
          <p:nvPr/>
        </p:nvSpPr>
        <p:spPr>
          <a:xfrm>
            <a:off x="5077846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59"/>
          <p:cNvSpPr txBox="1"/>
          <p:nvPr/>
        </p:nvSpPr>
        <p:spPr>
          <a:xfrm>
            <a:off x="5306446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-60"/>
          <p:cNvSpPr txBox="1"/>
          <p:nvPr/>
        </p:nvSpPr>
        <p:spPr>
          <a:xfrm>
            <a:off x="5306446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Geld im Stream</a:t>
            </a:r>
            <a:endParaRPr lang="en-US" sz="1800" dirty="0"/>
          </a:p>
        </p:txBody>
      </p:sp>
      <p:sp>
        <p:nvSpPr>
          <p:cNvPr id="15" name="Text-61"/>
          <p:cNvSpPr txBox="1"/>
          <p:nvPr/>
        </p:nvSpPr>
        <p:spPr>
          <a:xfrm>
            <a:off x="5306446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Geschenke ≈ 50 % des Streamer-Einkommens [Quelle 5, 6].</a:t>
            </a:r>
            <a:endParaRPr lang="en-US" sz="1300" dirty="0"/>
          </a:p>
        </p:txBody>
      </p:sp>
      <p:sp>
        <p:nvSpPr>
          <p:cNvPr id="16" name="Card-62"/>
          <p:cNvSpPr/>
          <p:nvPr/>
        </p:nvSpPr>
        <p:spPr>
          <a:xfrm>
            <a:off x="7342449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63"/>
          <p:cNvSpPr txBox="1"/>
          <p:nvPr/>
        </p:nvSpPr>
        <p:spPr>
          <a:xfrm>
            <a:off x="7571049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-64"/>
          <p:cNvSpPr txBox="1"/>
          <p:nvPr/>
        </p:nvSpPr>
        <p:spPr>
          <a:xfrm>
            <a:off x="7571049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statt rechnen</a:t>
            </a:r>
            <a:endParaRPr lang="en-US" sz="1800" dirty="0"/>
          </a:p>
        </p:txBody>
      </p:sp>
      <p:sp>
        <p:nvSpPr>
          <p:cNvPr id="19" name="Text-65"/>
          <p:cNvSpPr txBox="1"/>
          <p:nvPr/>
        </p:nvSpPr>
        <p:spPr>
          <a:xfrm>
            <a:off x="7571049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Szenen im Browser: 240- bis &gt; 10.000-mal günstiger als Video-KI.</a:t>
            </a:r>
            <a:endParaRPr lang="en-US" sz="1300" dirty="0"/>
          </a:p>
        </p:txBody>
      </p:sp>
      <p:sp>
        <p:nvSpPr>
          <p:cNvPr id="20" name="Card-66"/>
          <p:cNvSpPr/>
          <p:nvPr/>
        </p:nvSpPr>
        <p:spPr>
          <a:xfrm>
            <a:off x="9607052" y="1600200"/>
            <a:ext cx="2036003" cy="3383280"/>
          </a:xfrm>
          <a:prstGeom prst="roundRect">
            <a:avLst>
              <a:gd name="adj" fmla="val 5389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67"/>
          <p:cNvSpPr txBox="1"/>
          <p:nvPr/>
        </p:nvSpPr>
        <p:spPr>
          <a:xfrm>
            <a:off x="9835652" y="1783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-68"/>
          <p:cNvSpPr txBox="1"/>
          <p:nvPr/>
        </p:nvSpPr>
        <p:spPr>
          <a:xfrm>
            <a:off x="9835652" y="2423160"/>
            <a:ext cx="16245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Engine, vier Linien</a:t>
            </a:r>
            <a:endParaRPr lang="en-US" sz="1800" dirty="0"/>
          </a:p>
        </p:txBody>
      </p:sp>
      <p:sp>
        <p:nvSpPr>
          <p:cNvPr id="23" name="Text-69"/>
          <p:cNvSpPr txBox="1"/>
          <p:nvPr/>
        </p:nvSpPr>
        <p:spPr>
          <a:xfrm>
            <a:off x="9835652" y="3200400"/>
            <a:ext cx="162452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Zuerst WortBild; Erzählfilm, Studio und Räume in der Folgerunde.</a:t>
            </a:r>
            <a:endParaRPr lang="en-US" sz="1300" dirty="0"/>
          </a:p>
        </p:txBody>
      </p:sp>
      <p:sp>
        <p:nvSpPr>
          <p:cNvPr id="24" name="Text-70"/>
          <p:cNvSpPr txBox="1"/>
          <p:nvPr/>
        </p:nvSpPr>
        <p:spPr>
          <a:xfrm>
            <a:off x="548640" y="5303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 bringen LiveFX in 18 Monaten an den Markt und WortBild vom Prototyp zum Produkt.</a:t>
            </a:r>
            <a:endParaRPr lang="en-US" sz="1800" dirty="0"/>
          </a:p>
        </p:txBody>
      </p:sp>
      <p:sp>
        <p:nvSpPr>
          <p:cNvPr id="25" name="Wave-71"/>
          <p:cNvSpPr/>
          <p:nvPr/>
        </p:nvSpPr>
        <p:spPr>
          <a:xfrm>
            <a:off x="8778240" y="5550408"/>
            <a:ext cx="65047" cy="1005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72"/>
          <p:cNvSpPr/>
          <p:nvPr/>
        </p:nvSpPr>
        <p:spPr>
          <a:xfrm>
            <a:off x="8908334" y="5421674"/>
            <a:ext cx="65047" cy="3580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73"/>
          <p:cNvSpPr/>
          <p:nvPr/>
        </p:nvSpPr>
        <p:spPr>
          <a:xfrm>
            <a:off x="9038428" y="5428798"/>
            <a:ext cx="65047" cy="34380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74"/>
          <p:cNvSpPr/>
          <p:nvPr/>
        </p:nvSpPr>
        <p:spPr>
          <a:xfrm>
            <a:off x="9168523" y="5446566"/>
            <a:ext cx="65047" cy="3082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75"/>
          <p:cNvSpPr/>
          <p:nvPr/>
        </p:nvSpPr>
        <p:spPr>
          <a:xfrm>
            <a:off x="9298617" y="5403575"/>
            <a:ext cx="65047" cy="39424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76"/>
          <p:cNvSpPr/>
          <p:nvPr/>
        </p:nvSpPr>
        <p:spPr>
          <a:xfrm>
            <a:off x="9428711" y="5452667"/>
            <a:ext cx="65047" cy="29606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77"/>
          <p:cNvSpPr/>
          <p:nvPr/>
        </p:nvSpPr>
        <p:spPr>
          <a:xfrm>
            <a:off x="9558805" y="5491410"/>
            <a:ext cx="65047" cy="2185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78"/>
          <p:cNvSpPr/>
          <p:nvPr/>
        </p:nvSpPr>
        <p:spPr>
          <a:xfrm>
            <a:off x="9688899" y="5421157"/>
            <a:ext cx="65047" cy="35908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79"/>
          <p:cNvSpPr/>
          <p:nvPr/>
        </p:nvSpPr>
        <p:spPr>
          <a:xfrm>
            <a:off x="9818993" y="5450043"/>
            <a:ext cx="65047" cy="30131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80"/>
          <p:cNvSpPr/>
          <p:nvPr/>
        </p:nvSpPr>
        <p:spPr>
          <a:xfrm>
            <a:off x="9949088" y="5423724"/>
            <a:ext cx="65047" cy="35395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81"/>
          <p:cNvSpPr/>
          <p:nvPr/>
        </p:nvSpPr>
        <p:spPr>
          <a:xfrm>
            <a:off x="10079182" y="5395608"/>
            <a:ext cx="65047" cy="41018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Wave-82"/>
          <p:cNvSpPr/>
          <p:nvPr/>
        </p:nvSpPr>
        <p:spPr>
          <a:xfrm>
            <a:off x="10209276" y="5508050"/>
            <a:ext cx="65047" cy="1852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83"/>
          <p:cNvSpPr/>
          <p:nvPr/>
        </p:nvSpPr>
        <p:spPr>
          <a:xfrm>
            <a:off x="10339370" y="5453122"/>
            <a:ext cx="65047" cy="29515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84"/>
          <p:cNvSpPr/>
          <p:nvPr/>
        </p:nvSpPr>
        <p:spPr>
          <a:xfrm>
            <a:off x="10469464" y="5440863"/>
            <a:ext cx="65047" cy="31967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85"/>
          <p:cNvSpPr/>
          <p:nvPr/>
        </p:nvSpPr>
        <p:spPr>
          <a:xfrm>
            <a:off x="10599559" y="5450191"/>
            <a:ext cx="65047" cy="30101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86"/>
          <p:cNvSpPr/>
          <p:nvPr/>
        </p:nvSpPr>
        <p:spPr>
          <a:xfrm>
            <a:off x="10729653" y="5393151"/>
            <a:ext cx="65047" cy="41509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87"/>
          <p:cNvSpPr/>
          <p:nvPr/>
        </p:nvSpPr>
        <p:spPr>
          <a:xfrm>
            <a:off x="10859747" y="5417938"/>
            <a:ext cx="65047" cy="36552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88"/>
          <p:cNvSpPr/>
          <p:nvPr/>
        </p:nvSpPr>
        <p:spPr>
          <a:xfrm>
            <a:off x="10989841" y="5532227"/>
            <a:ext cx="65047" cy="1369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89"/>
          <p:cNvSpPr/>
          <p:nvPr/>
        </p:nvSpPr>
        <p:spPr>
          <a:xfrm>
            <a:off x="11119935" y="5444746"/>
            <a:ext cx="65047" cy="3119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90"/>
          <p:cNvSpPr/>
          <p:nvPr/>
        </p:nvSpPr>
        <p:spPr>
          <a:xfrm>
            <a:off x="11250029" y="5460327"/>
            <a:ext cx="65047" cy="28074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91"/>
          <p:cNvSpPr/>
          <p:nvPr/>
        </p:nvSpPr>
        <p:spPr>
          <a:xfrm>
            <a:off x="11380124" y="5426142"/>
            <a:ext cx="65047" cy="34911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Wave-92"/>
          <p:cNvSpPr/>
          <p:nvPr/>
        </p:nvSpPr>
        <p:spPr>
          <a:xfrm>
            <a:off x="11510218" y="5376384"/>
            <a:ext cx="65047" cy="4486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DIE MARKTLÜCKE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Kurzvideos werden geschnitten. Live bleibt roh</a:t>
            </a:r>
            <a:endParaRPr lang="en-US" sz="3200" dirty="0"/>
          </a:p>
        </p:txBody>
      </p:sp>
      <p:sp>
        <p:nvSpPr>
          <p:cNvPr id="4" name="Text-93"/>
          <p:cNvSpPr txBox="1"/>
          <p:nvPr/>
        </p:nvSpPr>
        <p:spPr>
          <a:xfrm>
            <a:off x="548640" y="1783080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gesteuert</a:t>
            </a:r>
            <a:endParaRPr lang="en-US" sz="1200" dirty="0"/>
          </a:p>
        </p:txBody>
      </p:sp>
      <p:sp>
        <p:nvSpPr>
          <p:cNvPr id="5" name="Text-94"/>
          <p:cNvSpPr txBox="1"/>
          <p:nvPr/>
        </p:nvSpPr>
        <p:spPr>
          <a:xfrm>
            <a:off x="548640" y="3675888"/>
            <a:ext cx="1188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gesteuert</a:t>
            </a:r>
            <a:endParaRPr lang="en-US" sz="1200" dirty="0"/>
          </a:p>
        </p:txBody>
      </p:sp>
      <p:sp>
        <p:nvSpPr>
          <p:cNvPr id="6" name="Text-95"/>
          <p:cNvSpPr txBox="1"/>
          <p:nvPr/>
        </p:nvSpPr>
        <p:spPr>
          <a:xfrm>
            <a:off x="18288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</a:t>
            </a:r>
            <a:endParaRPr lang="en-US" sz="1000" dirty="0"/>
          </a:p>
        </p:txBody>
      </p:sp>
      <p:sp>
        <p:nvSpPr>
          <p:cNvPr id="7" name="Text-96"/>
          <p:cNvSpPr txBox="1"/>
          <p:nvPr/>
        </p:nvSpPr>
        <p:spPr>
          <a:xfrm>
            <a:off x="4453128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</a:t>
            </a:r>
            <a:endParaRPr lang="en-US" sz="1000" dirty="0"/>
          </a:p>
        </p:txBody>
      </p:sp>
      <p:sp>
        <p:nvSpPr>
          <p:cNvPr id="8" name="Card-97"/>
          <p:cNvSpPr/>
          <p:nvPr/>
        </p:nvSpPr>
        <p:spPr>
          <a:xfrm>
            <a:off x="1828800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-98"/>
          <p:cNvSpPr txBox="1"/>
          <p:nvPr/>
        </p:nvSpPr>
        <p:spPr>
          <a:xfrm>
            <a:off x="2029968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Effekte, Sticker</a:t>
            </a:r>
            <a:endParaRPr lang="en-US" sz="1600" dirty="0"/>
          </a:p>
        </p:txBody>
      </p:sp>
      <p:sp>
        <p:nvSpPr>
          <p:cNvPr id="10" name="Text-99"/>
          <p:cNvSpPr txBox="1"/>
          <p:nvPr/>
        </p:nvSpPr>
        <p:spPr>
          <a:xfrm>
            <a:off x="2029968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 gewählt</a:t>
            </a:r>
            <a:endParaRPr lang="en-US" sz="1300" dirty="0"/>
          </a:p>
        </p:txBody>
      </p:sp>
      <p:sp>
        <p:nvSpPr>
          <p:cNvPr id="11" name="Card-100"/>
          <p:cNvSpPr/>
          <p:nvPr/>
        </p:nvSpPr>
        <p:spPr>
          <a:xfrm>
            <a:off x="4453128" y="1783080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101"/>
          <p:cNvSpPr txBox="1"/>
          <p:nvPr/>
        </p:nvSpPr>
        <p:spPr>
          <a:xfrm>
            <a:off x="4654296" y="205740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(Streamlabs, StreamElements)</a:t>
            </a:r>
            <a:endParaRPr lang="en-US" sz="1600" dirty="0"/>
          </a:p>
        </p:txBody>
      </p:sp>
      <p:sp>
        <p:nvSpPr>
          <p:cNvPr id="13" name="Text-102"/>
          <p:cNvSpPr txBox="1"/>
          <p:nvPr/>
        </p:nvSpPr>
        <p:spPr>
          <a:xfrm>
            <a:off x="4654296" y="278892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reagieren auf Follows, Spenden</a:t>
            </a:r>
            <a:endParaRPr lang="en-US" sz="1300" dirty="0"/>
          </a:p>
        </p:txBody>
      </p:sp>
      <p:sp>
        <p:nvSpPr>
          <p:cNvPr id="14" name="Card-103"/>
          <p:cNvSpPr/>
          <p:nvPr/>
        </p:nvSpPr>
        <p:spPr>
          <a:xfrm>
            <a:off x="1828800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104"/>
          <p:cNvSpPr txBox="1"/>
          <p:nvPr/>
        </p:nvSpPr>
        <p:spPr>
          <a:xfrm>
            <a:off x="2029968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Voicemod, Stream Deck</a:t>
            </a:r>
            <a:endParaRPr lang="en-US" sz="1600" dirty="0"/>
          </a:p>
        </p:txBody>
      </p:sp>
      <p:sp>
        <p:nvSpPr>
          <p:cNvPr id="16" name="Text-105"/>
          <p:cNvSpPr txBox="1"/>
          <p:nvPr/>
        </p:nvSpPr>
        <p:spPr>
          <a:xfrm>
            <a:off x="2029968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brauchen Hände</a:t>
            </a:r>
            <a:endParaRPr lang="en-US" sz="1300" dirty="0"/>
          </a:p>
        </p:txBody>
      </p:sp>
      <p:sp>
        <p:nvSpPr>
          <p:cNvPr id="17" name="Card-106"/>
          <p:cNvSpPr/>
          <p:nvPr/>
        </p:nvSpPr>
        <p:spPr>
          <a:xfrm>
            <a:off x="4453128" y="3675888"/>
            <a:ext cx="2514600" cy="178308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18" name="Text-107"/>
          <p:cNvSpPr txBox="1"/>
          <p:nvPr/>
        </p:nvSpPr>
        <p:spPr>
          <a:xfrm>
            <a:off x="4654296" y="3950208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2600" dirty="0"/>
          </a:p>
        </p:txBody>
      </p:sp>
      <p:sp>
        <p:nvSpPr>
          <p:cNvPr id="19" name="Text-108"/>
          <p:cNvSpPr txBox="1"/>
          <p:nvPr/>
        </p:nvSpPr>
        <p:spPr>
          <a:xfrm>
            <a:off x="4654296" y="468172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reagiert auf die Stimme – allein im Feld</a:t>
            </a:r>
            <a:endParaRPr lang="en-US" sz="1300" dirty="0"/>
          </a:p>
        </p:txBody>
      </p:sp>
      <p:sp>
        <p:nvSpPr>
          <p:cNvPr id="20" name="Text-109"/>
          <p:cNvSpPr txBox="1"/>
          <p:nvPr/>
        </p:nvSpPr>
        <p:spPr>
          <a:xfrm>
            <a:off x="7406640" y="160020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~50 %</a:t>
            </a:r>
            <a:endParaRPr lang="en-US" sz="3400" dirty="0"/>
          </a:p>
        </p:txBody>
      </p:sp>
      <p:sp>
        <p:nvSpPr>
          <p:cNvPr id="21" name="Text-110"/>
          <p:cNvSpPr txBox="1"/>
          <p:nvPr/>
        </p:nvSpPr>
        <p:spPr>
          <a:xfrm>
            <a:off x="7406640" y="219456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Anteil der Geschenke am Einkommen von Live-Streamern [Quelle 5, 6]</a:t>
            </a:r>
            <a:endParaRPr lang="en-US" sz="1300" dirty="0"/>
          </a:p>
        </p:txBody>
      </p:sp>
      <p:sp>
        <p:nvSpPr>
          <p:cNvPr id="22" name="Text-111"/>
          <p:cNvSpPr txBox="1"/>
          <p:nvPr/>
        </p:nvSpPr>
        <p:spPr>
          <a:xfrm>
            <a:off x="7406640" y="306324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500–3.000 USD</a:t>
            </a:r>
            <a:endParaRPr lang="en-US" sz="3400" dirty="0"/>
          </a:p>
        </p:txBody>
      </p:sp>
      <p:sp>
        <p:nvSpPr>
          <p:cNvPr id="23" name="Text-112"/>
          <p:cNvSpPr txBox="1"/>
          <p:nvPr/>
        </p:nvSpPr>
        <p:spPr>
          <a:xfrm>
            <a:off x="7406640" y="365760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Geschenke pro Monat bei 20–100 T Followern [Quelle 5]</a:t>
            </a:r>
            <a:endParaRPr lang="en-US" sz="1300" dirty="0"/>
          </a:p>
        </p:txBody>
      </p:sp>
      <p:sp>
        <p:nvSpPr>
          <p:cNvPr id="24" name="Text-113"/>
          <p:cNvSpPr txBox="1"/>
          <p:nvPr/>
        </p:nvSpPr>
        <p:spPr>
          <a:xfrm>
            <a:off x="7406640" y="4526280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Mio.</a:t>
            </a:r>
            <a:endParaRPr lang="en-US" sz="3400" dirty="0"/>
          </a:p>
        </p:txBody>
      </p:sp>
      <p:sp>
        <p:nvSpPr>
          <p:cNvPr id="25" name="Text-114"/>
          <p:cNvSpPr txBox="1"/>
          <p:nvPr/>
        </p:nvSpPr>
        <p:spPr>
          <a:xfrm>
            <a:off x="7406640" y="5120640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gingen 2025 allein in SEA, Kaukasus, Zentralasien auf TikTok live, +77 % [Quelle 2]</a:t>
            </a:r>
            <a:endParaRPr lang="en-US" sz="1300" dirty="0"/>
          </a:p>
        </p:txBody>
      </p:sp>
      <p:sp>
        <p:nvSpPr>
          <p:cNvPr id="26" name="Text-11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· 2×2 nach PITCH-DECK.md, Folie 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VALIDIERTER BUILD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2.1: Stimme → Effekt in unter einer Sekunde</a:t>
            </a:r>
            <a:endParaRPr lang="en-US" sz="3200" dirty="0"/>
          </a:p>
        </p:txBody>
      </p:sp>
      <p:pic>
        <p:nvPicPr>
          <p:cNvPr id="4" name="Image-116" descr="/home/user/Notion/live-fx/business/video/assets/pan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669280" cy="3543300"/>
          </a:xfrm>
          <a:prstGeom prst="rect">
            <a:avLst/>
          </a:prstGeom>
        </p:spPr>
      </p:pic>
      <p:pic>
        <p:nvPicPr>
          <p:cNvPr id="5" name="Image-117" descr="/home/user/Notion/live-fx/business/video/assets/overlay-ca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86200" y="3954780"/>
            <a:ext cx="2194560" cy="123444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60000"/>
              </a:srgbClr>
            </a:outerShdw>
          </a:effectLst>
        </p:spPr>
      </p:pic>
      <p:sp>
        <p:nvSpPr>
          <p:cNvPr id="6" name="Pill-118"/>
          <p:cNvSpPr txBox="1"/>
          <p:nvPr/>
        </p:nvSpPr>
        <p:spPr>
          <a:xfrm>
            <a:off x="548640" y="5257800"/>
            <a:ext cx="5669280" cy="365760"/>
          </a:xfrm>
          <a:prstGeom prst="roundRect">
            <a:avLst>
              <a:gd name="adj" fmla="val 4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  →  TR-Launch Q4 2026  →  Pro live in Monat 3</a:t>
            </a:r>
            <a:endParaRPr lang="en-US" sz="1200" dirty="0"/>
          </a:p>
        </p:txBody>
      </p:sp>
      <p:sp>
        <p:nvSpPr>
          <p:cNvPr id="7" name="Text-119"/>
          <p:cNvSpPr txBox="1"/>
          <p:nvPr/>
        </p:nvSpPr>
        <p:spPr>
          <a:xfrm>
            <a:off x="6583680" y="155448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sagt „krass“, „yok artık“ oder „Applaus“ – das Meme erscheint, der Sound spielt. Liest er vor, wird das Overlay zur animierten Szene.</a:t>
            </a:r>
            <a:endParaRPr lang="en-US" sz="1400" dirty="0"/>
          </a:p>
        </p:txBody>
      </p:sp>
      <p:sp>
        <p:nvSpPr>
          <p:cNvPr id="8" name="Text-120"/>
          <p:cNvSpPr txBox="1"/>
          <p:nvPr/>
        </p:nvSpPr>
        <p:spPr>
          <a:xfrm>
            <a:off x="6583680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2800" dirty="0"/>
          </a:p>
        </p:txBody>
      </p:sp>
      <p:sp>
        <p:nvSpPr>
          <p:cNvPr id="9" name="Text-121"/>
          <p:cNvSpPr txBox="1"/>
          <p:nvPr/>
        </p:nvSpPr>
        <p:spPr>
          <a:xfrm>
            <a:off x="6583680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in 5 Paketen</a:t>
            </a:r>
            <a:endParaRPr lang="en-US" sz="1200" dirty="0"/>
          </a:p>
        </p:txBody>
      </p:sp>
      <p:sp>
        <p:nvSpPr>
          <p:cNvPr id="10" name="Text-122"/>
          <p:cNvSpPr txBox="1"/>
          <p:nvPr/>
        </p:nvSpPr>
        <p:spPr>
          <a:xfrm>
            <a:off x="9227668" y="260604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2800" dirty="0"/>
          </a:p>
        </p:txBody>
      </p:sp>
      <p:sp>
        <p:nvSpPr>
          <p:cNvPr id="11" name="Text-123"/>
          <p:cNvSpPr txBox="1"/>
          <p:nvPr/>
        </p:nvSpPr>
        <p:spPr>
          <a:xfrm>
            <a:off x="9227668" y="306324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freie Sticker (MIT)</a:t>
            </a:r>
            <a:endParaRPr lang="en-US" sz="1200" dirty="0"/>
          </a:p>
        </p:txBody>
      </p:sp>
      <p:sp>
        <p:nvSpPr>
          <p:cNvPr id="12" name="Text-124"/>
          <p:cNvSpPr txBox="1"/>
          <p:nvPr/>
        </p:nvSpPr>
        <p:spPr>
          <a:xfrm>
            <a:off x="6583680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−63–69 %</a:t>
            </a:r>
            <a:endParaRPr lang="en-US" sz="2800" dirty="0"/>
          </a:p>
        </p:txBody>
      </p:sp>
      <p:sp>
        <p:nvSpPr>
          <p:cNvPr id="13" name="Text-125"/>
          <p:cNvSpPr txBox="1"/>
          <p:nvPr/>
        </p:nvSpPr>
        <p:spPr>
          <a:xfrm>
            <a:off x="6583680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Bildzeit (Leistungsmodus)</a:t>
            </a:r>
            <a:endParaRPr lang="en-US" sz="1200" dirty="0"/>
          </a:p>
        </p:txBody>
      </p:sp>
      <p:sp>
        <p:nvSpPr>
          <p:cNvPr id="14" name="Text-126"/>
          <p:cNvSpPr txBox="1"/>
          <p:nvPr/>
        </p:nvSpPr>
        <p:spPr>
          <a:xfrm>
            <a:off x="9227668" y="347472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-127"/>
          <p:cNvSpPr txBox="1"/>
          <p:nvPr/>
        </p:nvSpPr>
        <p:spPr>
          <a:xfrm>
            <a:off x="9227668" y="393192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Sprachen, automatisch erkannt</a:t>
            </a:r>
            <a:endParaRPr lang="en-US" sz="1200" dirty="0"/>
          </a:p>
        </p:txBody>
      </p:sp>
      <p:sp>
        <p:nvSpPr>
          <p:cNvPr id="16" name="Text-128"/>
          <p:cNvSpPr txBox="1"/>
          <p:nvPr/>
        </p:nvSpPr>
        <p:spPr>
          <a:xfrm>
            <a:off x="6583680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800" dirty="0"/>
          </a:p>
        </p:txBody>
      </p:sp>
      <p:sp>
        <p:nvSpPr>
          <p:cNvPr id="17" name="Text-129"/>
          <p:cNvSpPr txBox="1"/>
          <p:nvPr/>
        </p:nvSpPr>
        <p:spPr>
          <a:xfrm>
            <a:off x="6583680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 → Effekt</a:t>
            </a:r>
            <a:endParaRPr lang="en-US" sz="1200" dirty="0"/>
          </a:p>
        </p:txBody>
      </p:sp>
      <p:sp>
        <p:nvSpPr>
          <p:cNvPr id="18" name="Text-130"/>
          <p:cNvSpPr txBox="1"/>
          <p:nvPr/>
        </p:nvSpPr>
        <p:spPr>
          <a:xfrm>
            <a:off x="9227668" y="4343400"/>
            <a:ext cx="24153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575+</a:t>
            </a:r>
            <a:endParaRPr lang="en-US" sz="2800" dirty="0"/>
          </a:p>
        </p:txBody>
      </p:sp>
      <p:sp>
        <p:nvSpPr>
          <p:cNvPr id="19" name="Text-131"/>
          <p:cNvSpPr txBox="1"/>
          <p:nvPr/>
        </p:nvSpPr>
        <p:spPr>
          <a:xfrm>
            <a:off x="9227668" y="4800600"/>
            <a:ext cx="24153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automatisierte Tests</a:t>
            </a:r>
            <a:endParaRPr lang="en-US" sz="1200" dirty="0"/>
          </a:p>
        </p:txBody>
      </p:sp>
      <p:sp>
        <p:nvSpPr>
          <p:cNvPr id="20" name="Text-132"/>
          <p:cNvSpPr txBox="1"/>
          <p:nvPr/>
        </p:nvSpPr>
        <p:spPr>
          <a:xfrm>
            <a:off x="6583680" y="5257800"/>
            <a:ext cx="5059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in 2.1: Text-Sticker TR/DE/EN · sichere GIF-Suche (KLIPY/GIPHY, rating g, Jugendschutz-Filter) · Story-Modus · Zuschauer-Trigger · Handy-Fernbedienung · offline · OBS/Streamlabs → TikTok LIVE, Instagram, YouTube, Twitch</a:t>
            </a:r>
            <a:endParaRPr lang="en-US" sz="1200" dirty="0"/>
          </a:p>
        </p:txBody>
      </p:sp>
      <p:sp>
        <p:nvSpPr>
          <p:cNvPr id="21" name="Text-1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BUSINESSPLAN.md §3; live-fx/CHANGELOG.md 2.1.0 (gemessen mit 31 Effekten, 1920×1080) · noch keine Umsätze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VISION 2027–2029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redest. Es wird Bild</a:t>
            </a:r>
            <a:endParaRPr lang="en-US" sz="3200" dirty="0"/>
          </a:p>
        </p:txBody>
      </p:sp>
      <p:sp>
        <p:nvSpPr>
          <p:cNvPr id="4" name="Card-134"/>
          <p:cNvSpPr/>
          <p:nvPr/>
        </p:nvSpPr>
        <p:spPr>
          <a:xfrm>
            <a:off x="548640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5" name="Image-135" descr="/home/user/Notion/live-fx/business/video/stills/vision-de-16x9-8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2602154" cy="1463712"/>
          </a:xfrm>
          <a:prstGeom prst="rect">
            <a:avLst/>
          </a:prstGeom>
        </p:spPr>
      </p:pic>
      <p:sp>
        <p:nvSpPr>
          <p:cNvPr id="6" name="Badge-136"/>
          <p:cNvSpPr txBox="1"/>
          <p:nvPr/>
        </p:nvSpPr>
        <p:spPr>
          <a:xfrm>
            <a:off x="731520" y="3219360"/>
            <a:ext cx="457200" cy="4572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-137"/>
          <p:cNvSpPr txBox="1"/>
          <p:nvPr/>
        </p:nvSpPr>
        <p:spPr>
          <a:xfrm>
            <a:off x="1325880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Erzählfilm</a:t>
            </a:r>
            <a:endParaRPr lang="en-US" sz="2000" dirty="0"/>
          </a:p>
        </p:txBody>
      </p:sp>
      <p:sp>
        <p:nvSpPr>
          <p:cNvPr id="8" name="Text-138"/>
          <p:cNvSpPr txBox="1"/>
          <p:nvPr/>
        </p:nvSpPr>
        <p:spPr>
          <a:xfrm>
            <a:off x="731520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Aus erzählten Sätzen entsteht live ein fortlaufender animierter Film.</a:t>
            </a:r>
            <a:endParaRPr lang="en-US" sz="1300" dirty="0"/>
          </a:p>
        </p:txBody>
      </p:sp>
      <p:sp>
        <p:nvSpPr>
          <p:cNvPr id="9" name="Pill-139"/>
          <p:cNvSpPr txBox="1"/>
          <p:nvPr/>
        </p:nvSpPr>
        <p:spPr>
          <a:xfrm>
            <a:off x="731520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1000" dirty="0"/>
          </a:p>
        </p:txBody>
      </p:sp>
      <p:sp>
        <p:nvSpPr>
          <p:cNvPr id="10" name="Card-140"/>
          <p:cNvSpPr/>
          <p:nvPr/>
        </p:nvSpPr>
        <p:spPr>
          <a:xfrm>
            <a:off x="3379394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1" name="Image-141" descr="/home/user/Notion/live-fx/business/video/stills/vision-de-16x9-15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79394" y="1554480"/>
            <a:ext cx="2602154" cy="1463712"/>
          </a:xfrm>
          <a:prstGeom prst="rect">
            <a:avLst/>
          </a:prstGeom>
        </p:spPr>
      </p:pic>
      <p:sp>
        <p:nvSpPr>
          <p:cNvPr id="12" name="Badge-142"/>
          <p:cNvSpPr txBox="1"/>
          <p:nvPr/>
        </p:nvSpPr>
        <p:spPr>
          <a:xfrm>
            <a:off x="3562274" y="3219360"/>
            <a:ext cx="457200" cy="457200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3" name="Text-143"/>
          <p:cNvSpPr txBox="1"/>
          <p:nvPr/>
        </p:nvSpPr>
        <p:spPr>
          <a:xfrm>
            <a:off x="4156634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</a:t>
            </a:r>
            <a:endParaRPr lang="en-US" sz="2000" dirty="0"/>
          </a:p>
        </p:txBody>
      </p:sp>
      <p:sp>
        <p:nvSpPr>
          <p:cNvPr id="14" name="Text-144"/>
          <p:cNvSpPr txBox="1"/>
          <p:nvPr/>
        </p:nvSpPr>
        <p:spPr>
          <a:xfrm>
            <a:off x="3562274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Sprachenlernen: Wort → Bild + Zielsprache + Aussprache; Lesehilfe, Nachsprechen.</a:t>
            </a:r>
            <a:endParaRPr lang="en-US" sz="1300" dirty="0"/>
          </a:p>
        </p:txBody>
      </p:sp>
      <p:sp>
        <p:nvSpPr>
          <p:cNvPr id="15" name="Pill-145"/>
          <p:cNvSpPr txBox="1"/>
          <p:nvPr/>
        </p:nvSpPr>
        <p:spPr>
          <a:xfrm>
            <a:off x="3562274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→ PRODUKT</a:t>
            </a:r>
            <a:endParaRPr lang="en-US" sz="1000" dirty="0"/>
          </a:p>
        </p:txBody>
      </p:sp>
      <p:sp>
        <p:nvSpPr>
          <p:cNvPr id="16" name="Card-146"/>
          <p:cNvSpPr/>
          <p:nvPr/>
        </p:nvSpPr>
        <p:spPr>
          <a:xfrm>
            <a:off x="6210148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17" name="Image-147" descr="/home/user/Notion/live-fx/business/video/stills/vision-de-16x9-22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554480"/>
            <a:ext cx="2602154" cy="1463712"/>
          </a:xfrm>
          <a:prstGeom prst="rect">
            <a:avLst/>
          </a:prstGeom>
        </p:spPr>
      </p:pic>
      <p:sp>
        <p:nvSpPr>
          <p:cNvPr id="18" name="Badge-148"/>
          <p:cNvSpPr txBox="1"/>
          <p:nvPr/>
        </p:nvSpPr>
        <p:spPr>
          <a:xfrm>
            <a:off x="6393028" y="3219360"/>
            <a:ext cx="457200" cy="4572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-149"/>
          <p:cNvSpPr txBox="1"/>
          <p:nvPr/>
        </p:nvSpPr>
        <p:spPr>
          <a:xfrm>
            <a:off x="6987388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Räume</a:t>
            </a:r>
            <a:endParaRPr lang="en-US" sz="2000" dirty="0"/>
          </a:p>
        </p:txBody>
      </p:sp>
      <p:sp>
        <p:nvSpPr>
          <p:cNvPr id="20" name="Text-150"/>
          <p:cNvSpPr txBox="1"/>
          <p:nvPr/>
        </p:nvSpPr>
        <p:spPr>
          <a:xfrm>
            <a:off x="6393028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Zeitleiste auf Bühne, Beamer, Handy-AR, VR und Display-Brille.</a:t>
            </a:r>
            <a:endParaRPr lang="en-US" sz="1300" dirty="0"/>
          </a:p>
        </p:txBody>
      </p:sp>
      <p:sp>
        <p:nvSpPr>
          <p:cNvPr id="21" name="Pill-151"/>
          <p:cNvSpPr txBox="1"/>
          <p:nvPr/>
        </p:nvSpPr>
        <p:spPr>
          <a:xfrm>
            <a:off x="6393028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1000" dirty="0"/>
          </a:p>
        </p:txBody>
      </p:sp>
      <p:sp>
        <p:nvSpPr>
          <p:cNvPr id="22" name="Card-152"/>
          <p:cNvSpPr/>
          <p:nvPr/>
        </p:nvSpPr>
        <p:spPr>
          <a:xfrm>
            <a:off x="9040901" y="1554480"/>
            <a:ext cx="2602154" cy="388620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pic>
        <p:nvPicPr>
          <p:cNvPr id="23" name="Image-153" descr="/home/user/Notion/live-fx/business/video/stills/vision-de-16x9-29s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40901" y="1554480"/>
            <a:ext cx="2602154" cy="1463712"/>
          </a:xfrm>
          <a:prstGeom prst="rect">
            <a:avLst/>
          </a:prstGeom>
        </p:spPr>
      </p:pic>
      <p:sp>
        <p:nvSpPr>
          <p:cNvPr id="24" name="Badge-154"/>
          <p:cNvSpPr txBox="1"/>
          <p:nvPr/>
        </p:nvSpPr>
        <p:spPr>
          <a:xfrm>
            <a:off x="9223781" y="321936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-155"/>
          <p:cNvSpPr txBox="1"/>
          <p:nvPr/>
        </p:nvSpPr>
        <p:spPr>
          <a:xfrm>
            <a:off x="9818141" y="3219360"/>
            <a:ext cx="1687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2000" dirty="0"/>
          </a:p>
        </p:txBody>
      </p:sp>
      <p:sp>
        <p:nvSpPr>
          <p:cNvPr id="26" name="Text-156"/>
          <p:cNvSpPr txBox="1"/>
          <p:nvPr/>
        </p:nvSpPr>
        <p:spPr>
          <a:xfrm>
            <a:off x="9223781" y="3841152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 aus dem Stream, Auto-Edit fertiger Videos, lokaler Export.</a:t>
            </a:r>
            <a:endParaRPr lang="en-US" sz="1300" dirty="0"/>
          </a:p>
        </p:txBody>
      </p:sp>
      <p:sp>
        <p:nvSpPr>
          <p:cNvPr id="27" name="Pill-157"/>
          <p:cNvSpPr txBox="1"/>
          <p:nvPr/>
        </p:nvSpPr>
        <p:spPr>
          <a:xfrm>
            <a:off x="9223781" y="4983480"/>
            <a:ext cx="2236394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1000" dirty="0"/>
          </a:p>
        </p:txBody>
      </p:sp>
      <p:sp>
        <p:nvSpPr>
          <p:cNvPr id="28" name="Text-15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Pre-Seed-Runde finanziert WortBild (37.500 €); Story-Engine, Auto-Edit und VR wandern in die Folgerunde.</a:t>
            </a:r>
            <a:endParaRPr lang="en-US" sz="1500" dirty="0"/>
          </a:p>
        </p:txBody>
      </p:sp>
      <p:sp>
        <p:nvSpPr>
          <p:cNvPr id="29" name="Text-15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VISION.md §1, BUSINESSPLAN.md §15 · Bilder: Vision-Trailer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PROTOTYPEN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Linien laufen schon im Browser</a:t>
            </a:r>
            <a:endParaRPr lang="en-US" sz="3200" dirty="0"/>
          </a:p>
        </p:txBody>
      </p:sp>
      <p:pic>
        <p:nvPicPr>
          <p:cNvPr id="4" name="Image-160" descr="/home/user/Notion/investor/assets/proto-story-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794760" cy="2924567"/>
          </a:xfrm>
          <a:prstGeom prst="rect">
            <a:avLst/>
          </a:prstGeom>
        </p:spPr>
      </p:pic>
      <p:pic>
        <p:nvPicPr>
          <p:cNvPr id="5" name="Image-161" descr="/home/user/Notion/investor/assets/proto-wortbild-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17720" y="1554480"/>
            <a:ext cx="3200400" cy="1916906"/>
          </a:xfrm>
          <a:prstGeom prst="rect">
            <a:avLst/>
          </a:prstGeom>
        </p:spPr>
      </p:pic>
      <p:sp>
        <p:nvSpPr>
          <p:cNvPr id="6" name="Text-162"/>
          <p:cNvSpPr txBox="1"/>
          <p:nvPr/>
        </p:nvSpPr>
        <p:spPr>
          <a:xfrm>
            <a:off x="548640" y="4570487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Erzählfilm</a:t>
            </a:r>
            <a:endParaRPr lang="en-US" sz="1500" dirty="0"/>
          </a:p>
        </p:txBody>
      </p:sp>
      <p:sp>
        <p:nvSpPr>
          <p:cNvPr id="7" name="Text-163"/>
          <p:cNvSpPr txBox="1"/>
          <p:nvPr/>
        </p:nvSpPr>
        <p:spPr>
          <a:xfrm>
            <a:off x="548640" y="4908815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live-story.html: 22 Figuren, 10 Orte, Wetter, Stimmung · 60 fps</a:t>
            </a:r>
            <a:endParaRPr lang="en-US" sz="1200" dirty="0"/>
          </a:p>
        </p:txBody>
      </p:sp>
      <p:sp>
        <p:nvSpPr>
          <p:cNvPr id="8" name="Text-164"/>
          <p:cNvSpPr txBox="1"/>
          <p:nvPr/>
        </p:nvSpPr>
        <p:spPr>
          <a:xfrm>
            <a:off x="4617720" y="356282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WortBild</a:t>
            </a:r>
            <a:endParaRPr lang="en-US" sz="1500" dirty="0"/>
          </a:p>
        </p:txBody>
      </p:sp>
      <p:sp>
        <p:nvSpPr>
          <p:cNvPr id="9" name="Text-165"/>
          <p:cNvSpPr txBox="1"/>
          <p:nvPr/>
        </p:nvSpPr>
        <p:spPr>
          <a:xfrm>
            <a:off x="4617720" y="390115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sprachlernen.html: 85 Wörter DE/TR/EN, Silben, Aussprache</a:t>
            </a:r>
            <a:endParaRPr lang="en-US" sz="1200" dirty="0"/>
          </a:p>
        </p:txBody>
      </p:sp>
      <p:sp>
        <p:nvSpPr>
          <p:cNvPr id="10" name="Card-166"/>
          <p:cNvSpPr/>
          <p:nvPr/>
        </p:nvSpPr>
        <p:spPr>
          <a:xfrm>
            <a:off x="8183880" y="1554480"/>
            <a:ext cx="3459175" cy="4343400"/>
          </a:xfrm>
          <a:prstGeom prst="roundRect">
            <a:avLst>
              <a:gd name="adj" fmla="val 317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-167"/>
          <p:cNvSpPr txBox="1"/>
          <p:nvPr/>
        </p:nvSpPr>
        <p:spPr>
          <a:xfrm>
            <a:off x="8458200" y="1737360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statt generieren</a:t>
            </a:r>
            <a:endParaRPr lang="en-US" sz="1800" dirty="0"/>
          </a:p>
        </p:txBody>
      </p:sp>
      <p:sp>
        <p:nvSpPr>
          <p:cNvPr id="12" name="Text-168"/>
          <p:cNvSpPr txBox="1"/>
          <p:nvPr/>
        </p:nvSpPr>
        <p:spPr>
          <a:xfrm>
            <a:off x="8458200" y="233172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VIDEO-KI</a:t>
            </a:r>
            <a:endParaRPr lang="en-US" sz="1000" dirty="0"/>
          </a:p>
        </p:txBody>
      </p:sp>
      <p:sp>
        <p:nvSpPr>
          <p:cNvPr id="13" name="Text-169"/>
          <p:cNvSpPr txBox="1"/>
          <p:nvPr/>
        </p:nvSpPr>
        <p:spPr>
          <a:xfrm>
            <a:off x="8458200" y="258775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2600" dirty="0"/>
          </a:p>
        </p:txBody>
      </p:sp>
      <p:sp>
        <p:nvSpPr>
          <p:cNvPr id="14" name="Text-170"/>
          <p:cNvSpPr txBox="1"/>
          <p:nvPr/>
        </p:nvSpPr>
        <p:spPr>
          <a:xfrm>
            <a:off x="8458200" y="310896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Stunde [Quelle 24, 25]</a:t>
            </a:r>
            <a:endParaRPr lang="en-US" sz="1100" dirty="0"/>
          </a:p>
        </p:txBody>
      </p:sp>
      <p:sp>
        <p:nvSpPr>
          <p:cNvPr id="15" name="Text-171"/>
          <p:cNvSpPr txBox="1"/>
          <p:nvPr/>
        </p:nvSpPr>
        <p:spPr>
          <a:xfrm>
            <a:off x="8458200" y="356616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000" dirty="0"/>
          </a:p>
        </p:txBody>
      </p:sp>
      <p:sp>
        <p:nvSpPr>
          <p:cNvPr id="16" name="Text-172"/>
          <p:cNvSpPr txBox="1"/>
          <p:nvPr/>
        </p:nvSpPr>
        <p:spPr>
          <a:xfrm>
            <a:off x="8458200" y="3822192"/>
            <a:ext cx="2910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 – 0,75 USD</a:t>
            </a:r>
            <a:endParaRPr lang="en-US" sz="2600" dirty="0"/>
          </a:p>
        </p:txBody>
      </p:sp>
      <p:sp>
        <p:nvSpPr>
          <p:cNvPr id="17" name="Text-173"/>
          <p:cNvSpPr txBox="1"/>
          <p:nvPr/>
        </p:nvSpPr>
        <p:spPr>
          <a:xfrm>
            <a:off x="8458200" y="434340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Stunde (Projektmessung)</a:t>
            </a:r>
            <a:endParaRPr lang="en-US" sz="1100" dirty="0"/>
          </a:p>
        </p:txBody>
      </p:sp>
      <p:sp>
        <p:nvSpPr>
          <p:cNvPr id="18" name="Text-174"/>
          <p:cNvSpPr txBox="1"/>
          <p:nvPr/>
        </p:nvSpPr>
        <p:spPr>
          <a:xfrm>
            <a:off x="8458200" y="484632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240- bis über 10.000-mal günstiger – und als einziges live.</a:t>
            </a:r>
            <a:endParaRPr lang="en-US" sz="1400" dirty="0"/>
          </a:p>
        </p:txBody>
      </p:sp>
      <p:sp>
        <p:nvSpPr>
          <p:cNvPr id="19" name="Text-175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prototypes/README.md, VISION.md §2 · Screenshots der Prototypen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MARKT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Wachstumsmarkt mit klarem Einstieg</a:t>
            </a:r>
            <a:endParaRPr lang="en-US" sz="3200" dirty="0"/>
          </a:p>
        </p:txBody>
      </p:sp>
      <p:sp>
        <p:nvSpPr>
          <p:cNvPr id="4" name="Ring-176"/>
          <p:cNvSpPr/>
          <p:nvPr/>
        </p:nvSpPr>
        <p:spPr>
          <a:xfrm>
            <a:off x="548640" y="1600200"/>
            <a:ext cx="4206240" cy="4206240"/>
          </a:xfrm>
          <a:prstGeom prst="ellipse">
            <a:avLst/>
          </a:prstGeom>
          <a:solidFill>
            <a:srgbClr val="1A1D24"/>
          </a:solidFill>
          <a:ln w="15875">
            <a:solidFill>
              <a:srgbClr val="2A2E38"/>
            </a:solidFill>
            <a:prstDash val="solid"/>
          </a:ln>
        </p:spPr>
      </p:sp>
      <p:sp>
        <p:nvSpPr>
          <p:cNvPr id="5" name="Ring-177"/>
          <p:cNvSpPr/>
          <p:nvPr/>
        </p:nvSpPr>
        <p:spPr>
          <a:xfrm>
            <a:off x="1234440" y="2971800"/>
            <a:ext cx="2834640" cy="2834640"/>
          </a:xfrm>
          <a:prstGeom prst="ellipse">
            <a:avLst/>
          </a:prstGeom>
          <a:solidFill>
            <a:srgbClr val="2A1622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6" name="Ring-178"/>
          <p:cNvSpPr/>
          <p:nvPr/>
        </p:nvSpPr>
        <p:spPr>
          <a:xfrm>
            <a:off x="1920240" y="4343400"/>
            <a:ext cx="1463040" cy="1463040"/>
          </a:xfrm>
          <a:prstGeom prst="ellipse">
            <a:avLst/>
          </a:prstGeom>
          <a:solidFill>
            <a:srgbClr val="3A0F22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7" name="Text-179"/>
          <p:cNvSpPr txBox="1"/>
          <p:nvPr/>
        </p:nvSpPr>
        <p:spPr>
          <a:xfrm>
            <a:off x="1005840" y="18745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monetarisierende Live-Creator</a:t>
            </a:r>
            <a:endParaRPr lang="en-US" sz="1000" dirty="0"/>
          </a:p>
        </p:txBody>
      </p:sp>
      <p:sp>
        <p:nvSpPr>
          <p:cNvPr id="8" name="Text-180"/>
          <p:cNvSpPr txBox="1"/>
          <p:nvPr/>
        </p:nvSpPr>
        <p:spPr>
          <a:xfrm>
            <a:off x="1005840" y="21214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Mio.</a:t>
            </a:r>
            <a:endParaRPr lang="en-US" sz="2200" dirty="0"/>
          </a:p>
        </p:txBody>
      </p:sp>
      <p:sp>
        <p:nvSpPr>
          <p:cNvPr id="9" name="Text-181"/>
          <p:cNvSpPr txBox="1"/>
          <p:nvPr/>
        </p:nvSpPr>
        <p:spPr>
          <a:xfrm>
            <a:off x="155448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TR/DE/EN</a:t>
            </a:r>
            <a:endParaRPr lang="en-US" sz="1000" dirty="0"/>
          </a:p>
        </p:txBody>
      </p:sp>
      <p:sp>
        <p:nvSpPr>
          <p:cNvPr id="10" name="Text-182"/>
          <p:cNvSpPr txBox="1"/>
          <p:nvPr/>
        </p:nvSpPr>
        <p:spPr>
          <a:xfrm>
            <a:off x="1554480" y="3447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Mio.</a:t>
            </a:r>
            <a:endParaRPr lang="en-US" sz="2200" dirty="0"/>
          </a:p>
        </p:txBody>
      </p:sp>
      <p:sp>
        <p:nvSpPr>
          <p:cNvPr id="11" name="Text-183"/>
          <p:cNvSpPr txBox="1"/>
          <p:nvPr/>
        </p:nvSpPr>
        <p:spPr>
          <a:xfrm>
            <a:off x="2011680" y="4617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Zahlende J3</a:t>
            </a:r>
            <a:endParaRPr lang="en-US" sz="900" dirty="0"/>
          </a:p>
        </p:txBody>
      </p:sp>
      <p:sp>
        <p:nvSpPr>
          <p:cNvPr id="12" name="Text-184"/>
          <p:cNvSpPr txBox="1"/>
          <p:nvPr/>
        </p:nvSpPr>
        <p:spPr>
          <a:xfrm>
            <a:off x="2011680" y="4937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5–15 T</a:t>
            </a:r>
            <a:endParaRPr lang="en-US" sz="1800" dirty="0"/>
          </a:p>
        </p:txBody>
      </p:sp>
      <p:sp>
        <p:nvSpPr>
          <p:cNvPr id="13" name="Text-185"/>
          <p:cNvSpPr txBox="1"/>
          <p:nvPr/>
        </p:nvSpPr>
        <p:spPr>
          <a:xfrm>
            <a:off x="548640" y="5852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Bottom-up, Schätzung (BUSINESSPLAN.md §6)</a:t>
            </a:r>
            <a:endParaRPr lang="en-US" sz="900" dirty="0"/>
          </a:p>
        </p:txBody>
      </p:sp>
      <p:sp>
        <p:nvSpPr>
          <p:cNvPr id="14" name="Text-186"/>
          <p:cNvSpPr txBox="1"/>
          <p:nvPr/>
        </p:nvSpPr>
        <p:spPr>
          <a:xfrm>
            <a:off x="525780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Kernmarkt Live</a:t>
            </a:r>
            <a:endParaRPr lang="en-US" sz="1600" dirty="0"/>
          </a:p>
        </p:txBody>
      </p:sp>
      <p:sp>
        <p:nvSpPr>
          <p:cNvPr id="15" name="Text-187"/>
          <p:cNvSpPr txBox="1"/>
          <p:nvPr/>
        </p:nvSpPr>
        <p:spPr>
          <a:xfrm>
            <a:off x="5257800" y="201168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Mrd. USD</a:t>
            </a:r>
            <a:endParaRPr lang="en-US" sz="2400" dirty="0"/>
          </a:p>
        </p:txBody>
      </p:sp>
      <p:sp>
        <p:nvSpPr>
          <p:cNvPr id="16" name="Text-188"/>
          <p:cNvSpPr txBox="1"/>
          <p:nvPr/>
        </p:nvSpPr>
        <p:spPr>
          <a:xfrm>
            <a:off x="5257800" y="248716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Live-Streaming 2026 [Q 1, 2]</a:t>
            </a:r>
            <a:endParaRPr lang="en-US" sz="1200" dirty="0"/>
          </a:p>
        </p:txBody>
      </p:sp>
      <p:sp>
        <p:nvSpPr>
          <p:cNvPr id="17" name="Text-189"/>
          <p:cNvSpPr txBox="1"/>
          <p:nvPr/>
        </p:nvSpPr>
        <p:spPr>
          <a:xfrm>
            <a:off x="5257800" y="320040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216–260 Mrd. USD</a:t>
            </a:r>
            <a:endParaRPr lang="en-US" sz="2400" dirty="0"/>
          </a:p>
        </p:txBody>
      </p:sp>
      <p:sp>
        <p:nvSpPr>
          <p:cNvPr id="18" name="Text-190"/>
          <p:cNvSpPr txBox="1"/>
          <p:nvPr/>
        </p:nvSpPr>
        <p:spPr>
          <a:xfrm>
            <a:off x="5257800" y="36758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2026 [Q 3, 4]</a:t>
            </a:r>
            <a:endParaRPr lang="en-US" sz="1200" dirty="0"/>
          </a:p>
        </p:txBody>
      </p:sp>
      <p:sp>
        <p:nvSpPr>
          <p:cNvPr id="19" name="Text-191"/>
          <p:cNvSpPr txBox="1"/>
          <p:nvPr/>
        </p:nvSpPr>
        <p:spPr>
          <a:xfrm>
            <a:off x="5257800" y="43891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~14 %</a:t>
            </a:r>
            <a:endParaRPr lang="en-US" sz="2400" dirty="0"/>
          </a:p>
        </p:txBody>
      </p:sp>
      <p:sp>
        <p:nvSpPr>
          <p:cNvPr id="20" name="Text-192"/>
          <p:cNvSpPr txBox="1"/>
          <p:nvPr/>
        </p:nvSpPr>
        <p:spPr>
          <a:xfrm>
            <a:off x="5257800" y="48646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Live-Anteil ≈ 36 Mrd. USD [Q 3]</a:t>
            </a:r>
            <a:endParaRPr lang="en-US" sz="1200" dirty="0"/>
          </a:p>
        </p:txBody>
      </p:sp>
      <p:sp>
        <p:nvSpPr>
          <p:cNvPr id="21" name="Text-193"/>
          <p:cNvSpPr txBox="1"/>
          <p:nvPr/>
        </p:nvSpPr>
        <p:spPr>
          <a:xfrm>
            <a:off x="8549640" y="15544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Angrenzend (Vision)</a:t>
            </a:r>
            <a:endParaRPr lang="en-US" sz="1600" dirty="0"/>
          </a:p>
        </p:txBody>
      </p:sp>
      <p:sp>
        <p:nvSpPr>
          <p:cNvPr id="22" name="Text-194"/>
          <p:cNvSpPr txBox="1"/>
          <p:nvPr/>
        </p:nvSpPr>
        <p:spPr>
          <a:xfrm>
            <a:off x="8549640" y="201168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Mrd. USD</a:t>
            </a:r>
            <a:endParaRPr lang="en-US" sz="1800" dirty="0"/>
          </a:p>
        </p:txBody>
      </p:sp>
      <p:sp>
        <p:nvSpPr>
          <p:cNvPr id="23" name="Text-195"/>
          <p:cNvSpPr txBox="1"/>
          <p:nvPr/>
        </p:nvSpPr>
        <p:spPr>
          <a:xfrm>
            <a:off x="8549640" y="23774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KI-Video 2026 [Q 23]</a:t>
            </a:r>
            <a:endParaRPr lang="en-US" sz="1100" dirty="0"/>
          </a:p>
        </p:txBody>
      </p:sp>
      <p:sp>
        <p:nvSpPr>
          <p:cNvPr id="24" name="Text-196"/>
          <p:cNvSpPr txBox="1"/>
          <p:nvPr/>
        </p:nvSpPr>
        <p:spPr>
          <a:xfrm>
            <a:off x="8549640" y="27614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Mrd. USD</a:t>
            </a:r>
            <a:endParaRPr lang="en-US" sz="1800" dirty="0"/>
          </a:p>
        </p:txBody>
      </p:sp>
      <p:sp>
        <p:nvSpPr>
          <p:cNvPr id="25" name="Text-197"/>
          <p:cNvSpPr txBox="1"/>
          <p:nvPr/>
        </p:nvSpPr>
        <p:spPr>
          <a:xfrm>
            <a:off x="8549640" y="312724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Videoschnitt 2026 [Q 51]</a:t>
            </a:r>
            <a:endParaRPr lang="en-US" sz="1100" dirty="0"/>
          </a:p>
        </p:txBody>
      </p:sp>
      <p:sp>
        <p:nvSpPr>
          <p:cNvPr id="26" name="Text-198"/>
          <p:cNvSpPr txBox="1"/>
          <p:nvPr/>
        </p:nvSpPr>
        <p:spPr>
          <a:xfrm>
            <a:off x="8549640" y="3511296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Mrd. USD</a:t>
            </a:r>
            <a:endParaRPr lang="en-US" sz="1800" dirty="0"/>
          </a:p>
        </p:txBody>
      </p:sp>
      <p:sp>
        <p:nvSpPr>
          <p:cNvPr id="27" name="Text-199"/>
          <p:cNvSpPr txBox="1"/>
          <p:nvPr/>
        </p:nvSpPr>
        <p:spPr>
          <a:xfrm>
            <a:off x="8549640" y="387705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Sprachlern-Apps 2025 [Q 33]</a:t>
            </a:r>
            <a:endParaRPr lang="en-US" sz="1100" dirty="0"/>
          </a:p>
        </p:txBody>
      </p:sp>
      <p:sp>
        <p:nvSpPr>
          <p:cNvPr id="28" name="Text-200"/>
          <p:cNvSpPr txBox="1"/>
          <p:nvPr/>
        </p:nvSpPr>
        <p:spPr>
          <a:xfrm>
            <a:off x="8549640" y="4261104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Mio. €</a:t>
            </a:r>
            <a:endParaRPr lang="en-US" sz="1800" dirty="0"/>
          </a:p>
        </p:txBody>
      </p:sp>
      <p:sp>
        <p:nvSpPr>
          <p:cNvPr id="29" name="Text-201"/>
          <p:cNvSpPr txBox="1"/>
          <p:nvPr/>
        </p:nvSpPr>
        <p:spPr>
          <a:xfrm>
            <a:off x="8549640" y="462686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Hörbuch DE 2025 [Q 19]</a:t>
            </a:r>
            <a:endParaRPr lang="en-US" sz="1100" dirty="0"/>
          </a:p>
        </p:txBody>
      </p:sp>
      <p:sp>
        <p:nvSpPr>
          <p:cNvPr id="30" name="Text-202"/>
          <p:cNvSpPr txBox="1"/>
          <p:nvPr/>
        </p:nvSpPr>
        <p:spPr>
          <a:xfrm>
            <a:off x="8549640" y="501091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 Mrd. USD</a:t>
            </a:r>
            <a:endParaRPr lang="en-US" sz="1800" dirty="0"/>
          </a:p>
        </p:txBody>
      </p:sp>
      <p:sp>
        <p:nvSpPr>
          <p:cNvPr id="31" name="Text-203"/>
          <p:cNvSpPr txBox="1"/>
          <p:nvPr/>
        </p:nvSpPr>
        <p:spPr>
          <a:xfrm>
            <a:off x="8549640" y="537667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Glasses 2026 [Q 45]</a:t>
            </a:r>
            <a:endParaRPr lang="en-US" sz="1100" dirty="0"/>
          </a:p>
        </p:txBody>
      </p:sp>
      <p:sp>
        <p:nvSpPr>
          <p:cNvPr id="32" name="Text-20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 n] = [Quelle n] in QUELLEN.md · angrenzende Märkte nicht im SOM enthalten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GESCHÄFTSMODELL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für Creator, Lizenzen für Institutionen</a:t>
            </a:r>
            <a:endParaRPr lang="en-US" sz="3200" dirty="0"/>
          </a:p>
        </p:txBody>
      </p:sp>
      <p:sp>
        <p:nvSpPr>
          <p:cNvPr id="4" name="Card-205"/>
          <p:cNvSpPr/>
          <p:nvPr/>
        </p:nvSpPr>
        <p:spPr>
          <a:xfrm>
            <a:off x="548640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206"/>
          <p:cNvSpPr txBox="1"/>
          <p:nvPr/>
        </p:nvSpPr>
        <p:spPr>
          <a:xfrm>
            <a:off x="749808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000" dirty="0"/>
          </a:p>
        </p:txBody>
      </p:sp>
      <p:sp>
        <p:nvSpPr>
          <p:cNvPr id="6" name="Text-207"/>
          <p:cNvSpPr txBox="1"/>
          <p:nvPr/>
        </p:nvSpPr>
        <p:spPr>
          <a:xfrm>
            <a:off x="749808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100" dirty="0"/>
          </a:p>
        </p:txBody>
      </p:sp>
      <p:sp>
        <p:nvSpPr>
          <p:cNvPr id="7" name="Text-208"/>
          <p:cNvSpPr txBox="1"/>
          <p:nvPr/>
        </p:nvSpPr>
        <p:spPr>
          <a:xfrm>
            <a:off x="749808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Kernfunktion, Standard-Pakete, Handy-Fernbedienung</a:t>
            </a:r>
            <a:endParaRPr lang="en-US" sz="1200" dirty="0"/>
          </a:p>
        </p:txBody>
      </p:sp>
      <p:sp>
        <p:nvSpPr>
          <p:cNvPr id="8" name="Card-209"/>
          <p:cNvSpPr/>
          <p:nvPr/>
        </p:nvSpPr>
        <p:spPr>
          <a:xfrm>
            <a:off x="3176016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accent6"/>
          </a:solidFill>
          <a:ln w="19050">
            <a:solidFill>
              <a:srgbClr val="FF2D75"/>
            </a:solidFill>
            <a:prstDash val="solid"/>
          </a:ln>
        </p:spPr>
      </p:sp>
      <p:sp>
        <p:nvSpPr>
          <p:cNvPr id="9" name="Text-210"/>
          <p:cNvSpPr txBox="1"/>
          <p:nvPr/>
        </p:nvSpPr>
        <p:spPr>
          <a:xfrm>
            <a:off x="3377184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000" dirty="0"/>
          </a:p>
        </p:txBody>
      </p:sp>
      <p:sp>
        <p:nvSpPr>
          <p:cNvPr id="10" name="Text-211"/>
          <p:cNvSpPr txBox="1"/>
          <p:nvPr/>
        </p:nvSpPr>
        <p:spPr>
          <a:xfrm>
            <a:off x="3377184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9,99 €/Monat</a:t>
            </a:r>
            <a:endParaRPr lang="en-US" sz="2100" dirty="0"/>
          </a:p>
        </p:txBody>
      </p:sp>
      <p:sp>
        <p:nvSpPr>
          <p:cNvPr id="11" name="Text-212"/>
          <p:cNvSpPr txBox="1"/>
          <p:nvPr/>
        </p:nvSpPr>
        <p:spPr>
          <a:xfrm>
            <a:off x="3377184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KI-Verstehen, alle Szenen, Zuschauer-Trigger; 79 €/Jahr</a:t>
            </a:r>
            <a:endParaRPr lang="en-US" sz="1200" dirty="0"/>
          </a:p>
        </p:txBody>
      </p:sp>
      <p:sp>
        <p:nvSpPr>
          <p:cNvPr id="12" name="Card-213"/>
          <p:cNvSpPr/>
          <p:nvPr/>
        </p:nvSpPr>
        <p:spPr>
          <a:xfrm>
            <a:off x="5803392" y="1554480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-214"/>
          <p:cNvSpPr txBox="1"/>
          <p:nvPr/>
        </p:nvSpPr>
        <p:spPr>
          <a:xfrm>
            <a:off x="6004560" y="1737360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PRO+ (VISION)</a:t>
            </a:r>
            <a:endParaRPr lang="en-US" sz="1000" dirty="0"/>
          </a:p>
        </p:txBody>
      </p:sp>
      <p:sp>
        <p:nvSpPr>
          <p:cNvPr id="14" name="Text-215"/>
          <p:cNvSpPr txBox="1"/>
          <p:nvPr/>
        </p:nvSpPr>
        <p:spPr>
          <a:xfrm>
            <a:off x="6004560" y="2029968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14,99 €/Monat</a:t>
            </a:r>
            <a:endParaRPr lang="en-US" sz="2100" dirty="0"/>
          </a:p>
        </p:txBody>
      </p:sp>
      <p:sp>
        <p:nvSpPr>
          <p:cNvPr id="15" name="Text-216"/>
          <p:cNvSpPr txBox="1"/>
          <p:nvPr/>
        </p:nvSpPr>
        <p:spPr>
          <a:xfrm>
            <a:off x="6004560" y="2606040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KI-Szenen, Auto-Edit, MP4-Export</a:t>
            </a:r>
            <a:endParaRPr lang="en-US" sz="1200" dirty="0"/>
          </a:p>
        </p:txBody>
      </p:sp>
      <p:sp>
        <p:nvSpPr>
          <p:cNvPr id="16" name="Card-217"/>
          <p:cNvSpPr/>
          <p:nvPr/>
        </p:nvSpPr>
        <p:spPr>
          <a:xfrm>
            <a:off x="548640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-218"/>
          <p:cNvSpPr txBox="1"/>
          <p:nvPr/>
        </p:nvSpPr>
        <p:spPr>
          <a:xfrm>
            <a:off x="749808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 FAMILIE</a:t>
            </a:r>
            <a:endParaRPr lang="en-US" sz="1000" dirty="0"/>
          </a:p>
        </p:txBody>
      </p:sp>
      <p:sp>
        <p:nvSpPr>
          <p:cNvPr id="18" name="Text-219"/>
          <p:cNvSpPr txBox="1"/>
          <p:nvPr/>
        </p:nvSpPr>
        <p:spPr>
          <a:xfrm>
            <a:off x="749808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4,99 €/Monat</a:t>
            </a:r>
            <a:endParaRPr lang="en-US" sz="2100" dirty="0"/>
          </a:p>
        </p:txBody>
      </p:sp>
      <p:sp>
        <p:nvSpPr>
          <p:cNvPr id="19" name="Text-220"/>
          <p:cNvSpPr txBox="1"/>
          <p:nvPr/>
        </p:nvSpPr>
        <p:spPr>
          <a:xfrm>
            <a:off x="749808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Sprachenlernen und Lesehilfe</a:t>
            </a:r>
            <a:endParaRPr lang="en-US" sz="1200" dirty="0"/>
          </a:p>
        </p:txBody>
      </p:sp>
      <p:sp>
        <p:nvSpPr>
          <p:cNvPr id="20" name="Card-221"/>
          <p:cNvSpPr/>
          <p:nvPr/>
        </p:nvSpPr>
        <p:spPr>
          <a:xfrm>
            <a:off x="3176016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-222"/>
          <p:cNvSpPr txBox="1"/>
          <p:nvPr/>
        </p:nvSpPr>
        <p:spPr>
          <a:xfrm>
            <a:off x="3377184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</a:t>
            </a:r>
            <a:endParaRPr lang="en-US" sz="1000" dirty="0"/>
          </a:p>
        </p:txBody>
      </p:sp>
      <p:sp>
        <p:nvSpPr>
          <p:cNvPr id="22" name="Text-223"/>
          <p:cNvSpPr txBox="1"/>
          <p:nvPr/>
        </p:nvSpPr>
        <p:spPr>
          <a:xfrm>
            <a:off x="3377184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2,99–4,99 €</a:t>
            </a:r>
            <a:endParaRPr lang="en-US" sz="2100" dirty="0"/>
          </a:p>
        </p:txBody>
      </p:sp>
      <p:sp>
        <p:nvSpPr>
          <p:cNvPr id="23" name="Text-224"/>
          <p:cNvSpPr txBox="1"/>
          <p:nvPr/>
        </p:nvSpPr>
        <p:spPr>
          <a:xfrm>
            <a:off x="3377184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Meme-, Story-, Welten-, Vokabel-Packs; Marktplatz 70/30</a:t>
            </a:r>
            <a:endParaRPr lang="en-US" sz="1200" dirty="0"/>
          </a:p>
        </p:txBody>
      </p:sp>
      <p:sp>
        <p:nvSpPr>
          <p:cNvPr id="24" name="Card-225"/>
          <p:cNvSpPr/>
          <p:nvPr/>
        </p:nvSpPr>
        <p:spPr>
          <a:xfrm>
            <a:off x="5803392" y="3767328"/>
            <a:ext cx="2426208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26"/>
          <p:cNvSpPr txBox="1"/>
          <p:nvPr/>
        </p:nvSpPr>
        <p:spPr>
          <a:xfrm>
            <a:off x="6004560" y="3950208"/>
            <a:ext cx="202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SCHULLIZENZ</a:t>
            </a:r>
            <a:endParaRPr lang="en-US" sz="1000" dirty="0"/>
          </a:p>
        </p:txBody>
      </p:sp>
      <p:sp>
        <p:nvSpPr>
          <p:cNvPr id="26" name="Text-227"/>
          <p:cNvSpPr txBox="1"/>
          <p:nvPr/>
        </p:nvSpPr>
        <p:spPr>
          <a:xfrm>
            <a:off x="6004560" y="4242816"/>
            <a:ext cx="202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300–800 €/Jahr</a:t>
            </a:r>
            <a:endParaRPr lang="en-US" sz="2100" dirty="0"/>
          </a:p>
        </p:txBody>
      </p:sp>
      <p:sp>
        <p:nvSpPr>
          <p:cNvPr id="27" name="Text-228"/>
          <p:cNvSpPr txBox="1"/>
          <p:nvPr/>
        </p:nvSpPr>
        <p:spPr>
          <a:xfrm>
            <a:off x="6004560" y="4818888"/>
            <a:ext cx="2023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49 €/Lehrkraft · Event · Verlag · Agentur · B2B/SDK</a:t>
            </a:r>
            <a:endParaRPr lang="en-US" sz="1200" dirty="0"/>
          </a:p>
        </p:txBody>
      </p:sp>
      <p:sp>
        <p:nvSpPr>
          <p:cNvPr id="28" name="Card-229"/>
          <p:cNvSpPr/>
          <p:nvPr/>
        </p:nvSpPr>
        <p:spPr>
          <a:xfrm>
            <a:off x="8503920" y="1554480"/>
            <a:ext cx="3139135" cy="4224528"/>
          </a:xfrm>
          <a:prstGeom prst="roundRect">
            <a:avLst>
              <a:gd name="adj" fmla="val 3495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9" name="Text-230"/>
          <p:cNvSpPr txBox="1"/>
          <p:nvPr/>
        </p:nvSpPr>
        <p:spPr>
          <a:xfrm>
            <a:off x="8732520" y="1719072"/>
            <a:ext cx="2681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Preisanker</a:t>
            </a:r>
            <a:endParaRPr lang="en-US" sz="1600" dirty="0"/>
          </a:p>
        </p:txBody>
      </p:sp>
      <p:sp>
        <p:nvSpPr>
          <p:cNvPr id="30" name="Text-231"/>
          <p:cNvSpPr txBox="1"/>
          <p:nvPr/>
        </p:nvSpPr>
        <p:spPr>
          <a:xfrm>
            <a:off x="8732520" y="21488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27 USD/Monat [Q 11,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StreamYard ~35 · Restream ~16 USD [Q 12]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~10 USD/Monat [Q 13]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ANTON-Schullizenz 250–700 €/Jahr [Q 41]</a:t>
            </a:r>
            <a:endParaRPr lang="en-US" sz="1200" dirty="0"/>
          </a:p>
        </p:txBody>
      </p:sp>
      <p:sp>
        <p:nvSpPr>
          <p:cNvPr id="31" name="Text-232"/>
          <p:cNvSpPr txBox="1"/>
          <p:nvPr/>
        </p:nvSpPr>
        <p:spPr>
          <a:xfrm>
            <a:off x="8732520" y="4343400"/>
            <a:ext cx="2681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Software: Grenzkosten nahe null. KI nur bei Pro: 0,25–0,75 USD pro Stream-Stunde.</a:t>
            </a:r>
            <a:endParaRPr lang="en-US" sz="1300" dirty="0"/>
          </a:p>
        </p:txBody>
      </p:sp>
      <p:sp>
        <p:nvSpPr>
          <p:cNvPr id="32" name="Text-23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BUSINESSPLAN.md §9, §15.6 · Preise der Vision und Lizenzen sind Schätzungen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DIFFERENZIERUNG &amp; RISIKEN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einzige Auslöser, der immer da ist: die Stimme</a:t>
            </a:r>
            <a:endParaRPr lang="en-US" sz="3200" dirty="0"/>
          </a:p>
        </p:txBody>
      </p:sp>
      <p:sp>
        <p:nvSpPr>
          <p:cNvPr id="4" name="Matrix-highlight"/>
          <p:cNvSpPr/>
          <p:nvPr/>
        </p:nvSpPr>
        <p:spPr>
          <a:xfrm>
            <a:off x="2880360" y="1554480"/>
            <a:ext cx="868680" cy="3584448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5" name="Text-234"/>
          <p:cNvSpPr txBox="1"/>
          <p:nvPr/>
        </p:nvSpPr>
        <p:spPr>
          <a:xfrm>
            <a:off x="288036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1100" dirty="0"/>
          </a:p>
        </p:txBody>
      </p:sp>
      <p:sp>
        <p:nvSpPr>
          <p:cNvPr id="6" name="Text-235"/>
          <p:cNvSpPr txBox="1"/>
          <p:nvPr/>
        </p:nvSpPr>
        <p:spPr>
          <a:xfrm>
            <a:off x="374904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</a:t>
            </a:r>
            <a:endParaRPr lang="en-US" sz="1100" dirty="0"/>
          </a:p>
        </p:txBody>
      </p:sp>
      <p:sp>
        <p:nvSpPr>
          <p:cNvPr id="7" name="Text-236"/>
          <p:cNvSpPr txBox="1"/>
          <p:nvPr/>
        </p:nvSpPr>
        <p:spPr>
          <a:xfrm>
            <a:off x="461772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</a:t>
            </a:r>
            <a:endParaRPr lang="en-US" sz="1100" dirty="0"/>
          </a:p>
        </p:txBody>
      </p:sp>
      <p:sp>
        <p:nvSpPr>
          <p:cNvPr id="8" name="Text-237"/>
          <p:cNvSpPr txBox="1"/>
          <p:nvPr/>
        </p:nvSpPr>
        <p:spPr>
          <a:xfrm>
            <a:off x="548640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</a:t>
            </a:r>
            <a:endParaRPr lang="en-US" sz="1100" dirty="0"/>
          </a:p>
        </p:txBody>
      </p:sp>
      <p:sp>
        <p:nvSpPr>
          <p:cNvPr id="9" name="Text-238"/>
          <p:cNvSpPr txBox="1"/>
          <p:nvPr/>
        </p:nvSpPr>
        <p:spPr>
          <a:xfrm>
            <a:off x="6355080" y="155448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Editoren</a:t>
            </a:r>
            <a:endParaRPr lang="en-US" sz="1100" dirty="0"/>
          </a:p>
        </p:txBody>
      </p:sp>
      <p:sp>
        <p:nvSpPr>
          <p:cNvPr id="10" name="Rule-239"/>
          <p:cNvSpPr/>
          <p:nvPr/>
        </p:nvSpPr>
        <p:spPr>
          <a:xfrm>
            <a:off x="548640" y="206654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1" name="Text-240"/>
          <p:cNvSpPr txBox="1"/>
          <p:nvPr/>
        </p:nvSpPr>
        <p:spPr>
          <a:xfrm>
            <a:off x="548640" y="206654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Sprachgesteuert</a:t>
            </a:r>
            <a:endParaRPr lang="en-US" sz="1300" dirty="0"/>
          </a:p>
        </p:txBody>
      </p:sp>
      <p:sp>
        <p:nvSpPr>
          <p:cNvPr id="12" name="Mark-241"/>
          <p:cNvSpPr/>
          <p:nvPr/>
        </p:nvSpPr>
        <p:spPr>
          <a:xfrm>
            <a:off x="3204972" y="221284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13" name="Mark-242"/>
          <p:cNvSpPr/>
          <p:nvPr/>
        </p:nvSpPr>
        <p:spPr>
          <a:xfrm>
            <a:off x="407365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4" name="Mark-243"/>
          <p:cNvSpPr/>
          <p:nvPr/>
        </p:nvSpPr>
        <p:spPr>
          <a:xfrm>
            <a:off x="494233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5" name="Mark-244"/>
          <p:cNvSpPr/>
          <p:nvPr/>
        </p:nvSpPr>
        <p:spPr>
          <a:xfrm>
            <a:off x="581101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6" name="Mark-245"/>
          <p:cNvSpPr/>
          <p:nvPr/>
        </p:nvSpPr>
        <p:spPr>
          <a:xfrm>
            <a:off x="6679692" y="221284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17" name="Rule-246"/>
          <p:cNvSpPr/>
          <p:nvPr/>
        </p:nvSpPr>
        <p:spPr>
          <a:xfrm>
            <a:off x="548640" y="2578608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8" name="Text-247"/>
          <p:cNvSpPr txBox="1"/>
          <p:nvPr/>
        </p:nvSpPr>
        <p:spPr>
          <a:xfrm>
            <a:off x="548640" y="25786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Türkisch / 3 Sprachen</a:t>
            </a:r>
            <a:endParaRPr lang="en-US" sz="1300" dirty="0"/>
          </a:p>
        </p:txBody>
      </p:sp>
      <p:sp>
        <p:nvSpPr>
          <p:cNvPr id="19" name="Mark-248"/>
          <p:cNvSpPr/>
          <p:nvPr/>
        </p:nvSpPr>
        <p:spPr>
          <a:xfrm>
            <a:off x="3204972" y="2724912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0" name="Mark-249"/>
          <p:cNvSpPr/>
          <p:nvPr/>
        </p:nvSpPr>
        <p:spPr>
          <a:xfrm>
            <a:off x="407365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1" name="Mark-250"/>
          <p:cNvSpPr/>
          <p:nvPr/>
        </p:nvSpPr>
        <p:spPr>
          <a:xfrm>
            <a:off x="4942332" y="272491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2" name="Mark-251"/>
          <p:cNvSpPr/>
          <p:nvPr/>
        </p:nvSpPr>
        <p:spPr>
          <a:xfrm>
            <a:off x="5811012" y="272491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23" name="Mark-252"/>
          <p:cNvSpPr/>
          <p:nvPr/>
        </p:nvSpPr>
        <p:spPr>
          <a:xfrm>
            <a:off x="6679692" y="272491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Rule-253"/>
          <p:cNvSpPr/>
          <p:nvPr/>
        </p:nvSpPr>
        <p:spPr>
          <a:xfrm>
            <a:off x="548640" y="3090672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5" name="Text-254"/>
          <p:cNvSpPr txBox="1"/>
          <p:nvPr/>
        </p:nvSpPr>
        <p:spPr>
          <a:xfrm>
            <a:off x="548640" y="3090672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Story-/Szenen-Modus</a:t>
            </a:r>
            <a:endParaRPr lang="en-US" sz="1300" dirty="0"/>
          </a:p>
        </p:txBody>
      </p:sp>
      <p:sp>
        <p:nvSpPr>
          <p:cNvPr id="26" name="Mark-255"/>
          <p:cNvSpPr/>
          <p:nvPr/>
        </p:nvSpPr>
        <p:spPr>
          <a:xfrm>
            <a:off x="3204972" y="3236976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7" name="Mark-256"/>
          <p:cNvSpPr/>
          <p:nvPr/>
        </p:nvSpPr>
        <p:spPr>
          <a:xfrm>
            <a:off x="407365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8" name="Mark-257"/>
          <p:cNvSpPr/>
          <p:nvPr/>
        </p:nvSpPr>
        <p:spPr>
          <a:xfrm>
            <a:off x="494233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29" name="Mark-258"/>
          <p:cNvSpPr/>
          <p:nvPr/>
        </p:nvSpPr>
        <p:spPr>
          <a:xfrm>
            <a:off x="581101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0" name="Mark-259"/>
          <p:cNvSpPr/>
          <p:nvPr/>
        </p:nvSpPr>
        <p:spPr>
          <a:xfrm>
            <a:off x="6679692" y="3236976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1" name="Rule-260"/>
          <p:cNvSpPr/>
          <p:nvPr/>
        </p:nvSpPr>
        <p:spPr>
          <a:xfrm>
            <a:off x="548640" y="3602736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Text-261"/>
          <p:cNvSpPr txBox="1"/>
          <p:nvPr/>
        </p:nvSpPr>
        <p:spPr>
          <a:xfrm>
            <a:off x="548640" y="3602736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 / offline</a:t>
            </a:r>
            <a:endParaRPr lang="en-US" sz="1300" dirty="0"/>
          </a:p>
        </p:txBody>
      </p:sp>
      <p:sp>
        <p:nvSpPr>
          <p:cNvPr id="33" name="Mark-262"/>
          <p:cNvSpPr/>
          <p:nvPr/>
        </p:nvSpPr>
        <p:spPr>
          <a:xfrm>
            <a:off x="3204972" y="3749040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4" name="Mark-263"/>
          <p:cNvSpPr/>
          <p:nvPr/>
        </p:nvSpPr>
        <p:spPr>
          <a:xfrm>
            <a:off x="4073652" y="3749040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35" name="Mark-264"/>
          <p:cNvSpPr/>
          <p:nvPr/>
        </p:nvSpPr>
        <p:spPr>
          <a:xfrm>
            <a:off x="4942332" y="3749040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Mark-265"/>
          <p:cNvSpPr/>
          <p:nvPr/>
        </p:nvSpPr>
        <p:spPr>
          <a:xfrm>
            <a:off x="581101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7" name="Mark-266"/>
          <p:cNvSpPr/>
          <p:nvPr/>
        </p:nvSpPr>
        <p:spPr>
          <a:xfrm>
            <a:off x="6679692" y="3749040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8" name="Rule-267"/>
          <p:cNvSpPr/>
          <p:nvPr/>
        </p:nvSpPr>
        <p:spPr>
          <a:xfrm>
            <a:off x="548640" y="4114800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9" name="Text-268"/>
          <p:cNvSpPr txBox="1"/>
          <p:nvPr/>
        </p:nvSpPr>
        <p:spPr>
          <a:xfrm>
            <a:off x="548640" y="411480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</a:t>
            </a:r>
            <a:endParaRPr lang="en-US" sz="1300" dirty="0"/>
          </a:p>
        </p:txBody>
      </p:sp>
      <p:sp>
        <p:nvSpPr>
          <p:cNvPr id="40" name="Mark-269"/>
          <p:cNvSpPr/>
          <p:nvPr/>
        </p:nvSpPr>
        <p:spPr>
          <a:xfrm>
            <a:off x="3204972" y="4261104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1" name="Mark-270"/>
          <p:cNvSpPr/>
          <p:nvPr/>
        </p:nvSpPr>
        <p:spPr>
          <a:xfrm>
            <a:off x="4073652" y="4261104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42" name="Mark-271"/>
          <p:cNvSpPr/>
          <p:nvPr/>
        </p:nvSpPr>
        <p:spPr>
          <a:xfrm>
            <a:off x="494233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3" name="Mark-272"/>
          <p:cNvSpPr/>
          <p:nvPr/>
        </p:nvSpPr>
        <p:spPr>
          <a:xfrm>
            <a:off x="581101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4" name="Mark-273"/>
          <p:cNvSpPr/>
          <p:nvPr/>
        </p:nvSpPr>
        <p:spPr>
          <a:xfrm>
            <a:off x="6679692" y="4261104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45" name="Rule-274"/>
          <p:cNvSpPr/>
          <p:nvPr/>
        </p:nvSpPr>
        <p:spPr>
          <a:xfrm>
            <a:off x="548640" y="4626864"/>
            <a:ext cx="667512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46" name="Text-275"/>
          <p:cNvSpPr txBox="1"/>
          <p:nvPr/>
        </p:nvSpPr>
        <p:spPr>
          <a:xfrm>
            <a:off x="548640" y="4626864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(nicht nachträglich)</a:t>
            </a:r>
            <a:endParaRPr lang="en-US" sz="1300" dirty="0"/>
          </a:p>
        </p:txBody>
      </p:sp>
      <p:sp>
        <p:nvSpPr>
          <p:cNvPr id="47" name="Mark-276"/>
          <p:cNvSpPr/>
          <p:nvPr/>
        </p:nvSpPr>
        <p:spPr>
          <a:xfrm>
            <a:off x="3204972" y="4773168"/>
            <a:ext cx="219456" cy="219456"/>
          </a:xfrm>
          <a:prstGeom prst="ellipse">
            <a:avLst/>
          </a:prstGeom>
          <a:solidFill>
            <a:srgbClr val="FF2D75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8" name="Mark-277"/>
          <p:cNvSpPr/>
          <p:nvPr/>
        </p:nvSpPr>
        <p:spPr>
          <a:xfrm>
            <a:off x="407365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9" name="Mark-278"/>
          <p:cNvSpPr/>
          <p:nvPr/>
        </p:nvSpPr>
        <p:spPr>
          <a:xfrm>
            <a:off x="494233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0" name="Mark-279"/>
          <p:cNvSpPr/>
          <p:nvPr/>
        </p:nvSpPr>
        <p:spPr>
          <a:xfrm>
            <a:off x="5811012" y="4773168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Mark-280"/>
          <p:cNvSpPr/>
          <p:nvPr/>
        </p:nvSpPr>
        <p:spPr>
          <a:xfrm>
            <a:off x="6679692" y="4773168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2" name="Mark-281"/>
          <p:cNvSpPr/>
          <p:nvPr/>
        </p:nvSpPr>
        <p:spPr>
          <a:xfrm>
            <a:off x="548640" y="5285232"/>
            <a:ext cx="219456" cy="2194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3" name="Text-282"/>
          <p:cNvSpPr txBox="1"/>
          <p:nvPr/>
        </p:nvSpPr>
        <p:spPr>
          <a:xfrm>
            <a:off x="86868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</a:t>
            </a:r>
            <a:endParaRPr lang="en-US" sz="1100" dirty="0"/>
          </a:p>
        </p:txBody>
      </p:sp>
      <p:sp>
        <p:nvSpPr>
          <p:cNvPr id="54" name="Mark-283"/>
          <p:cNvSpPr/>
          <p:nvPr/>
        </p:nvSpPr>
        <p:spPr>
          <a:xfrm>
            <a:off x="2286000" y="5285232"/>
            <a:ext cx="219456" cy="219456"/>
          </a:xfrm>
          <a:prstGeom prst="ellipse">
            <a:avLst/>
          </a:prstGeom>
          <a:solidFill>
            <a:srgbClr val="FFD166">
              <a:alpha val="65000"/>
            </a:srgbClr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55" name="Text-284"/>
          <p:cNvSpPr txBox="1"/>
          <p:nvPr/>
        </p:nvSpPr>
        <p:spPr>
          <a:xfrm>
            <a:off x="260604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teilweise</a:t>
            </a:r>
            <a:endParaRPr lang="en-US" sz="1100" dirty="0"/>
          </a:p>
        </p:txBody>
      </p:sp>
      <p:sp>
        <p:nvSpPr>
          <p:cNvPr id="56" name="Mark-285"/>
          <p:cNvSpPr/>
          <p:nvPr/>
        </p:nvSpPr>
        <p:spPr>
          <a:xfrm>
            <a:off x="4023360" y="5285232"/>
            <a:ext cx="219456" cy="219456"/>
          </a:xfrm>
          <a:prstGeom prst="ellipse">
            <a:avLst/>
          </a:prstGeom>
          <a:ln w="15875">
            <a:solidFill>
              <a:srgbClr val="A9B0BD"/>
            </a:solidFill>
            <a:prstDash val="solid"/>
          </a:ln>
        </p:spPr>
      </p:sp>
      <p:sp>
        <p:nvSpPr>
          <p:cNvPr id="57" name="Text-286"/>
          <p:cNvSpPr txBox="1"/>
          <p:nvPr/>
        </p:nvSpPr>
        <p:spPr>
          <a:xfrm>
            <a:off x="4343400" y="5257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nein</a:t>
            </a:r>
            <a:endParaRPr lang="en-US" sz="1100" dirty="0"/>
          </a:p>
        </p:txBody>
      </p:sp>
      <p:sp>
        <p:nvSpPr>
          <p:cNvPr id="58" name="Text-287"/>
          <p:cNvSpPr txBox="1"/>
          <p:nvPr/>
        </p:nvSpPr>
        <p:spPr>
          <a:xfrm>
            <a:off x="7589520" y="155448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– offen benannt</a:t>
            </a:r>
            <a:endParaRPr lang="en-US" sz="1600" dirty="0"/>
          </a:p>
        </p:txBody>
      </p:sp>
      <p:sp>
        <p:nvSpPr>
          <p:cNvPr id="59" name="Badge-288"/>
          <p:cNvSpPr txBox="1"/>
          <p:nvPr/>
        </p:nvSpPr>
        <p:spPr>
          <a:xfrm>
            <a:off x="7589520" y="205740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0" name="Text-289"/>
          <p:cNvSpPr txBox="1"/>
          <p:nvPr/>
        </p:nvSpPr>
        <p:spPr>
          <a:xfrm>
            <a:off x="8001000" y="201168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unbewiesen</a:t>
            </a:r>
            <a:endParaRPr lang="en-US" sz="1300" dirty="0"/>
          </a:p>
        </p:txBody>
      </p:sp>
      <p:sp>
        <p:nvSpPr>
          <p:cNvPr id="61" name="Text-290"/>
          <p:cNvSpPr txBox="1"/>
          <p:nvPr/>
        </p:nvSpPr>
        <p:spPr>
          <a:xfrm>
            <a:off x="8001000" y="230428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 mit Kohorten, Budget erst nach Freigabe</a:t>
            </a:r>
            <a:endParaRPr lang="en-US" sz="1100" dirty="0"/>
          </a:p>
        </p:txBody>
      </p:sp>
      <p:sp>
        <p:nvSpPr>
          <p:cNvPr id="62" name="Badge-291"/>
          <p:cNvSpPr txBox="1"/>
          <p:nvPr/>
        </p:nvSpPr>
        <p:spPr>
          <a:xfrm>
            <a:off x="7589520" y="283464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3" name="Text-292"/>
          <p:cNvSpPr txBox="1"/>
          <p:nvPr/>
        </p:nvSpPr>
        <p:spPr>
          <a:xfrm>
            <a:off x="8001000" y="278892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 baut nach</a:t>
            </a:r>
            <a:endParaRPr lang="en-US" sz="1300" dirty="0"/>
          </a:p>
        </p:txBody>
      </p:sp>
      <p:sp>
        <p:nvSpPr>
          <p:cNvPr id="64" name="Text-293"/>
          <p:cNvSpPr txBox="1"/>
          <p:nvPr/>
        </p:nvSpPr>
        <p:spPr>
          <a:xfrm>
            <a:off x="8001000" y="308152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 Pilot, Sprach-Packs als Burggraben</a:t>
            </a:r>
            <a:endParaRPr lang="en-US" sz="1100" dirty="0"/>
          </a:p>
        </p:txBody>
      </p:sp>
      <p:sp>
        <p:nvSpPr>
          <p:cNvPr id="65" name="Badge-294"/>
          <p:cNvSpPr txBox="1"/>
          <p:nvPr/>
        </p:nvSpPr>
        <p:spPr>
          <a:xfrm>
            <a:off x="7589520" y="361188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6" name="Text-295"/>
          <p:cNvSpPr txBox="1"/>
          <p:nvPr/>
        </p:nvSpPr>
        <p:spPr>
          <a:xfrm>
            <a:off x="8001000" y="356616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Handy-Creator ohne OBS</a:t>
            </a:r>
            <a:endParaRPr lang="en-US" sz="1300" dirty="0"/>
          </a:p>
        </p:txBody>
      </p:sp>
      <p:sp>
        <p:nvSpPr>
          <p:cNvPr id="67" name="Text-296"/>
          <p:cNvSpPr txBox="1"/>
          <p:nvPr/>
        </p:nvSpPr>
        <p:spPr>
          <a:xfrm>
            <a:off x="8001000" y="385876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Mobile-Entwickler:in zuerst</a:t>
            </a:r>
            <a:endParaRPr lang="en-US" sz="1100" dirty="0"/>
          </a:p>
        </p:txBody>
      </p:sp>
      <p:sp>
        <p:nvSpPr>
          <p:cNvPr id="68" name="Badge-297"/>
          <p:cNvSpPr txBox="1"/>
          <p:nvPr/>
        </p:nvSpPr>
        <p:spPr>
          <a:xfrm>
            <a:off x="7589520" y="438912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69" name="Text-298"/>
          <p:cNvSpPr txBox="1"/>
          <p:nvPr/>
        </p:nvSpPr>
        <p:spPr>
          <a:xfrm>
            <a:off x="8001000" y="434340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 Schule/Familie</a:t>
            </a:r>
            <a:endParaRPr lang="en-US" sz="1300" dirty="0"/>
          </a:p>
        </p:txBody>
      </p:sp>
      <p:sp>
        <p:nvSpPr>
          <p:cNvPr id="70" name="Text-299"/>
          <p:cNvSpPr txBox="1"/>
          <p:nvPr/>
        </p:nvSpPr>
        <p:spPr>
          <a:xfrm>
            <a:off x="8001000" y="463600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lokal, ohne Konten, On-Device-ASR</a:t>
            </a:r>
            <a:endParaRPr lang="en-US" sz="1100" dirty="0"/>
          </a:p>
        </p:txBody>
      </p:sp>
      <p:sp>
        <p:nvSpPr>
          <p:cNvPr id="71" name="Badge-300"/>
          <p:cNvSpPr txBox="1"/>
          <p:nvPr/>
        </p:nvSpPr>
        <p:spPr>
          <a:xfrm>
            <a:off x="7589520" y="5166360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72" name="Text-301"/>
          <p:cNvSpPr txBox="1"/>
          <p:nvPr/>
        </p:nvSpPr>
        <p:spPr>
          <a:xfrm>
            <a:off x="8001000" y="5120640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verzettelt</a:t>
            </a:r>
            <a:endParaRPr lang="en-US" sz="1300" dirty="0"/>
          </a:p>
        </p:txBody>
      </p:sp>
      <p:sp>
        <p:nvSpPr>
          <p:cNvPr id="73" name="Text-302"/>
          <p:cNvSpPr txBox="1"/>
          <p:nvPr/>
        </p:nvSpPr>
        <p:spPr>
          <a:xfrm>
            <a:off x="8001000" y="5413248"/>
            <a:ext cx="3642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nur WortBild; Rest in der Seed-Runde</a:t>
            </a:r>
            <a:endParaRPr lang="en-US" sz="1100" dirty="0"/>
          </a:p>
        </p:txBody>
      </p:sp>
      <p:sp>
        <p:nvSpPr>
          <p:cNvPr id="74" name="Text-303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BUSINESSPLAN.md §7, §13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ROADMAP &amp; GO-TO-MARKET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Starten. Bezahlen lassen. Erweitern</a:t>
            </a:r>
            <a:endParaRPr lang="en-US" sz="3200" dirty="0"/>
          </a:p>
        </p:txBody>
      </p:sp>
      <p:sp>
        <p:nvSpPr>
          <p:cNvPr id="4" name="Timeline"/>
          <p:cNvSpPr/>
          <p:nvPr/>
        </p:nvSpPr>
        <p:spPr>
          <a:xfrm>
            <a:off x="1341098" y="2148840"/>
            <a:ext cx="9509499" cy="0"/>
          </a:xfrm>
          <a:prstGeom prst="line">
            <a:avLst/>
          </a:prstGeom>
          <a:noFill/>
          <a:ln w="25400">
            <a:solidFill>
              <a:srgbClr val="2A2E38"/>
            </a:solidFill>
            <a:prstDash val="solid"/>
          </a:ln>
        </p:spPr>
      </p:sp>
      <p:sp>
        <p:nvSpPr>
          <p:cNvPr id="5" name="Text-304"/>
          <p:cNvSpPr txBox="1"/>
          <p:nvPr/>
        </p:nvSpPr>
        <p:spPr>
          <a:xfrm>
            <a:off x="548640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200" dirty="0"/>
          </a:p>
        </p:txBody>
      </p:sp>
      <p:sp>
        <p:nvSpPr>
          <p:cNvPr id="6" name="Badge-305"/>
          <p:cNvSpPr txBox="1"/>
          <p:nvPr/>
        </p:nvSpPr>
        <p:spPr>
          <a:xfrm>
            <a:off x="1194794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-306"/>
          <p:cNvSpPr txBox="1"/>
          <p:nvPr/>
        </p:nvSpPr>
        <p:spPr>
          <a:xfrm>
            <a:off x="594360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 + TR-Launch</a:t>
            </a:r>
            <a:endParaRPr lang="en-US" sz="1500" dirty="0"/>
          </a:p>
        </p:txBody>
      </p:sp>
      <p:sp>
        <p:nvSpPr>
          <p:cNvPr id="8" name="Text-307"/>
          <p:cNvSpPr txBox="1"/>
          <p:nvPr/>
        </p:nvSpPr>
        <p:spPr>
          <a:xfrm>
            <a:off x="621792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Leistungsmodus, 143 Sticker, sichere GIFs</a:t>
            </a:r>
            <a:endParaRPr lang="en-US" sz="1100" dirty="0"/>
          </a:p>
        </p:txBody>
      </p:sp>
      <p:sp>
        <p:nvSpPr>
          <p:cNvPr id="9" name="Text-308"/>
          <p:cNvSpPr txBox="1"/>
          <p:nvPr/>
        </p:nvSpPr>
        <p:spPr>
          <a:xfrm>
            <a:off x="213355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Jan. 2027</a:t>
            </a:r>
            <a:endParaRPr lang="en-US" sz="1200" dirty="0"/>
          </a:p>
        </p:txBody>
      </p:sp>
      <p:sp>
        <p:nvSpPr>
          <p:cNvPr id="10" name="Badge-309"/>
          <p:cNvSpPr txBox="1"/>
          <p:nvPr/>
        </p:nvSpPr>
        <p:spPr>
          <a:xfrm>
            <a:off x="2779711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-310"/>
          <p:cNvSpPr txBox="1"/>
          <p:nvPr/>
        </p:nvSpPr>
        <p:spPr>
          <a:xfrm>
            <a:off x="217927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250 T€</a:t>
            </a:r>
            <a:endParaRPr lang="en-US" sz="1500" dirty="0"/>
          </a:p>
        </p:txBody>
      </p:sp>
      <p:sp>
        <p:nvSpPr>
          <p:cNvPr id="12" name="Text-311"/>
          <p:cNvSpPr txBox="1"/>
          <p:nvPr/>
        </p:nvSpPr>
        <p:spPr>
          <a:xfrm>
            <a:off x="220670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Phase 1, Marke</a:t>
            </a:r>
            <a:endParaRPr lang="en-US" sz="1100" dirty="0"/>
          </a:p>
        </p:txBody>
      </p:sp>
      <p:sp>
        <p:nvSpPr>
          <p:cNvPr id="13" name="Text-312"/>
          <p:cNvSpPr txBox="1"/>
          <p:nvPr/>
        </p:nvSpPr>
        <p:spPr>
          <a:xfrm>
            <a:off x="3718473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3</a:t>
            </a:r>
            <a:endParaRPr lang="en-US" sz="1200" dirty="0"/>
          </a:p>
        </p:txBody>
      </p:sp>
      <p:sp>
        <p:nvSpPr>
          <p:cNvPr id="14" name="Badge-313"/>
          <p:cNvSpPr txBox="1"/>
          <p:nvPr/>
        </p:nvSpPr>
        <p:spPr>
          <a:xfrm>
            <a:off x="4364627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-314"/>
          <p:cNvSpPr txBox="1"/>
          <p:nvPr/>
        </p:nvSpPr>
        <p:spPr>
          <a:xfrm>
            <a:off x="3764193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0</a:t>
            </a:r>
            <a:endParaRPr lang="en-US" sz="1500" dirty="0"/>
          </a:p>
        </p:txBody>
      </p:sp>
      <p:sp>
        <p:nvSpPr>
          <p:cNvPr id="16" name="Text-315"/>
          <p:cNvSpPr txBox="1"/>
          <p:nvPr/>
        </p:nvSpPr>
        <p:spPr>
          <a:xfrm>
            <a:off x="3791625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live, Entwickler:in an Bord</a:t>
            </a:r>
            <a:endParaRPr lang="en-US" sz="1100" dirty="0"/>
          </a:p>
        </p:txBody>
      </p:sp>
      <p:sp>
        <p:nvSpPr>
          <p:cNvPr id="17" name="Text-316"/>
          <p:cNvSpPr txBox="1"/>
          <p:nvPr/>
        </p:nvSpPr>
        <p:spPr>
          <a:xfrm>
            <a:off x="530338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6</a:t>
            </a:r>
            <a:endParaRPr lang="en-US" sz="1200" dirty="0"/>
          </a:p>
        </p:txBody>
      </p:sp>
      <p:sp>
        <p:nvSpPr>
          <p:cNvPr id="18" name="Badge-317"/>
          <p:cNvSpPr txBox="1"/>
          <p:nvPr/>
        </p:nvSpPr>
        <p:spPr>
          <a:xfrm>
            <a:off x="5949544" y="2002536"/>
            <a:ext cx="292608" cy="29260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-318"/>
          <p:cNvSpPr txBox="1"/>
          <p:nvPr/>
        </p:nvSpPr>
        <p:spPr>
          <a:xfrm>
            <a:off x="534910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1</a:t>
            </a:r>
            <a:endParaRPr lang="en-US" sz="1500" dirty="0"/>
          </a:p>
        </p:txBody>
      </p:sp>
      <p:sp>
        <p:nvSpPr>
          <p:cNvPr id="20" name="Text-319"/>
          <p:cNvSpPr txBox="1"/>
          <p:nvPr/>
        </p:nvSpPr>
        <p:spPr>
          <a:xfrm>
            <a:off x="537654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Mobile-App/PWA; WortBild 300 Wörter</a:t>
            </a:r>
            <a:endParaRPr lang="en-US" sz="1100" dirty="0"/>
          </a:p>
        </p:txBody>
      </p:sp>
      <p:sp>
        <p:nvSpPr>
          <p:cNvPr id="21" name="Text-320"/>
          <p:cNvSpPr txBox="1"/>
          <p:nvPr/>
        </p:nvSpPr>
        <p:spPr>
          <a:xfrm>
            <a:off x="6888306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7–9</a:t>
            </a:r>
            <a:endParaRPr lang="en-US" sz="1200" dirty="0"/>
          </a:p>
        </p:txBody>
      </p:sp>
      <p:sp>
        <p:nvSpPr>
          <p:cNvPr id="22" name="Badge-321"/>
          <p:cNvSpPr txBox="1"/>
          <p:nvPr/>
        </p:nvSpPr>
        <p:spPr>
          <a:xfrm>
            <a:off x="7534460" y="2002536"/>
            <a:ext cx="292608" cy="29260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3" name="Text-322"/>
          <p:cNvSpPr txBox="1"/>
          <p:nvPr/>
        </p:nvSpPr>
        <p:spPr>
          <a:xfrm>
            <a:off x="6934026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DE/EN + Pilot</a:t>
            </a:r>
            <a:endParaRPr lang="en-US" sz="1500" dirty="0"/>
          </a:p>
        </p:txBody>
      </p:sp>
      <p:sp>
        <p:nvSpPr>
          <p:cNvPr id="24" name="Text-323"/>
          <p:cNvSpPr txBox="1"/>
          <p:nvPr/>
        </p:nvSpPr>
        <p:spPr>
          <a:xfrm>
            <a:off x="6961458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Plattform- oder Bildungspilot</a:t>
            </a:r>
            <a:endParaRPr lang="en-US" sz="1100" dirty="0"/>
          </a:p>
        </p:txBody>
      </p:sp>
      <p:sp>
        <p:nvSpPr>
          <p:cNvPr id="25" name="Text-324"/>
          <p:cNvSpPr txBox="1"/>
          <p:nvPr/>
        </p:nvSpPr>
        <p:spPr>
          <a:xfrm>
            <a:off x="8473222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12</a:t>
            </a:r>
            <a:endParaRPr lang="en-US" sz="1200" dirty="0"/>
          </a:p>
        </p:txBody>
      </p:sp>
      <p:sp>
        <p:nvSpPr>
          <p:cNvPr id="26" name="Badge-325"/>
          <p:cNvSpPr txBox="1"/>
          <p:nvPr/>
        </p:nvSpPr>
        <p:spPr>
          <a:xfrm>
            <a:off x="9119377" y="200253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7" name="Text-326"/>
          <p:cNvSpPr txBox="1"/>
          <p:nvPr/>
        </p:nvSpPr>
        <p:spPr>
          <a:xfrm>
            <a:off x="8518942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2a</a:t>
            </a:r>
            <a:endParaRPr lang="en-US" sz="1500" dirty="0"/>
          </a:p>
        </p:txBody>
      </p:sp>
      <p:sp>
        <p:nvSpPr>
          <p:cNvPr id="28" name="Text-327"/>
          <p:cNvSpPr txBox="1"/>
          <p:nvPr/>
        </p:nvSpPr>
        <p:spPr>
          <a:xfrm>
            <a:off x="8546374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Traktion; Seed-Gespräche</a:t>
            </a:r>
            <a:endParaRPr lang="en-US" sz="1100" dirty="0"/>
          </a:p>
        </p:txBody>
      </p:sp>
      <p:sp>
        <p:nvSpPr>
          <p:cNvPr id="29" name="Text-328"/>
          <p:cNvSpPr txBox="1"/>
          <p:nvPr/>
        </p:nvSpPr>
        <p:spPr>
          <a:xfrm>
            <a:off x="10058139" y="1554480"/>
            <a:ext cx="1584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18</a:t>
            </a:r>
            <a:endParaRPr lang="en-US" sz="1200" dirty="0"/>
          </a:p>
        </p:txBody>
      </p:sp>
      <p:sp>
        <p:nvSpPr>
          <p:cNvPr id="30" name="Badge-329"/>
          <p:cNvSpPr txBox="1"/>
          <p:nvPr/>
        </p:nvSpPr>
        <p:spPr>
          <a:xfrm>
            <a:off x="10704293" y="2002536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1" name="Text-330"/>
          <p:cNvSpPr txBox="1"/>
          <p:nvPr/>
        </p:nvSpPr>
        <p:spPr>
          <a:xfrm>
            <a:off x="10103859" y="2468880"/>
            <a:ext cx="14934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2 → Seed</a:t>
            </a:r>
            <a:endParaRPr lang="en-US" sz="1500" dirty="0"/>
          </a:p>
        </p:txBody>
      </p:sp>
      <p:sp>
        <p:nvSpPr>
          <p:cNvPr id="32" name="Text-331"/>
          <p:cNvSpPr txBox="1"/>
          <p:nvPr/>
        </p:nvSpPr>
        <p:spPr>
          <a:xfrm>
            <a:off x="10131291" y="3108960"/>
            <a:ext cx="1438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350 T€; Story-Engine, Studio, VR</a:t>
            </a:r>
            <a:endParaRPr lang="en-US" sz="1100" dirty="0"/>
          </a:p>
        </p:txBody>
      </p:sp>
      <p:sp>
        <p:nvSpPr>
          <p:cNvPr id="33" name="Card-332"/>
          <p:cNvSpPr/>
          <p:nvPr/>
        </p:nvSpPr>
        <p:spPr>
          <a:xfrm>
            <a:off x="548640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4" name="Text-333"/>
          <p:cNvSpPr txBox="1"/>
          <p:nvPr/>
        </p:nvSpPr>
        <p:spPr>
          <a:xfrm>
            <a:off x="749808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TR-Community</a:t>
            </a:r>
            <a:endParaRPr lang="en-US" sz="1500" dirty="0"/>
          </a:p>
        </p:txBody>
      </p:sp>
      <p:sp>
        <p:nvSpPr>
          <p:cNvPr id="35" name="Text-334"/>
          <p:cNvSpPr txBox="1"/>
          <p:nvPr/>
        </p:nvSpPr>
        <p:spPr>
          <a:xfrm>
            <a:off x="749808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1–6: eigene Streams, Pack- und Sticker-Drops</a:t>
            </a:r>
            <a:endParaRPr lang="en-US" sz="1200" dirty="0"/>
          </a:p>
        </p:txBody>
      </p:sp>
      <p:sp>
        <p:nvSpPr>
          <p:cNvPr id="36" name="Card-335"/>
          <p:cNvSpPr/>
          <p:nvPr/>
        </p:nvSpPr>
        <p:spPr>
          <a:xfrm>
            <a:off x="3372536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-336"/>
          <p:cNvSpPr txBox="1"/>
          <p:nvPr/>
        </p:nvSpPr>
        <p:spPr>
          <a:xfrm>
            <a:off x="3573704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DE/EN</a:t>
            </a:r>
            <a:endParaRPr lang="en-US" sz="1500" dirty="0"/>
          </a:p>
        </p:txBody>
      </p:sp>
      <p:sp>
        <p:nvSpPr>
          <p:cNvPr id="38" name="Text-337"/>
          <p:cNvSpPr txBox="1"/>
          <p:nvPr/>
        </p:nvSpPr>
        <p:spPr>
          <a:xfrm>
            <a:off x="3573704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7–18: Vorlese- und Bildungs-Streams</a:t>
            </a:r>
            <a:endParaRPr lang="en-US" sz="1200" dirty="0"/>
          </a:p>
        </p:txBody>
      </p:sp>
      <p:sp>
        <p:nvSpPr>
          <p:cNvPr id="39" name="Card-338"/>
          <p:cNvSpPr/>
          <p:nvPr/>
        </p:nvSpPr>
        <p:spPr>
          <a:xfrm>
            <a:off x="6196432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0" name="Text-339"/>
          <p:cNvSpPr txBox="1"/>
          <p:nvPr/>
        </p:nvSpPr>
        <p:spPr>
          <a:xfrm>
            <a:off x="6397600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Pilot</a:t>
            </a:r>
            <a:endParaRPr lang="en-US" sz="1500" dirty="0"/>
          </a:p>
        </p:txBody>
      </p:sp>
      <p:sp>
        <p:nvSpPr>
          <p:cNvPr id="41" name="Text-340"/>
          <p:cNvSpPr txBox="1"/>
          <p:nvPr/>
        </p:nvSpPr>
        <p:spPr>
          <a:xfrm>
            <a:off x="6397600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Monat 9: Plattform (8 Wochen, 20 Creator) oder Kurse</a:t>
            </a:r>
            <a:endParaRPr lang="en-US" sz="1200" dirty="0"/>
          </a:p>
        </p:txBody>
      </p:sp>
      <p:sp>
        <p:nvSpPr>
          <p:cNvPr id="42" name="Card-341"/>
          <p:cNvSpPr/>
          <p:nvPr/>
        </p:nvSpPr>
        <p:spPr>
          <a:xfrm>
            <a:off x="9020327" y="4297680"/>
            <a:ext cx="2622728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3" name="Text-342"/>
          <p:cNvSpPr txBox="1"/>
          <p:nvPr/>
        </p:nvSpPr>
        <p:spPr>
          <a:xfrm>
            <a:off x="9221495" y="4480560"/>
            <a:ext cx="222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Folgerunde</a:t>
            </a:r>
            <a:endParaRPr lang="en-US" sz="1500" dirty="0"/>
          </a:p>
        </p:txBody>
      </p:sp>
      <p:sp>
        <p:nvSpPr>
          <p:cNvPr id="44" name="Text-343"/>
          <p:cNvSpPr txBox="1"/>
          <p:nvPr/>
        </p:nvSpPr>
        <p:spPr>
          <a:xfrm>
            <a:off x="9221495" y="4919472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Monat 19: Team, Story-Engine, Studio, VR</a:t>
            </a:r>
            <a:endParaRPr lang="en-US" sz="1200" dirty="0"/>
          </a:p>
        </p:txBody>
      </p:sp>
      <p:sp>
        <p:nvSpPr>
          <p:cNvPr id="45" name="Text-344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BUSINESSPLAN.md §10, §14.1 · LiveFX_Finanzmodell.xlsx (Zeitachse: Closing Jan. 2027 = Monat 1)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MITTELVERWENDUNG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 über 18 Monate: Ausführung zuerst</a:t>
            </a:r>
            <a:endParaRPr lang="en-US" sz="3200" dirty="0"/>
          </a:p>
        </p:txBody>
      </p:sp>
      <p:graphicFrame>
        <p:nvGraphicFramePr>
          <p:cNvPr id="4" name="Use-of-funds-donut" descr=""/>
          <p:cNvGraphicFramePr/>
          <p:nvPr/>
        </p:nvGraphicFramePr>
        <p:xfrm>
          <a:off x="548640" y="146304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45"/>
          <p:cNvSpPr txBox="1"/>
          <p:nvPr/>
        </p:nvSpPr>
        <p:spPr>
          <a:xfrm>
            <a:off x="1645920" y="3291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T€</a:t>
            </a:r>
            <a:endParaRPr lang="en-US" sz="3200" dirty="0"/>
          </a:p>
        </p:txBody>
      </p:sp>
      <p:sp>
        <p:nvSpPr>
          <p:cNvPr id="6" name="Text-346"/>
          <p:cNvSpPr txBox="1"/>
          <p:nvPr/>
        </p:nvSpPr>
        <p:spPr>
          <a:xfrm>
            <a:off x="164592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MONATE</a:t>
            </a:r>
            <a:endParaRPr lang="en-US" sz="1000" dirty="0"/>
          </a:p>
        </p:txBody>
      </p:sp>
      <p:sp>
        <p:nvSpPr>
          <p:cNvPr id="7" name="Pill-347"/>
          <p:cNvSpPr txBox="1"/>
          <p:nvPr/>
        </p:nvSpPr>
        <p:spPr>
          <a:xfrm>
            <a:off x="5486400" y="1508760"/>
            <a:ext cx="457200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VORSCHLAG – MIT STEUER-/RECHTSBERATER PRÜFEN</a:t>
            </a:r>
            <a:endParaRPr lang="en-US" sz="1000" dirty="0"/>
          </a:p>
        </p:txBody>
      </p:sp>
      <p:sp>
        <p:nvSpPr>
          <p:cNvPr id="8" name="Key-348"/>
          <p:cNvSpPr/>
          <p:nvPr/>
        </p:nvSpPr>
        <p:spPr>
          <a:xfrm>
            <a:off x="5486400" y="2121408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2D75"/>
          </a:solidFill>
          <a:ln/>
        </p:spPr>
      </p:sp>
      <p:sp>
        <p:nvSpPr>
          <p:cNvPr id="9" name="Text-349"/>
          <p:cNvSpPr txBox="1"/>
          <p:nvPr/>
        </p:nvSpPr>
        <p:spPr>
          <a:xfrm>
            <a:off x="5852160" y="196596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50 %</a:t>
            </a:r>
            <a:endParaRPr lang="en-US" sz="2400" dirty="0"/>
          </a:p>
        </p:txBody>
      </p:sp>
      <p:sp>
        <p:nvSpPr>
          <p:cNvPr id="10" name="Text-350"/>
          <p:cNvSpPr txBox="1"/>
          <p:nvPr/>
        </p:nvSpPr>
        <p:spPr>
          <a:xfrm>
            <a:off x="6858000" y="1984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Team/Produkt</a:t>
            </a:r>
            <a:endParaRPr lang="en-US" sz="1400" dirty="0"/>
          </a:p>
        </p:txBody>
      </p:sp>
      <p:sp>
        <p:nvSpPr>
          <p:cNvPr id="11" name="Text-351"/>
          <p:cNvSpPr txBox="1"/>
          <p:nvPr/>
        </p:nvSpPr>
        <p:spPr>
          <a:xfrm>
            <a:off x="6858000" y="22677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Entwickler:in ab M3, Gründer anteilig, Geräte</a:t>
            </a:r>
            <a:endParaRPr lang="en-US" sz="1100" dirty="0"/>
          </a:p>
        </p:txBody>
      </p:sp>
      <p:sp>
        <p:nvSpPr>
          <p:cNvPr id="12" name="Text-352"/>
          <p:cNvSpPr txBox="1"/>
          <p:nvPr/>
        </p:nvSpPr>
        <p:spPr>
          <a:xfrm>
            <a:off x="9905695" y="1965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125.000 €</a:t>
            </a:r>
            <a:endParaRPr lang="en-US" sz="1800" dirty="0"/>
          </a:p>
        </p:txBody>
      </p:sp>
      <p:sp>
        <p:nvSpPr>
          <p:cNvPr id="13" name="Rule-353"/>
          <p:cNvSpPr/>
          <p:nvPr/>
        </p:nvSpPr>
        <p:spPr>
          <a:xfrm>
            <a:off x="5486400" y="2642616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4" name="Key-354"/>
          <p:cNvSpPr/>
          <p:nvPr/>
        </p:nvSpPr>
        <p:spPr>
          <a:xfrm>
            <a:off x="5486400" y="28895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FFB5"/>
          </a:solidFill>
          <a:ln/>
        </p:spPr>
      </p:sp>
      <p:sp>
        <p:nvSpPr>
          <p:cNvPr id="15" name="Text-355"/>
          <p:cNvSpPr txBox="1"/>
          <p:nvPr/>
        </p:nvSpPr>
        <p:spPr>
          <a:xfrm>
            <a:off x="5852160" y="273405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20 %</a:t>
            </a:r>
            <a:endParaRPr lang="en-US" sz="2400" dirty="0"/>
          </a:p>
        </p:txBody>
      </p:sp>
      <p:sp>
        <p:nvSpPr>
          <p:cNvPr id="16" name="Text-356"/>
          <p:cNvSpPr txBox="1"/>
          <p:nvPr/>
        </p:nvSpPr>
        <p:spPr>
          <a:xfrm>
            <a:off x="6858000" y="27523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Markteintritt</a:t>
            </a:r>
            <a:endParaRPr lang="en-US" sz="1400" dirty="0"/>
          </a:p>
        </p:txBody>
      </p:sp>
      <p:sp>
        <p:nvSpPr>
          <p:cNvPr id="17" name="Text-357"/>
          <p:cNvSpPr txBox="1"/>
          <p:nvPr/>
        </p:nvSpPr>
        <p:spPr>
          <a:xfrm>
            <a:off x="6858000" y="3035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TR-, dann DE/EN-Launch, Botschafter, 1 Pilot</a:t>
            </a:r>
            <a:endParaRPr lang="en-US" sz="1100" dirty="0"/>
          </a:p>
        </p:txBody>
      </p:sp>
      <p:sp>
        <p:nvSpPr>
          <p:cNvPr id="18" name="Text-358"/>
          <p:cNvSpPr txBox="1"/>
          <p:nvPr/>
        </p:nvSpPr>
        <p:spPr>
          <a:xfrm>
            <a:off x="9905695" y="27340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50.000 €</a:t>
            </a:r>
            <a:endParaRPr lang="en-US" sz="1800" dirty="0"/>
          </a:p>
        </p:txBody>
      </p:sp>
      <p:sp>
        <p:nvSpPr>
          <p:cNvPr id="19" name="Rule-359"/>
          <p:cNvSpPr/>
          <p:nvPr/>
        </p:nvSpPr>
        <p:spPr>
          <a:xfrm>
            <a:off x="5486400" y="3410712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0" name="Key-360"/>
          <p:cNvSpPr/>
          <p:nvPr/>
        </p:nvSpPr>
        <p:spPr>
          <a:xfrm>
            <a:off x="5486400" y="3657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D166"/>
          </a:solidFill>
          <a:ln/>
        </p:spPr>
      </p:sp>
      <p:sp>
        <p:nvSpPr>
          <p:cNvPr id="21" name="Text-361"/>
          <p:cNvSpPr txBox="1"/>
          <p:nvPr/>
        </p:nvSpPr>
        <p:spPr>
          <a:xfrm>
            <a:off x="5852160" y="350215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15 %</a:t>
            </a:r>
            <a:endParaRPr lang="en-US" sz="2400" dirty="0"/>
          </a:p>
        </p:txBody>
      </p:sp>
      <p:sp>
        <p:nvSpPr>
          <p:cNvPr id="22" name="Text-362"/>
          <p:cNvSpPr txBox="1"/>
          <p:nvPr/>
        </p:nvSpPr>
        <p:spPr>
          <a:xfrm>
            <a:off x="685800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 (Vision B)</a:t>
            </a:r>
            <a:endParaRPr lang="en-US" sz="1400" dirty="0"/>
          </a:p>
        </p:txBody>
      </p:sp>
      <p:sp>
        <p:nvSpPr>
          <p:cNvPr id="23" name="Text-363"/>
          <p:cNvSpPr txBox="1"/>
          <p:nvPr/>
        </p:nvSpPr>
        <p:spPr>
          <a:xfrm>
            <a:off x="6858000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Wörter, Sprecher DE/TR/EN, Kurs-Pilot</a:t>
            </a:r>
            <a:endParaRPr lang="en-US" sz="1100" dirty="0"/>
          </a:p>
        </p:txBody>
      </p:sp>
      <p:sp>
        <p:nvSpPr>
          <p:cNvPr id="24" name="Text-364"/>
          <p:cNvSpPr txBox="1"/>
          <p:nvPr/>
        </p:nvSpPr>
        <p:spPr>
          <a:xfrm>
            <a:off x="9905695" y="35021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37.500 €</a:t>
            </a:r>
            <a:endParaRPr lang="en-US" sz="1800" dirty="0"/>
          </a:p>
        </p:txBody>
      </p:sp>
      <p:sp>
        <p:nvSpPr>
          <p:cNvPr id="25" name="Rule-365"/>
          <p:cNvSpPr/>
          <p:nvPr/>
        </p:nvSpPr>
        <p:spPr>
          <a:xfrm>
            <a:off x="5486400" y="4178808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6" name="Key-366"/>
          <p:cNvSpPr/>
          <p:nvPr/>
        </p:nvSpPr>
        <p:spPr>
          <a:xfrm>
            <a:off x="5486400" y="44256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6CC4FF"/>
          </a:solidFill>
          <a:ln/>
        </p:spPr>
      </p:sp>
      <p:sp>
        <p:nvSpPr>
          <p:cNvPr id="27" name="Text-367"/>
          <p:cNvSpPr txBox="1"/>
          <p:nvPr/>
        </p:nvSpPr>
        <p:spPr>
          <a:xfrm>
            <a:off x="5852160" y="4270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</a:t>
            </a:r>
            <a:endParaRPr lang="en-US" sz="2400" dirty="0"/>
          </a:p>
        </p:txBody>
      </p:sp>
      <p:sp>
        <p:nvSpPr>
          <p:cNvPr id="28" name="Text-368"/>
          <p:cNvSpPr txBox="1"/>
          <p:nvPr/>
        </p:nvSpPr>
        <p:spPr>
          <a:xfrm>
            <a:off x="6858000" y="42885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Recht, Marke, Datenschutz</a:t>
            </a:r>
            <a:endParaRPr lang="en-US" sz="1400" dirty="0"/>
          </a:p>
        </p:txBody>
      </p:sp>
      <p:sp>
        <p:nvSpPr>
          <p:cNvPr id="29" name="Text-369"/>
          <p:cNvSpPr txBox="1"/>
          <p:nvPr/>
        </p:nvSpPr>
        <p:spPr>
          <a:xfrm>
            <a:off x="685800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 DE/EU/TR, DSGVO, Verträge</a:t>
            </a:r>
            <a:endParaRPr lang="en-US" sz="1100" dirty="0"/>
          </a:p>
        </p:txBody>
      </p:sp>
      <p:sp>
        <p:nvSpPr>
          <p:cNvPr id="30" name="Text-370"/>
          <p:cNvSpPr txBox="1"/>
          <p:nvPr/>
        </p:nvSpPr>
        <p:spPr>
          <a:xfrm>
            <a:off x="9905695" y="42702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25.000 €</a:t>
            </a:r>
            <a:endParaRPr lang="en-US" sz="1800" dirty="0"/>
          </a:p>
        </p:txBody>
      </p:sp>
      <p:sp>
        <p:nvSpPr>
          <p:cNvPr id="31" name="Rule-371"/>
          <p:cNvSpPr/>
          <p:nvPr/>
        </p:nvSpPr>
        <p:spPr>
          <a:xfrm>
            <a:off x="5486400" y="4946904"/>
            <a:ext cx="615665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2" name="Key-372"/>
          <p:cNvSpPr/>
          <p:nvPr/>
        </p:nvSpPr>
        <p:spPr>
          <a:xfrm>
            <a:off x="5486400" y="51937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A6070"/>
          </a:solidFill>
          <a:ln/>
        </p:spPr>
      </p:sp>
      <p:sp>
        <p:nvSpPr>
          <p:cNvPr id="33" name="Text-373"/>
          <p:cNvSpPr txBox="1"/>
          <p:nvPr/>
        </p:nvSpPr>
        <p:spPr>
          <a:xfrm>
            <a:off x="5852160" y="503834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5 %</a:t>
            </a:r>
            <a:endParaRPr lang="en-US" sz="2400" dirty="0"/>
          </a:p>
        </p:txBody>
      </p:sp>
      <p:sp>
        <p:nvSpPr>
          <p:cNvPr id="34" name="Text-374"/>
          <p:cNvSpPr txBox="1"/>
          <p:nvPr/>
        </p:nvSpPr>
        <p:spPr>
          <a:xfrm>
            <a:off x="685800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400" dirty="0"/>
          </a:p>
        </p:txBody>
      </p:sp>
      <p:sp>
        <p:nvSpPr>
          <p:cNvPr id="35" name="Text-375"/>
          <p:cNvSpPr txBox="1"/>
          <p:nvPr/>
        </p:nvSpPr>
        <p:spPr>
          <a:xfrm>
            <a:off x="6858000" y="5340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verplant</a:t>
            </a:r>
            <a:endParaRPr lang="en-US" sz="1100" dirty="0"/>
          </a:p>
        </p:txBody>
      </p:sp>
      <p:sp>
        <p:nvSpPr>
          <p:cNvPr id="36" name="Text-376"/>
          <p:cNvSpPr txBox="1"/>
          <p:nvPr/>
        </p:nvSpPr>
        <p:spPr>
          <a:xfrm>
            <a:off x="9905695" y="50383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12.500 €</a:t>
            </a:r>
            <a:endParaRPr lang="en-US" sz="1800" dirty="0"/>
          </a:p>
        </p:txBody>
      </p:sp>
      <p:sp>
        <p:nvSpPr>
          <p:cNvPr id="37" name="Text-377"/>
          <p:cNvSpPr txBox="1"/>
          <p:nvPr/>
        </p:nvSpPr>
        <p:spPr>
          <a:xfrm>
            <a:off x="5486400" y="5852160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LiveFX_Finanzmodell.xlsx, Blatt Mittelverwendung. Story-Engine, Auto-Edit und VR wandern in die Folgerunde.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FINANZEN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EBITDA positiv in J2, 3,2 Mio. € Umsatz in J5</a:t>
            </a:r>
            <a:endParaRPr lang="en-US" sz="3200" dirty="0"/>
          </a:p>
        </p:txBody>
      </p:sp>
      <p:graphicFrame>
        <p:nvGraphicFramePr>
          <p:cNvPr id="4" name="PnL-chart" descr=""/>
          <p:cNvGraphicFramePr/>
          <p:nvPr/>
        </p:nvGraphicFramePr>
        <p:xfrm>
          <a:off x="548640" y="146304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378"/>
          <p:cNvSpPr txBox="1"/>
          <p:nvPr/>
        </p:nvSpPr>
        <p:spPr>
          <a:xfrm>
            <a:off x="548640" y="52303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Basis</a:t>
            </a:r>
            <a:endParaRPr lang="en-US" sz="1100" dirty="0"/>
          </a:p>
        </p:txBody>
      </p:sp>
      <p:sp>
        <p:nvSpPr>
          <p:cNvPr id="6" name="Text-379"/>
          <p:cNvSpPr txBox="1"/>
          <p:nvPr/>
        </p:nvSpPr>
        <p:spPr>
          <a:xfrm>
            <a:off x="2423160" y="5230368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−116 / +41 / +328 / +919 / +1.661 T€</a:t>
            </a:r>
            <a:endParaRPr lang="en-US" sz="1100" dirty="0"/>
          </a:p>
        </p:txBody>
      </p:sp>
      <p:sp>
        <p:nvSpPr>
          <p:cNvPr id="7" name="Text-380"/>
          <p:cNvSpPr txBox="1"/>
          <p:nvPr/>
        </p:nvSpPr>
        <p:spPr>
          <a:xfrm>
            <a:off x="548640" y="54955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Konservativ</a:t>
            </a:r>
            <a:endParaRPr lang="en-US" sz="1100" dirty="0"/>
          </a:p>
        </p:txBody>
      </p:sp>
      <p:sp>
        <p:nvSpPr>
          <p:cNvPr id="8" name="Text-381"/>
          <p:cNvSpPr txBox="1"/>
          <p:nvPr/>
        </p:nvSpPr>
        <p:spPr>
          <a:xfrm>
            <a:off x="2423160" y="5495544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−148 / −114 / −59 / +36 / +147 T€</a:t>
            </a:r>
            <a:endParaRPr lang="en-US" sz="1100" dirty="0"/>
          </a:p>
        </p:txBody>
      </p:sp>
      <p:sp>
        <p:nvSpPr>
          <p:cNvPr id="9" name="Text-382"/>
          <p:cNvSpPr txBox="1"/>
          <p:nvPr/>
        </p:nvSpPr>
        <p:spPr>
          <a:xfrm>
            <a:off x="548640" y="576072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Optimistisch</a:t>
            </a:r>
            <a:endParaRPr lang="en-US" sz="1100" dirty="0"/>
          </a:p>
        </p:txBody>
      </p:sp>
      <p:sp>
        <p:nvSpPr>
          <p:cNvPr id="10" name="Text-383"/>
          <p:cNvSpPr txBox="1"/>
          <p:nvPr/>
        </p:nvSpPr>
        <p:spPr>
          <a:xfrm>
            <a:off x="2423160" y="5760720"/>
            <a:ext cx="4572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−48 / +496 / +1.499 / +3.178 / +5.134 T€</a:t>
            </a:r>
            <a:endParaRPr lang="en-US" sz="1100" dirty="0"/>
          </a:p>
        </p:txBody>
      </p:sp>
      <p:sp>
        <p:nvSpPr>
          <p:cNvPr id="11" name="Card-384"/>
          <p:cNvSpPr/>
          <p:nvPr/>
        </p:nvSpPr>
        <p:spPr>
          <a:xfrm>
            <a:off x="7223760" y="1463040"/>
            <a:ext cx="4419295" cy="4526280"/>
          </a:xfrm>
          <a:prstGeom prst="roundRect">
            <a:avLst>
              <a:gd name="adj" fmla="val 2483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-385"/>
          <p:cNvSpPr txBox="1"/>
          <p:nvPr/>
        </p:nvSpPr>
        <p:spPr>
          <a:xfrm>
            <a:off x="7452360" y="160020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Kasse je Szenario (T€)</a:t>
            </a:r>
            <a:endParaRPr lang="en-US" sz="1500" dirty="0"/>
          </a:p>
        </p:txBody>
      </p:sp>
      <p:sp>
        <p:nvSpPr>
          <p:cNvPr id="13" name="Text-386"/>
          <p:cNvSpPr txBox="1"/>
          <p:nvPr/>
        </p:nvSpPr>
        <p:spPr>
          <a:xfrm>
            <a:off x="8778240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000" dirty="0"/>
          </a:p>
        </p:txBody>
      </p:sp>
      <p:sp>
        <p:nvSpPr>
          <p:cNvPr id="14" name="Text-387"/>
          <p:cNvSpPr txBox="1"/>
          <p:nvPr/>
        </p:nvSpPr>
        <p:spPr>
          <a:xfrm>
            <a:off x="9437294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</a:t>
            </a:r>
            <a:endParaRPr lang="en-US" sz="1000" dirty="0"/>
          </a:p>
        </p:txBody>
      </p:sp>
      <p:sp>
        <p:nvSpPr>
          <p:cNvPr id="15" name="Text-388"/>
          <p:cNvSpPr txBox="1"/>
          <p:nvPr/>
        </p:nvSpPr>
        <p:spPr>
          <a:xfrm>
            <a:off x="10096348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</a:t>
            </a:r>
            <a:endParaRPr lang="en-US" sz="1000" dirty="0"/>
          </a:p>
        </p:txBody>
      </p:sp>
      <p:sp>
        <p:nvSpPr>
          <p:cNvPr id="16" name="Text-389"/>
          <p:cNvSpPr txBox="1"/>
          <p:nvPr/>
        </p:nvSpPr>
        <p:spPr>
          <a:xfrm>
            <a:off x="10755401" y="2011680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M24</a:t>
            </a:r>
            <a:endParaRPr lang="en-US" sz="1000" dirty="0"/>
          </a:p>
        </p:txBody>
      </p:sp>
      <p:sp>
        <p:nvSpPr>
          <p:cNvPr id="17" name="Rule-390"/>
          <p:cNvSpPr/>
          <p:nvPr/>
        </p:nvSpPr>
        <p:spPr>
          <a:xfrm>
            <a:off x="7452360" y="2340864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18" name="Text-391"/>
          <p:cNvSpPr txBox="1"/>
          <p:nvPr/>
        </p:nvSpPr>
        <p:spPr>
          <a:xfrm>
            <a:off x="7452360" y="23408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Umsatz</a:t>
            </a:r>
            <a:endParaRPr lang="en-US" sz="1100" dirty="0"/>
          </a:p>
        </p:txBody>
      </p:sp>
      <p:sp>
        <p:nvSpPr>
          <p:cNvPr id="19" name="Text-392"/>
          <p:cNvSpPr txBox="1"/>
          <p:nvPr/>
        </p:nvSpPr>
        <p:spPr>
          <a:xfrm>
            <a:off x="8778240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1100" dirty="0"/>
          </a:p>
        </p:txBody>
      </p:sp>
      <p:sp>
        <p:nvSpPr>
          <p:cNvPr id="20" name="Text-393"/>
          <p:cNvSpPr txBox="1"/>
          <p:nvPr/>
        </p:nvSpPr>
        <p:spPr>
          <a:xfrm>
            <a:off x="9437294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100" dirty="0"/>
          </a:p>
        </p:txBody>
      </p:sp>
      <p:sp>
        <p:nvSpPr>
          <p:cNvPr id="21" name="Text-394"/>
          <p:cNvSpPr txBox="1"/>
          <p:nvPr/>
        </p:nvSpPr>
        <p:spPr>
          <a:xfrm>
            <a:off x="10096348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-395"/>
          <p:cNvSpPr txBox="1"/>
          <p:nvPr/>
        </p:nvSpPr>
        <p:spPr>
          <a:xfrm>
            <a:off x="10755401" y="2340864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</a:t>
            </a:r>
            <a:endParaRPr lang="en-US" sz="1100" dirty="0"/>
          </a:p>
        </p:txBody>
      </p:sp>
      <p:sp>
        <p:nvSpPr>
          <p:cNvPr id="23" name="Rule-396"/>
          <p:cNvSpPr/>
          <p:nvPr/>
        </p:nvSpPr>
        <p:spPr>
          <a:xfrm>
            <a:off x="7452360" y="2670048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4" name="Text-397"/>
          <p:cNvSpPr txBox="1"/>
          <p:nvPr/>
        </p:nvSpPr>
        <p:spPr>
          <a:xfrm>
            <a:off x="7452360" y="26700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Konservativ</a:t>
            </a:r>
            <a:endParaRPr lang="en-US" sz="1100" dirty="0"/>
          </a:p>
        </p:txBody>
      </p:sp>
      <p:sp>
        <p:nvSpPr>
          <p:cNvPr id="25" name="Text-398"/>
          <p:cNvSpPr txBox="1"/>
          <p:nvPr/>
        </p:nvSpPr>
        <p:spPr>
          <a:xfrm>
            <a:off x="8778240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1100" dirty="0"/>
          </a:p>
        </p:txBody>
      </p:sp>
      <p:sp>
        <p:nvSpPr>
          <p:cNvPr id="26" name="Text-399"/>
          <p:cNvSpPr txBox="1"/>
          <p:nvPr/>
        </p:nvSpPr>
        <p:spPr>
          <a:xfrm>
            <a:off x="9437294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1100" dirty="0"/>
          </a:p>
        </p:txBody>
      </p:sp>
      <p:sp>
        <p:nvSpPr>
          <p:cNvPr id="27" name="Text-400"/>
          <p:cNvSpPr txBox="1"/>
          <p:nvPr/>
        </p:nvSpPr>
        <p:spPr>
          <a:xfrm>
            <a:off x="10096348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100" dirty="0"/>
          </a:p>
        </p:txBody>
      </p:sp>
      <p:sp>
        <p:nvSpPr>
          <p:cNvPr id="28" name="Text-401"/>
          <p:cNvSpPr txBox="1"/>
          <p:nvPr/>
        </p:nvSpPr>
        <p:spPr>
          <a:xfrm>
            <a:off x="10755401" y="2670048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100" dirty="0"/>
          </a:p>
        </p:txBody>
      </p:sp>
      <p:sp>
        <p:nvSpPr>
          <p:cNvPr id="29" name="Rule-402"/>
          <p:cNvSpPr/>
          <p:nvPr/>
        </p:nvSpPr>
        <p:spPr>
          <a:xfrm>
            <a:off x="7452360" y="2999232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0" name="Text-403"/>
          <p:cNvSpPr txBox="1"/>
          <p:nvPr/>
        </p:nvSpPr>
        <p:spPr>
          <a:xfrm>
            <a:off x="7452360" y="299923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</a:t>
            </a:r>
            <a:endParaRPr lang="en-US" sz="1100" dirty="0"/>
          </a:p>
        </p:txBody>
      </p:sp>
      <p:sp>
        <p:nvSpPr>
          <p:cNvPr id="31" name="Text-404"/>
          <p:cNvSpPr txBox="1"/>
          <p:nvPr/>
        </p:nvSpPr>
        <p:spPr>
          <a:xfrm>
            <a:off x="8778240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</a:t>
            </a:r>
            <a:endParaRPr lang="en-US" sz="1100" dirty="0"/>
          </a:p>
        </p:txBody>
      </p:sp>
      <p:sp>
        <p:nvSpPr>
          <p:cNvPr id="32" name="Text-405"/>
          <p:cNvSpPr txBox="1"/>
          <p:nvPr/>
        </p:nvSpPr>
        <p:spPr>
          <a:xfrm>
            <a:off x="9437294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1100" dirty="0"/>
          </a:p>
        </p:txBody>
      </p:sp>
      <p:sp>
        <p:nvSpPr>
          <p:cNvPr id="33" name="Text-406"/>
          <p:cNvSpPr txBox="1"/>
          <p:nvPr/>
        </p:nvSpPr>
        <p:spPr>
          <a:xfrm>
            <a:off x="10096348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1100" dirty="0"/>
          </a:p>
        </p:txBody>
      </p:sp>
      <p:sp>
        <p:nvSpPr>
          <p:cNvPr id="34" name="Text-407"/>
          <p:cNvSpPr txBox="1"/>
          <p:nvPr/>
        </p:nvSpPr>
        <p:spPr>
          <a:xfrm>
            <a:off x="10755401" y="2999232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</a:t>
            </a:r>
            <a:endParaRPr lang="en-US" sz="1100" dirty="0"/>
          </a:p>
        </p:txBody>
      </p:sp>
      <p:sp>
        <p:nvSpPr>
          <p:cNvPr id="35" name="Rule-408"/>
          <p:cNvSpPr/>
          <p:nvPr/>
        </p:nvSpPr>
        <p:spPr>
          <a:xfrm>
            <a:off x="7452360" y="3328416"/>
            <a:ext cx="3962095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6" name="Text-409"/>
          <p:cNvSpPr txBox="1"/>
          <p:nvPr/>
        </p:nvSpPr>
        <p:spPr>
          <a:xfrm>
            <a:off x="7452360" y="3328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Optimistisch</a:t>
            </a:r>
            <a:endParaRPr lang="en-US" sz="1100" dirty="0"/>
          </a:p>
        </p:txBody>
      </p:sp>
      <p:sp>
        <p:nvSpPr>
          <p:cNvPr id="37" name="Text-410"/>
          <p:cNvSpPr txBox="1"/>
          <p:nvPr/>
        </p:nvSpPr>
        <p:spPr>
          <a:xfrm>
            <a:off x="8778240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</a:t>
            </a:r>
            <a:endParaRPr lang="en-US" sz="1100" dirty="0"/>
          </a:p>
        </p:txBody>
      </p:sp>
      <p:sp>
        <p:nvSpPr>
          <p:cNvPr id="38" name="Text-411"/>
          <p:cNvSpPr txBox="1"/>
          <p:nvPr/>
        </p:nvSpPr>
        <p:spPr>
          <a:xfrm>
            <a:off x="9437294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1100" dirty="0"/>
          </a:p>
        </p:txBody>
      </p:sp>
      <p:sp>
        <p:nvSpPr>
          <p:cNvPr id="39" name="Text-412"/>
          <p:cNvSpPr txBox="1"/>
          <p:nvPr/>
        </p:nvSpPr>
        <p:spPr>
          <a:xfrm>
            <a:off x="10096348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endParaRPr lang="en-US" sz="1100" dirty="0"/>
          </a:p>
        </p:txBody>
      </p:sp>
      <p:sp>
        <p:nvSpPr>
          <p:cNvPr id="40" name="Text-413"/>
          <p:cNvSpPr txBox="1"/>
          <p:nvPr/>
        </p:nvSpPr>
        <p:spPr>
          <a:xfrm>
            <a:off x="10755401" y="3328416"/>
            <a:ext cx="6590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698</a:t>
            </a:r>
            <a:endParaRPr lang="en-US" sz="1100" dirty="0"/>
          </a:p>
        </p:txBody>
      </p:sp>
      <p:sp>
        <p:nvSpPr>
          <p:cNvPr id="41" name="Text-414"/>
          <p:cNvSpPr txBox="1"/>
          <p:nvPr/>
        </p:nvSpPr>
        <p:spPr>
          <a:xfrm>
            <a:off x="7452360" y="3703320"/>
            <a:ext cx="396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Folgerunde. Break-even: Basis M22, optimistisch M10.</a:t>
            </a:r>
            <a:endParaRPr lang="en-US" sz="900" dirty="0"/>
          </a:p>
        </p:txBody>
      </p:sp>
      <p:sp>
        <p:nvSpPr>
          <p:cNvPr id="42" name="Text-415"/>
          <p:cNvSpPr txBox="1"/>
          <p:nvPr/>
        </p:nvSpPr>
        <p:spPr>
          <a:xfrm>
            <a:off x="7452360" y="4069080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Monate</a:t>
            </a:r>
            <a:endParaRPr lang="en-US" sz="2400" dirty="0"/>
          </a:p>
        </p:txBody>
      </p:sp>
      <p:sp>
        <p:nvSpPr>
          <p:cNvPr id="43" name="Text-416"/>
          <p:cNvSpPr txBox="1"/>
          <p:nvPr/>
        </p:nvSpPr>
        <p:spPr>
          <a:xfrm>
            <a:off x="7452360" y="4489704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Runway auch ganz ohne Umsatz (konservativ: 22)</a:t>
            </a:r>
            <a:endParaRPr lang="en-US" sz="1100" dirty="0"/>
          </a:p>
        </p:txBody>
      </p:sp>
      <p:sp>
        <p:nvSpPr>
          <p:cNvPr id="44" name="Text-417"/>
          <p:cNvSpPr txBox="1"/>
          <p:nvPr/>
        </p:nvSpPr>
        <p:spPr>
          <a:xfrm>
            <a:off x="7452360" y="4983480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350 T€ Seed</a:t>
            </a:r>
            <a:endParaRPr lang="en-US" sz="2400" dirty="0"/>
          </a:p>
        </p:txBody>
      </p:sp>
      <p:sp>
        <p:nvSpPr>
          <p:cNvPr id="45" name="Text-418"/>
          <p:cNvSpPr txBox="1"/>
          <p:nvPr/>
        </p:nvSpPr>
        <p:spPr>
          <a:xfrm>
            <a:off x="7452360" y="5404104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Planungsgröße, Closing bis Monat 18 nach Gate 2</a:t>
            </a:r>
            <a:endParaRPr lang="en-US" sz="1100" dirty="0"/>
          </a:p>
        </p:txBody>
      </p:sp>
      <p:sp>
        <p:nvSpPr>
          <p:cNvPr id="46" name="Text-419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LiveFX_Finanzmodell.xlsx (GuV 5 Jahre, Liquidität, Folgerunde) · Umsatz J1–J3 aus BUSINESSPLAN.md §11.1 · Szenarien, keine Prognosen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BEWERTUNG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Angebot: 2,25 Mio. € Pre-Money, 10 % für 250 T€</a:t>
            </a:r>
            <a:endParaRPr lang="en-US" sz="3200" dirty="0"/>
          </a:p>
        </p:txBody>
      </p:sp>
      <p:sp>
        <p:nvSpPr>
          <p:cNvPr id="4" name="Pill-420"/>
          <p:cNvSpPr txBox="1"/>
          <p:nvPr/>
        </p:nvSpPr>
        <p:spPr>
          <a:xfrm>
            <a:off x="6522415" y="347472"/>
            <a:ext cx="512064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VERHANDLUNGSRAHMEN – MIT STEUER-/RECHTSBERATER PRÜFEN</a:t>
            </a:r>
            <a:endParaRPr lang="en-US" sz="850" dirty="0"/>
          </a:p>
        </p:txBody>
      </p:sp>
      <p:sp>
        <p:nvSpPr>
          <p:cNvPr id="5" name="Text-421"/>
          <p:cNvSpPr txBox="1"/>
          <p:nvPr/>
        </p:nvSpPr>
        <p:spPr>
          <a:xfrm>
            <a:off x="548640" y="1463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REFERENZMETHODEN (INVESTORENSICHT) · PRE-MONEY</a:t>
            </a:r>
            <a:endParaRPr lang="en-US" sz="1100" dirty="0"/>
          </a:p>
        </p:txBody>
      </p:sp>
      <p:sp>
        <p:nvSpPr>
          <p:cNvPr id="6" name="Text-422"/>
          <p:cNvSpPr txBox="1"/>
          <p:nvPr/>
        </p:nvSpPr>
        <p:spPr>
          <a:xfrm>
            <a:off x="548640" y="181051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Berkus (2×-Variante)</a:t>
            </a:r>
            <a:endParaRPr lang="en-US" sz="1300" dirty="0"/>
          </a:p>
        </p:txBody>
      </p:sp>
      <p:sp>
        <p:nvSpPr>
          <p:cNvPr id="7" name="Track-423"/>
          <p:cNvSpPr/>
          <p:nvPr/>
        </p:nvSpPr>
        <p:spPr>
          <a:xfrm>
            <a:off x="2514600" y="1847088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8" name="Bar-424"/>
          <p:cNvSpPr/>
          <p:nvPr/>
        </p:nvSpPr>
        <p:spPr>
          <a:xfrm>
            <a:off x="2514600" y="1847088"/>
            <a:ext cx="2471166" cy="256032"/>
          </a:xfrm>
          <a:prstGeom prst="roundRect">
            <a:avLst>
              <a:gd name="adj" fmla="val 17857"/>
            </a:avLst>
          </a:prstGeom>
          <a:solidFill>
            <a:srgbClr val="2DFFB5"/>
          </a:solidFill>
          <a:ln/>
        </p:spPr>
      </p:sp>
      <p:sp>
        <p:nvSpPr>
          <p:cNvPr id="9" name="Text-425"/>
          <p:cNvSpPr txBox="1"/>
          <p:nvPr/>
        </p:nvSpPr>
        <p:spPr>
          <a:xfrm>
            <a:off x="5760720" y="18105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2,35 Mio. €</a:t>
            </a:r>
            <a:endParaRPr lang="en-US" sz="1300" dirty="0"/>
          </a:p>
        </p:txBody>
      </p:sp>
      <p:sp>
        <p:nvSpPr>
          <p:cNvPr id="10" name="Text-426"/>
          <p:cNvSpPr txBox="1"/>
          <p:nvPr/>
        </p:nvSpPr>
        <p:spPr>
          <a:xfrm>
            <a:off x="548640" y="21488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Faktoren bis je 1 Mio. €: Produkt 0,8, Idee 0,7, Team 0,5, Beziehungen 0,25, Umsatz 0,1</a:t>
            </a:r>
            <a:endParaRPr lang="en-US" sz="900" dirty="0"/>
          </a:p>
        </p:txBody>
      </p:sp>
      <p:sp>
        <p:nvSpPr>
          <p:cNvPr id="11" name="Text-427"/>
          <p:cNvSpPr txBox="1"/>
          <p:nvPr/>
        </p:nvSpPr>
        <p:spPr>
          <a:xfrm>
            <a:off x="548640" y="252374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</a:t>
            </a:r>
            <a:endParaRPr lang="en-US" sz="1300" dirty="0"/>
          </a:p>
        </p:txBody>
      </p:sp>
      <p:sp>
        <p:nvSpPr>
          <p:cNvPr id="12" name="Track-428"/>
          <p:cNvSpPr/>
          <p:nvPr/>
        </p:nvSpPr>
        <p:spPr>
          <a:xfrm>
            <a:off x="2514600" y="2560320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13" name="Bar-429"/>
          <p:cNvSpPr/>
          <p:nvPr/>
        </p:nvSpPr>
        <p:spPr>
          <a:xfrm>
            <a:off x="2514600" y="2560320"/>
            <a:ext cx="3102102" cy="256032"/>
          </a:xfrm>
          <a:prstGeom prst="roundRect">
            <a:avLst>
              <a:gd name="adj" fmla="val 17857"/>
            </a:avLst>
          </a:prstGeom>
          <a:solidFill>
            <a:srgbClr val="FFD166"/>
          </a:solidFill>
          <a:ln/>
        </p:spPr>
      </p:sp>
      <p:sp>
        <p:nvSpPr>
          <p:cNvPr id="14" name="Text-430"/>
          <p:cNvSpPr txBox="1"/>
          <p:nvPr/>
        </p:nvSpPr>
        <p:spPr>
          <a:xfrm>
            <a:off x="5760720" y="25237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2,95 Mio. €</a:t>
            </a:r>
            <a:endParaRPr lang="en-US" sz="1300" dirty="0"/>
          </a:p>
        </p:txBody>
      </p:sp>
      <p:sp>
        <p:nvSpPr>
          <p:cNvPr id="15" name="Text-431"/>
          <p:cNvSpPr txBox="1"/>
          <p:nvPr/>
        </p:nvSpPr>
        <p:spPr>
          <a:xfrm>
            <a:off x="548640" y="286207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 2,5 Mio. € (unterer Teil der DACH-Spanne 1,5–5 Mio. €, unter EU-Median ~4,2 Mio. €) × 1,18</a:t>
            </a:r>
            <a:endParaRPr lang="en-US" sz="900" dirty="0"/>
          </a:p>
        </p:txBody>
      </p:sp>
      <p:sp>
        <p:nvSpPr>
          <p:cNvPr id="16" name="Text-432"/>
          <p:cNvSpPr txBox="1"/>
          <p:nvPr/>
        </p:nvSpPr>
        <p:spPr>
          <a:xfrm>
            <a:off x="548640" y="3236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VC-Methode (Upside)</a:t>
            </a:r>
            <a:endParaRPr lang="en-US" sz="1300" dirty="0"/>
          </a:p>
        </p:txBody>
      </p:sp>
      <p:sp>
        <p:nvSpPr>
          <p:cNvPr id="17" name="Track-433"/>
          <p:cNvSpPr/>
          <p:nvPr/>
        </p:nvSpPr>
        <p:spPr>
          <a:xfrm>
            <a:off x="2514600" y="3273552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18" name="Bar-434"/>
          <p:cNvSpPr/>
          <p:nvPr/>
        </p:nvSpPr>
        <p:spPr>
          <a:xfrm>
            <a:off x="2514600" y="3273552"/>
            <a:ext cx="2555291" cy="256032"/>
          </a:xfrm>
          <a:prstGeom prst="roundRect">
            <a:avLst>
              <a:gd name="adj" fmla="val 17857"/>
            </a:avLst>
          </a:prstGeom>
          <a:solidFill>
            <a:srgbClr val="6CC4FF"/>
          </a:solidFill>
          <a:ln/>
        </p:spPr>
      </p:sp>
      <p:sp>
        <p:nvSpPr>
          <p:cNvPr id="19" name="Text-435"/>
          <p:cNvSpPr txBox="1"/>
          <p:nvPr/>
        </p:nvSpPr>
        <p:spPr>
          <a:xfrm>
            <a:off x="5760720" y="323697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2,43 Mio. €</a:t>
            </a:r>
            <a:endParaRPr lang="en-US" sz="1300" dirty="0"/>
          </a:p>
        </p:txBody>
      </p:sp>
      <p:sp>
        <p:nvSpPr>
          <p:cNvPr id="20" name="Text-436"/>
          <p:cNvSpPr txBox="1"/>
          <p:nvPr/>
        </p:nvSpPr>
        <p:spPr>
          <a:xfrm>
            <a:off x="548640" y="357530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Umsatz J5 7,44 Mio. € (optimistisch) × 6 = 44,7 Mio. € Exit; 10× Rendite, 40 % Verwässerung</a:t>
            </a:r>
            <a:endParaRPr lang="en-US" sz="900" dirty="0"/>
          </a:p>
        </p:txBody>
      </p:sp>
      <p:sp>
        <p:nvSpPr>
          <p:cNvPr id="21" name="Text-437"/>
          <p:cNvSpPr txBox="1"/>
          <p:nvPr/>
        </p:nvSpPr>
        <p:spPr>
          <a:xfrm>
            <a:off x="54864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 Summ.</a:t>
            </a:r>
            <a:endParaRPr lang="en-US" sz="1300" dirty="0"/>
          </a:p>
        </p:txBody>
      </p:sp>
      <p:sp>
        <p:nvSpPr>
          <p:cNvPr id="22" name="Track-438"/>
          <p:cNvSpPr/>
          <p:nvPr/>
        </p:nvSpPr>
        <p:spPr>
          <a:xfrm>
            <a:off x="2514600" y="3986784"/>
            <a:ext cx="3154680" cy="256032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23" name="Bar-439"/>
          <p:cNvSpPr/>
          <p:nvPr/>
        </p:nvSpPr>
        <p:spPr>
          <a:xfrm>
            <a:off x="2514600" y="3986784"/>
            <a:ext cx="3154680" cy="256032"/>
          </a:xfrm>
          <a:prstGeom prst="roundRect">
            <a:avLst>
              <a:gd name="adj" fmla="val 17857"/>
            </a:avLst>
          </a:prstGeom>
          <a:solidFill>
            <a:srgbClr val="FF2D75"/>
          </a:solidFill>
          <a:ln/>
        </p:spPr>
      </p:sp>
      <p:sp>
        <p:nvSpPr>
          <p:cNvPr id="24" name="Text-440"/>
          <p:cNvSpPr txBox="1"/>
          <p:nvPr/>
        </p:nvSpPr>
        <p:spPr>
          <a:xfrm>
            <a:off x="5760720" y="39502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 Mio. €</a:t>
            </a:r>
            <a:endParaRPr lang="en-US" sz="1300" dirty="0"/>
          </a:p>
        </p:txBody>
      </p:sp>
      <p:sp>
        <p:nvSpPr>
          <p:cNvPr id="25" name="Text-441"/>
          <p:cNvSpPr txBox="1"/>
          <p:nvPr/>
        </p:nvSpPr>
        <p:spPr>
          <a:xfrm>
            <a:off x="548640" y="42885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2,5 Mio. € + 2 × 250 T€ aus zwölf bewerteten Risiken</a:t>
            </a:r>
            <a:endParaRPr lang="en-US" sz="900" dirty="0"/>
          </a:p>
        </p:txBody>
      </p:sp>
      <p:sp>
        <p:nvSpPr>
          <p:cNvPr id="26" name="Offer-line"/>
          <p:cNvSpPr/>
          <p:nvPr/>
        </p:nvSpPr>
        <p:spPr>
          <a:xfrm>
            <a:off x="4880610" y="1737360"/>
            <a:ext cx="0" cy="2834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dash"/>
          </a:ln>
        </p:spPr>
      </p:sp>
      <p:sp>
        <p:nvSpPr>
          <p:cNvPr id="27" name="Text-442"/>
          <p:cNvSpPr txBox="1"/>
          <p:nvPr/>
        </p:nvSpPr>
        <p:spPr>
          <a:xfrm>
            <a:off x="3417570" y="45537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 2,25 Mio. € – unter jeder Methode</a:t>
            </a:r>
            <a:endParaRPr lang="en-US" sz="1000" dirty="0"/>
          </a:p>
        </p:txBody>
      </p:sp>
      <p:sp>
        <p:nvSpPr>
          <p:cNvPr id="28" name="Text-443"/>
          <p:cNvSpPr txBox="1"/>
          <p:nvPr/>
        </p:nvSpPr>
        <p:spPr>
          <a:xfrm>
            <a:off x="548640" y="48463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2,25 Mio. €</a:t>
            </a:r>
            <a:endParaRPr lang="en-US" sz="1200" dirty="0"/>
          </a:p>
        </p:txBody>
      </p:sp>
      <p:sp>
        <p:nvSpPr>
          <p:cNvPr id="29" name="Text-444"/>
          <p:cNvSpPr txBox="1"/>
          <p:nvPr/>
        </p:nvSpPr>
        <p:spPr>
          <a:xfrm>
            <a:off x="548640" y="513892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Funktionsfähiges Produkt v2.1, 575+ autom. Tests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Eigenes IP: 238 Trigger, 143 Sticker, Matcher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DE/TR/EN inkl. türkischer Nische</a:t>
            </a:r>
            <a:endParaRPr lang="en-US" sz="1000" dirty="0"/>
          </a:p>
        </p:txBody>
      </p:sp>
      <p:sp>
        <p:nvSpPr>
          <p:cNvPr id="30" name="Text-445"/>
          <p:cNvSpPr txBox="1"/>
          <p:nvPr/>
        </p:nvSpPr>
        <p:spPr>
          <a:xfrm>
            <a:off x="3886200" y="513892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Vision-Optionen A–D auf einer Engine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97–157 Mrd. USD; SAM 1–3 Mio. Creator</a:t>
            </a:r>
            <a:endParaRPr lang="en-US" sz="10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v2.1 ohne externes Kapital gebaut</a:t>
            </a:r>
            <a:endParaRPr lang="en-US" sz="1000" dirty="0"/>
          </a:p>
        </p:txBody>
      </p:sp>
      <p:sp>
        <p:nvSpPr>
          <p:cNvPr id="31" name="Card-446"/>
          <p:cNvSpPr/>
          <p:nvPr/>
        </p:nvSpPr>
        <p:spPr>
          <a:xfrm>
            <a:off x="7452360" y="1463040"/>
            <a:ext cx="4190695" cy="27432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32" name="Text-447"/>
          <p:cNvSpPr txBox="1"/>
          <p:nvPr/>
        </p:nvSpPr>
        <p:spPr>
          <a:xfrm>
            <a:off x="7680960" y="1600200"/>
            <a:ext cx="3733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 DER GRÜNDER (PRICED ROUND)</a:t>
            </a:r>
            <a:endParaRPr lang="en-US" sz="1200" dirty="0"/>
          </a:p>
        </p:txBody>
      </p:sp>
      <p:sp>
        <p:nvSpPr>
          <p:cNvPr id="33" name="Text-448"/>
          <p:cNvSpPr txBox="1"/>
          <p:nvPr/>
        </p:nvSpPr>
        <p:spPr>
          <a:xfrm>
            <a:off x="7680960" y="1938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2,25 Mio. €</a:t>
            </a:r>
            <a:endParaRPr lang="en-US" sz="2200" dirty="0"/>
          </a:p>
        </p:txBody>
      </p:sp>
      <p:sp>
        <p:nvSpPr>
          <p:cNvPr id="34" name="Text-449"/>
          <p:cNvSpPr txBox="1"/>
          <p:nvPr/>
        </p:nvSpPr>
        <p:spPr>
          <a:xfrm>
            <a:off x="10058400" y="1938528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Pre-Money</a:t>
            </a:r>
            <a:endParaRPr lang="en-US" sz="1200" dirty="0"/>
          </a:p>
        </p:txBody>
      </p:sp>
      <p:sp>
        <p:nvSpPr>
          <p:cNvPr id="35" name="Text-450"/>
          <p:cNvSpPr txBox="1"/>
          <p:nvPr/>
        </p:nvSpPr>
        <p:spPr>
          <a:xfrm>
            <a:off x="7680960" y="26517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 Mio. €</a:t>
            </a:r>
            <a:endParaRPr lang="en-US" sz="2200" dirty="0"/>
          </a:p>
        </p:txBody>
      </p:sp>
      <p:sp>
        <p:nvSpPr>
          <p:cNvPr id="36" name="Text-451"/>
          <p:cNvSpPr txBox="1"/>
          <p:nvPr/>
        </p:nvSpPr>
        <p:spPr>
          <a:xfrm>
            <a:off x="10058400" y="2651760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Post-Money</a:t>
            </a:r>
            <a:endParaRPr lang="en-US" sz="1200" dirty="0"/>
          </a:p>
        </p:txBody>
      </p:sp>
      <p:sp>
        <p:nvSpPr>
          <p:cNvPr id="37" name="Text-452"/>
          <p:cNvSpPr txBox="1"/>
          <p:nvPr/>
        </p:nvSpPr>
        <p:spPr>
          <a:xfrm>
            <a:off x="7680960" y="33649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</a:t>
            </a:r>
            <a:endParaRPr lang="en-US" sz="3000" dirty="0"/>
          </a:p>
        </p:txBody>
      </p:sp>
      <p:sp>
        <p:nvSpPr>
          <p:cNvPr id="38" name="Text-453"/>
          <p:cNvSpPr txBox="1"/>
          <p:nvPr/>
        </p:nvSpPr>
        <p:spPr>
          <a:xfrm>
            <a:off x="10058400" y="3364992"/>
            <a:ext cx="1356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Investor:innen · Gründer 90 %</a:t>
            </a:r>
            <a:endParaRPr lang="en-US" sz="1200" dirty="0"/>
          </a:p>
        </p:txBody>
      </p:sp>
      <p:sp>
        <p:nvSpPr>
          <p:cNvPr id="39" name="Card-454"/>
          <p:cNvSpPr/>
          <p:nvPr/>
        </p:nvSpPr>
        <p:spPr>
          <a:xfrm>
            <a:off x="7452360" y="4343400"/>
            <a:ext cx="4190695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0" name="Text-455"/>
          <p:cNvSpPr txBox="1"/>
          <p:nvPr/>
        </p:nvSpPr>
        <p:spPr>
          <a:xfrm>
            <a:off x="7680960" y="4462272"/>
            <a:ext cx="3733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Alternative: Wandeldarlehen / SAFE</a:t>
            </a:r>
            <a:endParaRPr lang="en-US" sz="1300" dirty="0"/>
          </a:p>
        </p:txBody>
      </p:sp>
      <p:sp>
        <p:nvSpPr>
          <p:cNvPr id="41" name="Text-456"/>
          <p:cNvSpPr txBox="1"/>
          <p:nvPr/>
        </p:nvSpPr>
        <p:spPr>
          <a:xfrm>
            <a:off x="7680960" y="4791456"/>
            <a:ext cx="3733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Cap 2,25 Mio. € (= Angebot)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20 % (verhandelbar 15–20 %)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Zins; Wandlung in der Seed-Runde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Max. Anteil am Cap: 10 %</a:t>
            </a:r>
            <a:endParaRPr lang="en-US" sz="1100" dirty="0"/>
          </a:p>
        </p:txBody>
      </p:sp>
      <p:sp>
        <p:nvSpPr>
          <p:cNvPr id="42" name="Text-457"/>
          <p:cNvSpPr txBox="1"/>
          <p:nvPr/>
        </p:nvSpPr>
        <p:spPr>
          <a:xfrm>
            <a:off x="548640" y="605332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LiveFX_Finanzmodell.xlsx, Blatt Bewertung (Gründer-Sicht; valu.vc, upxcale, Capvisory, Equidam, SaaS Capital, Carta, Lexr, Vektora) · keine Anlageberatung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MEILENSTEIN-GATES – 18 MONATE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Skalieren erst, wenn die Evidenz das Gate passiert</a:t>
            </a:r>
            <a:endParaRPr lang="en-US" sz="3200" dirty="0"/>
          </a:p>
        </p:txBody>
      </p:sp>
      <p:sp>
        <p:nvSpPr>
          <p:cNvPr id="4" name="Card-458"/>
          <p:cNvSpPr/>
          <p:nvPr/>
        </p:nvSpPr>
        <p:spPr>
          <a:xfrm>
            <a:off x="548640" y="2697480"/>
            <a:ext cx="2636444" cy="2971800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-459"/>
          <p:cNvSpPr txBox="1"/>
          <p:nvPr/>
        </p:nvSpPr>
        <p:spPr>
          <a:xfrm>
            <a:off x="731520" y="28620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2400" dirty="0"/>
          </a:p>
        </p:txBody>
      </p:sp>
      <p:sp>
        <p:nvSpPr>
          <p:cNvPr id="6" name="Text-460"/>
          <p:cNvSpPr txBox="1"/>
          <p:nvPr/>
        </p:nvSpPr>
        <p:spPr>
          <a:xfrm>
            <a:off x="731520" y="3300984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3</a:t>
            </a:r>
            <a:endParaRPr lang="en-US" sz="1000" dirty="0"/>
          </a:p>
        </p:txBody>
      </p:sp>
      <p:sp>
        <p:nvSpPr>
          <p:cNvPr id="7" name="Text-461"/>
          <p:cNvSpPr txBox="1"/>
          <p:nvPr/>
        </p:nvSpPr>
        <p:spPr>
          <a:xfrm>
            <a:off x="731520" y="3566160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900" dirty="0"/>
          </a:p>
        </p:txBody>
      </p:sp>
      <p:sp>
        <p:nvSpPr>
          <p:cNvPr id="8" name="Text-462"/>
          <p:cNvSpPr txBox="1"/>
          <p:nvPr/>
        </p:nvSpPr>
        <p:spPr>
          <a:xfrm>
            <a:off x="731520" y="4023360"/>
            <a:ext cx="22706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Pro-Abo live (Zahlung)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Mobile-/Web-Entwickler:in an Bord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Gibt Markteintritt Phase 2 frei</a:t>
            </a:r>
            <a:endParaRPr lang="en-US" sz="1200" dirty="0"/>
          </a:p>
        </p:txBody>
      </p:sp>
      <p:sp>
        <p:nvSpPr>
          <p:cNvPr id="9" name="Card-463"/>
          <p:cNvSpPr/>
          <p:nvPr/>
        </p:nvSpPr>
        <p:spPr>
          <a:xfrm>
            <a:off x="3367964" y="2404872"/>
            <a:ext cx="2636444" cy="3264408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Text-464"/>
          <p:cNvSpPr txBox="1"/>
          <p:nvPr/>
        </p:nvSpPr>
        <p:spPr>
          <a:xfrm>
            <a:off x="3550844" y="256946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2400" dirty="0"/>
          </a:p>
        </p:txBody>
      </p:sp>
      <p:sp>
        <p:nvSpPr>
          <p:cNvPr id="11" name="Text-465"/>
          <p:cNvSpPr txBox="1"/>
          <p:nvPr/>
        </p:nvSpPr>
        <p:spPr>
          <a:xfrm>
            <a:off x="3550844" y="3008376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6</a:t>
            </a:r>
            <a:endParaRPr lang="en-US" sz="1000" dirty="0"/>
          </a:p>
        </p:txBody>
      </p:sp>
      <p:sp>
        <p:nvSpPr>
          <p:cNvPr id="12" name="Text-466"/>
          <p:cNvSpPr txBox="1"/>
          <p:nvPr/>
        </p:nvSpPr>
        <p:spPr>
          <a:xfrm>
            <a:off x="3550844" y="3273552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Aktivierung</a:t>
            </a:r>
            <a:endParaRPr lang="en-US" sz="1900" dirty="0"/>
          </a:p>
        </p:txBody>
      </p:sp>
      <p:sp>
        <p:nvSpPr>
          <p:cNvPr id="13" name="Text-467"/>
          <p:cNvSpPr txBox="1"/>
          <p:nvPr/>
        </p:nvSpPr>
        <p:spPr>
          <a:xfrm>
            <a:off x="3550844" y="3730752"/>
            <a:ext cx="227068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Registrierte (Schwelle 4.000)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zahlende Pro (120)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Beta-Creator, WortBild 300 Wörter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Woche-4-Retention ≥ 30 %</a:t>
            </a:r>
            <a:endParaRPr lang="en-US" sz="1200" dirty="0"/>
          </a:p>
        </p:txBody>
      </p:sp>
      <p:sp>
        <p:nvSpPr>
          <p:cNvPr id="14" name="Card-468"/>
          <p:cNvSpPr/>
          <p:nvPr/>
        </p:nvSpPr>
        <p:spPr>
          <a:xfrm>
            <a:off x="6187288" y="2112264"/>
            <a:ext cx="2636444" cy="3557016"/>
          </a:xfrm>
          <a:prstGeom prst="roundRect">
            <a:avLst>
              <a:gd name="adj" fmla="val 416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69"/>
          <p:cNvSpPr txBox="1"/>
          <p:nvPr/>
        </p:nvSpPr>
        <p:spPr>
          <a:xfrm>
            <a:off x="6370168" y="227685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G2a</a:t>
            </a:r>
            <a:endParaRPr lang="en-US" sz="2400" dirty="0"/>
          </a:p>
        </p:txBody>
      </p:sp>
      <p:sp>
        <p:nvSpPr>
          <p:cNvPr id="16" name="Text-470"/>
          <p:cNvSpPr txBox="1"/>
          <p:nvPr/>
        </p:nvSpPr>
        <p:spPr>
          <a:xfrm>
            <a:off x="6370168" y="2715768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12</a:t>
            </a:r>
            <a:endParaRPr lang="en-US" sz="1000" dirty="0"/>
          </a:p>
        </p:txBody>
      </p:sp>
      <p:sp>
        <p:nvSpPr>
          <p:cNvPr id="17" name="Text-471"/>
          <p:cNvSpPr txBox="1"/>
          <p:nvPr/>
        </p:nvSpPr>
        <p:spPr>
          <a:xfrm>
            <a:off x="6370168" y="2980944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Traktion</a:t>
            </a:r>
            <a:endParaRPr lang="en-US" sz="1900" dirty="0"/>
          </a:p>
        </p:txBody>
      </p:sp>
      <p:sp>
        <p:nvSpPr>
          <p:cNvPr id="18" name="Text-472"/>
          <p:cNvSpPr txBox="1"/>
          <p:nvPr/>
        </p:nvSpPr>
        <p:spPr>
          <a:xfrm>
            <a:off x="6370168" y="3438144"/>
            <a:ext cx="227068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20.000 Registrierte (8.000)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zahlende Pro (240)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8.073 € (2.500 €)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Plattform- oder Bildungspilot</a:t>
            </a:r>
            <a:endParaRPr lang="en-US" sz="1200" dirty="0"/>
          </a:p>
        </p:txBody>
      </p:sp>
      <p:sp>
        <p:nvSpPr>
          <p:cNvPr id="19" name="Card-473"/>
          <p:cNvSpPr/>
          <p:nvPr/>
        </p:nvSpPr>
        <p:spPr>
          <a:xfrm>
            <a:off x="9006611" y="1819656"/>
            <a:ext cx="2636444" cy="3849624"/>
          </a:xfrm>
          <a:prstGeom prst="roundRect">
            <a:avLst>
              <a:gd name="adj" fmla="val 4162"/>
            </a:avLst>
          </a:prstGeom>
          <a:solidFill>
            <a:schemeClr val="accent6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20" name="Text-474"/>
          <p:cNvSpPr txBox="1"/>
          <p:nvPr/>
        </p:nvSpPr>
        <p:spPr>
          <a:xfrm>
            <a:off x="9189491" y="19842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2400" dirty="0"/>
          </a:p>
        </p:txBody>
      </p:sp>
      <p:sp>
        <p:nvSpPr>
          <p:cNvPr id="21" name="Text-475"/>
          <p:cNvSpPr txBox="1"/>
          <p:nvPr/>
        </p:nvSpPr>
        <p:spPr>
          <a:xfrm>
            <a:off x="9189491" y="2423160"/>
            <a:ext cx="2270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18</a:t>
            </a:r>
            <a:endParaRPr lang="en-US" sz="1000" dirty="0"/>
          </a:p>
        </p:txBody>
      </p:sp>
      <p:sp>
        <p:nvSpPr>
          <p:cNvPr id="22" name="Text-476"/>
          <p:cNvSpPr txBox="1"/>
          <p:nvPr/>
        </p:nvSpPr>
        <p:spPr>
          <a:xfrm>
            <a:off x="9189491" y="2688336"/>
            <a:ext cx="22706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Folgerunde</a:t>
            </a:r>
            <a:endParaRPr lang="en-US" sz="1900" dirty="0"/>
          </a:p>
        </p:txBody>
      </p:sp>
      <p:sp>
        <p:nvSpPr>
          <p:cNvPr id="23" name="Text-477"/>
          <p:cNvSpPr txBox="1"/>
          <p:nvPr/>
        </p:nvSpPr>
        <p:spPr>
          <a:xfrm>
            <a:off x="9189491" y="3145536"/>
            <a:ext cx="227068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50.000 Registrierte (19.000)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2.000 zahlende Pro (570)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22.586 € (6.495 €)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M3-Retention ≥ 75 %, ≥ 5 zahlende Schulen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Seed-Runde ≈ 350 T€</a:t>
            </a:r>
            <a:endParaRPr lang="en-US" sz="1200" dirty="0"/>
          </a:p>
        </p:txBody>
      </p:sp>
      <p:sp>
        <p:nvSpPr>
          <p:cNvPr id="24" name="Pill-478"/>
          <p:cNvSpPr txBox="1"/>
          <p:nvPr/>
        </p:nvSpPr>
        <p:spPr>
          <a:xfrm>
            <a:off x="7253935" y="347472"/>
            <a:ext cx="438912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5875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VORSCHLAG – MIT INVESTOR:INNEN ABSTIMMEN</a:t>
            </a:r>
            <a:endParaRPr lang="en-US" sz="850" dirty="0"/>
          </a:p>
        </p:txBody>
      </p:sp>
      <p:sp>
        <p:nvSpPr>
          <p:cNvPr id="25" name="Text-479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= Basisszenario, (Schwelle) = konservativ; Status aller Gates: Ziel (nicht erreicht). Quelle: LiveFX_Finanzmodell.xlsx, Blatt Gates 18M.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LIVEFX / TEAM &amp; RUNDE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Menschen hinter LiveFX</a:t>
            </a:r>
            <a:endParaRPr lang="en-US" sz="3200" dirty="0"/>
          </a:p>
        </p:txBody>
      </p:sp>
      <p:sp>
        <p:nvSpPr>
          <p:cNvPr id="4" name="Card-480"/>
          <p:cNvSpPr/>
          <p:nvPr/>
        </p:nvSpPr>
        <p:spPr>
          <a:xfrm>
            <a:off x="54864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Badge-481"/>
          <p:cNvSpPr txBox="1"/>
          <p:nvPr/>
        </p:nvSpPr>
        <p:spPr>
          <a:xfrm>
            <a:off x="777240" y="1783080"/>
            <a:ext cx="777240" cy="7772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000" dirty="0"/>
          </a:p>
        </p:txBody>
      </p:sp>
      <p:sp>
        <p:nvSpPr>
          <p:cNvPr id="6" name="Text-482"/>
          <p:cNvSpPr txBox="1"/>
          <p:nvPr/>
        </p:nvSpPr>
        <p:spPr>
          <a:xfrm>
            <a:off x="173736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1900" dirty="0"/>
          </a:p>
        </p:txBody>
      </p:sp>
      <p:sp>
        <p:nvSpPr>
          <p:cNvPr id="7" name="Text-483"/>
          <p:cNvSpPr txBox="1"/>
          <p:nvPr/>
        </p:nvSpPr>
        <p:spPr>
          <a:xfrm>
            <a:off x="173736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 &amp; ERFINDER · GESCHÄFTSFÜHRER</a:t>
            </a:r>
            <a:endParaRPr lang="en-US" sz="900" dirty="0"/>
          </a:p>
        </p:txBody>
      </p:sp>
      <p:sp>
        <p:nvSpPr>
          <p:cNvPr id="8" name="Text-484"/>
          <p:cNvSpPr txBox="1"/>
          <p:nvPr/>
        </p:nvSpPr>
        <p:spPr>
          <a:xfrm>
            <a:off x="77724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LiveFX erfunden und bis 2.1 gebaut – vor jeder Finanzierung. Ex-Projektleiter, KI-Experte und Data Scientist bei Mercedes-Benz; DE/TR-Muttersprachler. Autor von Kinderbüchern, u. a. „Gut, dass es dich gibt“.</a:t>
            </a:r>
            <a:endParaRPr lang="en-US" sz="1300" dirty="0"/>
          </a:p>
        </p:txBody>
      </p:sp>
      <p:sp>
        <p:nvSpPr>
          <p:cNvPr id="9" name="Card-485"/>
          <p:cNvSpPr/>
          <p:nvPr/>
        </p:nvSpPr>
        <p:spPr>
          <a:xfrm>
            <a:off x="4480560" y="1554480"/>
            <a:ext cx="370332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Badge-486"/>
          <p:cNvSpPr txBox="1"/>
          <p:nvPr/>
        </p:nvSpPr>
        <p:spPr>
          <a:xfrm>
            <a:off x="4709160" y="1783080"/>
            <a:ext cx="777240" cy="77724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</a:t>
            </a:r>
            <a:endParaRPr lang="en-US" sz="2000" dirty="0"/>
          </a:p>
        </p:txBody>
      </p:sp>
      <p:sp>
        <p:nvSpPr>
          <p:cNvPr id="11" name="Text-487"/>
          <p:cNvSpPr txBox="1"/>
          <p:nvPr/>
        </p:nvSpPr>
        <p:spPr>
          <a:xfrm>
            <a:off x="566928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900" dirty="0"/>
          </a:p>
        </p:txBody>
      </p:sp>
      <p:sp>
        <p:nvSpPr>
          <p:cNvPr id="12" name="Text-488"/>
          <p:cNvSpPr txBox="1"/>
          <p:nvPr/>
        </p:nvSpPr>
        <p:spPr>
          <a:xfrm>
            <a:off x="5669280" y="2176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 &amp; FUNDRAISING</a:t>
            </a:r>
            <a:endParaRPr lang="en-US" sz="900" dirty="0"/>
          </a:p>
        </p:txBody>
      </p:sp>
      <p:sp>
        <p:nvSpPr>
          <p:cNvPr id="13" name="Text-489"/>
          <p:cNvSpPr txBox="1"/>
          <p:nvPr/>
        </p:nvSpPr>
        <p:spPr>
          <a:xfrm>
            <a:off x="4709160" y="2743200"/>
            <a:ext cx="3246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Leitet die Investorenansprache für die Pre-Seed-Runde und hat diese Unterlagen erstellt.</a:t>
            </a:r>
            <a:endParaRPr lang="en-US" sz="1300" dirty="0"/>
          </a:p>
        </p:txBody>
      </p:sp>
      <p:sp>
        <p:nvSpPr>
          <p:cNvPr id="14" name="Card-490"/>
          <p:cNvSpPr/>
          <p:nvPr/>
        </p:nvSpPr>
        <p:spPr>
          <a:xfrm>
            <a:off x="8412480" y="1554480"/>
            <a:ext cx="3230575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Text-491"/>
          <p:cNvSpPr txBox="1"/>
          <p:nvPr/>
        </p:nvSpPr>
        <p:spPr>
          <a:xfrm>
            <a:off x="8641080" y="1737360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 nach der Finanzierung</a:t>
            </a:r>
            <a:endParaRPr lang="en-US" sz="1600" dirty="0"/>
          </a:p>
        </p:txBody>
      </p:sp>
      <p:sp>
        <p:nvSpPr>
          <p:cNvPr id="16" name="Text-492"/>
          <p:cNvSpPr txBox="1"/>
          <p:nvPr/>
        </p:nvSpPr>
        <p:spPr>
          <a:xfrm>
            <a:off x="8641080" y="2377440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Mobile-/Web-Entwickler:in</a:t>
            </a:r>
            <a:endParaRPr lang="en-US" sz="1300" dirty="0"/>
          </a:p>
        </p:txBody>
      </p:sp>
      <p:sp>
        <p:nvSpPr>
          <p:cNvPr id="17" name="Text-493"/>
          <p:cNvSpPr txBox="1"/>
          <p:nvPr/>
        </p:nvSpPr>
        <p:spPr>
          <a:xfrm>
            <a:off x="8641080" y="2624328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Monat 3</a:t>
            </a:r>
            <a:endParaRPr lang="en-US" sz="1100" dirty="0"/>
          </a:p>
        </p:txBody>
      </p:sp>
      <p:sp>
        <p:nvSpPr>
          <p:cNvPr id="18" name="Text-494"/>
          <p:cNvSpPr txBox="1"/>
          <p:nvPr/>
        </p:nvSpPr>
        <p:spPr>
          <a:xfrm>
            <a:off x="8641080" y="2898648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WortBild: Illustration, Sprecher</a:t>
            </a:r>
            <a:endParaRPr lang="en-US" sz="1300" dirty="0"/>
          </a:p>
        </p:txBody>
      </p:sp>
      <p:sp>
        <p:nvSpPr>
          <p:cNvPr id="19" name="Text-495"/>
          <p:cNvSpPr txBox="1"/>
          <p:nvPr/>
        </p:nvSpPr>
        <p:spPr>
          <a:xfrm>
            <a:off x="8641080" y="3145536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Monat 4–15 (freiberuflich)</a:t>
            </a:r>
            <a:endParaRPr lang="en-US" sz="1100" dirty="0"/>
          </a:p>
        </p:txBody>
      </p:sp>
      <p:sp>
        <p:nvSpPr>
          <p:cNvPr id="20" name="Text-496"/>
          <p:cNvSpPr txBox="1"/>
          <p:nvPr/>
        </p:nvSpPr>
        <p:spPr>
          <a:xfrm>
            <a:off x="8641080" y="3419856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Backend/ML, Community</a:t>
            </a:r>
            <a:endParaRPr lang="en-US" sz="1300" dirty="0"/>
          </a:p>
        </p:txBody>
      </p:sp>
      <p:sp>
        <p:nvSpPr>
          <p:cNvPr id="21" name="Text-497"/>
          <p:cNvSpPr txBox="1"/>
          <p:nvPr/>
        </p:nvSpPr>
        <p:spPr>
          <a:xfrm>
            <a:off x="8641080" y="3666744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Monat 19 (Seed)</a:t>
            </a:r>
            <a:endParaRPr lang="en-US" sz="1100" dirty="0"/>
          </a:p>
        </p:txBody>
      </p:sp>
      <p:sp>
        <p:nvSpPr>
          <p:cNvPr id="22" name="Text-498"/>
          <p:cNvSpPr txBox="1"/>
          <p:nvPr/>
        </p:nvSpPr>
        <p:spPr>
          <a:xfrm>
            <a:off x="8641080" y="3941064"/>
            <a:ext cx="2773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Entwickler:in</a:t>
            </a:r>
            <a:endParaRPr lang="en-US" sz="1300" dirty="0"/>
          </a:p>
        </p:txBody>
      </p:sp>
      <p:sp>
        <p:nvSpPr>
          <p:cNvPr id="23" name="Text-499"/>
          <p:cNvSpPr txBox="1"/>
          <p:nvPr/>
        </p:nvSpPr>
        <p:spPr>
          <a:xfrm>
            <a:off x="8641080" y="4187952"/>
            <a:ext cx="2773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Monat 19 (Seed)</a:t>
            </a:r>
            <a:endParaRPr lang="en-US" sz="1100" dirty="0"/>
          </a:p>
        </p:txBody>
      </p:sp>
      <p:sp>
        <p:nvSpPr>
          <p:cNvPr id="24" name="Wave-500"/>
          <p:cNvSpPr/>
          <p:nvPr/>
        </p:nvSpPr>
        <p:spPr>
          <a:xfrm>
            <a:off x="548640" y="5020056"/>
            <a:ext cx="62345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Wave-501"/>
          <p:cNvSpPr/>
          <p:nvPr/>
        </p:nvSpPr>
        <p:spPr>
          <a:xfrm>
            <a:off x="673331" y="4879619"/>
            <a:ext cx="62345" cy="39060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Wave-502"/>
          <p:cNvSpPr/>
          <p:nvPr/>
        </p:nvSpPr>
        <p:spPr>
          <a:xfrm>
            <a:off x="798022" y="4887390"/>
            <a:ext cx="62345" cy="37505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ave-503"/>
          <p:cNvSpPr/>
          <p:nvPr/>
        </p:nvSpPr>
        <p:spPr>
          <a:xfrm>
            <a:off x="922713" y="4906774"/>
            <a:ext cx="62345" cy="3362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Wave-504"/>
          <p:cNvSpPr/>
          <p:nvPr/>
        </p:nvSpPr>
        <p:spPr>
          <a:xfrm>
            <a:off x="1047404" y="4859875"/>
            <a:ext cx="62345" cy="43009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Wave-505"/>
          <p:cNvSpPr/>
          <p:nvPr/>
        </p:nvSpPr>
        <p:spPr>
          <a:xfrm>
            <a:off x="1172095" y="4913429"/>
            <a:ext cx="62345" cy="32298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Wave-506"/>
          <p:cNvSpPr/>
          <p:nvPr/>
        </p:nvSpPr>
        <p:spPr>
          <a:xfrm>
            <a:off x="1296785" y="4955694"/>
            <a:ext cx="62345" cy="23845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1" name="Wave-507"/>
          <p:cNvSpPr/>
          <p:nvPr/>
        </p:nvSpPr>
        <p:spPr>
          <a:xfrm>
            <a:off x="1421476" y="4879055"/>
            <a:ext cx="62345" cy="39173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2" name="Wave-508"/>
          <p:cNvSpPr/>
          <p:nvPr/>
        </p:nvSpPr>
        <p:spPr>
          <a:xfrm>
            <a:off x="1546167" y="4910567"/>
            <a:ext cx="62345" cy="32870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3" name="Wave-509"/>
          <p:cNvSpPr/>
          <p:nvPr/>
        </p:nvSpPr>
        <p:spPr>
          <a:xfrm>
            <a:off x="1670858" y="4881855"/>
            <a:ext cx="62345" cy="3861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Wave-510"/>
          <p:cNvSpPr/>
          <p:nvPr/>
        </p:nvSpPr>
        <p:spPr>
          <a:xfrm>
            <a:off x="1795549" y="4851184"/>
            <a:ext cx="62345" cy="44747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5" name="Wave-511"/>
          <p:cNvSpPr/>
          <p:nvPr/>
        </p:nvSpPr>
        <p:spPr>
          <a:xfrm>
            <a:off x="1920240" y="4973848"/>
            <a:ext cx="62345" cy="2021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Wave-512"/>
          <p:cNvSpPr/>
          <p:nvPr/>
        </p:nvSpPr>
        <p:spPr>
          <a:xfrm>
            <a:off x="2044931" y="4913926"/>
            <a:ext cx="62345" cy="32198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7" name="Wave-513"/>
          <p:cNvSpPr/>
          <p:nvPr/>
        </p:nvSpPr>
        <p:spPr>
          <a:xfrm>
            <a:off x="2169622" y="4900553"/>
            <a:ext cx="62345" cy="34873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8" name="Wave-514"/>
          <p:cNvSpPr/>
          <p:nvPr/>
        </p:nvSpPr>
        <p:spPr>
          <a:xfrm>
            <a:off x="2294313" y="4910728"/>
            <a:ext cx="62345" cy="3283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9" name="Wave-515"/>
          <p:cNvSpPr/>
          <p:nvPr/>
        </p:nvSpPr>
        <p:spPr>
          <a:xfrm>
            <a:off x="2419004" y="4848503"/>
            <a:ext cx="62345" cy="45283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0" name="Wave-516"/>
          <p:cNvSpPr/>
          <p:nvPr/>
        </p:nvSpPr>
        <p:spPr>
          <a:xfrm>
            <a:off x="2543695" y="4875543"/>
            <a:ext cx="62345" cy="3987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1" name="Wave-517"/>
          <p:cNvSpPr/>
          <p:nvPr/>
        </p:nvSpPr>
        <p:spPr>
          <a:xfrm>
            <a:off x="2668385" y="5000222"/>
            <a:ext cx="62345" cy="1493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2" name="Wave-518"/>
          <p:cNvSpPr/>
          <p:nvPr/>
        </p:nvSpPr>
        <p:spPr>
          <a:xfrm>
            <a:off x="2793076" y="4904788"/>
            <a:ext cx="62345" cy="34026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3" name="Wave-519"/>
          <p:cNvSpPr/>
          <p:nvPr/>
        </p:nvSpPr>
        <p:spPr>
          <a:xfrm>
            <a:off x="2917767" y="4921786"/>
            <a:ext cx="62345" cy="3062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4" name="Wave-520"/>
          <p:cNvSpPr/>
          <p:nvPr/>
        </p:nvSpPr>
        <p:spPr>
          <a:xfrm>
            <a:off x="3042458" y="4884493"/>
            <a:ext cx="62345" cy="38085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5" name="Wave-521"/>
          <p:cNvSpPr/>
          <p:nvPr/>
        </p:nvSpPr>
        <p:spPr>
          <a:xfrm>
            <a:off x="3167149" y="4830211"/>
            <a:ext cx="62345" cy="489417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6" name="Card-522"/>
          <p:cNvSpPr/>
          <p:nvPr/>
        </p:nvSpPr>
        <p:spPr>
          <a:xfrm>
            <a:off x="3520440" y="4709160"/>
            <a:ext cx="812261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7" name="Text-523"/>
          <p:cNvSpPr txBox="1"/>
          <p:nvPr/>
        </p:nvSpPr>
        <p:spPr>
          <a:xfrm>
            <a:off x="3749040" y="47365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250.000 € Pre-Seed · Angebot 2,25 Mio. € Pre-Money, 10 %</a:t>
            </a:r>
            <a:endParaRPr lang="en-US" sz="1800" dirty="0"/>
          </a:p>
        </p:txBody>
      </p:sp>
      <p:sp>
        <p:nvSpPr>
          <p:cNvPr id="48" name="Text-524"/>
          <p:cNvSpPr txBox="1"/>
          <p:nvPr/>
        </p:nvSpPr>
        <p:spPr>
          <a:xfrm>
            <a:off x="8229600" y="473659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Investor-Kontakt: Gönül Demet · [E-Mail]</a:t>
            </a:r>
            <a:endParaRPr lang="en-US" sz="1300" dirty="0"/>
          </a:p>
        </p:txBody>
      </p:sp>
      <p:sp>
        <p:nvSpPr>
          <p:cNvPr id="49" name="Text-525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Vertrauliche Pre-Seed-Unterlagen. Zukunftsbezogene Aussagen unterliegen erheblichen Risiken; eine Investition kann zum Totalverlust führen.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iveFX Investor">
      <a:dk1>
        <a:srgbClr val="0F1115"/>
      </a:dk1>
      <a:lt1>
        <a:srgbClr val="FFFFFF"/>
      </a:lt1>
      <a:dk2>
        <a:srgbClr val="1A1D24"/>
      </a:dk2>
      <a:lt2>
        <a:srgbClr val="A9B0BD"/>
      </a:lt2>
      <a:accent1>
        <a:srgbClr val="FF2D75"/>
      </a:accent1>
      <a:accent2>
        <a:srgbClr val="2DFFB5"/>
      </a:accent2>
      <a:accent3>
        <a:srgbClr val="FFD166"/>
      </a:accent3>
      <a:accent4>
        <a:srgbClr val="6CC4FF"/>
      </a:accent4>
      <a:accent5>
        <a:srgbClr val="2A2E38"/>
      </a:accent5>
      <a:accent6>
        <a:srgbClr val="3A0F22"/>
      </a:accent6>
      <a:hlink>
        <a:srgbClr val="FFD166"/>
      </a:hlink>
      <a:folHlink>
        <a:srgbClr val="2DFFB5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LiveFX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Investor-Deck (Pre-Seed, Oktober 2026)</dc:title>
  <dc:subject>LiveFX – Investor-Deck (Pre-Seed, Oktober 2026)</dc:subject>
  <dc:creator>Gönül Demet (Investor Relations)</dc:creator>
  <cp:lastModifiedBy>Gönül Demet (Investor Relations)</cp:lastModifiedBy>
  <cp:revision>1</cp:revision>
  <dcterms:created xsi:type="dcterms:W3CDTF">2026-10-04T18:23:37Z</dcterms:created>
  <dcterms:modified xsi:type="dcterms:W3CDTF">2026-10-04T18:23:37Z</dcterms:modified>
</cp:coreProperties>
</file>