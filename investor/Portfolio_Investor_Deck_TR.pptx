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98e3fe08-77c4-693c-6ae4-34648fadaf9b}">
          <p14:sldIdLst>
            <p14:sldId id="256"/>
            <p14:sldId id="257"/>
          </p14:sldIdLst>
        </p14:section>
        <p14:section name="Portföy" id="{3a193053-56f6-c403-e93a-eff52343a39a}">
          <p14:sldIdLst>
            <p14:sldId id="258"/>
            <p14:sldId id="259"/>
            <p14:sldId id="260"/>
            <p14:sldId id="261"/>
            <p14:sldId id="262"/>
          </p14:sldIdLst>
        </p14:section>
        <p14:section name="Teklif" id="{86b5a9f1-4296-28b8-3955-b97b3ae8a5e7}">
          <p14:sldIdLst>
            <p14:sldId id="263"/>
            <p14:sldId id="264"/>
            <p14:sldId id="265"/>
            <p14:sldId id="266"/>
          </p14:sldIdLst>
        </p14:section>
        <p14:section name="Kapanış" id="{c045c21a-73fd-d41c-d4d8-3b218c75d3b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Dağılım (öneri)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B27A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2D75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08FFF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Aybal</c:v>
                </c:pt>
                <c:pt idx="1">
                  <c:v>LiveFX</c:v>
                </c:pt>
                <c:pt idx="2">
                  <c:v>Kitap serisi / içerik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250000</c:v>
                </c:pt>
                <c:pt idx="1">
                  <c:v>200000</c:v>
                </c:pt>
                <c:pt idx="2">
                  <c:v>50000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Aybal</c:v>
                </c:pt>
              </c:strCache>
            </c:strRef>
          </c:tx>
          <c:spPr>
            <a:solidFill>
              <a:srgbClr val="D4B2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Ekip</c:v>
                  </c:pt>
                  <c:pt idx="1">
                    <c:v>Pazarlama</c:v>
                  </c:pt>
                  <c:pt idx="2">
                    <c:v>AB ses altyapısı + mağaza uygulaması</c:v>
                  </c:pt>
                  <c:pt idx="3">
                    <c:v>Hukuk / güven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ses, üç ürün – Aybal · LiveFX · “Benim Nörofarklı Pusulam“ kitap serisi – Türkçe, Almanca ve İngilizce olarak aile, eğitim ve içerik üreticileri için ses teknolojisi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yatırım, ortak ses ve içerik altyapısı, üç gelir kanalı.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Aybal koşulları kendi sunumuna göre: değerleme tavanı 1,30 milyon € (pre-money), tavanda ~%16, planlanan kapanış Mart 2027. LiveFX ve içerik için koşullar: [açık].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F_TITLE">
    <p:bg>
      <p:bgPr>
        <a:solidFill>
          <a:srgbClr val="15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GİZLİ  •  PORTFÖY YATIRIMI  •  EKİM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577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F_CONTENT">
    <p:bg>
      <p:bgPr>
        <a:solidFill>
          <a:srgbClr val="15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GİZLİ  •  PORTFÖY YATIRIMI  •  EKİM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 YATIRIMI  ·  EKİM 2026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ses,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ürün</a:t>
            </a:r>
            <a:endParaRPr lang="en-US" sz="50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· LiveFX · “Benim Nörofarklı Pusulam“ kitap serisi – Türkçe, Almanca ve İngilizce olarak aile, eğitim ve içerik üreticileri için ses teknolojisi</a:t>
            </a:r>
            <a:endParaRPr lang="en-US" sz="1500" dirty="0"/>
          </a:p>
        </p:txBody>
      </p:sp>
      <p:sp>
        <p:nvSpPr>
          <p:cNvPr id="5" name="Wave-3"/>
          <p:cNvSpPr/>
          <p:nvPr/>
        </p:nvSpPr>
        <p:spPr>
          <a:xfrm>
            <a:off x="548640" y="4233672"/>
            <a:ext cx="79338" cy="8229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6" name="Wave-4"/>
          <p:cNvSpPr/>
          <p:nvPr/>
        </p:nvSpPr>
        <p:spPr>
          <a:xfrm>
            <a:off x="707315" y="4128344"/>
            <a:ext cx="79338" cy="2929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7" name="Wave-5"/>
          <p:cNvSpPr/>
          <p:nvPr/>
        </p:nvSpPr>
        <p:spPr>
          <a:xfrm>
            <a:off x="865991" y="4134173"/>
            <a:ext cx="79338" cy="28129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8" name="Wave-6"/>
          <p:cNvSpPr/>
          <p:nvPr/>
        </p:nvSpPr>
        <p:spPr>
          <a:xfrm>
            <a:off x="1024666" y="4148710"/>
            <a:ext cx="79338" cy="2522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9" name="Wave-7"/>
          <p:cNvSpPr/>
          <p:nvPr/>
        </p:nvSpPr>
        <p:spPr>
          <a:xfrm>
            <a:off x="1183341" y="4113536"/>
            <a:ext cx="79338" cy="32256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0" name="Wave-8"/>
          <p:cNvSpPr/>
          <p:nvPr/>
        </p:nvSpPr>
        <p:spPr>
          <a:xfrm>
            <a:off x="1342016" y="4153702"/>
            <a:ext cx="79338" cy="24223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1" name="Wave-9"/>
          <p:cNvSpPr/>
          <p:nvPr/>
        </p:nvSpPr>
        <p:spPr>
          <a:xfrm>
            <a:off x="1500692" y="4185401"/>
            <a:ext cx="79338" cy="17883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2" name="Wave-10"/>
          <p:cNvSpPr/>
          <p:nvPr/>
        </p:nvSpPr>
        <p:spPr>
          <a:xfrm>
            <a:off x="1659367" y="4127921"/>
            <a:ext cx="79338" cy="29379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3" name="Wave-11"/>
          <p:cNvSpPr/>
          <p:nvPr/>
        </p:nvSpPr>
        <p:spPr>
          <a:xfrm>
            <a:off x="1818042" y="4151555"/>
            <a:ext cx="79338" cy="24653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4" name="Wave-12"/>
          <p:cNvSpPr/>
          <p:nvPr/>
        </p:nvSpPr>
        <p:spPr>
          <a:xfrm>
            <a:off x="1976718" y="4130021"/>
            <a:ext cx="79338" cy="289597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5" name="Wave-13"/>
          <p:cNvSpPr/>
          <p:nvPr/>
        </p:nvSpPr>
        <p:spPr>
          <a:xfrm>
            <a:off x="2135393" y="4107018"/>
            <a:ext cx="79338" cy="33560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6" name="Wave-14"/>
          <p:cNvSpPr/>
          <p:nvPr/>
        </p:nvSpPr>
        <p:spPr>
          <a:xfrm>
            <a:off x="2294068" y="4199016"/>
            <a:ext cx="79338" cy="15160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7" name="Wave-15"/>
          <p:cNvSpPr/>
          <p:nvPr/>
        </p:nvSpPr>
        <p:spPr>
          <a:xfrm>
            <a:off x="2452744" y="4154075"/>
            <a:ext cx="79338" cy="24149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16"/>
          <p:cNvSpPr/>
          <p:nvPr/>
        </p:nvSpPr>
        <p:spPr>
          <a:xfrm>
            <a:off x="2611419" y="4144044"/>
            <a:ext cx="79338" cy="2615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17"/>
          <p:cNvSpPr/>
          <p:nvPr/>
        </p:nvSpPr>
        <p:spPr>
          <a:xfrm>
            <a:off x="2770094" y="4151676"/>
            <a:ext cx="79338" cy="24628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18"/>
          <p:cNvSpPr/>
          <p:nvPr/>
        </p:nvSpPr>
        <p:spPr>
          <a:xfrm>
            <a:off x="2928769" y="4105008"/>
            <a:ext cx="79338" cy="33962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19"/>
          <p:cNvSpPr/>
          <p:nvPr/>
        </p:nvSpPr>
        <p:spPr>
          <a:xfrm>
            <a:off x="3087445" y="4125287"/>
            <a:ext cx="79338" cy="29906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20"/>
          <p:cNvSpPr/>
          <p:nvPr/>
        </p:nvSpPr>
        <p:spPr>
          <a:xfrm>
            <a:off x="3246120" y="4218796"/>
            <a:ext cx="79338" cy="11204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3" name="Wave-21"/>
          <p:cNvSpPr/>
          <p:nvPr/>
        </p:nvSpPr>
        <p:spPr>
          <a:xfrm>
            <a:off x="3404795" y="4147221"/>
            <a:ext cx="79338" cy="25519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4" name="Wave-22"/>
          <p:cNvSpPr/>
          <p:nvPr/>
        </p:nvSpPr>
        <p:spPr>
          <a:xfrm>
            <a:off x="3563471" y="4159969"/>
            <a:ext cx="79338" cy="229701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5" name="Wave-23"/>
          <p:cNvSpPr/>
          <p:nvPr/>
        </p:nvSpPr>
        <p:spPr>
          <a:xfrm>
            <a:off x="3722146" y="4132000"/>
            <a:ext cx="79338" cy="28564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6" name="Wave-24"/>
          <p:cNvSpPr/>
          <p:nvPr/>
        </p:nvSpPr>
        <p:spPr>
          <a:xfrm>
            <a:off x="3880821" y="4091289"/>
            <a:ext cx="79338" cy="3670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7" name="Wave-25"/>
          <p:cNvSpPr/>
          <p:nvPr/>
        </p:nvSpPr>
        <p:spPr>
          <a:xfrm>
            <a:off x="4039496" y="4166041"/>
            <a:ext cx="79338" cy="21755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8" name="Wave-26"/>
          <p:cNvSpPr/>
          <p:nvPr/>
        </p:nvSpPr>
        <p:spPr>
          <a:xfrm>
            <a:off x="4198172" y="4182805"/>
            <a:ext cx="79338" cy="18403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Wave-27"/>
          <p:cNvSpPr/>
          <p:nvPr/>
        </p:nvSpPr>
        <p:spPr>
          <a:xfrm>
            <a:off x="4356847" y="4158910"/>
            <a:ext cx="79338" cy="231821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0" name="Wave-28"/>
          <p:cNvSpPr/>
          <p:nvPr/>
        </p:nvSpPr>
        <p:spPr>
          <a:xfrm>
            <a:off x="4515522" y="4160352"/>
            <a:ext cx="79338" cy="22893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29"/>
          <p:cNvSpPr/>
          <p:nvPr/>
        </p:nvSpPr>
        <p:spPr>
          <a:xfrm>
            <a:off x="4674198" y="4102973"/>
            <a:ext cx="79338" cy="34369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30"/>
          <p:cNvSpPr/>
          <p:nvPr/>
        </p:nvSpPr>
        <p:spPr>
          <a:xfrm>
            <a:off x="4832873" y="4101588"/>
            <a:ext cx="79338" cy="3464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31"/>
          <p:cNvSpPr/>
          <p:nvPr/>
        </p:nvSpPr>
        <p:spPr>
          <a:xfrm>
            <a:off x="4991548" y="4215113"/>
            <a:ext cx="79338" cy="11941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32"/>
          <p:cNvSpPr/>
          <p:nvPr/>
        </p:nvSpPr>
        <p:spPr>
          <a:xfrm>
            <a:off x="5150224" y="4170248"/>
            <a:ext cx="79338" cy="20914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33"/>
          <p:cNvSpPr/>
          <p:nvPr/>
        </p:nvSpPr>
        <p:spPr>
          <a:xfrm>
            <a:off x="5308899" y="4173385"/>
            <a:ext cx="79338" cy="20287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34"/>
          <p:cNvSpPr/>
          <p:nvPr/>
        </p:nvSpPr>
        <p:spPr>
          <a:xfrm>
            <a:off x="5467574" y="4140174"/>
            <a:ext cx="79338" cy="269292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35"/>
          <p:cNvSpPr/>
          <p:nvPr/>
        </p:nvSpPr>
        <p:spPr>
          <a:xfrm>
            <a:off x="5626249" y="4082076"/>
            <a:ext cx="79338" cy="38548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36"/>
          <p:cNvSpPr/>
          <p:nvPr/>
        </p:nvSpPr>
        <p:spPr>
          <a:xfrm>
            <a:off x="5784925" y="4136341"/>
            <a:ext cx="79338" cy="27695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Card-37"/>
          <p:cNvSpPr/>
          <p:nvPr/>
        </p:nvSpPr>
        <p:spPr>
          <a:xfrm>
            <a:off x="548640" y="4709160"/>
            <a:ext cx="2743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40" name="Text-38"/>
          <p:cNvSpPr txBox="1"/>
          <p:nvPr/>
        </p:nvSpPr>
        <p:spPr>
          <a:xfrm>
            <a:off x="777240" y="4846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YATIRIM</a:t>
            </a:r>
            <a:endParaRPr lang="en-US" sz="1000" dirty="0"/>
          </a:p>
        </p:txBody>
      </p:sp>
      <p:sp>
        <p:nvSpPr>
          <p:cNvPr id="41" name="Text-39"/>
          <p:cNvSpPr txBox="1"/>
          <p:nvPr/>
        </p:nvSpPr>
        <p:spPr>
          <a:xfrm>
            <a:off x="77724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500.000 €</a:t>
            </a:r>
            <a:endParaRPr lang="en-US" sz="2800" dirty="0"/>
          </a:p>
        </p:txBody>
      </p:sp>
      <p:sp>
        <p:nvSpPr>
          <p:cNvPr id="42" name="Text-40"/>
          <p:cNvSpPr txBox="1"/>
          <p:nvPr/>
        </p:nvSpPr>
        <p:spPr>
          <a:xfrm>
            <a:off x="3566160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KURUCU &amp; MUCİT (AYBAL)</a:t>
            </a:r>
            <a:endParaRPr lang="en-US" sz="900" dirty="0"/>
          </a:p>
        </p:txBody>
      </p:sp>
      <p:sp>
        <p:nvSpPr>
          <p:cNvPr id="43" name="Text-41"/>
          <p:cNvSpPr txBox="1"/>
          <p:nvPr/>
        </p:nvSpPr>
        <p:spPr>
          <a:xfrm>
            <a:off x="3566160" y="49560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600" dirty="0"/>
          </a:p>
        </p:txBody>
      </p:sp>
      <p:sp>
        <p:nvSpPr>
          <p:cNvPr id="44" name="Text-42"/>
          <p:cNvSpPr txBox="1"/>
          <p:nvPr/>
        </p:nvSpPr>
        <p:spPr>
          <a:xfrm>
            <a:off x="3566160" y="5376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YATIRIMCI İLİŞKİLERİ</a:t>
            </a:r>
            <a:endParaRPr lang="en-US" sz="900" dirty="0"/>
          </a:p>
        </p:txBody>
      </p:sp>
      <p:sp>
        <p:nvSpPr>
          <p:cNvPr id="45" name="Text-43"/>
          <p:cNvSpPr txBox="1"/>
          <p:nvPr/>
        </p:nvSpPr>
        <p:spPr>
          <a:xfrm>
            <a:off x="3566160" y="55778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600" dirty="0"/>
          </a:p>
        </p:txBody>
      </p:sp>
      <p:pic>
        <p:nvPicPr>
          <p:cNvPr id="46" name="Image-44" descr="/home/user/Notion/aybal-show/asset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548640"/>
            <a:ext cx="2606040" cy="5577840"/>
          </a:xfrm>
          <a:prstGeom prst="rect">
            <a:avLst/>
          </a:prstGeom>
        </p:spPr>
      </p:pic>
      <p:pic>
        <p:nvPicPr>
          <p:cNvPr id="47" name="Image-45" descr="/home/user/Notion/live-fx/business/landing-assets/overlay-ne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9720" y="548640"/>
            <a:ext cx="2450592" cy="2697480"/>
          </a:xfrm>
          <a:prstGeom prst="rect">
            <a:avLst/>
          </a:prstGeom>
        </p:spPr>
      </p:pic>
      <p:pic>
        <p:nvPicPr>
          <p:cNvPr id="48" name="Image-46" descr="/home/user/Notion/live-fx/business/video/stills/vision-tr-16x9-8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9720" y="3429000"/>
            <a:ext cx="2450592" cy="2697480"/>
          </a:xfrm>
          <a:prstGeom prst="rect">
            <a:avLst/>
          </a:prstGeom>
        </p:spPr>
      </p:pic>
      <p:sp>
        <p:nvSpPr>
          <p:cNvPr id="49" name="Pill-47"/>
          <p:cNvSpPr txBox="1"/>
          <p:nvPr/>
        </p:nvSpPr>
        <p:spPr>
          <a:xfrm>
            <a:off x="6629400" y="565099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000" dirty="0"/>
          </a:p>
        </p:txBody>
      </p:sp>
      <p:sp>
        <p:nvSpPr>
          <p:cNvPr id="50" name="Pill-48"/>
          <p:cNvSpPr txBox="1"/>
          <p:nvPr/>
        </p:nvSpPr>
        <p:spPr>
          <a:xfrm>
            <a:off x="9372600" y="277063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PORTFÖY / TEZ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ses, üç ürün</a:t>
            </a:r>
            <a:endParaRPr lang="en-US" sz="3200" dirty="0"/>
          </a:p>
        </p:txBody>
      </p:sp>
      <p:sp>
        <p:nvSpPr>
          <p:cNvPr id="4" name="Card-49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50"/>
          <p:cNvSpPr txBox="1"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-51"/>
          <p:cNvSpPr txBox="1"/>
          <p:nvPr/>
        </p:nvSpPr>
        <p:spPr>
          <a:xfrm>
            <a:off x="86868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 teknolojisi</a:t>
            </a:r>
            <a:endParaRPr lang="en-US" sz="1900" dirty="0"/>
          </a:p>
        </p:txBody>
      </p:sp>
      <p:sp>
        <p:nvSpPr>
          <p:cNvPr id="7" name="Text-52"/>
          <p:cNvSpPr txBox="1"/>
          <p:nvPr/>
        </p:nvSpPr>
        <p:spPr>
          <a:xfrm>
            <a:off x="86868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ve kişisel seslerle sesli okuma (Aybal) ve konuşmadan bir saniyenin altında canlı efekt (LiveFX).</a:t>
            </a:r>
            <a:endParaRPr lang="en-US" sz="1400" dirty="0"/>
          </a:p>
        </p:txBody>
      </p:sp>
      <p:sp>
        <p:nvSpPr>
          <p:cNvPr id="8" name="Card-53"/>
          <p:cNvSpPr/>
          <p:nvPr/>
        </p:nvSpPr>
        <p:spPr>
          <a:xfrm>
            <a:off x="4334256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54"/>
          <p:cNvSpPr txBox="1"/>
          <p:nvPr/>
        </p:nvSpPr>
        <p:spPr>
          <a:xfrm>
            <a:off x="4654296" y="1874520"/>
            <a:ext cx="640080" cy="6400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-55"/>
          <p:cNvSpPr txBox="1"/>
          <p:nvPr/>
        </p:nvSpPr>
        <p:spPr>
          <a:xfrm>
            <a:off x="4654296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dil</a:t>
            </a:r>
            <a:endParaRPr lang="en-US" sz="1900" dirty="0"/>
          </a:p>
        </p:txBody>
      </p:sp>
      <p:sp>
        <p:nvSpPr>
          <p:cNvPr id="11" name="Text-56"/>
          <p:cNvSpPr txBox="1"/>
          <p:nvPr/>
        </p:nvSpPr>
        <p:spPr>
          <a:xfrm>
            <a:off x="4654296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Baştan itibaren Türkçe, Almanca, İngilizce: Aybal'da 3 arayüz ve 13 ses dili, LiveFX'te DE/TR/EN otomatik dil tanıma.</a:t>
            </a:r>
            <a:endParaRPr lang="en-US" sz="1400" dirty="0"/>
          </a:p>
        </p:txBody>
      </p:sp>
      <p:sp>
        <p:nvSpPr>
          <p:cNvPr id="12" name="Card-57"/>
          <p:cNvSpPr/>
          <p:nvPr/>
        </p:nvSpPr>
        <p:spPr>
          <a:xfrm>
            <a:off x="8119872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58"/>
          <p:cNvSpPr txBox="1"/>
          <p:nvPr/>
        </p:nvSpPr>
        <p:spPr>
          <a:xfrm>
            <a:off x="8439912" y="1874520"/>
            <a:ext cx="640080" cy="6400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-59"/>
          <p:cNvSpPr txBox="1"/>
          <p:nvPr/>
        </p:nvSpPr>
        <p:spPr>
          <a:xfrm>
            <a:off x="8439912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Aile · Eğitim · Yayıncılar</a:t>
            </a:r>
            <a:endParaRPr lang="en-US" sz="1900" dirty="0"/>
          </a:p>
        </p:txBody>
      </p:sp>
      <p:sp>
        <p:nvSpPr>
          <p:cNvPr id="15" name="Text-60"/>
          <p:cNvSpPr txBox="1"/>
          <p:nvPr/>
        </p:nvSpPr>
        <p:spPr>
          <a:xfrm>
            <a:off x="8439912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kitle, üç giriş noktası: aileler okur (Aybal), yayıncılar ve öğretmenler canlı yayın yapar (LiveFX), çocuklar kendi hikâyeleriyle öğrenir (kitap serisi).</a:t>
            </a:r>
            <a:endParaRPr lang="en-US" sz="1400" dirty="0"/>
          </a:p>
        </p:txBody>
      </p:sp>
      <p:sp>
        <p:nvSpPr>
          <p:cNvPr id="16" name="Text-61"/>
          <p:cNvSpPr txBox="1"/>
          <p:nvPr/>
        </p:nvSpPr>
        <p:spPr>
          <a:xfrm>
            <a:off x="548640" y="5257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yatırım, ortak ses ve içerik altyapısı, üç gelir kanalı.</a:t>
            </a:r>
            <a:endParaRPr lang="en-US" sz="1800" dirty="0"/>
          </a:p>
        </p:txBody>
      </p:sp>
      <p:sp>
        <p:nvSpPr>
          <p:cNvPr id="17" name="Wave-62"/>
          <p:cNvSpPr/>
          <p:nvPr/>
        </p:nvSpPr>
        <p:spPr>
          <a:xfrm>
            <a:off x="8503920" y="5486400"/>
            <a:ext cx="71282" cy="10058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63"/>
          <p:cNvSpPr/>
          <p:nvPr/>
        </p:nvSpPr>
        <p:spPr>
          <a:xfrm>
            <a:off x="8646483" y="5357666"/>
            <a:ext cx="71282" cy="3580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64"/>
          <p:cNvSpPr/>
          <p:nvPr/>
        </p:nvSpPr>
        <p:spPr>
          <a:xfrm>
            <a:off x="8789047" y="5364790"/>
            <a:ext cx="71282" cy="34380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65"/>
          <p:cNvSpPr/>
          <p:nvPr/>
        </p:nvSpPr>
        <p:spPr>
          <a:xfrm>
            <a:off x="8931610" y="5382558"/>
            <a:ext cx="71282" cy="30826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66"/>
          <p:cNvSpPr/>
          <p:nvPr/>
        </p:nvSpPr>
        <p:spPr>
          <a:xfrm>
            <a:off x="9074173" y="5339567"/>
            <a:ext cx="71282" cy="39424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67"/>
          <p:cNvSpPr/>
          <p:nvPr/>
        </p:nvSpPr>
        <p:spPr>
          <a:xfrm>
            <a:off x="9216736" y="5388659"/>
            <a:ext cx="71282" cy="29606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68"/>
          <p:cNvSpPr/>
          <p:nvPr/>
        </p:nvSpPr>
        <p:spPr>
          <a:xfrm>
            <a:off x="9359300" y="5427402"/>
            <a:ext cx="71282" cy="21858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69"/>
          <p:cNvSpPr/>
          <p:nvPr/>
        </p:nvSpPr>
        <p:spPr>
          <a:xfrm>
            <a:off x="9501863" y="5357149"/>
            <a:ext cx="71282" cy="35908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70"/>
          <p:cNvSpPr/>
          <p:nvPr/>
        </p:nvSpPr>
        <p:spPr>
          <a:xfrm>
            <a:off x="9644426" y="5386035"/>
            <a:ext cx="71282" cy="30131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71"/>
          <p:cNvSpPr/>
          <p:nvPr/>
        </p:nvSpPr>
        <p:spPr>
          <a:xfrm>
            <a:off x="9786989" y="5359716"/>
            <a:ext cx="71282" cy="3539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72"/>
          <p:cNvSpPr/>
          <p:nvPr/>
        </p:nvSpPr>
        <p:spPr>
          <a:xfrm>
            <a:off x="9929553" y="5331600"/>
            <a:ext cx="71282" cy="410183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73"/>
          <p:cNvSpPr/>
          <p:nvPr/>
        </p:nvSpPr>
        <p:spPr>
          <a:xfrm>
            <a:off x="10072116" y="5444042"/>
            <a:ext cx="71282" cy="18529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Wave-74"/>
          <p:cNvSpPr/>
          <p:nvPr/>
        </p:nvSpPr>
        <p:spPr>
          <a:xfrm>
            <a:off x="10214679" y="5389114"/>
            <a:ext cx="71282" cy="29515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0" name="Wave-75"/>
          <p:cNvSpPr/>
          <p:nvPr/>
        </p:nvSpPr>
        <p:spPr>
          <a:xfrm>
            <a:off x="10357243" y="5376855"/>
            <a:ext cx="71282" cy="31967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76"/>
          <p:cNvSpPr/>
          <p:nvPr/>
        </p:nvSpPr>
        <p:spPr>
          <a:xfrm>
            <a:off x="10499806" y="5386183"/>
            <a:ext cx="71282" cy="30101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77"/>
          <p:cNvSpPr/>
          <p:nvPr/>
        </p:nvSpPr>
        <p:spPr>
          <a:xfrm>
            <a:off x="10642369" y="5329143"/>
            <a:ext cx="71282" cy="41509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78"/>
          <p:cNvSpPr/>
          <p:nvPr/>
        </p:nvSpPr>
        <p:spPr>
          <a:xfrm>
            <a:off x="10784932" y="5353930"/>
            <a:ext cx="71282" cy="36552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79"/>
          <p:cNvSpPr/>
          <p:nvPr/>
        </p:nvSpPr>
        <p:spPr>
          <a:xfrm>
            <a:off x="10927496" y="5468219"/>
            <a:ext cx="71282" cy="13694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80"/>
          <p:cNvSpPr/>
          <p:nvPr/>
        </p:nvSpPr>
        <p:spPr>
          <a:xfrm>
            <a:off x="11070059" y="5380738"/>
            <a:ext cx="71282" cy="31190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81"/>
          <p:cNvSpPr/>
          <p:nvPr/>
        </p:nvSpPr>
        <p:spPr>
          <a:xfrm>
            <a:off x="11212622" y="5396319"/>
            <a:ext cx="71282" cy="28074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82"/>
          <p:cNvSpPr/>
          <p:nvPr/>
        </p:nvSpPr>
        <p:spPr>
          <a:xfrm>
            <a:off x="11355185" y="5362134"/>
            <a:ext cx="71282" cy="34911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83"/>
          <p:cNvSpPr/>
          <p:nvPr/>
        </p:nvSpPr>
        <p:spPr>
          <a:xfrm>
            <a:off x="11497749" y="5312376"/>
            <a:ext cx="71282" cy="448632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PORTFÖY / GENEL BAKIŞ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Portföye genel bakış</a:t>
            </a:r>
            <a:endParaRPr lang="en-US" sz="3200" dirty="0"/>
          </a:p>
        </p:txBody>
      </p:sp>
      <p:sp>
        <p:nvSpPr>
          <p:cNvPr id="4" name="Card-84"/>
          <p:cNvSpPr/>
          <p:nvPr/>
        </p:nvSpPr>
        <p:spPr>
          <a:xfrm>
            <a:off x="548640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Pill-85"/>
          <p:cNvSpPr txBox="1"/>
          <p:nvPr/>
        </p:nvSpPr>
        <p:spPr>
          <a:xfrm>
            <a:off x="822960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000" dirty="0"/>
          </a:p>
        </p:txBody>
      </p:sp>
      <p:sp>
        <p:nvSpPr>
          <p:cNvPr id="6" name="Text-86"/>
          <p:cNvSpPr txBox="1"/>
          <p:nvPr/>
        </p:nvSpPr>
        <p:spPr>
          <a:xfrm>
            <a:off x="822960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Sesle ailece okuma</a:t>
            </a:r>
            <a:endParaRPr lang="en-US" sz="1700" dirty="0"/>
          </a:p>
        </p:txBody>
      </p:sp>
      <p:sp>
        <p:nvSpPr>
          <p:cNvPr id="7" name="Text-87"/>
          <p:cNvSpPr txBox="1"/>
          <p:nvPr/>
        </p:nvSpPr>
        <p:spPr>
          <a:xfrm>
            <a:off x="822960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hazır · Kapalı beta 12.10.2026 · Almanya lansmanı 20.11.2026</a:t>
            </a:r>
            <a:endParaRPr lang="en-US" sz="1200" dirty="0"/>
          </a:p>
        </p:txBody>
      </p:sp>
      <p:sp>
        <p:nvSpPr>
          <p:cNvPr id="8" name="Text-88"/>
          <p:cNvSpPr txBox="1"/>
          <p:nvPr/>
        </p:nvSpPr>
        <p:spPr>
          <a:xfrm>
            <a:off x="82296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1.779</a:t>
            </a:r>
            <a:endParaRPr lang="en-US" sz="2200" dirty="0"/>
          </a:p>
        </p:txBody>
      </p:sp>
      <p:sp>
        <p:nvSpPr>
          <p:cNvPr id="9" name="Text-89"/>
          <p:cNvSpPr txBox="1"/>
          <p:nvPr/>
        </p:nvSpPr>
        <p:spPr>
          <a:xfrm>
            <a:off x="246888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test</a:t>
            </a:r>
            <a:endParaRPr lang="en-US" sz="1300" dirty="0"/>
          </a:p>
        </p:txBody>
      </p:sp>
      <p:sp>
        <p:nvSpPr>
          <p:cNvPr id="10" name="Text-90"/>
          <p:cNvSpPr txBox="1"/>
          <p:nvPr/>
        </p:nvSpPr>
        <p:spPr>
          <a:xfrm>
            <a:off x="822960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-91"/>
          <p:cNvSpPr txBox="1"/>
          <p:nvPr/>
        </p:nvSpPr>
        <p:spPr>
          <a:xfrm>
            <a:off x="246888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dili</a:t>
            </a:r>
            <a:endParaRPr lang="en-US" sz="1300" dirty="0"/>
          </a:p>
        </p:txBody>
      </p:sp>
      <p:sp>
        <p:nvSpPr>
          <p:cNvPr id="12" name="Text-92"/>
          <p:cNvSpPr txBox="1"/>
          <p:nvPr/>
        </p:nvSpPr>
        <p:spPr>
          <a:xfrm>
            <a:off x="82296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 mn</a:t>
            </a:r>
            <a:endParaRPr lang="en-US" sz="2200" dirty="0"/>
          </a:p>
        </p:txBody>
      </p:sp>
      <p:sp>
        <p:nvSpPr>
          <p:cNvPr id="13" name="Text-93"/>
          <p:cNvSpPr txBox="1"/>
          <p:nvPr/>
        </p:nvSpPr>
        <p:spPr>
          <a:xfrm>
            <a:off x="2468880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pazarda aile</a:t>
            </a:r>
            <a:endParaRPr lang="en-US" sz="1300" dirty="0"/>
          </a:p>
        </p:txBody>
      </p:sp>
      <p:sp>
        <p:nvSpPr>
          <p:cNvPr id="14" name="Text-94"/>
          <p:cNvSpPr txBox="1"/>
          <p:nvPr/>
        </p:nvSpPr>
        <p:spPr>
          <a:xfrm>
            <a:off x="822960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aybal-show/Aybal_Investor_Deck.pptx</a:t>
            </a:r>
            <a:endParaRPr lang="en-US" sz="900" dirty="0"/>
          </a:p>
        </p:txBody>
      </p:sp>
      <p:sp>
        <p:nvSpPr>
          <p:cNvPr id="15" name="Card-95"/>
          <p:cNvSpPr/>
          <p:nvPr/>
        </p:nvSpPr>
        <p:spPr>
          <a:xfrm>
            <a:off x="4334256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6" name="Pill-96"/>
          <p:cNvSpPr txBox="1"/>
          <p:nvPr/>
        </p:nvSpPr>
        <p:spPr>
          <a:xfrm>
            <a:off x="4608576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  <p:sp>
        <p:nvSpPr>
          <p:cNvPr id="17" name="Text-97"/>
          <p:cNvSpPr txBox="1"/>
          <p:nvPr/>
        </p:nvSpPr>
        <p:spPr>
          <a:xfrm>
            <a:off x="4608576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Sesten canlı efekte</a:t>
            </a:r>
            <a:endParaRPr lang="en-US" sz="1700" dirty="0"/>
          </a:p>
        </p:txBody>
      </p:sp>
      <p:sp>
        <p:nvSpPr>
          <p:cNvPr id="18" name="Text-98"/>
          <p:cNvSpPr txBox="1"/>
          <p:nvPr/>
        </p:nvSpPr>
        <p:spPr>
          <a:xfrm>
            <a:off x="4608576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Sürüm 2.0 çalışıyor · henüz gelir yok · Türk topluluğunda lansman 4Ç 2026</a:t>
            </a:r>
            <a:endParaRPr lang="en-US" sz="1200" dirty="0"/>
          </a:p>
        </p:txBody>
      </p:sp>
      <p:sp>
        <p:nvSpPr>
          <p:cNvPr id="19" name="Text-99"/>
          <p:cNvSpPr txBox="1"/>
          <p:nvPr/>
        </p:nvSpPr>
        <p:spPr>
          <a:xfrm>
            <a:off x="4608576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238</a:t>
            </a:r>
            <a:endParaRPr lang="en-US" sz="2200" dirty="0"/>
          </a:p>
        </p:txBody>
      </p:sp>
      <p:sp>
        <p:nvSpPr>
          <p:cNvPr id="20" name="Text-100"/>
          <p:cNvSpPr txBox="1"/>
          <p:nvPr/>
        </p:nvSpPr>
        <p:spPr>
          <a:xfrm>
            <a:off x="6254496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tetikleyici, 5 paket</a:t>
            </a:r>
            <a:endParaRPr lang="en-US" sz="1300" dirty="0"/>
          </a:p>
        </p:txBody>
      </p:sp>
      <p:sp>
        <p:nvSpPr>
          <p:cNvPr id="21" name="Text-101"/>
          <p:cNvSpPr txBox="1"/>
          <p:nvPr/>
        </p:nvSpPr>
        <p:spPr>
          <a:xfrm>
            <a:off x="4608576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-102"/>
          <p:cNvSpPr txBox="1"/>
          <p:nvPr/>
        </p:nvSpPr>
        <p:spPr>
          <a:xfrm>
            <a:off x="6254496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animasyonlu sahne</a:t>
            </a:r>
            <a:endParaRPr lang="en-US" sz="1300" dirty="0"/>
          </a:p>
        </p:txBody>
      </p:sp>
      <p:sp>
        <p:nvSpPr>
          <p:cNvPr id="23" name="Text-103"/>
          <p:cNvSpPr txBox="1"/>
          <p:nvPr/>
        </p:nvSpPr>
        <p:spPr>
          <a:xfrm>
            <a:off x="4608576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240+</a:t>
            </a:r>
            <a:endParaRPr lang="en-US" sz="2200" dirty="0"/>
          </a:p>
        </p:txBody>
      </p:sp>
      <p:sp>
        <p:nvSpPr>
          <p:cNvPr id="24" name="Text-104"/>
          <p:cNvSpPr txBox="1"/>
          <p:nvPr/>
        </p:nvSpPr>
        <p:spPr>
          <a:xfrm>
            <a:off x="6254496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test</a:t>
            </a:r>
            <a:endParaRPr lang="en-US" sz="1300" dirty="0"/>
          </a:p>
        </p:txBody>
      </p:sp>
      <p:sp>
        <p:nvSpPr>
          <p:cNvPr id="25" name="Text-105"/>
          <p:cNvSpPr txBox="1"/>
          <p:nvPr/>
        </p:nvSpPr>
        <p:spPr>
          <a:xfrm>
            <a:off x="4608576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live-fx/business/BUSINESSPLAN.md, PITCH-DECK.md</a:t>
            </a:r>
            <a:endParaRPr lang="en-US" sz="900" dirty="0"/>
          </a:p>
        </p:txBody>
      </p:sp>
      <p:sp>
        <p:nvSpPr>
          <p:cNvPr id="26" name="Card-106"/>
          <p:cNvSpPr/>
          <p:nvPr/>
        </p:nvSpPr>
        <p:spPr>
          <a:xfrm>
            <a:off x="8119872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7" name="Pill-107"/>
          <p:cNvSpPr txBox="1"/>
          <p:nvPr/>
        </p:nvSpPr>
        <p:spPr>
          <a:xfrm>
            <a:off x="8394192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KİTAP SERİSİ</a:t>
            </a:r>
            <a:endParaRPr lang="en-US" sz="1000" dirty="0"/>
          </a:p>
        </p:txBody>
      </p:sp>
      <p:sp>
        <p:nvSpPr>
          <p:cNvPr id="28" name="Text-108"/>
          <p:cNvSpPr txBox="1"/>
          <p:nvPr/>
        </p:nvSpPr>
        <p:spPr>
          <a:xfrm>
            <a:off x="8394192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Nöroçeşitlilik üzerine içerik</a:t>
            </a:r>
            <a:endParaRPr lang="en-US" sz="1700" dirty="0"/>
          </a:p>
        </p:txBody>
      </p:sp>
      <p:sp>
        <p:nvSpPr>
          <p:cNvPr id="29" name="Text-109"/>
          <p:cNvSpPr txBox="1"/>
          <p:nvPr/>
        </p:nvSpPr>
        <p:spPr>
          <a:xfrm>
            <a:off x="8394192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TR/DE/EN 5 kitap · 3 dilde fragmanlar · Gençlik serisi hazırlanıyor</a:t>
            </a:r>
            <a:endParaRPr lang="en-US" sz="1200" dirty="0"/>
          </a:p>
        </p:txBody>
      </p:sp>
      <p:sp>
        <p:nvSpPr>
          <p:cNvPr id="30" name="Text-110"/>
          <p:cNvSpPr txBox="1"/>
          <p:nvPr/>
        </p:nvSpPr>
        <p:spPr>
          <a:xfrm>
            <a:off x="8394192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-111"/>
          <p:cNvSpPr txBox="1"/>
          <p:nvPr/>
        </p:nvSpPr>
        <p:spPr>
          <a:xfrm>
            <a:off x="10040112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kitap</a:t>
            </a:r>
            <a:endParaRPr lang="en-US" sz="1300" dirty="0"/>
          </a:p>
        </p:txBody>
      </p:sp>
      <p:sp>
        <p:nvSpPr>
          <p:cNvPr id="32" name="Text-112"/>
          <p:cNvSpPr txBox="1"/>
          <p:nvPr/>
        </p:nvSpPr>
        <p:spPr>
          <a:xfrm>
            <a:off x="8394192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-113"/>
          <p:cNvSpPr txBox="1"/>
          <p:nvPr/>
        </p:nvSpPr>
        <p:spPr>
          <a:xfrm>
            <a:off x="10040112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</a:t>
            </a:r>
            <a:endParaRPr lang="en-US" sz="1300" dirty="0"/>
          </a:p>
        </p:txBody>
      </p:sp>
      <p:sp>
        <p:nvSpPr>
          <p:cNvPr id="34" name="Text-114"/>
          <p:cNvSpPr txBox="1"/>
          <p:nvPr/>
        </p:nvSpPr>
        <p:spPr>
          <a:xfrm>
            <a:off x="8394192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-115"/>
          <p:cNvSpPr txBox="1"/>
          <p:nvPr/>
        </p:nvSpPr>
        <p:spPr>
          <a:xfrm>
            <a:off x="10040112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gençlik kitabı</a:t>
            </a:r>
            <a:endParaRPr lang="en-US" sz="1300" dirty="0"/>
          </a:p>
        </p:txBody>
      </p:sp>
      <p:sp>
        <p:nvSpPr>
          <p:cNvPr id="36" name="Text-116"/>
          <p:cNvSpPr txBox="1"/>
          <p:nvPr/>
        </p:nvSpPr>
        <p:spPr>
          <a:xfrm>
            <a:off x="8394192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deniz-trailer/, deniz-teen/books.js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PORTFÖY / AYBAL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Aybal: ailece okumanın sesi</a:t>
            </a:r>
            <a:endParaRPr lang="en-US" sz="3200" dirty="0"/>
          </a:p>
        </p:txBody>
      </p:sp>
      <p:pic>
        <p:nvPicPr>
          <p:cNvPr id="4" name="Image-117" descr="/home/user/Notion/aybal-show/assets/produ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572000" cy="3621024"/>
          </a:xfrm>
          <a:prstGeom prst="rect">
            <a:avLst/>
          </a:prstGeom>
        </p:spPr>
      </p:pic>
      <p:sp>
        <p:nvSpPr>
          <p:cNvPr id="5" name="Card-118"/>
          <p:cNvSpPr/>
          <p:nvPr/>
        </p:nvSpPr>
        <p:spPr>
          <a:xfrm>
            <a:off x="548640" y="5303520"/>
            <a:ext cx="457200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119"/>
          <p:cNvSpPr txBox="1"/>
          <p:nvPr/>
        </p:nvSpPr>
        <p:spPr>
          <a:xfrm>
            <a:off x="731520" y="5303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turu: 250.000 € pre-seed · değerleme tavanı 1,30 milyon € (pre-money) · planlanan kapanış Mart 2027</a:t>
            </a:r>
            <a:endParaRPr lang="en-US" sz="1200" dirty="0"/>
          </a:p>
        </p:txBody>
      </p:sp>
      <p:sp>
        <p:nvSpPr>
          <p:cNvPr id="7" name="Text-120"/>
          <p:cNvSpPr txBox="1"/>
          <p:nvPr/>
        </p:nvSpPr>
        <p:spPr>
          <a:xfrm>
            <a:off x="5486400" y="1508760"/>
            <a:ext cx="6156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Aileler PDF, EPUB, Word dosyası, metin ya da kitap sayfası fotoğrafı yükler – Aybal sesli okur ve her kelimeyi vurgular.</a:t>
            </a:r>
            <a:endParaRPr lang="en-US" sz="1500" dirty="0"/>
          </a:p>
        </p:txBody>
      </p:sp>
      <p:sp>
        <p:nvSpPr>
          <p:cNvPr id="8" name="Text-121"/>
          <p:cNvSpPr txBox="1"/>
          <p:nvPr/>
        </p:nvSpPr>
        <p:spPr>
          <a:xfrm>
            <a:off x="54864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 milyar €</a:t>
            </a:r>
            <a:endParaRPr lang="en-US" sz="2200" dirty="0"/>
          </a:p>
        </p:txBody>
      </p:sp>
      <p:sp>
        <p:nvSpPr>
          <p:cNvPr id="9" name="Text-122"/>
          <p:cNvSpPr txBox="1"/>
          <p:nvPr/>
        </p:nvSpPr>
        <p:spPr>
          <a:xfrm>
            <a:off x="7909560" y="2331720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hedef pazarlarda aile okuma harcaması</a:t>
            </a:r>
            <a:endParaRPr lang="en-US" sz="1300" dirty="0"/>
          </a:p>
        </p:txBody>
      </p:sp>
      <p:sp>
        <p:nvSpPr>
          <p:cNvPr id="10" name="Text-123"/>
          <p:cNvSpPr txBox="1"/>
          <p:nvPr/>
        </p:nvSpPr>
        <p:spPr>
          <a:xfrm>
            <a:off x="5486400" y="2953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 milyar €</a:t>
            </a:r>
            <a:endParaRPr lang="en-US" sz="2200" dirty="0"/>
          </a:p>
        </p:txBody>
      </p:sp>
      <p:sp>
        <p:nvSpPr>
          <p:cNvPr id="11" name="Text-124"/>
          <p:cNvSpPr txBox="1"/>
          <p:nvPr/>
        </p:nvSpPr>
        <p:spPr>
          <a:xfrm>
            <a:off x="7909560" y="2953512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varsayılan ödeme isteği %15</a:t>
            </a:r>
            <a:endParaRPr lang="en-US" sz="1300" dirty="0"/>
          </a:p>
        </p:txBody>
      </p:sp>
      <p:sp>
        <p:nvSpPr>
          <p:cNvPr id="12" name="Text-125"/>
          <p:cNvSpPr txBox="1"/>
          <p:nvPr/>
        </p:nvSpPr>
        <p:spPr>
          <a:xfrm>
            <a:off x="5486400" y="3575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milyon €</a:t>
            </a:r>
            <a:endParaRPr lang="en-US" sz="2200" dirty="0"/>
          </a:p>
        </p:txBody>
      </p:sp>
      <p:sp>
        <p:nvSpPr>
          <p:cNvPr id="13" name="Text-126"/>
          <p:cNvSpPr txBox="1"/>
          <p:nvPr/>
        </p:nvSpPr>
        <p:spPr>
          <a:xfrm>
            <a:off x="7909560" y="3575304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yön gösterici, tahmin değil</a:t>
            </a:r>
            <a:endParaRPr lang="en-US" sz="1300" dirty="0"/>
          </a:p>
        </p:txBody>
      </p:sp>
      <p:sp>
        <p:nvSpPr>
          <p:cNvPr id="14" name="Text-127"/>
          <p:cNvSpPr txBox="1"/>
          <p:nvPr/>
        </p:nvSpPr>
        <p:spPr>
          <a:xfrm>
            <a:off x="5486400" y="4343400"/>
            <a:ext cx="6156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Fiyatlar: Plus aylık 9,99 € · Family aylık 24,99 € · web marjı %75–77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Ölçülen anlaşılırlık: Almanca %98 · Türkçe %97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Başabaş (senaryo): güçlü senaryo Ağustos 2030 · girişim senaryosu Ekim 2031</a:t>
            </a:r>
            <a:endParaRPr lang="en-US" sz="1400" dirty="0"/>
          </a:p>
        </p:txBody>
      </p:sp>
      <p:sp>
        <p:nvSpPr>
          <p:cNvPr id="15" name="Text-128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Aybal_Investor_Deck.pptx, slayt 3–12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PORTFÖY / LIVEFX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LiveFX: dinleyen canlı yayınlar</a:t>
            </a:r>
            <a:endParaRPr lang="en-US" sz="3200" dirty="0"/>
          </a:p>
        </p:txBody>
      </p:sp>
      <p:pic>
        <p:nvPicPr>
          <p:cNvPr id="4" name="Image-129" descr="/home/user/Notion/live-fx/business/landing-assets/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508760"/>
            <a:ext cx="5105095" cy="3190685"/>
          </a:xfrm>
          <a:prstGeom prst="rect">
            <a:avLst/>
          </a:prstGeom>
        </p:spPr>
      </p:pic>
      <p:pic>
        <p:nvPicPr>
          <p:cNvPr id="5" name="Image-130" descr="/home/user/Notion/live-fx/business/landing-assets/overlay-portrait-rai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08615" y="3510724"/>
            <a:ext cx="1051560" cy="18745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6" name="Text-131"/>
          <p:cNvSpPr txBox="1"/>
          <p:nvPr/>
        </p:nvSpPr>
        <p:spPr>
          <a:xfrm>
            <a:off x="548640" y="1508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 konuşur – bir saniyenin altında yayında meme, ses ya da animasyonlu bir sahne belirir. Sesli okuma için hikâye modu, sohbet ve hediyeyle izleyici tetikleyicileri.</a:t>
            </a:r>
            <a:endParaRPr lang="en-US" sz="1400" dirty="0"/>
          </a:p>
        </p:txBody>
      </p:sp>
      <p:sp>
        <p:nvSpPr>
          <p:cNvPr id="7" name="Text-132"/>
          <p:cNvSpPr txBox="1"/>
          <p:nvPr/>
        </p:nvSpPr>
        <p:spPr>
          <a:xfrm>
            <a:off x="54864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97–157 milyar USD</a:t>
            </a:r>
            <a:endParaRPr lang="en-US" sz="2000" dirty="0"/>
          </a:p>
        </p:txBody>
      </p:sp>
      <p:sp>
        <p:nvSpPr>
          <p:cNvPr id="8" name="Text-133"/>
          <p:cNvSpPr txBox="1"/>
          <p:nvPr/>
        </p:nvSpPr>
        <p:spPr>
          <a:xfrm>
            <a:off x="347472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dünya canlı yayın pazarı</a:t>
            </a:r>
            <a:endParaRPr lang="en-US" sz="1300" dirty="0"/>
          </a:p>
        </p:txBody>
      </p:sp>
      <p:sp>
        <p:nvSpPr>
          <p:cNvPr id="9" name="Text-134"/>
          <p:cNvSpPr txBox="1"/>
          <p:nvPr/>
        </p:nvSpPr>
        <p:spPr>
          <a:xfrm>
            <a:off x="548640" y="3136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milyon</a:t>
            </a:r>
            <a:endParaRPr lang="en-US" sz="2000" dirty="0"/>
          </a:p>
        </p:txBody>
      </p:sp>
      <p:sp>
        <p:nvSpPr>
          <p:cNvPr id="10" name="Text-135"/>
          <p:cNvSpPr txBox="1"/>
          <p:nvPr/>
        </p:nvSpPr>
        <p:spPr>
          <a:xfrm>
            <a:off x="347472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TR/DE/EN dil alanında yayıncı (SAM, tahmin)</a:t>
            </a:r>
            <a:endParaRPr lang="en-US" sz="1300" dirty="0"/>
          </a:p>
        </p:txBody>
      </p:sp>
      <p:sp>
        <p:nvSpPr>
          <p:cNvPr id="11" name="Text-136"/>
          <p:cNvSpPr txBox="1"/>
          <p:nvPr/>
        </p:nvSpPr>
        <p:spPr>
          <a:xfrm>
            <a:off x="548640" y="3758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5.000–15.000</a:t>
            </a:r>
            <a:endParaRPr lang="en-US" sz="2000" dirty="0"/>
          </a:p>
        </p:txBody>
      </p:sp>
      <p:sp>
        <p:nvSpPr>
          <p:cNvPr id="12" name="Text-137"/>
          <p:cNvSpPr txBox="1"/>
          <p:nvPr/>
        </p:nvSpPr>
        <p:spPr>
          <a:xfrm>
            <a:off x="347472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yılda ücretli kullanıcı (SOM, tahmin)</a:t>
            </a:r>
            <a:endParaRPr lang="en-US" sz="1300" dirty="0"/>
          </a:p>
        </p:txBody>
      </p:sp>
      <p:sp>
        <p:nvSpPr>
          <p:cNvPr id="13" name="Text-138"/>
          <p:cNvSpPr txBox="1"/>
          <p:nvPr/>
        </p:nvSpPr>
        <p:spPr>
          <a:xfrm>
            <a:off x="548640" y="45262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Fiyatlar: Ücretsiz · Pro aylık 9,99 € ya da yıllık 79 € · paketler 2,99–4,99 €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 senaryo (tahmin): 1.–3. yıl gelir 51 / 336 / 1.039 bin 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planına göre ihtiyaç: 18–24 ay için 250–350 bin € seed</a:t>
            </a:r>
            <a:endParaRPr lang="en-US" sz="1400" dirty="0"/>
          </a:p>
        </p:txBody>
      </p:sp>
      <p:sp>
        <p:nvSpPr>
          <p:cNvPr id="14" name="Text-13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live-fx/business/BUSINESSPLAN.md (bölüm 1, 6, 9, 11), pazar verileri orada [Kaynak 1, 2]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PORTFÖY / İÇERİK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dilde tek kitap serisi</a:t>
            </a:r>
            <a:endParaRPr lang="en-US" sz="3200" dirty="0"/>
          </a:p>
        </p:txBody>
      </p:sp>
      <p:sp>
        <p:nvSpPr>
          <p:cNvPr id="4" name="Pill-140"/>
          <p:cNvSpPr txBox="1"/>
          <p:nvPr/>
        </p:nvSpPr>
        <p:spPr>
          <a:xfrm>
            <a:off x="548640" y="155448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000" dirty="0"/>
          </a:p>
        </p:txBody>
      </p:sp>
      <p:sp>
        <p:nvSpPr>
          <p:cNvPr id="5" name="Text-141"/>
          <p:cNvSpPr txBox="1"/>
          <p:nvPr/>
        </p:nvSpPr>
        <p:spPr>
          <a:xfrm>
            <a:off x="123444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Benim Nörofarklı Pusulam</a:t>
            </a:r>
            <a:endParaRPr lang="en-US" sz="1500" dirty="0"/>
          </a:p>
        </p:txBody>
      </p:sp>
      <p:sp>
        <p:nvSpPr>
          <p:cNvPr id="6" name="Pill-142"/>
          <p:cNvSpPr txBox="1"/>
          <p:nvPr/>
        </p:nvSpPr>
        <p:spPr>
          <a:xfrm>
            <a:off x="548640" y="196596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000" dirty="0"/>
          </a:p>
        </p:txBody>
      </p:sp>
      <p:sp>
        <p:nvSpPr>
          <p:cNvPr id="7" name="Text-143"/>
          <p:cNvSpPr txBox="1"/>
          <p:nvPr/>
        </p:nvSpPr>
        <p:spPr>
          <a:xfrm>
            <a:off x="1234440" y="1965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Mein neurodiverser Kompass</a:t>
            </a:r>
            <a:endParaRPr lang="en-US" sz="1500" dirty="0"/>
          </a:p>
        </p:txBody>
      </p:sp>
      <p:sp>
        <p:nvSpPr>
          <p:cNvPr id="8" name="Pill-144"/>
          <p:cNvSpPr txBox="1"/>
          <p:nvPr/>
        </p:nvSpPr>
        <p:spPr>
          <a:xfrm>
            <a:off x="548640" y="237744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000" dirty="0"/>
          </a:p>
        </p:txBody>
      </p:sp>
      <p:sp>
        <p:nvSpPr>
          <p:cNvPr id="9" name="Text-145"/>
          <p:cNvSpPr txBox="1"/>
          <p:nvPr/>
        </p:nvSpPr>
        <p:spPr>
          <a:xfrm>
            <a:off x="1234440" y="2377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Neurodivergent Compass</a:t>
            </a:r>
            <a:endParaRPr lang="en-US" sz="1500" dirty="0"/>
          </a:p>
        </p:txBody>
      </p:sp>
      <p:sp>
        <p:nvSpPr>
          <p:cNvPr id="10" name="Badge-146"/>
          <p:cNvSpPr txBox="1"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-147"/>
          <p:cNvSpPr txBox="1"/>
          <p:nvPr/>
        </p:nvSpPr>
        <p:spPr>
          <a:xfrm>
            <a:off x="96012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Nörofarklı Pusulam</a:t>
            </a:r>
            <a:endParaRPr lang="en-US" sz="1400" dirty="0"/>
          </a:p>
        </p:txBody>
      </p:sp>
      <p:sp>
        <p:nvSpPr>
          <p:cNvPr id="12" name="Badge-148"/>
          <p:cNvSpPr txBox="1"/>
          <p:nvPr/>
        </p:nvSpPr>
        <p:spPr>
          <a:xfrm>
            <a:off x="548640" y="332841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-149"/>
          <p:cNvSpPr txBox="1"/>
          <p:nvPr/>
        </p:nvSpPr>
        <p:spPr>
          <a:xfrm>
            <a:off x="960120" y="3328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ve Bedeninin Gizli Mesajları</a:t>
            </a:r>
            <a:endParaRPr lang="en-US" sz="1400" dirty="0"/>
          </a:p>
        </p:txBody>
      </p:sp>
      <p:sp>
        <p:nvSpPr>
          <p:cNvPr id="14" name="Badge-150"/>
          <p:cNvSpPr txBox="1"/>
          <p:nvPr/>
        </p:nvSpPr>
        <p:spPr>
          <a:xfrm>
            <a:off x="548640" y="373075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-151"/>
          <p:cNvSpPr txBox="1"/>
          <p:nvPr/>
        </p:nvSpPr>
        <p:spPr>
          <a:xfrm>
            <a:off x="960120" y="3730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Okulda Kendi Yolunu Buluyor</a:t>
            </a:r>
            <a:endParaRPr lang="en-US" sz="1400" dirty="0"/>
          </a:p>
        </p:txBody>
      </p:sp>
      <p:sp>
        <p:nvSpPr>
          <p:cNvPr id="16" name="Badge-152"/>
          <p:cNvSpPr txBox="1"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-153"/>
          <p:cNvSpPr txBox="1"/>
          <p:nvPr/>
        </p:nvSpPr>
        <p:spPr>
          <a:xfrm>
            <a:off x="960120" y="4133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ve Arkadaşlık Pusulası</a:t>
            </a:r>
            <a:endParaRPr lang="en-US" sz="1400" dirty="0"/>
          </a:p>
        </p:txBody>
      </p:sp>
      <p:sp>
        <p:nvSpPr>
          <p:cNvPr id="18" name="Badge-154"/>
          <p:cNvSpPr txBox="1"/>
          <p:nvPr/>
        </p:nvSpPr>
        <p:spPr>
          <a:xfrm>
            <a:off x="548640" y="4535424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-155"/>
          <p:cNvSpPr txBox="1"/>
          <p:nvPr/>
        </p:nvSpPr>
        <p:spPr>
          <a:xfrm>
            <a:off x="960120" y="4535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ve Değişiklikler Adası</a:t>
            </a:r>
            <a:endParaRPr lang="en-US" sz="1400" dirty="0"/>
          </a:p>
        </p:txBody>
      </p:sp>
      <p:sp>
        <p:nvSpPr>
          <p:cNvPr id="20" name="Text-156"/>
          <p:cNvSpPr txBox="1"/>
          <p:nvPr/>
        </p:nvSpPr>
        <p:spPr>
          <a:xfrm>
            <a:off x="54864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Hediye kitap “İyi ki Varsın / Gut, dass es dich gibt / Good That You Exist“ · 4 Deniz kitabıyla gençlik serisi</a:t>
            </a:r>
            <a:endParaRPr lang="en-US" sz="1200" dirty="0"/>
          </a:p>
        </p:txBody>
      </p:sp>
      <p:sp>
        <p:nvSpPr>
          <p:cNvPr id="21" name="Text-157"/>
          <p:cNvSpPr txBox="1"/>
          <p:nvPr/>
        </p:nvSpPr>
        <p:spPr>
          <a:xfrm>
            <a:off x="548640" y="5486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Hazır: 5 kitap fragmanı (TR), DE/TR/EN seri videoları, hediye kitap için 3 dilde fragman</a:t>
            </a:r>
            <a:endParaRPr lang="en-US" sz="1200" dirty="0"/>
          </a:p>
        </p:txBody>
      </p:sp>
      <p:pic>
        <p:nvPicPr>
          <p:cNvPr id="22" name="Image-158" descr="/home/user/Notion/live-fx/business/video/stills/vision-tr-16x9-8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554480"/>
            <a:ext cx="4967935" cy="2794464"/>
          </a:xfrm>
          <a:prstGeom prst="rect">
            <a:avLst/>
          </a:prstGeom>
        </p:spPr>
      </p:pic>
      <p:sp>
        <p:nvSpPr>
          <p:cNvPr id="23" name="Text-159"/>
          <p:cNvSpPr txBox="1"/>
          <p:nvPr/>
        </p:nvSpPr>
        <p:spPr>
          <a:xfrm>
            <a:off x="6675120" y="4394664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anlatı filmi (vizyon fragmanı)</a:t>
            </a:r>
            <a:endParaRPr lang="en-US" sz="900" dirty="0"/>
          </a:p>
        </p:txBody>
      </p:sp>
      <p:sp>
        <p:nvSpPr>
          <p:cNvPr id="24" name="Card-160"/>
          <p:cNvSpPr/>
          <p:nvPr/>
        </p:nvSpPr>
        <p:spPr>
          <a:xfrm>
            <a:off x="6675120" y="4754880"/>
            <a:ext cx="2369668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5" name="Text-161"/>
          <p:cNvSpPr txBox="1"/>
          <p:nvPr/>
        </p:nvSpPr>
        <p:spPr>
          <a:xfrm>
            <a:off x="6858000" y="4864608"/>
            <a:ext cx="20039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Aybal</a:t>
            </a:r>
            <a:endParaRPr lang="en-US" sz="1600" dirty="0"/>
          </a:p>
        </p:txBody>
      </p:sp>
      <p:sp>
        <p:nvSpPr>
          <p:cNvPr id="26" name="Text-162"/>
          <p:cNvSpPr txBox="1"/>
          <p:nvPr/>
        </p:nvSpPr>
        <p:spPr>
          <a:xfrm>
            <a:off x="6858000" y="5212080"/>
            <a:ext cx="2003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dilde sesli okuma kitapları</a:t>
            </a:r>
            <a:endParaRPr lang="en-US" sz="1200" dirty="0"/>
          </a:p>
        </p:txBody>
      </p:sp>
      <p:sp>
        <p:nvSpPr>
          <p:cNvPr id="27" name="Card-163"/>
          <p:cNvSpPr/>
          <p:nvPr/>
        </p:nvSpPr>
        <p:spPr>
          <a:xfrm>
            <a:off x="9273388" y="4754880"/>
            <a:ext cx="2369668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8" name="Text-164"/>
          <p:cNvSpPr txBox="1"/>
          <p:nvPr/>
        </p:nvSpPr>
        <p:spPr>
          <a:xfrm>
            <a:off x="9456268" y="4864608"/>
            <a:ext cx="20039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LiveFX</a:t>
            </a:r>
            <a:endParaRPr lang="en-US" sz="1600" dirty="0"/>
          </a:p>
        </p:txBody>
      </p:sp>
      <p:sp>
        <p:nvSpPr>
          <p:cNvPr id="29" name="Text-165"/>
          <p:cNvSpPr txBox="1"/>
          <p:nvPr/>
        </p:nvSpPr>
        <p:spPr>
          <a:xfrm>
            <a:off x="9456268" y="5212080"/>
            <a:ext cx="2003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Hikâye modu, dünya paketleri, ilk yayıncı pilotu</a:t>
            </a:r>
            <a:endParaRPr lang="en-US" sz="1200" dirty="0"/>
          </a:p>
        </p:txBody>
      </p:sp>
      <p:sp>
        <p:nvSpPr>
          <p:cNvPr id="30" name="Text-166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deniz-trailer/ dosya adları, deniz-teen/books.js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PORTFÖY / SİNERJİLER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Sinerjiler: tek altyapı, tek kitle</a:t>
            </a:r>
            <a:endParaRPr lang="en-US" sz="3200" dirty="0"/>
          </a:p>
        </p:txBody>
      </p:sp>
      <p:sp>
        <p:nvSpPr>
          <p:cNvPr id="4" name="Card-167"/>
          <p:cNvSpPr/>
          <p:nvPr/>
        </p:nvSpPr>
        <p:spPr>
          <a:xfrm>
            <a:off x="548640" y="150876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168"/>
          <p:cNvSpPr txBox="1"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-169"/>
          <p:cNvSpPr txBox="1"/>
          <p:nvPr/>
        </p:nvSpPr>
        <p:spPr>
          <a:xfrm>
            <a:off x="13716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Konuşma ve ses altyapısı</a:t>
            </a:r>
            <a:endParaRPr lang="en-US" sz="1600" dirty="0"/>
          </a:p>
        </p:txBody>
      </p:sp>
      <p:sp>
        <p:nvSpPr>
          <p:cNvPr id="7" name="Text-170"/>
          <p:cNvSpPr txBox="1"/>
          <p:nvPr/>
        </p:nvSpPr>
        <p:spPr>
          <a:xfrm>
            <a:off x="777240" y="23317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Tanıma, seslendirme ve kelime zamanlaması iki ürünü de taşır: kelime vurgulu sesli okuma (Aybal), sahneler ve telaffuz (LiveFX).</a:t>
            </a:r>
            <a:endParaRPr lang="en-US" sz="1200" dirty="0"/>
          </a:p>
        </p:txBody>
      </p:sp>
      <p:sp>
        <p:nvSpPr>
          <p:cNvPr id="8" name="Card-171"/>
          <p:cNvSpPr/>
          <p:nvPr/>
        </p:nvSpPr>
        <p:spPr>
          <a:xfrm>
            <a:off x="4023360" y="150876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172"/>
          <p:cNvSpPr txBox="1"/>
          <p:nvPr/>
        </p:nvSpPr>
        <p:spPr>
          <a:xfrm>
            <a:off x="4251960" y="17373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-173"/>
          <p:cNvSpPr txBox="1"/>
          <p:nvPr/>
        </p:nvSpPr>
        <p:spPr>
          <a:xfrm>
            <a:off x="48463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içerik</a:t>
            </a:r>
            <a:endParaRPr lang="en-US" sz="1600" dirty="0"/>
          </a:p>
        </p:txBody>
      </p:sp>
      <p:sp>
        <p:nvSpPr>
          <p:cNvPr id="11" name="Text-174"/>
          <p:cNvSpPr txBox="1"/>
          <p:nvPr/>
        </p:nvSpPr>
        <p:spPr>
          <a:xfrm>
            <a:off x="4251960" y="23317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Kitap serisi Aybal'a sesli okuma kitapları, LiveFX hikâye moduna hikâye paketleri sağlar.</a:t>
            </a:r>
            <a:endParaRPr lang="en-US" sz="1200" dirty="0"/>
          </a:p>
        </p:txBody>
      </p:sp>
      <p:sp>
        <p:nvSpPr>
          <p:cNvPr id="12" name="Card-175"/>
          <p:cNvSpPr/>
          <p:nvPr/>
        </p:nvSpPr>
        <p:spPr>
          <a:xfrm>
            <a:off x="548640" y="384048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176"/>
          <p:cNvSpPr txBox="1"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-177"/>
          <p:cNvSpPr txBox="1"/>
          <p:nvPr/>
        </p:nvSpPr>
        <p:spPr>
          <a:xfrm>
            <a:off x="13716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DE/TR/EN pazarları</a:t>
            </a:r>
            <a:endParaRPr lang="en-US" sz="1600" dirty="0"/>
          </a:p>
        </p:txBody>
      </p:sp>
      <p:sp>
        <p:nvSpPr>
          <p:cNvPr id="15" name="Text-178"/>
          <p:cNvSpPr txBox="1"/>
          <p:nvPr/>
        </p:nvSpPr>
        <p:spPr>
          <a:xfrm>
            <a:off x="777240" y="46634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İkisi de Türk-Alman topluluğundan başlar: Aybal Almanya lansmanıyla, LiveFX Türk yayıncılarla.</a:t>
            </a:r>
            <a:endParaRPr lang="en-US" sz="1200" dirty="0"/>
          </a:p>
        </p:txBody>
      </p:sp>
      <p:sp>
        <p:nvSpPr>
          <p:cNvPr id="16" name="Card-179"/>
          <p:cNvSpPr/>
          <p:nvPr/>
        </p:nvSpPr>
        <p:spPr>
          <a:xfrm>
            <a:off x="4023360" y="384048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7" name="Badge-180"/>
          <p:cNvSpPr txBox="1"/>
          <p:nvPr/>
        </p:nvSpPr>
        <p:spPr>
          <a:xfrm>
            <a:off x="4251960" y="406908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Text-181"/>
          <p:cNvSpPr txBox="1"/>
          <p:nvPr/>
        </p:nvSpPr>
        <p:spPr>
          <a:xfrm>
            <a:off x="48463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Çapraz satış</a:t>
            </a:r>
            <a:endParaRPr lang="en-US" sz="1600" dirty="0"/>
          </a:p>
        </p:txBody>
      </p:sp>
      <p:sp>
        <p:nvSpPr>
          <p:cNvPr id="19" name="Text-182"/>
          <p:cNvSpPr txBox="1"/>
          <p:nvPr/>
        </p:nvSpPr>
        <p:spPr>
          <a:xfrm>
            <a:off x="4251960" y="46634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Sesli okuma yayınları aileleri Aybal'a taşır; Aybal aileleri LiveFX WortBild'in (dil öğrenme) hedef kitlesidir.</a:t>
            </a:r>
            <a:endParaRPr lang="en-US" sz="1200" dirty="0"/>
          </a:p>
        </p:txBody>
      </p:sp>
      <p:pic>
        <p:nvPicPr>
          <p:cNvPr id="20" name="Image-183" descr="/home/user/Notion/live-fx/business/video/stills/vision-tr-16x9-15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1508760"/>
            <a:ext cx="4099255" cy="2305831"/>
          </a:xfrm>
          <a:prstGeom prst="rect">
            <a:avLst/>
          </a:prstGeom>
        </p:spPr>
      </p:pic>
      <p:sp>
        <p:nvSpPr>
          <p:cNvPr id="21" name="Text-184"/>
          <p:cNvSpPr txBox="1"/>
          <p:nvPr/>
        </p:nvSpPr>
        <p:spPr>
          <a:xfrm>
            <a:off x="7543800" y="3860311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WortBild (vizyon fragmanı)</a:t>
            </a:r>
            <a:endParaRPr lang="en-US" sz="900" dirty="0"/>
          </a:p>
        </p:txBody>
      </p:sp>
      <p:sp>
        <p:nvSpPr>
          <p:cNvPr id="22" name="Wave-185"/>
          <p:cNvSpPr/>
          <p:nvPr/>
        </p:nvSpPr>
        <p:spPr>
          <a:xfrm>
            <a:off x="7543800" y="4425696"/>
            <a:ext cx="102481" cy="10972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186"/>
          <p:cNvSpPr/>
          <p:nvPr/>
        </p:nvSpPr>
        <p:spPr>
          <a:xfrm>
            <a:off x="7748763" y="4285259"/>
            <a:ext cx="102481" cy="39060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187"/>
          <p:cNvSpPr/>
          <p:nvPr/>
        </p:nvSpPr>
        <p:spPr>
          <a:xfrm>
            <a:off x="7953726" y="4293030"/>
            <a:ext cx="102481" cy="37505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188"/>
          <p:cNvSpPr/>
          <p:nvPr/>
        </p:nvSpPr>
        <p:spPr>
          <a:xfrm>
            <a:off x="8158688" y="4312414"/>
            <a:ext cx="102481" cy="33629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189"/>
          <p:cNvSpPr/>
          <p:nvPr/>
        </p:nvSpPr>
        <p:spPr>
          <a:xfrm>
            <a:off x="8363651" y="4265515"/>
            <a:ext cx="102481" cy="43009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190"/>
          <p:cNvSpPr/>
          <p:nvPr/>
        </p:nvSpPr>
        <p:spPr>
          <a:xfrm>
            <a:off x="8568614" y="4319069"/>
            <a:ext cx="102481" cy="32298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191"/>
          <p:cNvSpPr/>
          <p:nvPr/>
        </p:nvSpPr>
        <p:spPr>
          <a:xfrm>
            <a:off x="8773577" y="4361334"/>
            <a:ext cx="102481" cy="2384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9" name="Wave-192"/>
          <p:cNvSpPr/>
          <p:nvPr/>
        </p:nvSpPr>
        <p:spPr>
          <a:xfrm>
            <a:off x="8978539" y="4284695"/>
            <a:ext cx="102481" cy="39173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0" name="Wave-193"/>
          <p:cNvSpPr/>
          <p:nvPr/>
        </p:nvSpPr>
        <p:spPr>
          <a:xfrm>
            <a:off x="9183502" y="4316207"/>
            <a:ext cx="102481" cy="32870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1" name="Wave-194"/>
          <p:cNvSpPr/>
          <p:nvPr/>
        </p:nvSpPr>
        <p:spPr>
          <a:xfrm>
            <a:off x="9388465" y="4287495"/>
            <a:ext cx="102481" cy="38612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2" name="Wave-195"/>
          <p:cNvSpPr/>
          <p:nvPr/>
        </p:nvSpPr>
        <p:spPr>
          <a:xfrm>
            <a:off x="9593428" y="4256824"/>
            <a:ext cx="102481" cy="44747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196"/>
          <p:cNvSpPr/>
          <p:nvPr/>
        </p:nvSpPr>
        <p:spPr>
          <a:xfrm>
            <a:off x="9798390" y="4379488"/>
            <a:ext cx="102481" cy="20214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197"/>
          <p:cNvSpPr/>
          <p:nvPr/>
        </p:nvSpPr>
        <p:spPr>
          <a:xfrm>
            <a:off x="10003353" y="4319566"/>
            <a:ext cx="102481" cy="32198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198"/>
          <p:cNvSpPr/>
          <p:nvPr/>
        </p:nvSpPr>
        <p:spPr>
          <a:xfrm>
            <a:off x="10208316" y="4306193"/>
            <a:ext cx="102481" cy="34873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199"/>
          <p:cNvSpPr/>
          <p:nvPr/>
        </p:nvSpPr>
        <p:spPr>
          <a:xfrm>
            <a:off x="10413279" y="4316368"/>
            <a:ext cx="102481" cy="32838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200"/>
          <p:cNvSpPr/>
          <p:nvPr/>
        </p:nvSpPr>
        <p:spPr>
          <a:xfrm>
            <a:off x="10618241" y="4254143"/>
            <a:ext cx="102481" cy="45283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201"/>
          <p:cNvSpPr/>
          <p:nvPr/>
        </p:nvSpPr>
        <p:spPr>
          <a:xfrm>
            <a:off x="10823204" y="4281183"/>
            <a:ext cx="102481" cy="39875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Wave-202"/>
          <p:cNvSpPr/>
          <p:nvPr/>
        </p:nvSpPr>
        <p:spPr>
          <a:xfrm>
            <a:off x="11028167" y="4405862"/>
            <a:ext cx="102481" cy="14939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0" name="Wave-203"/>
          <p:cNvSpPr/>
          <p:nvPr/>
        </p:nvSpPr>
        <p:spPr>
          <a:xfrm>
            <a:off x="11233130" y="4310428"/>
            <a:ext cx="102481" cy="3402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1" name="Wave-204"/>
          <p:cNvSpPr/>
          <p:nvPr/>
        </p:nvSpPr>
        <p:spPr>
          <a:xfrm>
            <a:off x="11438092" y="4327426"/>
            <a:ext cx="102481" cy="30626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2" name="Text-205"/>
          <p:cNvSpPr txBox="1"/>
          <p:nvPr/>
        </p:nvSpPr>
        <p:spPr>
          <a:xfrm>
            <a:off x="7543800" y="4983480"/>
            <a:ext cx="4099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Sinerjiler varsayımdır, henüz ölçülmedi.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TEKLİF / YATIRIM TURU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proje için 500.000 €</a:t>
            </a:r>
            <a:endParaRPr lang="en-US" sz="3200" dirty="0"/>
          </a:p>
        </p:txBody>
      </p:sp>
      <p:graphicFrame>
        <p:nvGraphicFramePr>
          <p:cNvPr id="4" name="Use-of-funds-donut" descr=""/>
          <p:cNvGraphicFramePr/>
          <p:nvPr/>
        </p:nvGraphicFramePr>
        <p:xfrm>
          <a:off x="548640" y="1417320"/>
          <a:ext cx="4572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206"/>
          <p:cNvSpPr txBox="1"/>
          <p:nvPr/>
        </p:nvSpPr>
        <p:spPr>
          <a:xfrm>
            <a:off x="173736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500.000 €</a:t>
            </a:r>
            <a:endParaRPr lang="en-US" sz="2600" dirty="0"/>
          </a:p>
        </p:txBody>
      </p:sp>
      <p:sp>
        <p:nvSpPr>
          <p:cNvPr id="6" name="Text-207"/>
          <p:cNvSpPr txBox="1"/>
          <p:nvPr/>
        </p:nvSpPr>
        <p:spPr>
          <a:xfrm>
            <a:off x="17373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Dağılım (öneri)</a:t>
            </a:r>
            <a:endParaRPr lang="en-US" sz="1100" dirty="0"/>
          </a:p>
        </p:txBody>
      </p:sp>
      <p:sp>
        <p:nvSpPr>
          <p:cNvPr id="7" name="Pill-208"/>
          <p:cNvSpPr txBox="1"/>
          <p:nvPr/>
        </p:nvSpPr>
        <p:spPr>
          <a:xfrm>
            <a:off x="5669280" y="155448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 – LÜTFEN ONAYLAYIN</a:t>
            </a:r>
            <a:endParaRPr lang="en-US" sz="1000" dirty="0"/>
          </a:p>
        </p:txBody>
      </p:sp>
      <p:sp>
        <p:nvSpPr>
          <p:cNvPr id="8" name="Card-209"/>
          <p:cNvSpPr/>
          <p:nvPr/>
        </p:nvSpPr>
        <p:spPr>
          <a:xfrm>
            <a:off x="5669280" y="2148840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210"/>
          <p:cNvSpPr txBox="1"/>
          <p:nvPr/>
        </p:nvSpPr>
        <p:spPr>
          <a:xfrm>
            <a:off x="5897880" y="2423160"/>
            <a:ext cx="320040" cy="3200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-211"/>
          <p:cNvSpPr txBox="1"/>
          <p:nvPr/>
        </p:nvSpPr>
        <p:spPr>
          <a:xfrm>
            <a:off x="6400800" y="2276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800" dirty="0"/>
          </a:p>
        </p:txBody>
      </p:sp>
      <p:sp>
        <p:nvSpPr>
          <p:cNvPr id="11" name="Text-212"/>
          <p:cNvSpPr txBox="1"/>
          <p:nvPr/>
        </p:nvSpPr>
        <p:spPr>
          <a:xfrm>
            <a:off x="640080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sunumundaki gibi</a:t>
            </a:r>
            <a:endParaRPr lang="en-US" sz="1200" dirty="0"/>
          </a:p>
        </p:txBody>
      </p:sp>
      <p:sp>
        <p:nvSpPr>
          <p:cNvPr id="12" name="Text-213"/>
          <p:cNvSpPr txBox="1"/>
          <p:nvPr/>
        </p:nvSpPr>
        <p:spPr>
          <a:xfrm>
            <a:off x="9265615" y="2258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250.000 €</a:t>
            </a:r>
            <a:endParaRPr lang="en-US" sz="2600" dirty="0"/>
          </a:p>
        </p:txBody>
      </p:sp>
      <p:sp>
        <p:nvSpPr>
          <p:cNvPr id="13" name="Card-214"/>
          <p:cNvSpPr/>
          <p:nvPr/>
        </p:nvSpPr>
        <p:spPr>
          <a:xfrm>
            <a:off x="5669280" y="3172968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4" name="Badge-215"/>
          <p:cNvSpPr txBox="1"/>
          <p:nvPr/>
        </p:nvSpPr>
        <p:spPr>
          <a:xfrm>
            <a:off x="5897880" y="3447288"/>
            <a:ext cx="320040" cy="3200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-216"/>
          <p:cNvSpPr txBox="1"/>
          <p:nvPr/>
        </p:nvSpPr>
        <p:spPr>
          <a:xfrm>
            <a:off x="6400800" y="3300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800" dirty="0"/>
          </a:p>
        </p:txBody>
      </p:sp>
      <p:sp>
        <p:nvSpPr>
          <p:cNvPr id="16" name="Text-217"/>
          <p:cNvSpPr txBox="1"/>
          <p:nvPr/>
        </p:nvSpPr>
        <p:spPr>
          <a:xfrm>
            <a:off x="6400800" y="3648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planındaki seed aralığının bir kısmı</a:t>
            </a:r>
            <a:endParaRPr lang="en-US" sz="1200" dirty="0"/>
          </a:p>
        </p:txBody>
      </p:sp>
      <p:sp>
        <p:nvSpPr>
          <p:cNvPr id="17" name="Text-218"/>
          <p:cNvSpPr txBox="1"/>
          <p:nvPr/>
        </p:nvSpPr>
        <p:spPr>
          <a:xfrm>
            <a:off x="9265615" y="328269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200.000 €</a:t>
            </a:r>
            <a:endParaRPr lang="en-US" sz="2600" dirty="0"/>
          </a:p>
        </p:txBody>
      </p:sp>
      <p:sp>
        <p:nvSpPr>
          <p:cNvPr id="18" name="Card-219"/>
          <p:cNvSpPr/>
          <p:nvPr/>
        </p:nvSpPr>
        <p:spPr>
          <a:xfrm>
            <a:off x="5669280" y="4197096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9" name="Badge-220"/>
          <p:cNvSpPr txBox="1"/>
          <p:nvPr/>
        </p:nvSpPr>
        <p:spPr>
          <a:xfrm>
            <a:off x="5897880" y="4471416"/>
            <a:ext cx="320040" cy="3200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Text-221"/>
          <p:cNvSpPr txBox="1"/>
          <p:nvPr/>
        </p:nvSpPr>
        <p:spPr>
          <a:xfrm>
            <a:off x="6400800" y="4325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Kitap serisi / içerik</a:t>
            </a:r>
            <a:endParaRPr lang="en-US" sz="1800" dirty="0"/>
          </a:p>
        </p:txBody>
      </p:sp>
      <p:sp>
        <p:nvSpPr>
          <p:cNvPr id="21" name="Text-222"/>
          <p:cNvSpPr txBox="1"/>
          <p:nvPr/>
        </p:nvSpPr>
        <p:spPr>
          <a:xfrm>
            <a:off x="6400800" y="4672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Sesli sürümler, baskılar, haklar</a:t>
            </a:r>
            <a:endParaRPr lang="en-US" sz="1200" dirty="0"/>
          </a:p>
        </p:txBody>
      </p:sp>
      <p:sp>
        <p:nvSpPr>
          <p:cNvPr id="22" name="Text-223"/>
          <p:cNvSpPr txBox="1"/>
          <p:nvPr/>
        </p:nvSpPr>
        <p:spPr>
          <a:xfrm>
            <a:off x="9265615" y="430682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50.000 €</a:t>
            </a:r>
            <a:endParaRPr lang="en-US" sz="2600" dirty="0"/>
          </a:p>
        </p:txBody>
      </p:sp>
      <p:sp>
        <p:nvSpPr>
          <p:cNvPr id="23" name="Text-224"/>
          <p:cNvSpPr txBox="1"/>
          <p:nvPr/>
        </p:nvSpPr>
        <p:spPr>
          <a:xfrm>
            <a:off x="5669280" y="530352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koşulları kendi sunumuna göre: değerleme tavanı 1,30 milyon € (pre-money), tavanda ~%16, planlanan kapanış Mart 2027. LiveFX ve içerik için koşullar: [açık].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TEKLİF / FON KULLANIMI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Projelere göre fon kullanımı</a:t>
            </a:r>
            <a:endParaRPr lang="en-US" sz="3200" dirty="0"/>
          </a:p>
        </p:txBody>
      </p:sp>
      <p:sp>
        <p:nvSpPr>
          <p:cNvPr id="4" name="Card-225"/>
          <p:cNvSpPr/>
          <p:nvPr/>
        </p:nvSpPr>
        <p:spPr>
          <a:xfrm>
            <a:off x="548640" y="1508760"/>
            <a:ext cx="4343400" cy="438912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Text-226"/>
          <p:cNvSpPr txBox="1"/>
          <p:nvPr/>
        </p:nvSpPr>
        <p:spPr>
          <a:xfrm>
            <a:off x="777240" y="17099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· 250.000 € (Aybal sunumuna göre)</a:t>
            </a:r>
            <a:endParaRPr lang="en-US" sz="1600" dirty="0"/>
          </a:p>
        </p:txBody>
      </p:sp>
      <p:graphicFrame>
        <p:nvGraphicFramePr>
          <p:cNvPr id="6" name="Aybal-use-of-funds-bar" descr=""/>
          <p:cNvGraphicFramePr/>
          <p:nvPr/>
        </p:nvGraphicFramePr>
        <p:xfrm>
          <a:off x="640080" y="2286000"/>
          <a:ext cx="4160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227"/>
          <p:cNvSpPr txBox="1"/>
          <p:nvPr/>
        </p:nvSpPr>
        <p:spPr>
          <a:xfrm>
            <a:off x="77724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Ekip: 125.000 €  ·  Pazarlama: 62.500 €  ·  AB ses altyapısı + mağaza uygulaması: 37.500 €  ·  Hukuk / güven: 25.000 €</a:t>
            </a:r>
            <a:endParaRPr lang="en-US" sz="1100" dirty="0"/>
          </a:p>
        </p:txBody>
      </p:sp>
      <p:sp>
        <p:nvSpPr>
          <p:cNvPr id="8" name="Card-228"/>
          <p:cNvSpPr/>
          <p:nvPr/>
        </p:nvSpPr>
        <p:spPr>
          <a:xfrm>
            <a:off x="5157216" y="1508760"/>
            <a:ext cx="3154680" cy="4389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Text-229"/>
          <p:cNvSpPr txBox="1"/>
          <p:nvPr/>
        </p:nvSpPr>
        <p:spPr>
          <a:xfrm>
            <a:off x="5385816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· 200.000 €</a:t>
            </a:r>
            <a:endParaRPr lang="en-US" sz="1600" dirty="0"/>
          </a:p>
        </p:txBody>
      </p:sp>
      <p:sp>
        <p:nvSpPr>
          <p:cNvPr id="10" name="Pill-230"/>
          <p:cNvSpPr txBox="1"/>
          <p:nvPr/>
        </p:nvSpPr>
        <p:spPr>
          <a:xfrm>
            <a:off x="5385816" y="2148840"/>
            <a:ext cx="26974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 – LÜTFEN ONAYLAYIN</a:t>
            </a:r>
            <a:endParaRPr lang="en-US" sz="900" dirty="0"/>
          </a:p>
        </p:txBody>
      </p:sp>
      <p:sp>
        <p:nvSpPr>
          <p:cNvPr id="11" name="Text-231"/>
          <p:cNvSpPr txBox="1"/>
          <p:nvPr/>
        </p:nvSpPr>
        <p:spPr>
          <a:xfrm>
            <a:off x="5385816" y="260604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yılın baz maliyetlerini (165 bin €) ve bir tamponu karşılar. İş planı 250–350 bin € öngörür; kalanı gelir, teşvik ya da sonraki turla.</a:t>
            </a:r>
            <a:endParaRPr lang="en-US" sz="1200" dirty="0"/>
          </a:p>
        </p:txBody>
      </p:sp>
      <p:sp>
        <p:nvSpPr>
          <p:cNvPr id="12" name="Text-232"/>
          <p:cNvSpPr txBox="1"/>
          <p:nvPr/>
        </p:nvSpPr>
        <p:spPr>
          <a:xfrm>
            <a:off x="5385816" y="40233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geliştirici (ilk işe alım)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 ortaklık programı, pazarlama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ve eğitim pilotları</a:t>
            </a:r>
            <a:endParaRPr lang="en-US" sz="1400" dirty="0"/>
          </a:p>
        </p:txBody>
      </p:sp>
      <p:sp>
        <p:nvSpPr>
          <p:cNvPr id="13" name="Card-233"/>
          <p:cNvSpPr/>
          <p:nvPr/>
        </p:nvSpPr>
        <p:spPr>
          <a:xfrm>
            <a:off x="8577072" y="1508760"/>
            <a:ext cx="3154680" cy="4389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4" name="Text-234"/>
          <p:cNvSpPr txBox="1"/>
          <p:nvPr/>
        </p:nvSpPr>
        <p:spPr>
          <a:xfrm>
            <a:off x="8805672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Kitap serisi · 50.000 €</a:t>
            </a:r>
            <a:endParaRPr lang="en-US" sz="1600" dirty="0"/>
          </a:p>
        </p:txBody>
      </p:sp>
      <p:sp>
        <p:nvSpPr>
          <p:cNvPr id="15" name="Pill-235"/>
          <p:cNvSpPr txBox="1"/>
          <p:nvPr/>
        </p:nvSpPr>
        <p:spPr>
          <a:xfrm>
            <a:off x="8805672" y="2148840"/>
            <a:ext cx="26974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 – LÜTFEN ONAYLAYIN</a:t>
            </a:r>
            <a:endParaRPr lang="en-US" sz="900" dirty="0"/>
          </a:p>
        </p:txBody>
      </p:sp>
      <p:sp>
        <p:nvSpPr>
          <p:cNvPr id="16" name="Text-236"/>
          <p:cNvSpPr txBox="1"/>
          <p:nvPr/>
        </p:nvSpPr>
        <p:spPr>
          <a:xfrm>
            <a:off x="8805672" y="2606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için DE/TR/EN sesli sürümler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Editörlük, çeviri, baskılar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Haklar, lisanslar, ISBN</a:t>
            </a:r>
            <a:endParaRPr lang="en-US" sz="1400" dirty="0"/>
          </a:p>
        </p:txBody>
      </p:sp>
      <p:sp>
        <p:nvSpPr>
          <p:cNvPr id="17" name="Text-237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Kaynaklar: Aybal_Investor_Deck.pptx slayt 12; BUSINESSPLAN.md bölüm 11.3–11.4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TEKLİF / KİLOMETRE TAŞLARI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ay: projelere göre kilometre taşları</a:t>
            </a:r>
            <a:endParaRPr lang="en-US" sz="3200" dirty="0"/>
          </a:p>
        </p:txBody>
      </p:sp>
      <p:sp>
        <p:nvSpPr>
          <p:cNvPr id="4" name="Text-238"/>
          <p:cNvSpPr txBox="1"/>
          <p:nvPr/>
        </p:nvSpPr>
        <p:spPr>
          <a:xfrm>
            <a:off x="1920240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4Ç 26</a:t>
            </a:r>
            <a:endParaRPr lang="en-US" sz="1100" dirty="0"/>
          </a:p>
        </p:txBody>
      </p:sp>
      <p:sp>
        <p:nvSpPr>
          <p:cNvPr id="5" name="Text-239"/>
          <p:cNvSpPr txBox="1"/>
          <p:nvPr/>
        </p:nvSpPr>
        <p:spPr>
          <a:xfrm>
            <a:off x="3135592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1Ç 27</a:t>
            </a:r>
            <a:endParaRPr lang="en-US" sz="1100" dirty="0"/>
          </a:p>
        </p:txBody>
      </p:sp>
      <p:sp>
        <p:nvSpPr>
          <p:cNvPr id="6" name="Text-240"/>
          <p:cNvSpPr txBox="1"/>
          <p:nvPr/>
        </p:nvSpPr>
        <p:spPr>
          <a:xfrm>
            <a:off x="4350944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2Ç 27</a:t>
            </a:r>
            <a:endParaRPr lang="en-US" sz="1100" dirty="0"/>
          </a:p>
        </p:txBody>
      </p:sp>
      <p:sp>
        <p:nvSpPr>
          <p:cNvPr id="7" name="Text-241"/>
          <p:cNvSpPr txBox="1"/>
          <p:nvPr/>
        </p:nvSpPr>
        <p:spPr>
          <a:xfrm>
            <a:off x="5566296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3Ç 27</a:t>
            </a:r>
            <a:endParaRPr lang="en-US" sz="1100" dirty="0"/>
          </a:p>
        </p:txBody>
      </p:sp>
      <p:sp>
        <p:nvSpPr>
          <p:cNvPr id="8" name="Text-242"/>
          <p:cNvSpPr txBox="1"/>
          <p:nvPr/>
        </p:nvSpPr>
        <p:spPr>
          <a:xfrm>
            <a:off x="6781648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4Ç 27</a:t>
            </a:r>
            <a:endParaRPr lang="en-US" sz="1100" dirty="0"/>
          </a:p>
        </p:txBody>
      </p:sp>
      <p:sp>
        <p:nvSpPr>
          <p:cNvPr id="9" name="Text-243"/>
          <p:cNvSpPr txBox="1"/>
          <p:nvPr/>
        </p:nvSpPr>
        <p:spPr>
          <a:xfrm>
            <a:off x="7997000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1Ç 28</a:t>
            </a:r>
            <a:endParaRPr lang="en-US" sz="1100" dirty="0"/>
          </a:p>
        </p:txBody>
      </p:sp>
      <p:sp>
        <p:nvSpPr>
          <p:cNvPr id="10" name="Text-244"/>
          <p:cNvSpPr txBox="1"/>
          <p:nvPr/>
        </p:nvSpPr>
        <p:spPr>
          <a:xfrm>
            <a:off x="9212351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2Ç 28</a:t>
            </a:r>
            <a:endParaRPr lang="en-US" sz="1100" dirty="0"/>
          </a:p>
        </p:txBody>
      </p:sp>
      <p:sp>
        <p:nvSpPr>
          <p:cNvPr id="11" name="Text-245"/>
          <p:cNvSpPr txBox="1"/>
          <p:nvPr/>
        </p:nvSpPr>
        <p:spPr>
          <a:xfrm>
            <a:off x="10427703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3Ç 28</a:t>
            </a:r>
            <a:endParaRPr lang="en-US" sz="1100" dirty="0"/>
          </a:p>
        </p:txBody>
      </p:sp>
      <p:sp>
        <p:nvSpPr>
          <p:cNvPr id="12" name="Lane-246"/>
          <p:cNvSpPr/>
          <p:nvPr/>
        </p:nvSpPr>
        <p:spPr>
          <a:xfrm>
            <a:off x="1920240" y="237744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13" name="Text-247"/>
          <p:cNvSpPr txBox="1"/>
          <p:nvPr/>
        </p:nvSpPr>
        <p:spPr>
          <a:xfrm>
            <a:off x="5486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600" dirty="0"/>
          </a:p>
        </p:txBody>
      </p:sp>
      <p:sp>
        <p:nvSpPr>
          <p:cNvPr id="14" name="Milestone-248"/>
          <p:cNvSpPr txBox="1"/>
          <p:nvPr/>
        </p:nvSpPr>
        <p:spPr>
          <a:xfrm>
            <a:off x="1965960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(50 aile) · Almanya lansmanı</a:t>
            </a:r>
            <a:endParaRPr lang="en-US" sz="1100" dirty="0"/>
          </a:p>
        </p:txBody>
      </p:sp>
      <p:sp>
        <p:nvSpPr>
          <p:cNvPr id="15" name="Milestone-249"/>
          <p:cNvSpPr txBox="1"/>
          <p:nvPr/>
        </p:nvSpPr>
        <p:spPr>
          <a:xfrm>
            <a:off x="3181312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Kapanış Mart 2027</a:t>
            </a:r>
            <a:endParaRPr lang="en-US" sz="1100" dirty="0"/>
          </a:p>
        </p:txBody>
      </p:sp>
      <p:sp>
        <p:nvSpPr>
          <p:cNvPr id="16" name="Milestone-250"/>
          <p:cNvSpPr txBox="1"/>
          <p:nvPr/>
        </p:nvSpPr>
        <p:spPr>
          <a:xfrm>
            <a:off x="4396664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Kapı 1: aktivasyon</a:t>
            </a:r>
            <a:endParaRPr lang="en-US" sz="1100" dirty="0"/>
          </a:p>
        </p:txBody>
      </p:sp>
      <p:sp>
        <p:nvSpPr>
          <p:cNvPr id="17" name="Milestone-251"/>
          <p:cNvSpPr txBox="1"/>
          <p:nvPr/>
        </p:nvSpPr>
        <p:spPr>
          <a:xfrm>
            <a:off x="8042720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Kapı 2: elde tutma</a:t>
            </a:r>
            <a:endParaRPr lang="en-US" sz="1100" dirty="0"/>
          </a:p>
        </p:txBody>
      </p:sp>
      <p:sp>
        <p:nvSpPr>
          <p:cNvPr id="18" name="Milestone-252"/>
          <p:cNvSpPr txBox="1"/>
          <p:nvPr/>
        </p:nvSpPr>
        <p:spPr>
          <a:xfrm>
            <a:off x="9258071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genişlemesi 2027–28</a:t>
            </a:r>
            <a:endParaRPr lang="en-US" sz="1100" dirty="0"/>
          </a:p>
        </p:txBody>
      </p:sp>
      <p:sp>
        <p:nvSpPr>
          <p:cNvPr id="19" name="Lane-253"/>
          <p:cNvSpPr/>
          <p:nvPr/>
        </p:nvSpPr>
        <p:spPr>
          <a:xfrm>
            <a:off x="1920240" y="370332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20" name="Text-254"/>
          <p:cNvSpPr txBox="1"/>
          <p:nvPr/>
        </p:nvSpPr>
        <p:spPr>
          <a:xfrm>
            <a:off x="54864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600" dirty="0"/>
          </a:p>
        </p:txBody>
      </p:sp>
      <p:sp>
        <p:nvSpPr>
          <p:cNvPr id="21" name="Milestone-255"/>
          <p:cNvSpPr txBox="1"/>
          <p:nvPr/>
        </p:nvSpPr>
        <p:spPr>
          <a:xfrm>
            <a:off x="1965960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lansmanı</a:t>
            </a:r>
            <a:endParaRPr lang="en-US" sz="1100" dirty="0"/>
          </a:p>
        </p:txBody>
      </p:sp>
      <p:sp>
        <p:nvSpPr>
          <p:cNvPr id="22" name="Milestone-256"/>
          <p:cNvSpPr txBox="1"/>
          <p:nvPr/>
        </p:nvSpPr>
        <p:spPr>
          <a:xfrm>
            <a:off x="3181312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abonelik, DE/EN</a:t>
            </a:r>
            <a:endParaRPr lang="en-US" sz="1100" dirty="0"/>
          </a:p>
        </p:txBody>
      </p:sp>
      <p:sp>
        <p:nvSpPr>
          <p:cNvPr id="23" name="Milestone-257"/>
          <p:cNvSpPr txBox="1"/>
          <p:nvPr/>
        </p:nvSpPr>
        <p:spPr>
          <a:xfrm>
            <a:off x="4396664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uygulama</a:t>
            </a:r>
            <a:endParaRPr lang="en-US" sz="1100" dirty="0"/>
          </a:p>
        </p:txBody>
      </p:sp>
      <p:sp>
        <p:nvSpPr>
          <p:cNvPr id="24" name="Milestone-258"/>
          <p:cNvSpPr txBox="1"/>
          <p:nvPr/>
        </p:nvSpPr>
        <p:spPr>
          <a:xfrm>
            <a:off x="5612016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Pro+, platform pilotu</a:t>
            </a:r>
            <a:endParaRPr lang="en-US" sz="1100" dirty="0"/>
          </a:p>
        </p:txBody>
      </p:sp>
      <p:sp>
        <p:nvSpPr>
          <p:cNvPr id="25" name="Milestone-259"/>
          <p:cNvSpPr txBox="1"/>
          <p:nvPr/>
        </p:nvSpPr>
        <p:spPr>
          <a:xfrm>
            <a:off x="6827368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Okul lisansı</a:t>
            </a:r>
            <a:endParaRPr lang="en-US" sz="1100" dirty="0"/>
          </a:p>
        </p:txBody>
      </p:sp>
      <p:sp>
        <p:nvSpPr>
          <p:cNvPr id="26" name="Milestone-260"/>
          <p:cNvSpPr txBox="1"/>
          <p:nvPr/>
        </p:nvSpPr>
        <p:spPr>
          <a:xfrm>
            <a:off x="9258071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Scene-SDK v1 (2028)</a:t>
            </a:r>
            <a:endParaRPr lang="en-US" sz="1100" dirty="0"/>
          </a:p>
        </p:txBody>
      </p:sp>
      <p:sp>
        <p:nvSpPr>
          <p:cNvPr id="27" name="Lane-261"/>
          <p:cNvSpPr/>
          <p:nvPr/>
        </p:nvSpPr>
        <p:spPr>
          <a:xfrm>
            <a:off x="1920240" y="502920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28" name="Text-262"/>
          <p:cNvSpPr txBox="1"/>
          <p:nvPr/>
        </p:nvSpPr>
        <p:spPr>
          <a:xfrm>
            <a:off x="548640" y="4800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Kitap serisi</a:t>
            </a:r>
            <a:endParaRPr lang="en-US" sz="1600" dirty="0"/>
          </a:p>
        </p:txBody>
      </p:sp>
      <p:sp>
        <p:nvSpPr>
          <p:cNvPr id="29" name="Milestone-263"/>
          <p:cNvSpPr txBox="1"/>
          <p:nvPr/>
        </p:nvSpPr>
        <p:spPr>
          <a:xfrm>
            <a:off x="3181312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Aybal'da sesli sürümler</a:t>
            </a:r>
            <a:endParaRPr lang="en-US" sz="1100" dirty="0"/>
          </a:p>
        </p:txBody>
      </p:sp>
      <p:sp>
        <p:nvSpPr>
          <p:cNvPr id="30" name="Milestone-264"/>
          <p:cNvSpPr txBox="1"/>
          <p:nvPr/>
        </p:nvSpPr>
        <p:spPr>
          <a:xfrm>
            <a:off x="5612016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LiveFX'te yayıncı pilotu</a:t>
            </a:r>
            <a:endParaRPr lang="en-US" sz="1100" dirty="0"/>
          </a:p>
        </p:txBody>
      </p:sp>
      <p:sp>
        <p:nvSpPr>
          <p:cNvPr id="31" name="Milestone-265"/>
          <p:cNvSpPr txBox="1"/>
          <p:nvPr/>
        </p:nvSpPr>
        <p:spPr>
          <a:xfrm>
            <a:off x="8042720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Gençlik serisi [Tarih]</a:t>
            </a:r>
            <a:endParaRPr lang="en-US" sz="1100" dirty="0"/>
          </a:p>
        </p:txBody>
      </p:sp>
      <p:sp>
        <p:nvSpPr>
          <p:cNvPr id="32" name="Text-26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ve LiveFX proje belgelerine göre; kitap serisi: öneri – lütfen onaylayın.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TEKLİF / YAPI VE RİSKLER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Yapı seçenekleri ve riskler</a:t>
            </a:r>
            <a:endParaRPr lang="en-US" sz="3200" dirty="0"/>
          </a:p>
        </p:txBody>
      </p:sp>
      <p:sp>
        <p:nvSpPr>
          <p:cNvPr id="4" name="Text-267"/>
          <p:cNvSpPr txBox="1"/>
          <p:nvPr/>
        </p:nvSpPr>
        <p:spPr>
          <a:xfrm>
            <a:off x="54864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Yapı – tarafsız, hukuki inceleme gerekli</a:t>
            </a:r>
            <a:endParaRPr lang="en-US" sz="1500" dirty="0"/>
          </a:p>
        </p:txBody>
      </p:sp>
      <p:sp>
        <p:nvSpPr>
          <p:cNvPr id="5" name="Card-268"/>
          <p:cNvSpPr/>
          <p:nvPr/>
        </p:nvSpPr>
        <p:spPr>
          <a:xfrm>
            <a:off x="548640" y="1874520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6" name="Text-269"/>
          <p:cNvSpPr txBox="1"/>
          <p:nvPr/>
        </p:nvSpPr>
        <p:spPr>
          <a:xfrm>
            <a:off x="777240" y="19842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Tek holding</a:t>
            </a:r>
            <a:endParaRPr lang="en-US" sz="1500" dirty="0"/>
          </a:p>
        </p:txBody>
      </p:sp>
      <p:sp>
        <p:nvSpPr>
          <p:cNvPr id="7" name="Text-270"/>
          <p:cNvSpPr txBox="1"/>
          <p:nvPr/>
        </p:nvSpPr>
        <p:spPr>
          <a:xfrm>
            <a:off x="777240" y="2313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giriş, toplu fikri mülkiyet; buna karşılık tüm parçaların yeniden değerlemesi ve Aybal koşullarının aktarımı.</a:t>
            </a:r>
            <a:endParaRPr lang="en-US" sz="1200" dirty="0"/>
          </a:p>
        </p:txBody>
      </p:sp>
      <p:sp>
        <p:nvSpPr>
          <p:cNvPr id="8" name="Card-271"/>
          <p:cNvSpPr/>
          <p:nvPr/>
        </p:nvSpPr>
        <p:spPr>
          <a:xfrm>
            <a:off x="548640" y="2990088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Text-272"/>
          <p:cNvSpPr txBox="1"/>
          <p:nvPr/>
        </p:nvSpPr>
        <p:spPr>
          <a:xfrm>
            <a:off x="777240" y="30998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Ayrı şirketler (SPV)</a:t>
            </a:r>
            <a:endParaRPr lang="en-US" sz="1500" dirty="0"/>
          </a:p>
        </p:txBody>
      </p:sp>
      <p:sp>
        <p:nvSpPr>
          <p:cNvPr id="10" name="Text-273"/>
          <p:cNvSpPr txBox="1"/>
          <p:nvPr/>
        </p:nvSpPr>
        <p:spPr>
          <a:xfrm>
            <a:off x="777240" y="3429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proje için ayrı değerleme ve risk, Aybal turu değişmez; buna karşılık daha çok sözleşme ve lisans.</a:t>
            </a:r>
            <a:endParaRPr lang="en-US" sz="1200" dirty="0"/>
          </a:p>
        </p:txBody>
      </p:sp>
      <p:sp>
        <p:nvSpPr>
          <p:cNvPr id="11" name="Card-274"/>
          <p:cNvSpPr/>
          <p:nvPr/>
        </p:nvSpPr>
        <p:spPr>
          <a:xfrm>
            <a:off x="548640" y="4105656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2" name="Text-275"/>
          <p:cNvSpPr txBox="1"/>
          <p:nvPr/>
        </p:nvSpPr>
        <p:spPr>
          <a:xfrm>
            <a:off x="777240" y="42153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Hibrit</a:t>
            </a:r>
            <a:endParaRPr lang="en-US" sz="1500" dirty="0"/>
          </a:p>
        </p:txBody>
      </p:sp>
      <p:sp>
        <p:nvSpPr>
          <p:cNvPr id="13" name="Text-276"/>
          <p:cNvSpPr txBox="1"/>
          <p:nvPr/>
        </p:nvSpPr>
        <p:spPr>
          <a:xfrm>
            <a:off x="777240" y="45445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turu planlandığı gibi; LiveFX ve içerik, lisans sözleşmesiyle ikinci bir şirkette.</a:t>
            </a:r>
            <a:endParaRPr lang="en-US" sz="1200" dirty="0"/>
          </a:p>
        </p:txBody>
      </p:sp>
      <p:sp>
        <p:nvSpPr>
          <p:cNvPr id="14" name="Text-277"/>
          <p:cNvSpPr txBox="1"/>
          <p:nvPr/>
        </p:nvSpPr>
        <p:spPr>
          <a:xfrm>
            <a:off x="54864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Tavsiye değildir – hukuk ve vergi danışmanlığı gereklidir.</a:t>
            </a:r>
            <a:endParaRPr lang="en-US" sz="1300" dirty="0"/>
          </a:p>
        </p:txBody>
      </p:sp>
      <p:sp>
        <p:nvSpPr>
          <p:cNvPr id="15" name="Card-278"/>
          <p:cNvSpPr/>
          <p:nvPr/>
        </p:nvSpPr>
        <p:spPr>
          <a:xfrm>
            <a:off x="7315200" y="1463040"/>
            <a:ext cx="4327855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6" name="Text-279"/>
          <p:cNvSpPr txBox="1"/>
          <p:nvPr/>
        </p:nvSpPr>
        <p:spPr>
          <a:xfrm>
            <a:off x="7589520" y="164592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Başlıca riskler</a:t>
            </a:r>
            <a:endParaRPr lang="en-US" sz="1600" dirty="0"/>
          </a:p>
        </p:txBody>
      </p:sp>
      <p:sp>
        <p:nvSpPr>
          <p:cNvPr id="17" name="Badge-280"/>
          <p:cNvSpPr txBox="1"/>
          <p:nvPr/>
        </p:nvSpPr>
        <p:spPr>
          <a:xfrm>
            <a:off x="7589520" y="226771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18" name="Text-281"/>
          <p:cNvSpPr txBox="1"/>
          <p:nvPr/>
        </p:nvSpPr>
        <p:spPr>
          <a:xfrm>
            <a:off x="8046720" y="219456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 ve elde tutma kanıtlanmadı</a:t>
            </a:r>
            <a:endParaRPr lang="en-US" sz="1400" dirty="0"/>
          </a:p>
        </p:txBody>
      </p:sp>
      <p:sp>
        <p:nvSpPr>
          <p:cNvPr id="19" name="Badge-282"/>
          <p:cNvSpPr txBox="1"/>
          <p:nvPr/>
        </p:nvSpPr>
        <p:spPr>
          <a:xfrm>
            <a:off x="7589520" y="290779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0" name="Text-283"/>
          <p:cNvSpPr txBox="1"/>
          <p:nvPr/>
        </p:nvSpPr>
        <p:spPr>
          <a:xfrm>
            <a:off x="8046720" y="283464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projelerde kilit kişi riski</a:t>
            </a:r>
            <a:endParaRPr lang="en-US" sz="1400" dirty="0"/>
          </a:p>
        </p:txBody>
      </p:sp>
      <p:sp>
        <p:nvSpPr>
          <p:cNvPr id="21" name="Badge-284"/>
          <p:cNvSpPr txBox="1"/>
          <p:nvPr/>
        </p:nvSpPr>
        <p:spPr>
          <a:xfrm>
            <a:off x="7589520" y="354787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2" name="Text-285"/>
          <p:cNvSpPr txBox="1"/>
          <p:nvPr/>
        </p:nvSpPr>
        <p:spPr>
          <a:xfrm>
            <a:off x="8046720" y="34747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Odak: üç proje, küçük ekip</a:t>
            </a:r>
            <a:endParaRPr lang="en-US" sz="1400" dirty="0"/>
          </a:p>
        </p:txBody>
      </p:sp>
      <p:sp>
        <p:nvSpPr>
          <p:cNvPr id="23" name="Badge-286"/>
          <p:cNvSpPr txBox="1"/>
          <p:nvPr/>
        </p:nvSpPr>
        <p:spPr>
          <a:xfrm>
            <a:off x="7589520" y="418795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4" name="Text-287"/>
          <p:cNvSpPr txBox="1"/>
          <p:nvPr/>
        </p:nvSpPr>
        <p:spPr>
          <a:xfrm>
            <a:off x="8046720" y="411480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Ses, telif hakkı, çocuk verileri</a:t>
            </a:r>
            <a:endParaRPr lang="en-US" sz="1400" dirty="0"/>
          </a:p>
        </p:txBody>
      </p:sp>
      <p:sp>
        <p:nvSpPr>
          <p:cNvPr id="25" name="Badge-288"/>
          <p:cNvSpPr txBox="1"/>
          <p:nvPr/>
        </p:nvSpPr>
        <p:spPr>
          <a:xfrm>
            <a:off x="7589520" y="482803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6" name="Text-289"/>
          <p:cNvSpPr txBox="1"/>
          <p:nvPr/>
        </p:nvSpPr>
        <p:spPr>
          <a:xfrm>
            <a:off x="8046720" y="475488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bağımlılığı, TL kur riski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KAPANIŞ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Ekip ve iletişim</a:t>
            </a:r>
            <a:endParaRPr lang="en-US" sz="3200" dirty="0"/>
          </a:p>
        </p:txBody>
      </p:sp>
      <p:sp>
        <p:nvSpPr>
          <p:cNvPr id="4" name="Card-290"/>
          <p:cNvSpPr/>
          <p:nvPr/>
        </p:nvSpPr>
        <p:spPr>
          <a:xfrm>
            <a:off x="548640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291"/>
          <p:cNvSpPr txBox="1"/>
          <p:nvPr/>
        </p:nvSpPr>
        <p:spPr>
          <a:xfrm>
            <a:off x="777240" y="178308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</a:t>
            </a:r>
            <a:endParaRPr lang="en-US" sz="2100" dirty="0"/>
          </a:p>
        </p:txBody>
      </p:sp>
      <p:sp>
        <p:nvSpPr>
          <p:cNvPr id="6" name="Text-292"/>
          <p:cNvSpPr txBox="1"/>
          <p:nvPr/>
        </p:nvSpPr>
        <p:spPr>
          <a:xfrm>
            <a:off x="182880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800" dirty="0"/>
          </a:p>
        </p:txBody>
      </p:sp>
      <p:sp>
        <p:nvSpPr>
          <p:cNvPr id="7" name="Text-293"/>
          <p:cNvSpPr txBox="1"/>
          <p:nvPr/>
        </p:nvSpPr>
        <p:spPr>
          <a:xfrm>
            <a:off x="1828800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Kurucu &amp; Mucit · Genel Müdür (Aybal)</a:t>
            </a:r>
            <a:endParaRPr lang="en-US" sz="1200" dirty="0"/>
          </a:p>
        </p:txBody>
      </p:sp>
      <p:sp>
        <p:nvSpPr>
          <p:cNvPr id="8" name="Card-294"/>
          <p:cNvSpPr/>
          <p:nvPr/>
        </p:nvSpPr>
        <p:spPr>
          <a:xfrm>
            <a:off x="4334256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295"/>
          <p:cNvSpPr txBox="1"/>
          <p:nvPr/>
        </p:nvSpPr>
        <p:spPr>
          <a:xfrm>
            <a:off x="4562856" y="178308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</a:t>
            </a:r>
            <a:endParaRPr lang="en-US" sz="2100" dirty="0"/>
          </a:p>
        </p:txBody>
      </p:sp>
      <p:sp>
        <p:nvSpPr>
          <p:cNvPr id="10" name="Text-296"/>
          <p:cNvSpPr txBox="1"/>
          <p:nvPr/>
        </p:nvSpPr>
        <p:spPr>
          <a:xfrm>
            <a:off x="5614416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800" dirty="0"/>
          </a:p>
        </p:txBody>
      </p:sp>
      <p:sp>
        <p:nvSpPr>
          <p:cNvPr id="11" name="Text-297"/>
          <p:cNvSpPr txBox="1"/>
          <p:nvPr/>
        </p:nvSpPr>
        <p:spPr>
          <a:xfrm>
            <a:off x="5614416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Yatırımcı İlişkileri ve Fon Yaratma (Aybal)</a:t>
            </a:r>
            <a:endParaRPr lang="en-US" sz="1200" dirty="0"/>
          </a:p>
        </p:txBody>
      </p:sp>
      <p:sp>
        <p:nvSpPr>
          <p:cNvPr id="12" name="Card-298"/>
          <p:cNvSpPr/>
          <p:nvPr/>
        </p:nvSpPr>
        <p:spPr>
          <a:xfrm>
            <a:off x="8119872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299"/>
          <p:cNvSpPr txBox="1"/>
          <p:nvPr/>
        </p:nvSpPr>
        <p:spPr>
          <a:xfrm>
            <a:off x="8348472" y="1783080"/>
            <a:ext cx="868680" cy="8686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100" dirty="0"/>
          </a:p>
        </p:txBody>
      </p:sp>
      <p:sp>
        <p:nvSpPr>
          <p:cNvPr id="14" name="Text-300"/>
          <p:cNvSpPr txBox="1"/>
          <p:nvPr/>
        </p:nvSpPr>
        <p:spPr>
          <a:xfrm>
            <a:off x="9400032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[İsim]</a:t>
            </a:r>
            <a:endParaRPr lang="en-US" sz="1800" dirty="0"/>
          </a:p>
        </p:txBody>
      </p:sp>
      <p:sp>
        <p:nvSpPr>
          <p:cNvPr id="15" name="Text-301"/>
          <p:cNvSpPr txBox="1"/>
          <p:nvPr/>
        </p:nvSpPr>
        <p:spPr>
          <a:xfrm>
            <a:off x="9400032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kurucusu · kitap serisinin yazarı</a:t>
            </a:r>
            <a:endParaRPr lang="en-US" sz="1200" dirty="0"/>
          </a:p>
        </p:txBody>
      </p:sp>
      <p:sp>
        <p:nvSpPr>
          <p:cNvPr id="16" name="Text-302"/>
          <p:cNvSpPr txBox="1"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Yatırımdan sonra: teknik kurucu ortak ve büyüme (Aybal), mobil geliştirici (LiveFX), topluluk TR/DE</a:t>
            </a:r>
            <a:endParaRPr lang="en-US" sz="1300" dirty="0"/>
          </a:p>
        </p:txBody>
      </p:sp>
      <p:sp>
        <p:nvSpPr>
          <p:cNvPr id="17" name="Wave-303"/>
          <p:cNvSpPr/>
          <p:nvPr/>
        </p:nvSpPr>
        <p:spPr>
          <a:xfrm>
            <a:off x="548640" y="4050792"/>
            <a:ext cx="73855" cy="12801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304"/>
          <p:cNvSpPr/>
          <p:nvPr/>
        </p:nvSpPr>
        <p:spPr>
          <a:xfrm>
            <a:off x="696351" y="3886949"/>
            <a:ext cx="73855" cy="45570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305"/>
          <p:cNvSpPr/>
          <p:nvPr/>
        </p:nvSpPr>
        <p:spPr>
          <a:xfrm>
            <a:off x="844062" y="3896015"/>
            <a:ext cx="73855" cy="43756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306"/>
          <p:cNvSpPr/>
          <p:nvPr/>
        </p:nvSpPr>
        <p:spPr>
          <a:xfrm>
            <a:off x="991772" y="3918630"/>
            <a:ext cx="73855" cy="39234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307"/>
          <p:cNvSpPr/>
          <p:nvPr/>
        </p:nvSpPr>
        <p:spPr>
          <a:xfrm>
            <a:off x="1139483" y="3863914"/>
            <a:ext cx="73855" cy="50177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308"/>
          <p:cNvSpPr/>
          <p:nvPr/>
        </p:nvSpPr>
        <p:spPr>
          <a:xfrm>
            <a:off x="1287194" y="3926394"/>
            <a:ext cx="73855" cy="37681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309"/>
          <p:cNvSpPr/>
          <p:nvPr/>
        </p:nvSpPr>
        <p:spPr>
          <a:xfrm>
            <a:off x="1434905" y="3975703"/>
            <a:ext cx="73855" cy="278193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310"/>
          <p:cNvSpPr/>
          <p:nvPr/>
        </p:nvSpPr>
        <p:spPr>
          <a:xfrm>
            <a:off x="1582615" y="3886291"/>
            <a:ext cx="73855" cy="4570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311"/>
          <p:cNvSpPr/>
          <p:nvPr/>
        </p:nvSpPr>
        <p:spPr>
          <a:xfrm>
            <a:off x="1730326" y="3923055"/>
            <a:ext cx="73855" cy="38349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312"/>
          <p:cNvSpPr/>
          <p:nvPr/>
        </p:nvSpPr>
        <p:spPr>
          <a:xfrm>
            <a:off x="1878037" y="3889558"/>
            <a:ext cx="73855" cy="45048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313"/>
          <p:cNvSpPr/>
          <p:nvPr/>
        </p:nvSpPr>
        <p:spPr>
          <a:xfrm>
            <a:off x="2025748" y="3853774"/>
            <a:ext cx="73855" cy="5220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314"/>
          <p:cNvSpPr/>
          <p:nvPr/>
        </p:nvSpPr>
        <p:spPr>
          <a:xfrm>
            <a:off x="2173458" y="3996882"/>
            <a:ext cx="73855" cy="23583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9" name="Wave-315"/>
          <p:cNvSpPr/>
          <p:nvPr/>
        </p:nvSpPr>
        <p:spPr>
          <a:xfrm>
            <a:off x="2321169" y="3926974"/>
            <a:ext cx="73855" cy="3756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0" name="Wave-316"/>
          <p:cNvSpPr/>
          <p:nvPr/>
        </p:nvSpPr>
        <p:spPr>
          <a:xfrm>
            <a:off x="2468880" y="3911371"/>
            <a:ext cx="73855" cy="40685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317"/>
          <p:cNvSpPr/>
          <p:nvPr/>
        </p:nvSpPr>
        <p:spPr>
          <a:xfrm>
            <a:off x="2616591" y="3923243"/>
            <a:ext cx="73855" cy="38311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318"/>
          <p:cNvSpPr/>
          <p:nvPr/>
        </p:nvSpPr>
        <p:spPr>
          <a:xfrm>
            <a:off x="2764302" y="3850647"/>
            <a:ext cx="73855" cy="52830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319"/>
          <p:cNvSpPr/>
          <p:nvPr/>
        </p:nvSpPr>
        <p:spPr>
          <a:xfrm>
            <a:off x="2912012" y="3882193"/>
            <a:ext cx="73855" cy="46521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320"/>
          <p:cNvSpPr/>
          <p:nvPr/>
        </p:nvSpPr>
        <p:spPr>
          <a:xfrm>
            <a:off x="3059723" y="4027652"/>
            <a:ext cx="73855" cy="17429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321"/>
          <p:cNvSpPr/>
          <p:nvPr/>
        </p:nvSpPr>
        <p:spPr>
          <a:xfrm>
            <a:off x="3207434" y="3916313"/>
            <a:ext cx="73855" cy="39697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322"/>
          <p:cNvSpPr/>
          <p:nvPr/>
        </p:nvSpPr>
        <p:spPr>
          <a:xfrm>
            <a:off x="3355145" y="3936143"/>
            <a:ext cx="73855" cy="35731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323"/>
          <p:cNvSpPr/>
          <p:nvPr/>
        </p:nvSpPr>
        <p:spPr>
          <a:xfrm>
            <a:off x="3502855" y="3892635"/>
            <a:ext cx="73855" cy="44432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324"/>
          <p:cNvSpPr/>
          <p:nvPr/>
        </p:nvSpPr>
        <p:spPr>
          <a:xfrm>
            <a:off x="3650566" y="3829307"/>
            <a:ext cx="73855" cy="57098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Wave-325"/>
          <p:cNvSpPr/>
          <p:nvPr/>
        </p:nvSpPr>
        <p:spPr>
          <a:xfrm>
            <a:off x="3798277" y="3945588"/>
            <a:ext cx="73855" cy="33842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0" name="Wave-326"/>
          <p:cNvSpPr/>
          <p:nvPr/>
        </p:nvSpPr>
        <p:spPr>
          <a:xfrm>
            <a:off x="3945988" y="3971666"/>
            <a:ext cx="73855" cy="28626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1" name="Wave-327"/>
          <p:cNvSpPr/>
          <p:nvPr/>
        </p:nvSpPr>
        <p:spPr>
          <a:xfrm>
            <a:off x="4093698" y="3934495"/>
            <a:ext cx="73855" cy="36061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2" name="Wave-328"/>
          <p:cNvSpPr/>
          <p:nvPr/>
        </p:nvSpPr>
        <p:spPr>
          <a:xfrm>
            <a:off x="4241409" y="3936739"/>
            <a:ext cx="73855" cy="35612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3" name="Text-329"/>
          <p:cNvSpPr txBox="1"/>
          <p:nvPr/>
        </p:nvSpPr>
        <p:spPr>
          <a:xfrm>
            <a:off x="4663440" y="3703320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Aileler, sınıflar ve canlı yayınlar için tek ses.</a:t>
            </a:r>
            <a:endParaRPr lang="en-US" sz="2400" dirty="0"/>
          </a:p>
        </p:txBody>
      </p:sp>
      <p:sp>
        <p:nvSpPr>
          <p:cNvPr id="44" name="Card-330"/>
          <p:cNvSpPr/>
          <p:nvPr/>
        </p:nvSpPr>
        <p:spPr>
          <a:xfrm>
            <a:off x="548640" y="475488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-331"/>
          <p:cNvSpPr txBox="1"/>
          <p:nvPr/>
        </p:nvSpPr>
        <p:spPr>
          <a:xfrm>
            <a:off x="822960" y="47548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İletişim: Gönül Demet · [E-posta] · [Telefon]</a:t>
            </a:r>
            <a:endParaRPr lang="en-US" sz="1800" dirty="0"/>
          </a:p>
        </p:txBody>
      </p:sp>
      <p:sp>
        <p:nvSpPr>
          <p:cNvPr id="46" name="Text-332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Senaryolar ve ileriye dönük ifadeler tahmin değildir. Yatırım, sermayenin tamamen kaybına yol açabilir.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ine Stimme">
      <a:dk1>
        <a:srgbClr val="15111A"/>
      </a:dk1>
      <a:lt1>
        <a:srgbClr val="FFFFFF"/>
      </a:lt1>
      <a:dk2>
        <a:srgbClr val="241C2A"/>
      </a:dk2>
      <a:lt2>
        <a:srgbClr val="BDB3C4"/>
      </a:lt2>
      <a:accent1>
        <a:srgbClr val="D4B27A"/>
      </a:accent1>
      <a:accent2>
        <a:srgbClr val="FF2D75"/>
      </a:accent2>
      <a:accent3>
        <a:srgbClr val="A08FFF"/>
      </a:accent3>
      <a:accent4>
        <a:srgbClr val="2DFFB5"/>
      </a:accent4>
      <a:accent5>
        <a:srgbClr val="6E1630"/>
      </a:accent5>
      <a:accent6>
        <a:srgbClr val="FFD166"/>
      </a:accent6>
      <a:hlink>
        <a:srgbClr val="FFD166"/>
      </a:hlink>
      <a:folHlink>
        <a:srgbClr val="D4B27A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 ses, üç ürün – Portföy yatırımı</dc:title>
  <dc:subject>Tek ses, üç ürün – Portföy yatırımı</dc:subject>
  <dc:creator>Gönül Demet (Investor Relations)</dc:creator>
  <cp:lastModifiedBy>Gönül Demet (Investor Relations)</cp:lastModifiedBy>
  <cp:revision>1</cp:revision>
  <dcterms:created xsi:type="dcterms:W3CDTF">2026-10-03T13:14:01Z</dcterms:created>
  <dcterms:modified xsi:type="dcterms:W3CDTF">2026-10-03T13:14:01Z</dcterms:modified>
</cp:coreProperties>
</file>