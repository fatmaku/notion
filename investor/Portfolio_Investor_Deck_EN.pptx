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029a9ea-0d50-189a-04a5-20556185349d}">
          <p14:sldIdLst>
            <p14:sldId id="256"/>
            <p14:sldId id="257"/>
          </p14:sldIdLst>
        </p14:section>
        <p14:section name="Portfolio" id="{f3d553e0-a404-583b-1d44-5a1861a831dc}">
          <p14:sldIdLst>
            <p14:sldId id="258"/>
            <p14:sldId id="259"/>
            <p14:sldId id="260"/>
            <p14:sldId id="261"/>
            <p14:sldId id="262"/>
          </p14:sldIdLst>
        </p14:section>
        <p14:section name="The offer" id="{39028bb4-1356-4d18-c3f0-8fea6f23745a}">
          <p14:sldIdLst>
            <p14:sldId id="263"/>
            <p14:sldId id="264"/>
            <p14:sldId id="265"/>
            <p14:sldId id="266"/>
          </p14:sldIdLst>
        </p14:section>
        <p14:section name="Close" id="{a3d982ed-5460-8553-87e2-138c4c41a0d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 (proposal)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B27A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2D75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08FFF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Aybal</c:v>
                </c:pt>
                <c:pt idx="1">
                  <c:v>LiveFX</c:v>
                </c:pt>
                <c:pt idx="2">
                  <c:v>Book series / content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250000</c:v>
                </c:pt>
                <c:pt idx="1">
                  <c:v>200000</c:v>
                </c:pt>
                <c:pt idx="2">
                  <c:v>50000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Aybal</c:v>
                </c:pt>
              </c:strCache>
            </c:strRef>
          </c:tx>
          <c:spPr>
            <a:solidFill>
              <a:srgbClr val="D4B2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Team</c:v>
                  </c:pt>
                  <c:pt idx="1">
                    <c:v>Marketing</c:v>
                  </c:pt>
                  <c:pt idx="2">
                    <c:v>EU voice ops + store app</c:v>
                  </c:pt>
                  <c:pt idx="3">
                    <c:v>Legal / trust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voice, three products – Aybal · LiveFX · the “My Neurodivergent Compass” book series – voice technology for families, education and creators in German, Turkish and English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investment, one shared voice and content stack, three revenue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Aybal terms per its own deck: €1.30M pre-money cap, ~16% at cap, planned close March 2027. Terms for LiveFX and content: [open].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TITLE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CONFIDENTIAL  •  PORTFOLIO INVESTMENT  •  OCTOBER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CONTENT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CONFIDENTIAL  •  PORTFOLIO INVESTMENT  •  OCTOBER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INVESTMENT  ·  OCTOBER 2026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voice,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</a:t>
            </a:r>
            <a:endParaRPr lang="en-US" sz="50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LiveFX · the “My Neurodivergent Compass” book series – voice technology for families, education and creators in German, Turkish and English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233672"/>
            <a:ext cx="79338" cy="8229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6" name="Wave-4"/>
          <p:cNvSpPr/>
          <p:nvPr/>
        </p:nvSpPr>
        <p:spPr>
          <a:xfrm>
            <a:off x="707315" y="4128344"/>
            <a:ext cx="79338" cy="2929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7" name="Wave-5"/>
          <p:cNvSpPr/>
          <p:nvPr/>
        </p:nvSpPr>
        <p:spPr>
          <a:xfrm>
            <a:off x="865991" y="4134173"/>
            <a:ext cx="79338" cy="28129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8" name="Wave-6"/>
          <p:cNvSpPr/>
          <p:nvPr/>
        </p:nvSpPr>
        <p:spPr>
          <a:xfrm>
            <a:off x="1024666" y="4148710"/>
            <a:ext cx="79338" cy="2522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9" name="Wave-7"/>
          <p:cNvSpPr/>
          <p:nvPr/>
        </p:nvSpPr>
        <p:spPr>
          <a:xfrm>
            <a:off x="1183341" y="4113536"/>
            <a:ext cx="79338" cy="3225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0" name="Wave-8"/>
          <p:cNvSpPr/>
          <p:nvPr/>
        </p:nvSpPr>
        <p:spPr>
          <a:xfrm>
            <a:off x="1342016" y="4153702"/>
            <a:ext cx="79338" cy="24223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1" name="Wave-9"/>
          <p:cNvSpPr/>
          <p:nvPr/>
        </p:nvSpPr>
        <p:spPr>
          <a:xfrm>
            <a:off x="1500692" y="4185401"/>
            <a:ext cx="79338" cy="17883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2" name="Wave-10"/>
          <p:cNvSpPr/>
          <p:nvPr/>
        </p:nvSpPr>
        <p:spPr>
          <a:xfrm>
            <a:off x="1659367" y="4127921"/>
            <a:ext cx="79338" cy="29379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3" name="Wave-11"/>
          <p:cNvSpPr/>
          <p:nvPr/>
        </p:nvSpPr>
        <p:spPr>
          <a:xfrm>
            <a:off x="1818042" y="4151555"/>
            <a:ext cx="79338" cy="2465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4" name="Wave-12"/>
          <p:cNvSpPr/>
          <p:nvPr/>
        </p:nvSpPr>
        <p:spPr>
          <a:xfrm>
            <a:off x="1976718" y="4130021"/>
            <a:ext cx="79338" cy="289597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5" name="Wave-13"/>
          <p:cNvSpPr/>
          <p:nvPr/>
        </p:nvSpPr>
        <p:spPr>
          <a:xfrm>
            <a:off x="2135393" y="4107018"/>
            <a:ext cx="79338" cy="33560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6" name="Wave-14"/>
          <p:cNvSpPr/>
          <p:nvPr/>
        </p:nvSpPr>
        <p:spPr>
          <a:xfrm>
            <a:off x="2294068" y="4199016"/>
            <a:ext cx="79338" cy="15160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7" name="Wave-15"/>
          <p:cNvSpPr/>
          <p:nvPr/>
        </p:nvSpPr>
        <p:spPr>
          <a:xfrm>
            <a:off x="2452744" y="4154075"/>
            <a:ext cx="79338" cy="24149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16"/>
          <p:cNvSpPr/>
          <p:nvPr/>
        </p:nvSpPr>
        <p:spPr>
          <a:xfrm>
            <a:off x="2611419" y="4144044"/>
            <a:ext cx="79338" cy="2615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17"/>
          <p:cNvSpPr/>
          <p:nvPr/>
        </p:nvSpPr>
        <p:spPr>
          <a:xfrm>
            <a:off x="2770094" y="4151676"/>
            <a:ext cx="79338" cy="24628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18"/>
          <p:cNvSpPr/>
          <p:nvPr/>
        </p:nvSpPr>
        <p:spPr>
          <a:xfrm>
            <a:off x="2928769" y="4105008"/>
            <a:ext cx="79338" cy="33962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19"/>
          <p:cNvSpPr/>
          <p:nvPr/>
        </p:nvSpPr>
        <p:spPr>
          <a:xfrm>
            <a:off x="3087445" y="4125287"/>
            <a:ext cx="79338" cy="299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20"/>
          <p:cNvSpPr/>
          <p:nvPr/>
        </p:nvSpPr>
        <p:spPr>
          <a:xfrm>
            <a:off x="3246120" y="4218796"/>
            <a:ext cx="79338" cy="11204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3" name="Wave-21"/>
          <p:cNvSpPr/>
          <p:nvPr/>
        </p:nvSpPr>
        <p:spPr>
          <a:xfrm>
            <a:off x="3404795" y="4147221"/>
            <a:ext cx="79338" cy="2551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4" name="Wave-22"/>
          <p:cNvSpPr/>
          <p:nvPr/>
        </p:nvSpPr>
        <p:spPr>
          <a:xfrm>
            <a:off x="3563471" y="4159969"/>
            <a:ext cx="79338" cy="22970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Wave-23"/>
          <p:cNvSpPr/>
          <p:nvPr/>
        </p:nvSpPr>
        <p:spPr>
          <a:xfrm>
            <a:off x="3722146" y="4132000"/>
            <a:ext cx="79338" cy="28564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6" name="Wave-24"/>
          <p:cNvSpPr/>
          <p:nvPr/>
        </p:nvSpPr>
        <p:spPr>
          <a:xfrm>
            <a:off x="3880821" y="4091289"/>
            <a:ext cx="79338" cy="3670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7" name="Wave-25"/>
          <p:cNvSpPr/>
          <p:nvPr/>
        </p:nvSpPr>
        <p:spPr>
          <a:xfrm>
            <a:off x="4039496" y="4166041"/>
            <a:ext cx="79338" cy="2175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8" name="Wave-26"/>
          <p:cNvSpPr/>
          <p:nvPr/>
        </p:nvSpPr>
        <p:spPr>
          <a:xfrm>
            <a:off x="4198172" y="4182805"/>
            <a:ext cx="79338" cy="18403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27"/>
          <p:cNvSpPr/>
          <p:nvPr/>
        </p:nvSpPr>
        <p:spPr>
          <a:xfrm>
            <a:off x="4356847" y="4158910"/>
            <a:ext cx="79338" cy="23182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28"/>
          <p:cNvSpPr/>
          <p:nvPr/>
        </p:nvSpPr>
        <p:spPr>
          <a:xfrm>
            <a:off x="4515522" y="4160352"/>
            <a:ext cx="79338" cy="22893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29"/>
          <p:cNvSpPr/>
          <p:nvPr/>
        </p:nvSpPr>
        <p:spPr>
          <a:xfrm>
            <a:off x="4674198" y="4102973"/>
            <a:ext cx="79338" cy="34369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0"/>
          <p:cNvSpPr/>
          <p:nvPr/>
        </p:nvSpPr>
        <p:spPr>
          <a:xfrm>
            <a:off x="4832873" y="4101588"/>
            <a:ext cx="79338" cy="3464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"/>
          <p:cNvSpPr/>
          <p:nvPr/>
        </p:nvSpPr>
        <p:spPr>
          <a:xfrm>
            <a:off x="4991548" y="4215113"/>
            <a:ext cx="79338" cy="1194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"/>
          <p:cNvSpPr/>
          <p:nvPr/>
        </p:nvSpPr>
        <p:spPr>
          <a:xfrm>
            <a:off x="5150224" y="4170248"/>
            <a:ext cx="79338" cy="209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3"/>
          <p:cNvSpPr/>
          <p:nvPr/>
        </p:nvSpPr>
        <p:spPr>
          <a:xfrm>
            <a:off x="5308899" y="4173385"/>
            <a:ext cx="79338" cy="20287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4"/>
          <p:cNvSpPr/>
          <p:nvPr/>
        </p:nvSpPr>
        <p:spPr>
          <a:xfrm>
            <a:off x="5467574" y="4140174"/>
            <a:ext cx="79338" cy="26929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5"/>
          <p:cNvSpPr/>
          <p:nvPr/>
        </p:nvSpPr>
        <p:spPr>
          <a:xfrm>
            <a:off x="5626249" y="4082076"/>
            <a:ext cx="79338" cy="3854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6"/>
          <p:cNvSpPr/>
          <p:nvPr/>
        </p:nvSpPr>
        <p:spPr>
          <a:xfrm>
            <a:off x="5784925" y="4136341"/>
            <a:ext cx="79338" cy="2769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Card-37"/>
          <p:cNvSpPr/>
          <p:nvPr/>
        </p:nvSpPr>
        <p:spPr>
          <a:xfrm>
            <a:off x="548640" y="470916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40" name="Text-38"/>
          <p:cNvSpPr txBox="1"/>
          <p:nvPr/>
        </p:nvSpPr>
        <p:spPr>
          <a:xfrm>
            <a:off x="777240" y="4846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ROUND</a:t>
            </a:r>
            <a:endParaRPr lang="en-US" sz="1000" dirty="0"/>
          </a:p>
        </p:txBody>
      </p:sp>
      <p:sp>
        <p:nvSpPr>
          <p:cNvPr id="41" name="Text-39"/>
          <p:cNvSpPr txBox="1"/>
          <p:nvPr/>
        </p:nvSpPr>
        <p:spPr>
          <a:xfrm>
            <a:off x="77724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€500,000</a:t>
            </a:r>
            <a:endParaRPr lang="en-US" sz="2800" dirty="0"/>
          </a:p>
        </p:txBody>
      </p:sp>
      <p:sp>
        <p:nvSpPr>
          <p:cNvPr id="42" name="Text-40"/>
          <p:cNvSpPr txBox="1"/>
          <p:nvPr/>
        </p:nvSpPr>
        <p:spPr>
          <a:xfrm>
            <a:off x="3566160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INVENTOR (AYBAL)</a:t>
            </a:r>
            <a:endParaRPr lang="en-US" sz="900" dirty="0"/>
          </a:p>
        </p:txBody>
      </p:sp>
      <p:sp>
        <p:nvSpPr>
          <p:cNvPr id="43" name="Text-41"/>
          <p:cNvSpPr txBox="1"/>
          <p:nvPr/>
        </p:nvSpPr>
        <p:spPr>
          <a:xfrm>
            <a:off x="3566160" y="4956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600" dirty="0"/>
          </a:p>
        </p:txBody>
      </p:sp>
      <p:sp>
        <p:nvSpPr>
          <p:cNvPr id="44" name="Text-42"/>
          <p:cNvSpPr txBox="1"/>
          <p:nvPr/>
        </p:nvSpPr>
        <p:spPr>
          <a:xfrm>
            <a:off x="3566160" y="5376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900" dirty="0"/>
          </a:p>
        </p:txBody>
      </p:sp>
      <p:sp>
        <p:nvSpPr>
          <p:cNvPr id="45" name="Text-43"/>
          <p:cNvSpPr txBox="1"/>
          <p:nvPr/>
        </p:nvSpPr>
        <p:spPr>
          <a:xfrm>
            <a:off x="3566160" y="55778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600" dirty="0"/>
          </a:p>
        </p:txBody>
      </p:sp>
      <p:pic>
        <p:nvPicPr>
          <p:cNvPr id="46" name="Image-44" descr="/home/user/Notion/aybal-show/asset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548640"/>
            <a:ext cx="2606040" cy="5577840"/>
          </a:xfrm>
          <a:prstGeom prst="rect">
            <a:avLst/>
          </a:prstGeom>
        </p:spPr>
      </p:pic>
      <p:pic>
        <p:nvPicPr>
          <p:cNvPr id="47" name="Image-45" descr="/home/user/Notion/live-fx/business/landing-assets/overlay-ne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548640"/>
            <a:ext cx="2450592" cy="2697480"/>
          </a:xfrm>
          <a:prstGeom prst="rect">
            <a:avLst/>
          </a:prstGeom>
        </p:spPr>
      </p:pic>
      <p:pic>
        <p:nvPicPr>
          <p:cNvPr id="48" name="Image-46" descr="/home/user/Notion/live-fx/business/video/stills/vision-en-16x9-8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9720" y="3429000"/>
            <a:ext cx="2450592" cy="2697480"/>
          </a:xfrm>
          <a:prstGeom prst="rect">
            <a:avLst/>
          </a:prstGeom>
        </p:spPr>
      </p:pic>
      <p:sp>
        <p:nvSpPr>
          <p:cNvPr id="49" name="Pill-47"/>
          <p:cNvSpPr txBox="1"/>
          <p:nvPr/>
        </p:nvSpPr>
        <p:spPr>
          <a:xfrm>
            <a:off x="6629400" y="565099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50" name="Pill-48"/>
          <p:cNvSpPr txBox="1"/>
          <p:nvPr/>
        </p:nvSpPr>
        <p:spPr>
          <a:xfrm>
            <a:off x="9372600" y="277063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THESIS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voice, three products</a:t>
            </a:r>
            <a:endParaRPr lang="en-US" sz="3200" dirty="0"/>
          </a:p>
        </p:txBody>
      </p:sp>
      <p:sp>
        <p:nvSpPr>
          <p:cNvPr id="4" name="Card-49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50"/>
          <p:cNvSpPr txBox="1"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-51"/>
          <p:cNvSpPr txBox="1"/>
          <p:nvPr/>
        </p:nvSpPr>
        <p:spPr>
          <a:xfrm>
            <a:off x="86868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technology</a:t>
            </a:r>
            <a:endParaRPr lang="en-US" sz="1900" dirty="0"/>
          </a:p>
        </p:txBody>
      </p:sp>
      <p:sp>
        <p:nvSpPr>
          <p:cNvPr id="7" name="Text-52"/>
          <p:cNvSpPr txBox="1"/>
          <p:nvPr/>
        </p:nvSpPr>
        <p:spPr>
          <a:xfrm>
            <a:off x="86868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Read-aloud with natural and personal voices (Aybal) and speech → live effect in under a second (LiveFX).</a:t>
            </a:r>
            <a:endParaRPr lang="en-US" sz="1400" dirty="0"/>
          </a:p>
        </p:txBody>
      </p:sp>
      <p:sp>
        <p:nvSpPr>
          <p:cNvPr id="8" name="Card-53"/>
          <p:cNvSpPr/>
          <p:nvPr/>
        </p:nvSpPr>
        <p:spPr>
          <a:xfrm>
            <a:off x="4334256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54"/>
          <p:cNvSpPr txBox="1"/>
          <p:nvPr/>
        </p:nvSpPr>
        <p:spPr>
          <a:xfrm>
            <a:off x="4654296" y="1874520"/>
            <a:ext cx="640080" cy="6400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-55"/>
          <p:cNvSpPr txBox="1"/>
          <p:nvPr/>
        </p:nvSpPr>
        <p:spPr>
          <a:xfrm>
            <a:off x="4654296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languages</a:t>
            </a:r>
            <a:endParaRPr lang="en-US" sz="1900" dirty="0"/>
          </a:p>
        </p:txBody>
      </p:sp>
      <p:sp>
        <p:nvSpPr>
          <p:cNvPr id="11" name="Text-56"/>
          <p:cNvSpPr txBox="1"/>
          <p:nvPr/>
        </p:nvSpPr>
        <p:spPr>
          <a:xfrm>
            <a:off x="4654296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German, Turkish and English from day one: Aybal with 3 interface and 13 voice languages, LiveFX with automatic DE/TR/EN recognition.</a:t>
            </a:r>
            <a:endParaRPr lang="en-US" sz="1400" dirty="0"/>
          </a:p>
        </p:txBody>
      </p:sp>
      <p:sp>
        <p:nvSpPr>
          <p:cNvPr id="12" name="Card-57"/>
          <p:cNvSpPr/>
          <p:nvPr/>
        </p:nvSpPr>
        <p:spPr>
          <a:xfrm>
            <a:off x="8119872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58"/>
          <p:cNvSpPr txBox="1"/>
          <p:nvPr/>
        </p:nvSpPr>
        <p:spPr>
          <a:xfrm>
            <a:off x="8439912" y="1874520"/>
            <a:ext cx="640080" cy="6400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-59"/>
          <p:cNvSpPr txBox="1"/>
          <p:nvPr/>
        </p:nvSpPr>
        <p:spPr>
          <a:xfrm>
            <a:off x="843991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· education · creators</a:t>
            </a:r>
            <a:endParaRPr lang="en-US" sz="1900" dirty="0"/>
          </a:p>
        </p:txBody>
      </p:sp>
      <p:sp>
        <p:nvSpPr>
          <p:cNvPr id="15" name="Text-60"/>
          <p:cNvSpPr txBox="1"/>
          <p:nvPr/>
        </p:nvSpPr>
        <p:spPr>
          <a:xfrm>
            <a:off x="8439912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audience, three entry points: families read (Aybal), creators and teachers stream (LiveFX), children learn with their own stories (book series).</a:t>
            </a:r>
            <a:endParaRPr lang="en-US" sz="1400" dirty="0"/>
          </a:p>
        </p:txBody>
      </p:sp>
      <p:sp>
        <p:nvSpPr>
          <p:cNvPr id="16" name="Text-61"/>
          <p:cNvSpPr txBox="1"/>
          <p:nvPr/>
        </p:nvSpPr>
        <p:spPr>
          <a:xfrm>
            <a:off x="548640" y="5257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investment, one shared voice and content stack, three revenue paths.</a:t>
            </a:r>
            <a:endParaRPr lang="en-US" sz="1800" dirty="0"/>
          </a:p>
        </p:txBody>
      </p:sp>
      <p:sp>
        <p:nvSpPr>
          <p:cNvPr id="17" name="Wave-62"/>
          <p:cNvSpPr/>
          <p:nvPr/>
        </p:nvSpPr>
        <p:spPr>
          <a:xfrm>
            <a:off x="8503920" y="5486400"/>
            <a:ext cx="71282" cy="1005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63"/>
          <p:cNvSpPr/>
          <p:nvPr/>
        </p:nvSpPr>
        <p:spPr>
          <a:xfrm>
            <a:off x="8646483" y="5357666"/>
            <a:ext cx="71282" cy="358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64"/>
          <p:cNvSpPr/>
          <p:nvPr/>
        </p:nvSpPr>
        <p:spPr>
          <a:xfrm>
            <a:off x="8789047" y="5364790"/>
            <a:ext cx="71282" cy="34380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65"/>
          <p:cNvSpPr/>
          <p:nvPr/>
        </p:nvSpPr>
        <p:spPr>
          <a:xfrm>
            <a:off x="8931610" y="5382558"/>
            <a:ext cx="71282" cy="3082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66"/>
          <p:cNvSpPr/>
          <p:nvPr/>
        </p:nvSpPr>
        <p:spPr>
          <a:xfrm>
            <a:off x="9074173" y="5339567"/>
            <a:ext cx="71282" cy="39424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67"/>
          <p:cNvSpPr/>
          <p:nvPr/>
        </p:nvSpPr>
        <p:spPr>
          <a:xfrm>
            <a:off x="9216736" y="5388659"/>
            <a:ext cx="71282" cy="296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68"/>
          <p:cNvSpPr/>
          <p:nvPr/>
        </p:nvSpPr>
        <p:spPr>
          <a:xfrm>
            <a:off x="9359300" y="5427402"/>
            <a:ext cx="71282" cy="21858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69"/>
          <p:cNvSpPr/>
          <p:nvPr/>
        </p:nvSpPr>
        <p:spPr>
          <a:xfrm>
            <a:off x="9501863" y="5357149"/>
            <a:ext cx="71282" cy="35908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70"/>
          <p:cNvSpPr/>
          <p:nvPr/>
        </p:nvSpPr>
        <p:spPr>
          <a:xfrm>
            <a:off x="9644426" y="5386035"/>
            <a:ext cx="71282" cy="30131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71"/>
          <p:cNvSpPr/>
          <p:nvPr/>
        </p:nvSpPr>
        <p:spPr>
          <a:xfrm>
            <a:off x="9786989" y="5359716"/>
            <a:ext cx="71282" cy="3539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72"/>
          <p:cNvSpPr/>
          <p:nvPr/>
        </p:nvSpPr>
        <p:spPr>
          <a:xfrm>
            <a:off x="9929553" y="5331600"/>
            <a:ext cx="71282" cy="41018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73"/>
          <p:cNvSpPr/>
          <p:nvPr/>
        </p:nvSpPr>
        <p:spPr>
          <a:xfrm>
            <a:off x="10072116" y="5444042"/>
            <a:ext cx="71282" cy="18529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74"/>
          <p:cNvSpPr/>
          <p:nvPr/>
        </p:nvSpPr>
        <p:spPr>
          <a:xfrm>
            <a:off x="10214679" y="5389114"/>
            <a:ext cx="71282" cy="29515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75"/>
          <p:cNvSpPr/>
          <p:nvPr/>
        </p:nvSpPr>
        <p:spPr>
          <a:xfrm>
            <a:off x="10357243" y="5376855"/>
            <a:ext cx="71282" cy="3196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76"/>
          <p:cNvSpPr/>
          <p:nvPr/>
        </p:nvSpPr>
        <p:spPr>
          <a:xfrm>
            <a:off x="10499806" y="5386183"/>
            <a:ext cx="71282" cy="30101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77"/>
          <p:cNvSpPr/>
          <p:nvPr/>
        </p:nvSpPr>
        <p:spPr>
          <a:xfrm>
            <a:off x="10642369" y="5329143"/>
            <a:ext cx="71282" cy="4150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78"/>
          <p:cNvSpPr/>
          <p:nvPr/>
        </p:nvSpPr>
        <p:spPr>
          <a:xfrm>
            <a:off x="10784932" y="5353930"/>
            <a:ext cx="71282" cy="3655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79"/>
          <p:cNvSpPr/>
          <p:nvPr/>
        </p:nvSpPr>
        <p:spPr>
          <a:xfrm>
            <a:off x="10927496" y="5468219"/>
            <a:ext cx="71282" cy="1369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80"/>
          <p:cNvSpPr/>
          <p:nvPr/>
        </p:nvSpPr>
        <p:spPr>
          <a:xfrm>
            <a:off x="11070059" y="5380738"/>
            <a:ext cx="71282" cy="31190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81"/>
          <p:cNvSpPr/>
          <p:nvPr/>
        </p:nvSpPr>
        <p:spPr>
          <a:xfrm>
            <a:off x="11212622" y="5396319"/>
            <a:ext cx="71282" cy="2807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82"/>
          <p:cNvSpPr/>
          <p:nvPr/>
        </p:nvSpPr>
        <p:spPr>
          <a:xfrm>
            <a:off x="11355185" y="5362134"/>
            <a:ext cx="71282" cy="34911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83"/>
          <p:cNvSpPr/>
          <p:nvPr/>
        </p:nvSpPr>
        <p:spPr>
          <a:xfrm>
            <a:off x="11497749" y="5312376"/>
            <a:ext cx="71282" cy="44863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OVERVIEW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portfolio at a glance</a:t>
            </a:r>
            <a:endParaRPr lang="en-US" sz="3200" dirty="0"/>
          </a:p>
        </p:txBody>
      </p:sp>
      <p:sp>
        <p:nvSpPr>
          <p:cNvPr id="4" name="Card-84"/>
          <p:cNvSpPr/>
          <p:nvPr/>
        </p:nvSpPr>
        <p:spPr>
          <a:xfrm>
            <a:off x="548640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Pill-85"/>
          <p:cNvSpPr txBox="1"/>
          <p:nvPr/>
        </p:nvSpPr>
        <p:spPr>
          <a:xfrm>
            <a:off x="822960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6" name="Text-86"/>
          <p:cNvSpPr txBox="1"/>
          <p:nvPr/>
        </p:nvSpPr>
        <p:spPr>
          <a:xfrm>
            <a:off x="822960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reading with voice</a:t>
            </a:r>
            <a:endParaRPr lang="en-US" sz="1700" dirty="0"/>
          </a:p>
        </p:txBody>
      </p:sp>
      <p:sp>
        <p:nvSpPr>
          <p:cNvPr id="7" name="Text-87"/>
          <p:cNvSpPr txBox="1"/>
          <p:nvPr/>
        </p:nvSpPr>
        <p:spPr>
          <a:xfrm>
            <a:off x="822960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built · closed beta from 12 Oct 2026 · Germany launch 20 Nov 2026</a:t>
            </a:r>
            <a:endParaRPr lang="en-US" sz="1200" dirty="0"/>
          </a:p>
        </p:txBody>
      </p:sp>
      <p:sp>
        <p:nvSpPr>
          <p:cNvPr id="8" name="Text-88"/>
          <p:cNvSpPr txBox="1"/>
          <p:nvPr/>
        </p:nvSpPr>
        <p:spPr>
          <a:xfrm>
            <a:off x="82296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1,779</a:t>
            </a:r>
            <a:endParaRPr lang="en-US" sz="2200" dirty="0"/>
          </a:p>
        </p:txBody>
      </p:sp>
      <p:sp>
        <p:nvSpPr>
          <p:cNvPr id="9" name="Text-89"/>
          <p:cNvSpPr txBox="1"/>
          <p:nvPr/>
        </p:nvSpPr>
        <p:spPr>
          <a:xfrm>
            <a:off x="246888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10" name="Text-90"/>
          <p:cNvSpPr txBox="1"/>
          <p:nvPr/>
        </p:nvSpPr>
        <p:spPr>
          <a:xfrm>
            <a:off x="822960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-91"/>
          <p:cNvSpPr txBox="1"/>
          <p:nvPr/>
        </p:nvSpPr>
        <p:spPr>
          <a:xfrm>
            <a:off x="246888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languages</a:t>
            </a:r>
            <a:endParaRPr lang="en-US" sz="1300" dirty="0"/>
          </a:p>
        </p:txBody>
      </p:sp>
      <p:sp>
        <p:nvSpPr>
          <p:cNvPr id="12" name="Text-92"/>
          <p:cNvSpPr txBox="1"/>
          <p:nvPr/>
        </p:nvSpPr>
        <p:spPr>
          <a:xfrm>
            <a:off x="82296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101M</a:t>
            </a:r>
            <a:endParaRPr lang="en-US" sz="2200" dirty="0"/>
          </a:p>
        </p:txBody>
      </p:sp>
      <p:sp>
        <p:nvSpPr>
          <p:cNvPr id="13" name="Text-93"/>
          <p:cNvSpPr txBox="1"/>
          <p:nvPr/>
        </p:nvSpPr>
        <p:spPr>
          <a:xfrm>
            <a:off x="2468880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in target markets</a:t>
            </a:r>
            <a:endParaRPr lang="en-US" sz="1300" dirty="0"/>
          </a:p>
        </p:txBody>
      </p:sp>
      <p:sp>
        <p:nvSpPr>
          <p:cNvPr id="14" name="Text-94"/>
          <p:cNvSpPr txBox="1"/>
          <p:nvPr/>
        </p:nvSpPr>
        <p:spPr>
          <a:xfrm>
            <a:off x="82296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aybal-show/Aybal_Investor_Deck.pptx</a:t>
            </a:r>
            <a:endParaRPr lang="en-US" sz="900" dirty="0"/>
          </a:p>
        </p:txBody>
      </p:sp>
      <p:sp>
        <p:nvSpPr>
          <p:cNvPr id="15" name="Card-95"/>
          <p:cNvSpPr/>
          <p:nvPr/>
        </p:nvSpPr>
        <p:spPr>
          <a:xfrm>
            <a:off x="433425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Pill-96"/>
          <p:cNvSpPr txBox="1"/>
          <p:nvPr/>
        </p:nvSpPr>
        <p:spPr>
          <a:xfrm>
            <a:off x="4608576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7" name="Text-97"/>
          <p:cNvSpPr txBox="1"/>
          <p:nvPr/>
        </p:nvSpPr>
        <p:spPr>
          <a:xfrm>
            <a:off x="4608576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→ live effect</a:t>
            </a:r>
            <a:endParaRPr lang="en-US" sz="1700" dirty="0"/>
          </a:p>
        </p:txBody>
      </p:sp>
      <p:sp>
        <p:nvSpPr>
          <p:cNvPr id="18" name="Text-98"/>
          <p:cNvSpPr txBox="1"/>
          <p:nvPr/>
        </p:nvSpPr>
        <p:spPr>
          <a:xfrm>
            <a:off x="4608576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working · no revenue yet · Turkish launch Q4 2026</a:t>
            </a:r>
            <a:endParaRPr lang="en-US" sz="1200" dirty="0"/>
          </a:p>
        </p:txBody>
      </p:sp>
      <p:sp>
        <p:nvSpPr>
          <p:cNvPr id="19" name="Text-99"/>
          <p:cNvSpPr txBox="1"/>
          <p:nvPr/>
        </p:nvSpPr>
        <p:spPr>
          <a:xfrm>
            <a:off x="460857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238</a:t>
            </a:r>
            <a:endParaRPr lang="en-US" sz="2200" dirty="0"/>
          </a:p>
        </p:txBody>
      </p:sp>
      <p:sp>
        <p:nvSpPr>
          <p:cNvPr id="20" name="Text-100"/>
          <p:cNvSpPr txBox="1"/>
          <p:nvPr/>
        </p:nvSpPr>
        <p:spPr>
          <a:xfrm>
            <a:off x="6254496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in 5 packs</a:t>
            </a:r>
            <a:endParaRPr lang="en-US" sz="1300" dirty="0"/>
          </a:p>
        </p:txBody>
      </p:sp>
      <p:sp>
        <p:nvSpPr>
          <p:cNvPr id="21" name="Text-101"/>
          <p:cNvSpPr txBox="1"/>
          <p:nvPr/>
        </p:nvSpPr>
        <p:spPr>
          <a:xfrm>
            <a:off x="4608576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-102"/>
          <p:cNvSpPr txBox="1"/>
          <p:nvPr/>
        </p:nvSpPr>
        <p:spPr>
          <a:xfrm>
            <a:off x="6254496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scenes</a:t>
            </a:r>
            <a:endParaRPr lang="en-US" sz="1300" dirty="0"/>
          </a:p>
        </p:txBody>
      </p:sp>
      <p:sp>
        <p:nvSpPr>
          <p:cNvPr id="23" name="Text-103"/>
          <p:cNvSpPr txBox="1"/>
          <p:nvPr/>
        </p:nvSpPr>
        <p:spPr>
          <a:xfrm>
            <a:off x="4608576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240+</a:t>
            </a:r>
            <a:endParaRPr lang="en-US" sz="2200" dirty="0"/>
          </a:p>
        </p:txBody>
      </p:sp>
      <p:sp>
        <p:nvSpPr>
          <p:cNvPr id="24" name="Text-104"/>
          <p:cNvSpPr txBox="1"/>
          <p:nvPr/>
        </p:nvSpPr>
        <p:spPr>
          <a:xfrm>
            <a:off x="6254496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25" name="Text-105"/>
          <p:cNvSpPr txBox="1"/>
          <p:nvPr/>
        </p:nvSpPr>
        <p:spPr>
          <a:xfrm>
            <a:off x="4608576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live-fx/business/BUSINESSPLAN.md, PITCH-DECK.md</a:t>
            </a:r>
            <a:endParaRPr lang="en-US" sz="900" dirty="0"/>
          </a:p>
        </p:txBody>
      </p:sp>
      <p:sp>
        <p:nvSpPr>
          <p:cNvPr id="26" name="Card-106"/>
          <p:cNvSpPr/>
          <p:nvPr/>
        </p:nvSpPr>
        <p:spPr>
          <a:xfrm>
            <a:off x="8119872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7" name="Pill-107"/>
          <p:cNvSpPr txBox="1"/>
          <p:nvPr/>
        </p:nvSpPr>
        <p:spPr>
          <a:xfrm>
            <a:off x="8394192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SERIES</a:t>
            </a:r>
            <a:endParaRPr lang="en-US" sz="1000" dirty="0"/>
          </a:p>
        </p:txBody>
      </p:sp>
      <p:sp>
        <p:nvSpPr>
          <p:cNvPr id="28" name="Text-108"/>
          <p:cNvSpPr txBox="1"/>
          <p:nvPr/>
        </p:nvSpPr>
        <p:spPr>
          <a:xfrm>
            <a:off x="8394192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IP on neurodiversity</a:t>
            </a:r>
            <a:endParaRPr lang="en-US" sz="1700" dirty="0"/>
          </a:p>
        </p:txBody>
      </p:sp>
      <p:sp>
        <p:nvSpPr>
          <p:cNvPr id="29" name="Text-109"/>
          <p:cNvSpPr txBox="1"/>
          <p:nvPr/>
        </p:nvSpPr>
        <p:spPr>
          <a:xfrm>
            <a:off x="8394192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books in TR/DE/EN · trailers in 3 languages · teen spin-off in progress</a:t>
            </a:r>
            <a:endParaRPr lang="en-US" sz="1200" dirty="0"/>
          </a:p>
        </p:txBody>
      </p:sp>
      <p:sp>
        <p:nvSpPr>
          <p:cNvPr id="30" name="Text-110"/>
          <p:cNvSpPr txBox="1"/>
          <p:nvPr/>
        </p:nvSpPr>
        <p:spPr>
          <a:xfrm>
            <a:off x="83941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-111"/>
          <p:cNvSpPr txBox="1"/>
          <p:nvPr/>
        </p:nvSpPr>
        <p:spPr>
          <a:xfrm>
            <a:off x="10040112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  <a:endParaRPr lang="en-US" sz="1300" dirty="0"/>
          </a:p>
        </p:txBody>
      </p:sp>
      <p:sp>
        <p:nvSpPr>
          <p:cNvPr id="32" name="Text-112"/>
          <p:cNvSpPr txBox="1"/>
          <p:nvPr/>
        </p:nvSpPr>
        <p:spPr>
          <a:xfrm>
            <a:off x="8394192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-113"/>
          <p:cNvSpPr txBox="1"/>
          <p:nvPr/>
        </p:nvSpPr>
        <p:spPr>
          <a:xfrm>
            <a:off x="10040112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34" name="Text-114"/>
          <p:cNvSpPr txBox="1"/>
          <p:nvPr/>
        </p:nvSpPr>
        <p:spPr>
          <a:xfrm>
            <a:off x="8394192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-115"/>
          <p:cNvSpPr txBox="1"/>
          <p:nvPr/>
        </p:nvSpPr>
        <p:spPr>
          <a:xfrm>
            <a:off x="10040112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 titles</a:t>
            </a:r>
            <a:endParaRPr lang="en-US" sz="1300" dirty="0"/>
          </a:p>
        </p:txBody>
      </p:sp>
      <p:sp>
        <p:nvSpPr>
          <p:cNvPr id="36" name="Text-116"/>
          <p:cNvSpPr txBox="1"/>
          <p:nvPr/>
        </p:nvSpPr>
        <p:spPr>
          <a:xfrm>
            <a:off x="8394192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deniz-trailer/,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AYBAL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Aybal: the voice of family reading</a:t>
            </a:r>
            <a:endParaRPr lang="en-US" sz="3200" dirty="0"/>
          </a:p>
        </p:txBody>
      </p:sp>
      <p:pic>
        <p:nvPicPr>
          <p:cNvPr id="4" name="Image-117" descr="/home/user/Notion/aybal-show/assets/produ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572000" cy="3621024"/>
          </a:xfrm>
          <a:prstGeom prst="rect">
            <a:avLst/>
          </a:prstGeom>
        </p:spPr>
      </p:pic>
      <p:sp>
        <p:nvSpPr>
          <p:cNvPr id="5" name="Card-118"/>
          <p:cNvSpPr/>
          <p:nvPr/>
        </p:nvSpPr>
        <p:spPr>
          <a:xfrm>
            <a:off x="548640" y="5303520"/>
            <a:ext cx="457200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19"/>
          <p:cNvSpPr txBox="1"/>
          <p:nvPr/>
        </p:nvSpPr>
        <p:spPr>
          <a:xfrm>
            <a:off x="73152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round: €250,000 pre-seed · valuation cap €1.30M pre-money · planned close March 2027</a:t>
            </a:r>
            <a:endParaRPr lang="en-US" sz="1200" dirty="0"/>
          </a:p>
        </p:txBody>
      </p:sp>
      <p:sp>
        <p:nvSpPr>
          <p:cNvPr id="7" name="Text-120"/>
          <p:cNvSpPr txBox="1"/>
          <p:nvPr/>
        </p:nvSpPr>
        <p:spPr>
          <a:xfrm>
            <a:off x="5486400" y="1508760"/>
            <a:ext cx="6156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upload PDFs, EPUBs, Word files, text or photos of pages – Aybal reads them aloud with word-by-word highlighting.</a:t>
            </a:r>
            <a:endParaRPr lang="en-US" sz="1500" dirty="0"/>
          </a:p>
        </p:txBody>
      </p:sp>
      <p:sp>
        <p:nvSpPr>
          <p:cNvPr id="8" name="Text-121"/>
          <p:cNvSpPr txBox="1"/>
          <p:nvPr/>
        </p:nvSpPr>
        <p:spPr>
          <a:xfrm>
            <a:off x="54864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€7.6B</a:t>
            </a:r>
            <a:endParaRPr lang="en-US" sz="2200" dirty="0"/>
          </a:p>
        </p:txBody>
      </p:sp>
      <p:sp>
        <p:nvSpPr>
          <p:cNvPr id="9" name="Text-122"/>
          <p:cNvSpPr txBox="1"/>
          <p:nvPr/>
        </p:nvSpPr>
        <p:spPr>
          <a:xfrm>
            <a:off x="7909560" y="2331720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family reading spend in target markets</a:t>
            </a:r>
            <a:endParaRPr lang="en-US" sz="1300" dirty="0"/>
          </a:p>
        </p:txBody>
      </p:sp>
      <p:sp>
        <p:nvSpPr>
          <p:cNvPr id="10" name="Text-123"/>
          <p:cNvSpPr txBox="1"/>
          <p:nvPr/>
        </p:nvSpPr>
        <p:spPr>
          <a:xfrm>
            <a:off x="5486400" y="2953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€1.14B</a:t>
            </a:r>
            <a:endParaRPr lang="en-US" sz="2200" dirty="0"/>
          </a:p>
        </p:txBody>
      </p:sp>
      <p:sp>
        <p:nvSpPr>
          <p:cNvPr id="11" name="Text-124"/>
          <p:cNvSpPr txBox="1"/>
          <p:nvPr/>
        </p:nvSpPr>
        <p:spPr>
          <a:xfrm>
            <a:off x="7909560" y="2953512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15% assumed willingness to pay</a:t>
            </a:r>
            <a:endParaRPr lang="en-US" sz="1300" dirty="0"/>
          </a:p>
        </p:txBody>
      </p:sp>
      <p:sp>
        <p:nvSpPr>
          <p:cNvPr id="12" name="Text-125"/>
          <p:cNvSpPr txBox="1"/>
          <p:nvPr/>
        </p:nvSpPr>
        <p:spPr>
          <a:xfrm>
            <a:off x="5486400" y="3575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€38M</a:t>
            </a:r>
            <a:endParaRPr lang="en-US" sz="2200" dirty="0"/>
          </a:p>
        </p:txBody>
      </p:sp>
      <p:sp>
        <p:nvSpPr>
          <p:cNvPr id="13" name="Text-126"/>
          <p:cNvSpPr txBox="1"/>
          <p:nvPr/>
        </p:nvSpPr>
        <p:spPr>
          <a:xfrm>
            <a:off x="7909560" y="3575304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directional, not a forecast</a:t>
            </a:r>
            <a:endParaRPr lang="en-US" sz="1300" dirty="0"/>
          </a:p>
        </p:txBody>
      </p:sp>
      <p:sp>
        <p:nvSpPr>
          <p:cNvPr id="14" name="Text-127"/>
          <p:cNvSpPr txBox="1"/>
          <p:nvPr/>
        </p:nvSpPr>
        <p:spPr>
          <a:xfrm>
            <a:off x="5486400" y="4343400"/>
            <a:ext cx="6156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Plus €9.99/month · Family €24.99/month · web margin 75–77%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intelligibility: German 98% · Turkish 97%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(scenario): strong case Aug 2030 · venture case Oct 2031</a:t>
            </a:r>
            <a:endParaRPr lang="en-US" sz="1400" dirty="0"/>
          </a:p>
        </p:txBody>
      </p:sp>
      <p:sp>
        <p:nvSpPr>
          <p:cNvPr id="15" name="Text-128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Aybal_Investor_Deck.pptx, slides 3–12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LIVEFX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LiveFX: live streams that listen</a:t>
            </a:r>
            <a:endParaRPr lang="en-US" sz="3200" dirty="0"/>
          </a:p>
        </p:txBody>
      </p:sp>
      <p:pic>
        <p:nvPicPr>
          <p:cNvPr id="4" name="Image-129" descr="/home/user/Notion/live-fx/business/landing-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508760"/>
            <a:ext cx="5105095" cy="3190685"/>
          </a:xfrm>
          <a:prstGeom prst="rect">
            <a:avLst/>
          </a:prstGeom>
        </p:spPr>
      </p:pic>
      <p:pic>
        <p:nvPicPr>
          <p:cNvPr id="5" name="Image-130" descr="/home/user/Notion/live-fx/business/landing-assets/overlay-portrait-rai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08615" y="3510724"/>
            <a:ext cx="1051560" cy="18745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6" name="Text-131"/>
          <p:cNvSpPr txBox="1"/>
          <p:nvPr/>
        </p:nvSpPr>
        <p:spPr>
          <a:xfrm>
            <a:off x="548640" y="1508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speaks – in under a second a meme, a sound or an animated scene appears in the stream. Story mode for reading aloud, viewer triggers via chat and gifts.</a:t>
            </a:r>
            <a:endParaRPr lang="en-US" sz="1400" dirty="0"/>
          </a:p>
        </p:txBody>
      </p:sp>
      <p:sp>
        <p:nvSpPr>
          <p:cNvPr id="7" name="Text-132"/>
          <p:cNvSpPr txBox="1"/>
          <p:nvPr/>
        </p:nvSpPr>
        <p:spPr>
          <a:xfrm>
            <a:off x="5486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$97–157B</a:t>
            </a:r>
            <a:endParaRPr lang="en-US" sz="2000" dirty="0"/>
          </a:p>
        </p:txBody>
      </p:sp>
      <p:sp>
        <p:nvSpPr>
          <p:cNvPr id="8" name="Text-133"/>
          <p:cNvSpPr txBox="1"/>
          <p:nvPr/>
        </p:nvSpPr>
        <p:spPr>
          <a:xfrm>
            <a:off x="347472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live-streaming market 2026</a:t>
            </a:r>
            <a:endParaRPr lang="en-US" sz="1300" dirty="0"/>
          </a:p>
        </p:txBody>
      </p:sp>
      <p:sp>
        <p:nvSpPr>
          <p:cNvPr id="9" name="Text-134"/>
          <p:cNvSpPr txBox="1"/>
          <p:nvPr/>
        </p:nvSpPr>
        <p:spPr>
          <a:xfrm>
            <a:off x="548640" y="3136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1–3M</a:t>
            </a:r>
            <a:endParaRPr lang="en-US" sz="2000" dirty="0"/>
          </a:p>
        </p:txBody>
      </p:sp>
      <p:sp>
        <p:nvSpPr>
          <p:cNvPr id="10" name="Text-135"/>
          <p:cNvSpPr txBox="1"/>
          <p:nvPr/>
        </p:nvSpPr>
        <p:spPr>
          <a:xfrm>
            <a:off x="347472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in the TR/DE/EN space (SAM, estimate)</a:t>
            </a:r>
            <a:endParaRPr lang="en-US" sz="1300" dirty="0"/>
          </a:p>
        </p:txBody>
      </p:sp>
      <p:sp>
        <p:nvSpPr>
          <p:cNvPr id="11" name="Text-136"/>
          <p:cNvSpPr txBox="1"/>
          <p:nvPr/>
        </p:nvSpPr>
        <p:spPr>
          <a:xfrm>
            <a:off x="548640" y="3758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5,000–15,000</a:t>
            </a:r>
            <a:endParaRPr lang="en-US" sz="2000" dirty="0"/>
          </a:p>
        </p:txBody>
      </p:sp>
      <p:sp>
        <p:nvSpPr>
          <p:cNvPr id="12" name="Text-137"/>
          <p:cNvSpPr txBox="1"/>
          <p:nvPr/>
        </p:nvSpPr>
        <p:spPr>
          <a:xfrm>
            <a:off x="347472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users in year 3 (SOM, estimate)</a:t>
            </a:r>
            <a:endParaRPr lang="en-US" sz="1300" dirty="0"/>
          </a:p>
        </p:txBody>
      </p:sp>
      <p:sp>
        <p:nvSpPr>
          <p:cNvPr id="13" name="Text-138"/>
          <p:cNvSpPr txBox="1"/>
          <p:nvPr/>
        </p:nvSpPr>
        <p:spPr>
          <a:xfrm>
            <a:off x="548640" y="45262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Free · Pro €9.99/month or €79/year · packs €2.99–4.99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(estimate): revenue €51k / €336k / €1,039k in Y1–Y3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per business plan: €250–350k seed for 18–24 months</a:t>
            </a:r>
            <a:endParaRPr lang="en-US" sz="1400" dirty="0"/>
          </a:p>
        </p:txBody>
      </p:sp>
      <p:sp>
        <p:nvSpPr>
          <p:cNvPr id="14" name="Text-13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live-fx/business/BUSINESSPLAN.md (sections 1, 6, 9, 11), market data there [Source 1, 2]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CONTENT IP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book series, three languages</a:t>
            </a:r>
            <a:endParaRPr lang="en-US" sz="3200" dirty="0"/>
          </a:p>
        </p:txBody>
      </p:sp>
      <p:sp>
        <p:nvSpPr>
          <p:cNvPr id="4" name="Pill-140"/>
          <p:cNvSpPr txBox="1"/>
          <p:nvPr/>
        </p:nvSpPr>
        <p:spPr>
          <a:xfrm>
            <a:off x="548640" y="155448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00" dirty="0"/>
          </a:p>
        </p:txBody>
      </p:sp>
      <p:sp>
        <p:nvSpPr>
          <p:cNvPr id="5" name="Text-141"/>
          <p:cNvSpPr txBox="1"/>
          <p:nvPr/>
        </p:nvSpPr>
        <p:spPr>
          <a:xfrm>
            <a:off x="123444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Benim Nörofarklı Pusulam</a:t>
            </a:r>
            <a:endParaRPr lang="en-US" sz="1500" dirty="0"/>
          </a:p>
        </p:txBody>
      </p:sp>
      <p:sp>
        <p:nvSpPr>
          <p:cNvPr id="6" name="Pill-142"/>
          <p:cNvSpPr txBox="1"/>
          <p:nvPr/>
        </p:nvSpPr>
        <p:spPr>
          <a:xfrm>
            <a:off x="548640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000" dirty="0"/>
          </a:p>
        </p:txBody>
      </p:sp>
      <p:sp>
        <p:nvSpPr>
          <p:cNvPr id="7" name="Text-143"/>
          <p:cNvSpPr txBox="1"/>
          <p:nvPr/>
        </p:nvSpPr>
        <p:spPr>
          <a:xfrm>
            <a:off x="1234440" y="1965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Mein neurodiverser Kompass</a:t>
            </a:r>
            <a:endParaRPr lang="en-US" sz="1500" dirty="0"/>
          </a:p>
        </p:txBody>
      </p:sp>
      <p:sp>
        <p:nvSpPr>
          <p:cNvPr id="8" name="Pill-144"/>
          <p:cNvSpPr txBox="1"/>
          <p:nvPr/>
        </p:nvSpPr>
        <p:spPr>
          <a:xfrm>
            <a:off x="548640" y="237744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000" dirty="0"/>
          </a:p>
        </p:txBody>
      </p:sp>
      <p:sp>
        <p:nvSpPr>
          <p:cNvPr id="9" name="Text-145"/>
          <p:cNvSpPr txBox="1"/>
          <p:nvPr/>
        </p:nvSpPr>
        <p:spPr>
          <a:xfrm>
            <a:off x="1234440" y="2377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Neurodivergent Compass</a:t>
            </a:r>
            <a:endParaRPr lang="en-US" sz="1500" dirty="0"/>
          </a:p>
        </p:txBody>
      </p:sp>
      <p:sp>
        <p:nvSpPr>
          <p:cNvPr id="10" name="Badge-146"/>
          <p:cNvSpPr txBox="1"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-147"/>
          <p:cNvSpPr txBox="1"/>
          <p:nvPr/>
        </p:nvSpPr>
        <p:spPr>
          <a:xfrm>
            <a:off x="9601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Neurodivergent Compass</a:t>
            </a:r>
            <a:endParaRPr lang="en-US" sz="1400" dirty="0"/>
          </a:p>
        </p:txBody>
      </p:sp>
      <p:sp>
        <p:nvSpPr>
          <p:cNvPr id="12" name="Badge-148"/>
          <p:cNvSpPr txBox="1"/>
          <p:nvPr/>
        </p:nvSpPr>
        <p:spPr>
          <a:xfrm>
            <a:off x="548640" y="332841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-149"/>
          <p:cNvSpPr txBox="1"/>
          <p:nvPr/>
        </p:nvSpPr>
        <p:spPr>
          <a:xfrm>
            <a:off x="960120" y="3328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and the Secret Messages of His Body</a:t>
            </a:r>
            <a:endParaRPr lang="en-US" sz="1400" dirty="0"/>
          </a:p>
        </p:txBody>
      </p:sp>
      <p:sp>
        <p:nvSpPr>
          <p:cNvPr id="14" name="Badge-150"/>
          <p:cNvSpPr txBox="1"/>
          <p:nvPr/>
        </p:nvSpPr>
        <p:spPr>
          <a:xfrm>
            <a:off x="548640" y="373075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-151"/>
          <p:cNvSpPr txBox="1"/>
          <p:nvPr/>
        </p:nvSpPr>
        <p:spPr>
          <a:xfrm>
            <a:off x="960120" y="3730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Finds His Own Way at School</a:t>
            </a:r>
            <a:endParaRPr lang="en-US" sz="1400" dirty="0"/>
          </a:p>
        </p:txBody>
      </p:sp>
      <p:sp>
        <p:nvSpPr>
          <p:cNvPr id="16" name="Badge-152"/>
          <p:cNvSpPr txBox="1"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-153"/>
          <p:cNvSpPr txBox="1"/>
          <p:nvPr/>
        </p:nvSpPr>
        <p:spPr>
          <a:xfrm>
            <a:off x="960120" y="4133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and the Friendship Compass</a:t>
            </a:r>
            <a:endParaRPr lang="en-US" sz="1400" dirty="0"/>
          </a:p>
        </p:txBody>
      </p:sp>
      <p:sp>
        <p:nvSpPr>
          <p:cNvPr id="18" name="Badge-154"/>
          <p:cNvSpPr txBox="1"/>
          <p:nvPr/>
        </p:nvSpPr>
        <p:spPr>
          <a:xfrm>
            <a:off x="548640" y="4535424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-155"/>
          <p:cNvSpPr txBox="1"/>
          <p:nvPr/>
        </p:nvSpPr>
        <p:spPr>
          <a:xfrm>
            <a:off x="960120" y="4535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and the Island of Changes</a:t>
            </a:r>
            <a:endParaRPr lang="en-US" sz="1400" dirty="0"/>
          </a:p>
        </p:txBody>
      </p:sp>
      <p:sp>
        <p:nvSpPr>
          <p:cNvPr id="20" name="Text-156"/>
          <p:cNvSpPr txBox="1"/>
          <p:nvPr/>
        </p:nvSpPr>
        <p:spPr>
          <a:xfrm>
            <a:off x="54864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book “İyi ki Varsın / Gut, dass es dich gibt / Good That You Exist” · teen spin-off with 4 Deniz titles</a:t>
            </a:r>
            <a:endParaRPr lang="en-US" sz="1200" dirty="0"/>
          </a:p>
        </p:txBody>
      </p:sp>
      <p:sp>
        <p:nvSpPr>
          <p:cNvPr id="21" name="Text-157"/>
          <p:cNvSpPr txBox="1"/>
          <p:nvPr/>
        </p:nvSpPr>
        <p:spPr>
          <a:xfrm>
            <a:off x="548640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Available: 5 book trailers (TR), series videos in DE/TR/EN, gift-book trailer in 3 languages</a:t>
            </a:r>
            <a:endParaRPr lang="en-US" sz="1200" dirty="0"/>
          </a:p>
        </p:txBody>
      </p:sp>
      <p:pic>
        <p:nvPicPr>
          <p:cNvPr id="22" name="Image-158" descr="/home/user/Notion/live-fx/business/video/stills/vision-en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554480"/>
            <a:ext cx="4967935" cy="2794464"/>
          </a:xfrm>
          <a:prstGeom prst="rect">
            <a:avLst/>
          </a:prstGeom>
        </p:spPr>
      </p:pic>
      <p:sp>
        <p:nvSpPr>
          <p:cNvPr id="23" name="Text-159"/>
          <p:cNvSpPr txBox="1"/>
          <p:nvPr/>
        </p:nvSpPr>
        <p:spPr>
          <a:xfrm>
            <a:off x="6675120" y="4394664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story film (vision trailer)</a:t>
            </a:r>
            <a:endParaRPr lang="en-US" sz="900" dirty="0"/>
          </a:p>
        </p:txBody>
      </p:sp>
      <p:sp>
        <p:nvSpPr>
          <p:cNvPr id="24" name="Card-160"/>
          <p:cNvSpPr/>
          <p:nvPr/>
        </p:nvSpPr>
        <p:spPr>
          <a:xfrm>
            <a:off x="6675120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5" name="Text-161"/>
          <p:cNvSpPr txBox="1"/>
          <p:nvPr/>
        </p:nvSpPr>
        <p:spPr>
          <a:xfrm>
            <a:off x="6858000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Aybal</a:t>
            </a:r>
            <a:endParaRPr lang="en-US" sz="1600" dirty="0"/>
          </a:p>
        </p:txBody>
      </p:sp>
      <p:sp>
        <p:nvSpPr>
          <p:cNvPr id="26" name="Text-162"/>
          <p:cNvSpPr txBox="1"/>
          <p:nvPr/>
        </p:nvSpPr>
        <p:spPr>
          <a:xfrm>
            <a:off x="6858000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Read-aloud titles with voice in three languages</a:t>
            </a:r>
            <a:endParaRPr lang="en-US" sz="1200" dirty="0"/>
          </a:p>
        </p:txBody>
      </p:sp>
      <p:sp>
        <p:nvSpPr>
          <p:cNvPr id="27" name="Card-163"/>
          <p:cNvSpPr/>
          <p:nvPr/>
        </p:nvSpPr>
        <p:spPr>
          <a:xfrm>
            <a:off x="9273388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8" name="Text-164"/>
          <p:cNvSpPr txBox="1"/>
          <p:nvPr/>
        </p:nvSpPr>
        <p:spPr>
          <a:xfrm>
            <a:off x="9456268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LiveFX</a:t>
            </a:r>
            <a:endParaRPr lang="en-US" sz="1600" dirty="0"/>
          </a:p>
        </p:txBody>
      </p:sp>
      <p:sp>
        <p:nvSpPr>
          <p:cNvPr id="29" name="Text-165"/>
          <p:cNvSpPr txBox="1"/>
          <p:nvPr/>
        </p:nvSpPr>
        <p:spPr>
          <a:xfrm>
            <a:off x="9456268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mode, world packs, first publisher pilot</a:t>
            </a:r>
            <a:endParaRPr lang="en-US" sz="1200" dirty="0"/>
          </a:p>
        </p:txBody>
      </p:sp>
      <p:sp>
        <p:nvSpPr>
          <p:cNvPr id="30" name="Text-166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file names in deniz-trailer/,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SYNERGIES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Synergies: one stack, one audience</a:t>
            </a:r>
            <a:endParaRPr lang="en-US" sz="3200" dirty="0"/>
          </a:p>
        </p:txBody>
      </p:sp>
      <p:sp>
        <p:nvSpPr>
          <p:cNvPr id="4" name="Card-167"/>
          <p:cNvSpPr/>
          <p:nvPr/>
        </p:nvSpPr>
        <p:spPr>
          <a:xfrm>
            <a:off x="54864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168"/>
          <p:cNvSpPr txBox="1"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-169"/>
          <p:cNvSpPr txBox="1"/>
          <p:nvPr/>
        </p:nvSpPr>
        <p:spPr>
          <a:xfrm>
            <a:off x="13716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and voice stack</a:t>
            </a:r>
            <a:endParaRPr lang="en-US" sz="1600" dirty="0"/>
          </a:p>
        </p:txBody>
      </p:sp>
      <p:sp>
        <p:nvSpPr>
          <p:cNvPr id="7" name="Text-170"/>
          <p:cNvSpPr txBox="1"/>
          <p:nvPr/>
        </p:nvSpPr>
        <p:spPr>
          <a:xfrm>
            <a:off x="77724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Recognition, speech output and word timing power both products: read-aloud with word highlighting (Aybal), scenes and pronunciation (LiveFX).</a:t>
            </a:r>
            <a:endParaRPr lang="en-US" sz="1200" dirty="0"/>
          </a:p>
        </p:txBody>
      </p:sp>
      <p:sp>
        <p:nvSpPr>
          <p:cNvPr id="8" name="Card-171"/>
          <p:cNvSpPr/>
          <p:nvPr/>
        </p:nvSpPr>
        <p:spPr>
          <a:xfrm>
            <a:off x="402336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172"/>
          <p:cNvSpPr txBox="1"/>
          <p:nvPr/>
        </p:nvSpPr>
        <p:spPr>
          <a:xfrm>
            <a:off x="4251960" y="1737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-173"/>
          <p:cNvSpPr txBox="1"/>
          <p:nvPr/>
        </p:nvSpPr>
        <p:spPr>
          <a:xfrm>
            <a:off x="48463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content IP</a:t>
            </a:r>
            <a:endParaRPr lang="en-US" sz="1600" dirty="0"/>
          </a:p>
        </p:txBody>
      </p:sp>
      <p:sp>
        <p:nvSpPr>
          <p:cNvPr id="11" name="Text-174"/>
          <p:cNvSpPr txBox="1"/>
          <p:nvPr/>
        </p:nvSpPr>
        <p:spPr>
          <a:xfrm>
            <a:off x="425196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 series supplies read-aloud titles for Aybal and story packs for LiveFX story mode.</a:t>
            </a:r>
            <a:endParaRPr lang="en-US" sz="1200" dirty="0"/>
          </a:p>
        </p:txBody>
      </p:sp>
      <p:sp>
        <p:nvSpPr>
          <p:cNvPr id="12" name="Card-175"/>
          <p:cNvSpPr/>
          <p:nvPr/>
        </p:nvSpPr>
        <p:spPr>
          <a:xfrm>
            <a:off x="54864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176"/>
          <p:cNvSpPr txBox="1"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-177"/>
          <p:cNvSpPr txBox="1"/>
          <p:nvPr/>
        </p:nvSpPr>
        <p:spPr>
          <a:xfrm>
            <a:off x="13716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DE/TR/EN markets</a:t>
            </a:r>
            <a:endParaRPr lang="en-US" sz="1600" dirty="0"/>
          </a:p>
        </p:txBody>
      </p:sp>
      <p:sp>
        <p:nvSpPr>
          <p:cNvPr id="15" name="Text-178"/>
          <p:cNvSpPr txBox="1"/>
          <p:nvPr/>
        </p:nvSpPr>
        <p:spPr>
          <a:xfrm>
            <a:off x="77724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start in the German-Turkish community: Aybal with its Germany launch, LiveFX with Turkish creators.</a:t>
            </a:r>
            <a:endParaRPr lang="en-US" sz="1200" dirty="0"/>
          </a:p>
        </p:txBody>
      </p:sp>
      <p:sp>
        <p:nvSpPr>
          <p:cNvPr id="16" name="Card-179"/>
          <p:cNvSpPr/>
          <p:nvPr/>
        </p:nvSpPr>
        <p:spPr>
          <a:xfrm>
            <a:off x="402336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7" name="Badge-180"/>
          <p:cNvSpPr txBox="1"/>
          <p:nvPr/>
        </p:nvSpPr>
        <p:spPr>
          <a:xfrm>
            <a:off x="4251960" y="406908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-181"/>
          <p:cNvSpPr txBox="1"/>
          <p:nvPr/>
        </p:nvSpPr>
        <p:spPr>
          <a:xfrm>
            <a:off x="48463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</a:t>
            </a:r>
            <a:endParaRPr lang="en-US" sz="1600" dirty="0"/>
          </a:p>
        </p:txBody>
      </p:sp>
      <p:sp>
        <p:nvSpPr>
          <p:cNvPr id="19" name="Text-182"/>
          <p:cNvSpPr txBox="1"/>
          <p:nvPr/>
        </p:nvSpPr>
        <p:spPr>
          <a:xfrm>
            <a:off x="425196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Read-aloud streams lead families to Aybal; Aybal families are the target group for LiveFX WortBild (language learning).</a:t>
            </a:r>
            <a:endParaRPr lang="en-US" sz="1200" dirty="0"/>
          </a:p>
        </p:txBody>
      </p:sp>
      <p:pic>
        <p:nvPicPr>
          <p:cNvPr id="20" name="Image-183" descr="/home/user/Notion/live-fx/business/video/stills/vision-en-16x9-15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1508760"/>
            <a:ext cx="4099255" cy="2305831"/>
          </a:xfrm>
          <a:prstGeom prst="rect">
            <a:avLst/>
          </a:prstGeom>
        </p:spPr>
      </p:pic>
      <p:sp>
        <p:nvSpPr>
          <p:cNvPr id="21" name="Text-184"/>
          <p:cNvSpPr txBox="1"/>
          <p:nvPr/>
        </p:nvSpPr>
        <p:spPr>
          <a:xfrm>
            <a:off x="7543800" y="3860311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WortBild (vision trailer)</a:t>
            </a:r>
            <a:endParaRPr lang="en-US" sz="900" dirty="0"/>
          </a:p>
        </p:txBody>
      </p:sp>
      <p:sp>
        <p:nvSpPr>
          <p:cNvPr id="22" name="Wave-185"/>
          <p:cNvSpPr/>
          <p:nvPr/>
        </p:nvSpPr>
        <p:spPr>
          <a:xfrm>
            <a:off x="7543800" y="4425696"/>
            <a:ext cx="102481" cy="10972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186"/>
          <p:cNvSpPr/>
          <p:nvPr/>
        </p:nvSpPr>
        <p:spPr>
          <a:xfrm>
            <a:off x="7748763" y="4285259"/>
            <a:ext cx="102481" cy="3906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187"/>
          <p:cNvSpPr/>
          <p:nvPr/>
        </p:nvSpPr>
        <p:spPr>
          <a:xfrm>
            <a:off x="7953726" y="4293030"/>
            <a:ext cx="102481" cy="37505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188"/>
          <p:cNvSpPr/>
          <p:nvPr/>
        </p:nvSpPr>
        <p:spPr>
          <a:xfrm>
            <a:off x="8158688" y="4312414"/>
            <a:ext cx="102481" cy="33629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189"/>
          <p:cNvSpPr/>
          <p:nvPr/>
        </p:nvSpPr>
        <p:spPr>
          <a:xfrm>
            <a:off x="8363651" y="4265515"/>
            <a:ext cx="102481" cy="4300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190"/>
          <p:cNvSpPr/>
          <p:nvPr/>
        </p:nvSpPr>
        <p:spPr>
          <a:xfrm>
            <a:off x="8568614" y="4319069"/>
            <a:ext cx="102481" cy="32298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191"/>
          <p:cNvSpPr/>
          <p:nvPr/>
        </p:nvSpPr>
        <p:spPr>
          <a:xfrm>
            <a:off x="8773577" y="4361334"/>
            <a:ext cx="102481" cy="2384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192"/>
          <p:cNvSpPr/>
          <p:nvPr/>
        </p:nvSpPr>
        <p:spPr>
          <a:xfrm>
            <a:off x="8978539" y="4284695"/>
            <a:ext cx="102481" cy="3917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193"/>
          <p:cNvSpPr/>
          <p:nvPr/>
        </p:nvSpPr>
        <p:spPr>
          <a:xfrm>
            <a:off x="9183502" y="4316207"/>
            <a:ext cx="102481" cy="32870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1" name="Wave-194"/>
          <p:cNvSpPr/>
          <p:nvPr/>
        </p:nvSpPr>
        <p:spPr>
          <a:xfrm>
            <a:off x="9388465" y="4287495"/>
            <a:ext cx="102481" cy="38612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2" name="Wave-195"/>
          <p:cNvSpPr/>
          <p:nvPr/>
        </p:nvSpPr>
        <p:spPr>
          <a:xfrm>
            <a:off x="9593428" y="4256824"/>
            <a:ext cx="102481" cy="44747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196"/>
          <p:cNvSpPr/>
          <p:nvPr/>
        </p:nvSpPr>
        <p:spPr>
          <a:xfrm>
            <a:off x="9798390" y="4379488"/>
            <a:ext cx="102481" cy="202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197"/>
          <p:cNvSpPr/>
          <p:nvPr/>
        </p:nvSpPr>
        <p:spPr>
          <a:xfrm>
            <a:off x="10003353" y="4319566"/>
            <a:ext cx="102481" cy="3219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198"/>
          <p:cNvSpPr/>
          <p:nvPr/>
        </p:nvSpPr>
        <p:spPr>
          <a:xfrm>
            <a:off x="10208316" y="4306193"/>
            <a:ext cx="102481" cy="34873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199"/>
          <p:cNvSpPr/>
          <p:nvPr/>
        </p:nvSpPr>
        <p:spPr>
          <a:xfrm>
            <a:off x="10413279" y="4316368"/>
            <a:ext cx="102481" cy="32838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200"/>
          <p:cNvSpPr/>
          <p:nvPr/>
        </p:nvSpPr>
        <p:spPr>
          <a:xfrm>
            <a:off x="10618241" y="4254143"/>
            <a:ext cx="102481" cy="45283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201"/>
          <p:cNvSpPr/>
          <p:nvPr/>
        </p:nvSpPr>
        <p:spPr>
          <a:xfrm>
            <a:off x="10823204" y="4281183"/>
            <a:ext cx="102481" cy="39875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202"/>
          <p:cNvSpPr/>
          <p:nvPr/>
        </p:nvSpPr>
        <p:spPr>
          <a:xfrm>
            <a:off x="11028167" y="4405862"/>
            <a:ext cx="102481" cy="14939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203"/>
          <p:cNvSpPr/>
          <p:nvPr/>
        </p:nvSpPr>
        <p:spPr>
          <a:xfrm>
            <a:off x="11233130" y="4310428"/>
            <a:ext cx="102481" cy="3402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204"/>
          <p:cNvSpPr/>
          <p:nvPr/>
        </p:nvSpPr>
        <p:spPr>
          <a:xfrm>
            <a:off x="11438092" y="4327426"/>
            <a:ext cx="102481" cy="30626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Text-205"/>
          <p:cNvSpPr txBox="1"/>
          <p:nvPr/>
        </p:nvSpPr>
        <p:spPr>
          <a:xfrm>
            <a:off x="7543800" y="4983480"/>
            <a:ext cx="4099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Synergies are hypotheses and not yet measured.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OFFER / ROUND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€500,000 for three projects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1732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206"/>
          <p:cNvSpPr txBox="1"/>
          <p:nvPr/>
        </p:nvSpPr>
        <p:spPr>
          <a:xfrm>
            <a:off x="173736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€500,000</a:t>
            </a:r>
            <a:endParaRPr lang="en-US" sz="2600" dirty="0"/>
          </a:p>
        </p:txBody>
      </p:sp>
      <p:sp>
        <p:nvSpPr>
          <p:cNvPr id="6" name="Text-207"/>
          <p:cNvSpPr txBox="1"/>
          <p:nvPr/>
        </p:nvSpPr>
        <p:spPr>
          <a:xfrm>
            <a:off x="17373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(proposal)</a:t>
            </a:r>
            <a:endParaRPr lang="en-US" sz="1100" dirty="0"/>
          </a:p>
        </p:txBody>
      </p:sp>
      <p:sp>
        <p:nvSpPr>
          <p:cNvPr id="7" name="Pill-208"/>
          <p:cNvSpPr txBox="1"/>
          <p:nvPr/>
        </p:nvSpPr>
        <p:spPr>
          <a:xfrm>
            <a:off x="5669280" y="15544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– PLEASE CONFIRM</a:t>
            </a:r>
            <a:endParaRPr lang="en-US" sz="1000" dirty="0"/>
          </a:p>
        </p:txBody>
      </p:sp>
      <p:sp>
        <p:nvSpPr>
          <p:cNvPr id="8" name="Card-209"/>
          <p:cNvSpPr/>
          <p:nvPr/>
        </p:nvSpPr>
        <p:spPr>
          <a:xfrm>
            <a:off x="5669280" y="2148840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10"/>
          <p:cNvSpPr txBox="1"/>
          <p:nvPr/>
        </p:nvSpPr>
        <p:spPr>
          <a:xfrm>
            <a:off x="5897880" y="2423160"/>
            <a:ext cx="320040" cy="3200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6400800" y="2276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800" dirty="0"/>
          </a:p>
        </p:txBody>
      </p:sp>
      <p:sp>
        <p:nvSpPr>
          <p:cNvPr id="11" name="Text-212"/>
          <p:cNvSpPr txBox="1"/>
          <p:nvPr/>
        </p:nvSpPr>
        <p:spPr>
          <a:xfrm>
            <a:off x="640080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 the Aybal deck</a:t>
            </a:r>
            <a:endParaRPr lang="en-US" sz="1200" dirty="0"/>
          </a:p>
        </p:txBody>
      </p:sp>
      <p:sp>
        <p:nvSpPr>
          <p:cNvPr id="12" name="Text-213"/>
          <p:cNvSpPr txBox="1"/>
          <p:nvPr/>
        </p:nvSpPr>
        <p:spPr>
          <a:xfrm>
            <a:off x="9265615" y="2258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€250,000</a:t>
            </a:r>
            <a:endParaRPr lang="en-US" sz="2600" dirty="0"/>
          </a:p>
        </p:txBody>
      </p:sp>
      <p:sp>
        <p:nvSpPr>
          <p:cNvPr id="13" name="Card-214"/>
          <p:cNvSpPr/>
          <p:nvPr/>
        </p:nvSpPr>
        <p:spPr>
          <a:xfrm>
            <a:off x="5669280" y="3172968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Badge-215"/>
          <p:cNvSpPr txBox="1"/>
          <p:nvPr/>
        </p:nvSpPr>
        <p:spPr>
          <a:xfrm>
            <a:off x="5897880" y="3447288"/>
            <a:ext cx="320040" cy="3200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216"/>
          <p:cNvSpPr txBox="1"/>
          <p:nvPr/>
        </p:nvSpPr>
        <p:spPr>
          <a:xfrm>
            <a:off x="640080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800" dirty="0"/>
          </a:p>
        </p:txBody>
      </p:sp>
      <p:sp>
        <p:nvSpPr>
          <p:cNvPr id="16" name="Text-217"/>
          <p:cNvSpPr txBox="1"/>
          <p:nvPr/>
        </p:nvSpPr>
        <p:spPr>
          <a:xfrm>
            <a:off x="6400800" y="3648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seed range in its business plan</a:t>
            </a:r>
            <a:endParaRPr lang="en-US" sz="1200" dirty="0"/>
          </a:p>
        </p:txBody>
      </p:sp>
      <p:sp>
        <p:nvSpPr>
          <p:cNvPr id="17" name="Text-218"/>
          <p:cNvSpPr txBox="1"/>
          <p:nvPr/>
        </p:nvSpPr>
        <p:spPr>
          <a:xfrm>
            <a:off x="9265615" y="32826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€200,000</a:t>
            </a:r>
            <a:endParaRPr lang="en-US" sz="2600" dirty="0"/>
          </a:p>
        </p:txBody>
      </p:sp>
      <p:sp>
        <p:nvSpPr>
          <p:cNvPr id="18" name="Card-219"/>
          <p:cNvSpPr/>
          <p:nvPr/>
        </p:nvSpPr>
        <p:spPr>
          <a:xfrm>
            <a:off x="5669280" y="4197096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9" name="Badge-220"/>
          <p:cNvSpPr txBox="1"/>
          <p:nvPr/>
        </p:nvSpPr>
        <p:spPr>
          <a:xfrm>
            <a:off x="5897880" y="4471416"/>
            <a:ext cx="320040" cy="3200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-221"/>
          <p:cNvSpPr txBox="1"/>
          <p:nvPr/>
        </p:nvSpPr>
        <p:spPr>
          <a:xfrm>
            <a:off x="6400800" y="4325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series / content</a:t>
            </a:r>
            <a:endParaRPr lang="en-US" sz="1800" dirty="0"/>
          </a:p>
        </p:txBody>
      </p:sp>
      <p:sp>
        <p:nvSpPr>
          <p:cNvPr id="21" name="Text-222"/>
          <p:cNvSpPr txBox="1"/>
          <p:nvPr/>
        </p:nvSpPr>
        <p:spPr>
          <a:xfrm>
            <a:off x="6400800" y="4672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editions, print, rights</a:t>
            </a:r>
            <a:endParaRPr lang="en-US" sz="1200" dirty="0"/>
          </a:p>
        </p:txBody>
      </p:sp>
      <p:sp>
        <p:nvSpPr>
          <p:cNvPr id="22" name="Text-223"/>
          <p:cNvSpPr txBox="1"/>
          <p:nvPr/>
        </p:nvSpPr>
        <p:spPr>
          <a:xfrm>
            <a:off x="9265615" y="430682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€50,000</a:t>
            </a:r>
            <a:endParaRPr lang="en-US" sz="2600" dirty="0"/>
          </a:p>
        </p:txBody>
      </p:sp>
      <p:sp>
        <p:nvSpPr>
          <p:cNvPr id="23" name="Text-224"/>
          <p:cNvSpPr txBox="1"/>
          <p:nvPr/>
        </p:nvSpPr>
        <p:spPr>
          <a:xfrm>
            <a:off x="5669280" y="530352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terms per its own deck: €1.30M pre-money cap, ~16% at cap, planned close March 2027. Terms for LiveFX and content: [open].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OFFER / USE OF FUNDS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 by project</a:t>
            </a:r>
            <a:endParaRPr lang="en-US" sz="3200" dirty="0"/>
          </a:p>
        </p:txBody>
      </p:sp>
      <p:sp>
        <p:nvSpPr>
          <p:cNvPr id="4" name="Card-225"/>
          <p:cNvSpPr/>
          <p:nvPr/>
        </p:nvSpPr>
        <p:spPr>
          <a:xfrm>
            <a:off x="548640" y="1508760"/>
            <a:ext cx="4343400" cy="438912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Text-226"/>
          <p:cNvSpPr txBox="1"/>
          <p:nvPr/>
        </p:nvSpPr>
        <p:spPr>
          <a:xfrm>
            <a:off x="777240" y="17099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€250,000 (per Aybal deck)</a:t>
            </a:r>
            <a:endParaRPr lang="en-US" sz="1600" dirty="0"/>
          </a:p>
        </p:txBody>
      </p:sp>
      <p:graphicFrame>
        <p:nvGraphicFramePr>
          <p:cNvPr id="6" name="Aybal-use-of-funds-bar" descr=""/>
          <p:cNvGraphicFramePr/>
          <p:nvPr/>
        </p:nvGraphicFramePr>
        <p:xfrm>
          <a:off x="640080" y="2286000"/>
          <a:ext cx="4160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27"/>
          <p:cNvSpPr txBox="1"/>
          <p:nvPr/>
        </p:nvSpPr>
        <p:spPr>
          <a:xfrm>
            <a:off x="77724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€125,000  ·  Marketing: €62,500  ·  EU voice ops + store app: €37,500  ·  Legal / trust: €25,000</a:t>
            </a:r>
            <a:endParaRPr lang="en-US" sz="1100" dirty="0"/>
          </a:p>
        </p:txBody>
      </p:sp>
      <p:sp>
        <p:nvSpPr>
          <p:cNvPr id="8" name="Card-228"/>
          <p:cNvSpPr/>
          <p:nvPr/>
        </p:nvSpPr>
        <p:spPr>
          <a:xfrm>
            <a:off x="5157216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29"/>
          <p:cNvSpPr txBox="1"/>
          <p:nvPr/>
        </p:nvSpPr>
        <p:spPr>
          <a:xfrm>
            <a:off x="5385816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· €200,000</a:t>
            </a:r>
            <a:endParaRPr lang="en-US" sz="1600" dirty="0"/>
          </a:p>
        </p:txBody>
      </p:sp>
      <p:sp>
        <p:nvSpPr>
          <p:cNvPr id="10" name="Pill-230"/>
          <p:cNvSpPr txBox="1"/>
          <p:nvPr/>
        </p:nvSpPr>
        <p:spPr>
          <a:xfrm>
            <a:off x="5385816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– PLEASE CONFIRM</a:t>
            </a:r>
            <a:endParaRPr lang="en-US" sz="900" dirty="0"/>
          </a:p>
        </p:txBody>
      </p:sp>
      <p:sp>
        <p:nvSpPr>
          <p:cNvPr id="11" name="Text-231"/>
          <p:cNvSpPr txBox="1"/>
          <p:nvPr/>
        </p:nvSpPr>
        <p:spPr>
          <a:xfrm>
            <a:off x="5385816" y="260604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year-1 base-case costs (€165k) plus a buffer. The business plan names €250–350k; the rest from revenue, grants or a follow-on round.</a:t>
            </a:r>
            <a:endParaRPr lang="en-US" sz="1200" dirty="0"/>
          </a:p>
        </p:txBody>
      </p:sp>
      <p:sp>
        <p:nvSpPr>
          <p:cNvPr id="12" name="Text-232"/>
          <p:cNvSpPr txBox="1"/>
          <p:nvPr/>
        </p:nvSpPr>
        <p:spPr>
          <a:xfrm>
            <a:off x="5385816" y="4023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developer (first hire)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partner programme, marketing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education pilots</a:t>
            </a:r>
            <a:endParaRPr lang="en-US" sz="1400" dirty="0"/>
          </a:p>
        </p:txBody>
      </p:sp>
      <p:sp>
        <p:nvSpPr>
          <p:cNvPr id="13" name="Card-233"/>
          <p:cNvSpPr/>
          <p:nvPr/>
        </p:nvSpPr>
        <p:spPr>
          <a:xfrm>
            <a:off x="8577072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Text-234"/>
          <p:cNvSpPr txBox="1"/>
          <p:nvPr/>
        </p:nvSpPr>
        <p:spPr>
          <a:xfrm>
            <a:off x="8805672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series · €50,000</a:t>
            </a:r>
            <a:endParaRPr lang="en-US" sz="1600" dirty="0"/>
          </a:p>
        </p:txBody>
      </p:sp>
      <p:sp>
        <p:nvSpPr>
          <p:cNvPr id="15" name="Pill-235"/>
          <p:cNvSpPr txBox="1"/>
          <p:nvPr/>
        </p:nvSpPr>
        <p:spPr>
          <a:xfrm>
            <a:off x="8805672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– PLEASE CONFIRM</a:t>
            </a:r>
            <a:endParaRPr lang="en-US" sz="900" dirty="0"/>
          </a:p>
        </p:txBody>
      </p:sp>
      <p:sp>
        <p:nvSpPr>
          <p:cNvPr id="16" name="Text-236"/>
          <p:cNvSpPr txBox="1"/>
          <p:nvPr/>
        </p:nvSpPr>
        <p:spPr>
          <a:xfrm>
            <a:off x="8805672" y="2606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DE/TR/EN audio editions for Aybal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Editing, translation, print editions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Rights, licences, ISBNs</a:t>
            </a:r>
            <a:endParaRPr lang="en-US" sz="1400" dirty="0"/>
          </a:p>
        </p:txBody>
      </p:sp>
      <p:sp>
        <p:nvSpPr>
          <p:cNvPr id="17" name="Text-237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Aybal_Investor_Deck.pptx slide 12; BUSINESSPLAN.md sections 11.3–11.4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OFFER / MILESTONES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months: milestones by project</a:t>
            </a:r>
            <a:endParaRPr lang="en-US" sz="3200" dirty="0"/>
          </a:p>
        </p:txBody>
      </p:sp>
      <p:sp>
        <p:nvSpPr>
          <p:cNvPr id="4" name="Text-238"/>
          <p:cNvSpPr txBox="1"/>
          <p:nvPr/>
        </p:nvSpPr>
        <p:spPr>
          <a:xfrm>
            <a:off x="192024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26</a:t>
            </a:r>
            <a:endParaRPr lang="en-US" sz="1100" dirty="0"/>
          </a:p>
        </p:txBody>
      </p:sp>
      <p:sp>
        <p:nvSpPr>
          <p:cNvPr id="5" name="Text-239"/>
          <p:cNvSpPr txBox="1"/>
          <p:nvPr/>
        </p:nvSpPr>
        <p:spPr>
          <a:xfrm>
            <a:off x="3135592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27</a:t>
            </a:r>
            <a:endParaRPr lang="en-US" sz="1100" dirty="0"/>
          </a:p>
        </p:txBody>
      </p:sp>
      <p:sp>
        <p:nvSpPr>
          <p:cNvPr id="6" name="Text-240"/>
          <p:cNvSpPr txBox="1"/>
          <p:nvPr/>
        </p:nvSpPr>
        <p:spPr>
          <a:xfrm>
            <a:off x="4350944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27</a:t>
            </a:r>
            <a:endParaRPr lang="en-US" sz="1100" dirty="0"/>
          </a:p>
        </p:txBody>
      </p:sp>
      <p:sp>
        <p:nvSpPr>
          <p:cNvPr id="7" name="Text-241"/>
          <p:cNvSpPr txBox="1"/>
          <p:nvPr/>
        </p:nvSpPr>
        <p:spPr>
          <a:xfrm>
            <a:off x="5566296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27</a:t>
            </a:r>
            <a:endParaRPr lang="en-US" sz="1100" dirty="0"/>
          </a:p>
        </p:txBody>
      </p:sp>
      <p:sp>
        <p:nvSpPr>
          <p:cNvPr id="8" name="Text-242"/>
          <p:cNvSpPr txBox="1"/>
          <p:nvPr/>
        </p:nvSpPr>
        <p:spPr>
          <a:xfrm>
            <a:off x="6781648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27</a:t>
            </a:r>
            <a:endParaRPr lang="en-US" sz="1100" dirty="0"/>
          </a:p>
        </p:txBody>
      </p:sp>
      <p:sp>
        <p:nvSpPr>
          <p:cNvPr id="9" name="Text-243"/>
          <p:cNvSpPr txBox="1"/>
          <p:nvPr/>
        </p:nvSpPr>
        <p:spPr>
          <a:xfrm>
            <a:off x="799700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28</a:t>
            </a:r>
            <a:endParaRPr lang="en-US" sz="1100" dirty="0"/>
          </a:p>
        </p:txBody>
      </p:sp>
      <p:sp>
        <p:nvSpPr>
          <p:cNvPr id="10" name="Text-244"/>
          <p:cNvSpPr txBox="1"/>
          <p:nvPr/>
        </p:nvSpPr>
        <p:spPr>
          <a:xfrm>
            <a:off x="9212351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28</a:t>
            </a:r>
            <a:endParaRPr lang="en-US" sz="1100" dirty="0"/>
          </a:p>
        </p:txBody>
      </p:sp>
      <p:sp>
        <p:nvSpPr>
          <p:cNvPr id="11" name="Text-245"/>
          <p:cNvSpPr txBox="1"/>
          <p:nvPr/>
        </p:nvSpPr>
        <p:spPr>
          <a:xfrm>
            <a:off x="10427703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28</a:t>
            </a:r>
            <a:endParaRPr lang="en-US" sz="1100" dirty="0"/>
          </a:p>
        </p:txBody>
      </p:sp>
      <p:sp>
        <p:nvSpPr>
          <p:cNvPr id="12" name="Lane-246"/>
          <p:cNvSpPr/>
          <p:nvPr/>
        </p:nvSpPr>
        <p:spPr>
          <a:xfrm>
            <a:off x="1920240" y="237744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13" name="Text-247"/>
          <p:cNvSpPr txBox="1"/>
          <p:nvPr/>
        </p:nvSpPr>
        <p:spPr>
          <a:xfrm>
            <a:off x="5486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600" dirty="0"/>
          </a:p>
        </p:txBody>
      </p:sp>
      <p:sp>
        <p:nvSpPr>
          <p:cNvPr id="14" name="Milestone-248"/>
          <p:cNvSpPr txBox="1"/>
          <p:nvPr/>
        </p:nvSpPr>
        <p:spPr>
          <a:xfrm>
            <a:off x="196596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(50 families) · Germany launch</a:t>
            </a:r>
            <a:endParaRPr lang="en-US" sz="1100" dirty="0"/>
          </a:p>
        </p:txBody>
      </p:sp>
      <p:sp>
        <p:nvSpPr>
          <p:cNvPr id="15" name="Milestone-249"/>
          <p:cNvSpPr txBox="1"/>
          <p:nvPr/>
        </p:nvSpPr>
        <p:spPr>
          <a:xfrm>
            <a:off x="3181312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March 2027</a:t>
            </a:r>
            <a:endParaRPr lang="en-US" sz="1100" dirty="0"/>
          </a:p>
        </p:txBody>
      </p:sp>
      <p:sp>
        <p:nvSpPr>
          <p:cNvPr id="16" name="Milestone-250"/>
          <p:cNvSpPr txBox="1"/>
          <p:nvPr/>
        </p:nvSpPr>
        <p:spPr>
          <a:xfrm>
            <a:off x="4396664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activation</a:t>
            </a:r>
            <a:endParaRPr lang="en-US" sz="1100" dirty="0"/>
          </a:p>
        </p:txBody>
      </p:sp>
      <p:sp>
        <p:nvSpPr>
          <p:cNvPr id="17" name="Milestone-251"/>
          <p:cNvSpPr txBox="1"/>
          <p:nvPr/>
        </p:nvSpPr>
        <p:spPr>
          <a:xfrm>
            <a:off x="804272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 retention</a:t>
            </a:r>
            <a:endParaRPr lang="en-US" sz="1100" dirty="0"/>
          </a:p>
        </p:txBody>
      </p:sp>
      <p:sp>
        <p:nvSpPr>
          <p:cNvPr id="18" name="Milestone-252"/>
          <p:cNvSpPr txBox="1"/>
          <p:nvPr/>
        </p:nvSpPr>
        <p:spPr>
          <a:xfrm>
            <a:off x="9258071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expansion 2027–28</a:t>
            </a:r>
            <a:endParaRPr lang="en-US" sz="1100" dirty="0"/>
          </a:p>
        </p:txBody>
      </p:sp>
      <p:sp>
        <p:nvSpPr>
          <p:cNvPr id="19" name="Lane-253"/>
          <p:cNvSpPr/>
          <p:nvPr/>
        </p:nvSpPr>
        <p:spPr>
          <a:xfrm>
            <a:off x="1920240" y="370332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0" name="Text-254"/>
          <p:cNvSpPr txBox="1"/>
          <p:nvPr/>
        </p:nvSpPr>
        <p:spPr>
          <a:xfrm>
            <a:off x="54864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600" dirty="0"/>
          </a:p>
        </p:txBody>
      </p:sp>
      <p:sp>
        <p:nvSpPr>
          <p:cNvPr id="21" name="Milestone-255"/>
          <p:cNvSpPr txBox="1"/>
          <p:nvPr/>
        </p:nvSpPr>
        <p:spPr>
          <a:xfrm>
            <a:off x="1965960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 launch</a:t>
            </a:r>
            <a:endParaRPr lang="en-US" sz="1100" dirty="0"/>
          </a:p>
        </p:txBody>
      </p:sp>
      <p:sp>
        <p:nvSpPr>
          <p:cNvPr id="22" name="Milestone-256"/>
          <p:cNvSpPr txBox="1"/>
          <p:nvPr/>
        </p:nvSpPr>
        <p:spPr>
          <a:xfrm>
            <a:off x="3181312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plan, DE/EN</a:t>
            </a:r>
            <a:endParaRPr lang="en-US" sz="1100" dirty="0"/>
          </a:p>
        </p:txBody>
      </p:sp>
      <p:sp>
        <p:nvSpPr>
          <p:cNvPr id="23" name="Milestone-257"/>
          <p:cNvSpPr txBox="1"/>
          <p:nvPr/>
        </p:nvSpPr>
        <p:spPr>
          <a:xfrm>
            <a:off x="4396664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4" name="Milestone-258"/>
          <p:cNvSpPr txBox="1"/>
          <p:nvPr/>
        </p:nvSpPr>
        <p:spPr>
          <a:xfrm>
            <a:off x="5612016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Pro+, platform pilot</a:t>
            </a:r>
            <a:endParaRPr lang="en-US" sz="1100" dirty="0"/>
          </a:p>
        </p:txBody>
      </p:sp>
      <p:sp>
        <p:nvSpPr>
          <p:cNvPr id="25" name="Milestone-259"/>
          <p:cNvSpPr txBox="1"/>
          <p:nvPr/>
        </p:nvSpPr>
        <p:spPr>
          <a:xfrm>
            <a:off x="6827368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licence</a:t>
            </a:r>
            <a:endParaRPr lang="en-US" sz="1100" dirty="0"/>
          </a:p>
        </p:txBody>
      </p:sp>
      <p:sp>
        <p:nvSpPr>
          <p:cNvPr id="26" name="Milestone-260"/>
          <p:cNvSpPr txBox="1"/>
          <p:nvPr/>
        </p:nvSpPr>
        <p:spPr>
          <a:xfrm>
            <a:off x="9258071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SDK v1 (2028)</a:t>
            </a:r>
            <a:endParaRPr lang="en-US" sz="1100" dirty="0"/>
          </a:p>
        </p:txBody>
      </p:sp>
      <p:sp>
        <p:nvSpPr>
          <p:cNvPr id="27" name="Lane-261"/>
          <p:cNvSpPr/>
          <p:nvPr/>
        </p:nvSpPr>
        <p:spPr>
          <a:xfrm>
            <a:off x="1920240" y="502920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8" name="Text-262"/>
          <p:cNvSpPr txBox="1"/>
          <p:nvPr/>
        </p:nvSpPr>
        <p:spPr>
          <a:xfrm>
            <a:off x="548640" y="4800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  <a:endParaRPr lang="en-US" sz="1600" dirty="0"/>
          </a:p>
        </p:txBody>
      </p:sp>
      <p:sp>
        <p:nvSpPr>
          <p:cNvPr id="29" name="Milestone-263"/>
          <p:cNvSpPr txBox="1"/>
          <p:nvPr/>
        </p:nvSpPr>
        <p:spPr>
          <a:xfrm>
            <a:off x="3181312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editions in Aybal</a:t>
            </a:r>
            <a:endParaRPr lang="en-US" sz="1100" dirty="0"/>
          </a:p>
        </p:txBody>
      </p:sp>
      <p:sp>
        <p:nvSpPr>
          <p:cNvPr id="30" name="Milestone-264"/>
          <p:cNvSpPr txBox="1"/>
          <p:nvPr/>
        </p:nvSpPr>
        <p:spPr>
          <a:xfrm>
            <a:off x="5612016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pilot in LiveFX</a:t>
            </a:r>
            <a:endParaRPr lang="en-US" sz="1100" dirty="0"/>
          </a:p>
        </p:txBody>
      </p:sp>
      <p:sp>
        <p:nvSpPr>
          <p:cNvPr id="31" name="Milestone-265"/>
          <p:cNvSpPr txBox="1"/>
          <p:nvPr/>
        </p:nvSpPr>
        <p:spPr>
          <a:xfrm>
            <a:off x="8042720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 spin-off [date]</a:t>
            </a:r>
            <a:endParaRPr lang="en-US" sz="1100" dirty="0"/>
          </a:p>
        </p:txBody>
      </p:sp>
      <p:sp>
        <p:nvSpPr>
          <p:cNvPr id="32" name="Text-26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and LiveFX per project documents; book series: proposal – please confirm.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OFFER / STRUCTURE &amp; RISKS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options and risks</a:t>
            </a:r>
            <a:endParaRPr lang="en-US" sz="3200" dirty="0"/>
          </a:p>
        </p:txBody>
      </p:sp>
      <p:sp>
        <p:nvSpPr>
          <p:cNvPr id="4" name="Text-267"/>
          <p:cNvSpPr txBox="1"/>
          <p:nvPr/>
        </p:nvSpPr>
        <p:spPr>
          <a:xfrm>
            <a:off x="54864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– neutral, legal review required</a:t>
            </a:r>
            <a:endParaRPr lang="en-US" sz="1500" dirty="0"/>
          </a:p>
        </p:txBody>
      </p:sp>
      <p:sp>
        <p:nvSpPr>
          <p:cNvPr id="5" name="Card-268"/>
          <p:cNvSpPr/>
          <p:nvPr/>
        </p:nvSpPr>
        <p:spPr>
          <a:xfrm>
            <a:off x="548640" y="1874520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6" name="Text-269"/>
          <p:cNvSpPr txBox="1"/>
          <p:nvPr/>
        </p:nvSpPr>
        <p:spPr>
          <a:xfrm>
            <a:off x="777240" y="19842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One holding</a:t>
            </a:r>
            <a:endParaRPr lang="en-US" sz="1500" dirty="0"/>
          </a:p>
        </p:txBody>
      </p:sp>
      <p:sp>
        <p:nvSpPr>
          <p:cNvPr id="7" name="Text-270"/>
          <p:cNvSpPr txBox="1"/>
          <p:nvPr/>
        </p:nvSpPr>
        <p:spPr>
          <a:xfrm>
            <a:off x="777240" y="2313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entry point, pooled IP; in exchange a new valuation of all parts and transfer of the Aybal terms.</a:t>
            </a:r>
            <a:endParaRPr lang="en-US" sz="1200" dirty="0"/>
          </a:p>
        </p:txBody>
      </p:sp>
      <p:sp>
        <p:nvSpPr>
          <p:cNvPr id="8" name="Card-271"/>
          <p:cNvSpPr/>
          <p:nvPr/>
        </p:nvSpPr>
        <p:spPr>
          <a:xfrm>
            <a:off x="548640" y="2990088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72"/>
          <p:cNvSpPr txBox="1"/>
          <p:nvPr/>
        </p:nvSpPr>
        <p:spPr>
          <a:xfrm>
            <a:off x="777240" y="30998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Separate SPVs</a:t>
            </a:r>
            <a:endParaRPr lang="en-US" sz="1500" dirty="0"/>
          </a:p>
        </p:txBody>
      </p:sp>
      <p:sp>
        <p:nvSpPr>
          <p:cNvPr id="10" name="Text-273"/>
          <p:cNvSpPr txBox="1"/>
          <p:nvPr/>
        </p:nvSpPr>
        <p:spPr>
          <a:xfrm>
            <a:off x="777240" y="3429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and risk per project, Aybal round unchanged; in exchange more contracts and IP licences.</a:t>
            </a:r>
            <a:endParaRPr lang="en-US" sz="1200" dirty="0"/>
          </a:p>
        </p:txBody>
      </p:sp>
      <p:sp>
        <p:nvSpPr>
          <p:cNvPr id="11" name="Card-274"/>
          <p:cNvSpPr/>
          <p:nvPr/>
        </p:nvSpPr>
        <p:spPr>
          <a:xfrm>
            <a:off x="548640" y="4105656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2" name="Text-275"/>
          <p:cNvSpPr txBox="1"/>
          <p:nvPr/>
        </p:nvSpPr>
        <p:spPr>
          <a:xfrm>
            <a:off x="777240" y="42153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Hybrid</a:t>
            </a:r>
            <a:endParaRPr lang="en-US" sz="1500" dirty="0"/>
          </a:p>
        </p:txBody>
      </p:sp>
      <p:sp>
        <p:nvSpPr>
          <p:cNvPr id="13" name="Text-276"/>
          <p:cNvSpPr txBox="1"/>
          <p:nvPr/>
        </p:nvSpPr>
        <p:spPr>
          <a:xfrm>
            <a:off x="777240" y="45445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round as planned; LiveFX and content in a second company under a licence agreement.</a:t>
            </a:r>
            <a:endParaRPr lang="en-US" sz="1200" dirty="0"/>
          </a:p>
        </p:txBody>
      </p:sp>
      <p:sp>
        <p:nvSpPr>
          <p:cNvPr id="14" name="Text-277"/>
          <p:cNvSpPr txBox="1"/>
          <p:nvPr/>
        </p:nvSpPr>
        <p:spPr>
          <a:xfrm>
            <a:off x="54864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recommendation – legal and tax advice required.</a:t>
            </a:r>
            <a:endParaRPr lang="en-US" sz="1300" dirty="0"/>
          </a:p>
        </p:txBody>
      </p:sp>
      <p:sp>
        <p:nvSpPr>
          <p:cNvPr id="15" name="Card-278"/>
          <p:cNvSpPr/>
          <p:nvPr/>
        </p:nvSpPr>
        <p:spPr>
          <a:xfrm>
            <a:off x="7315200" y="1463040"/>
            <a:ext cx="4327855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Text-279"/>
          <p:cNvSpPr txBox="1"/>
          <p:nvPr/>
        </p:nvSpPr>
        <p:spPr>
          <a:xfrm>
            <a:off x="7589520" y="164592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7" name="Badge-280"/>
          <p:cNvSpPr txBox="1"/>
          <p:nvPr/>
        </p:nvSpPr>
        <p:spPr>
          <a:xfrm>
            <a:off x="7589520" y="226771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-281"/>
          <p:cNvSpPr txBox="1"/>
          <p:nvPr/>
        </p:nvSpPr>
        <p:spPr>
          <a:xfrm>
            <a:off x="8046720" y="219456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and retention unproven</a:t>
            </a:r>
            <a:endParaRPr lang="en-US" sz="1400" dirty="0"/>
          </a:p>
        </p:txBody>
      </p:sp>
      <p:sp>
        <p:nvSpPr>
          <p:cNvPr id="19" name="Badge-282"/>
          <p:cNvSpPr txBox="1"/>
          <p:nvPr/>
        </p:nvSpPr>
        <p:spPr>
          <a:xfrm>
            <a:off x="7589520" y="290779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0" name="Text-283"/>
          <p:cNvSpPr txBox="1"/>
          <p:nvPr/>
        </p:nvSpPr>
        <p:spPr>
          <a:xfrm>
            <a:off x="8046720" y="283464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 risk in every project</a:t>
            </a:r>
            <a:endParaRPr lang="en-US" sz="1400" dirty="0"/>
          </a:p>
        </p:txBody>
      </p:sp>
      <p:sp>
        <p:nvSpPr>
          <p:cNvPr id="21" name="Badge-284"/>
          <p:cNvSpPr txBox="1"/>
          <p:nvPr/>
        </p:nvSpPr>
        <p:spPr>
          <a:xfrm>
            <a:off x="7589520" y="354787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2" name="Text-285"/>
          <p:cNvSpPr txBox="1"/>
          <p:nvPr/>
        </p:nvSpPr>
        <p:spPr>
          <a:xfrm>
            <a:off x="8046720" y="34747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three projects, small team</a:t>
            </a:r>
            <a:endParaRPr lang="en-US" sz="1400" dirty="0"/>
          </a:p>
        </p:txBody>
      </p:sp>
      <p:sp>
        <p:nvSpPr>
          <p:cNvPr id="23" name="Badge-286"/>
          <p:cNvSpPr txBox="1"/>
          <p:nvPr/>
        </p:nvSpPr>
        <p:spPr>
          <a:xfrm>
            <a:off x="7589520" y="418795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-287"/>
          <p:cNvSpPr txBox="1"/>
          <p:nvPr/>
        </p:nvSpPr>
        <p:spPr>
          <a:xfrm>
            <a:off x="8046720" y="411480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copyright, children's data</a:t>
            </a:r>
            <a:endParaRPr lang="en-US" sz="1400" dirty="0"/>
          </a:p>
        </p:txBody>
      </p:sp>
      <p:sp>
        <p:nvSpPr>
          <p:cNvPr id="25" name="Badge-288"/>
          <p:cNvSpPr txBox="1"/>
          <p:nvPr/>
        </p:nvSpPr>
        <p:spPr>
          <a:xfrm>
            <a:off x="7589520" y="482803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6" name="Text-289"/>
          <p:cNvSpPr txBox="1"/>
          <p:nvPr/>
        </p:nvSpPr>
        <p:spPr>
          <a:xfrm>
            <a:off x="8046720" y="475488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dependency, TRY exchange 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CLOSE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and contact</a:t>
            </a:r>
            <a:endParaRPr lang="en-US" sz="3200" dirty="0"/>
          </a:p>
        </p:txBody>
      </p:sp>
      <p:sp>
        <p:nvSpPr>
          <p:cNvPr id="4" name="Card-290"/>
          <p:cNvSpPr/>
          <p:nvPr/>
        </p:nvSpPr>
        <p:spPr>
          <a:xfrm>
            <a:off x="548640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291"/>
          <p:cNvSpPr txBox="1"/>
          <p:nvPr/>
        </p:nvSpPr>
        <p:spPr>
          <a:xfrm>
            <a:off x="777240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2100" dirty="0"/>
          </a:p>
        </p:txBody>
      </p:sp>
      <p:sp>
        <p:nvSpPr>
          <p:cNvPr id="6" name="Text-292"/>
          <p:cNvSpPr txBox="1"/>
          <p:nvPr/>
        </p:nvSpPr>
        <p:spPr>
          <a:xfrm>
            <a:off x="182880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7" name="Text-293"/>
          <p:cNvSpPr txBox="1"/>
          <p:nvPr/>
        </p:nvSpPr>
        <p:spPr>
          <a:xfrm>
            <a:off x="1828800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Inventor · Managing Director (Aybal)</a:t>
            </a:r>
            <a:endParaRPr lang="en-US" sz="1200" dirty="0"/>
          </a:p>
        </p:txBody>
      </p:sp>
      <p:sp>
        <p:nvSpPr>
          <p:cNvPr id="8" name="Card-294"/>
          <p:cNvSpPr/>
          <p:nvPr/>
        </p:nvSpPr>
        <p:spPr>
          <a:xfrm>
            <a:off x="4334256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95"/>
          <p:cNvSpPr txBox="1"/>
          <p:nvPr/>
        </p:nvSpPr>
        <p:spPr>
          <a:xfrm>
            <a:off x="4562856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</a:t>
            </a:r>
            <a:endParaRPr lang="en-US" sz="2100" dirty="0"/>
          </a:p>
        </p:txBody>
      </p:sp>
      <p:sp>
        <p:nvSpPr>
          <p:cNvPr id="10" name="Text-296"/>
          <p:cNvSpPr txBox="1"/>
          <p:nvPr/>
        </p:nvSpPr>
        <p:spPr>
          <a:xfrm>
            <a:off x="5614416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sp>
        <p:nvSpPr>
          <p:cNvPr id="11" name="Text-297"/>
          <p:cNvSpPr txBox="1"/>
          <p:nvPr/>
        </p:nvSpPr>
        <p:spPr>
          <a:xfrm>
            <a:off x="5614416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 &amp; Fundraising (Aybal)</a:t>
            </a:r>
            <a:endParaRPr lang="en-US" sz="1200" dirty="0"/>
          </a:p>
        </p:txBody>
      </p:sp>
      <p:sp>
        <p:nvSpPr>
          <p:cNvPr id="12" name="Card-298"/>
          <p:cNvSpPr/>
          <p:nvPr/>
        </p:nvSpPr>
        <p:spPr>
          <a:xfrm>
            <a:off x="8119872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299"/>
          <p:cNvSpPr txBox="1"/>
          <p:nvPr/>
        </p:nvSpPr>
        <p:spPr>
          <a:xfrm>
            <a:off x="8348472" y="1783080"/>
            <a:ext cx="868680" cy="8686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100" dirty="0"/>
          </a:p>
        </p:txBody>
      </p:sp>
      <p:sp>
        <p:nvSpPr>
          <p:cNvPr id="14" name="Text-300"/>
          <p:cNvSpPr txBox="1"/>
          <p:nvPr/>
        </p:nvSpPr>
        <p:spPr>
          <a:xfrm>
            <a:off x="9400032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15" name="Text-301"/>
          <p:cNvSpPr txBox="1"/>
          <p:nvPr/>
        </p:nvSpPr>
        <p:spPr>
          <a:xfrm>
            <a:off x="9400032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of LiveFX · author of the book series</a:t>
            </a:r>
            <a:endParaRPr lang="en-US" sz="1200" dirty="0"/>
          </a:p>
        </p:txBody>
      </p:sp>
      <p:sp>
        <p:nvSpPr>
          <p:cNvPr id="16" name="Text-302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round: technical co-founder &amp; growth (Aybal), mobile developer (LiveFX), community TR/DE</a:t>
            </a:r>
            <a:endParaRPr lang="en-US" sz="1300" dirty="0"/>
          </a:p>
        </p:txBody>
      </p:sp>
      <p:sp>
        <p:nvSpPr>
          <p:cNvPr id="17" name="Wave-303"/>
          <p:cNvSpPr/>
          <p:nvPr/>
        </p:nvSpPr>
        <p:spPr>
          <a:xfrm>
            <a:off x="548640" y="4050792"/>
            <a:ext cx="73855" cy="12801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304"/>
          <p:cNvSpPr/>
          <p:nvPr/>
        </p:nvSpPr>
        <p:spPr>
          <a:xfrm>
            <a:off x="696351" y="3886949"/>
            <a:ext cx="73855" cy="4557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305"/>
          <p:cNvSpPr/>
          <p:nvPr/>
        </p:nvSpPr>
        <p:spPr>
          <a:xfrm>
            <a:off x="844062" y="3896015"/>
            <a:ext cx="73855" cy="43756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306"/>
          <p:cNvSpPr/>
          <p:nvPr/>
        </p:nvSpPr>
        <p:spPr>
          <a:xfrm>
            <a:off x="991772" y="3918630"/>
            <a:ext cx="73855" cy="39234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307"/>
          <p:cNvSpPr/>
          <p:nvPr/>
        </p:nvSpPr>
        <p:spPr>
          <a:xfrm>
            <a:off x="1139483" y="3863914"/>
            <a:ext cx="73855" cy="50177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308"/>
          <p:cNvSpPr/>
          <p:nvPr/>
        </p:nvSpPr>
        <p:spPr>
          <a:xfrm>
            <a:off x="1287194" y="3926394"/>
            <a:ext cx="73855" cy="37681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309"/>
          <p:cNvSpPr/>
          <p:nvPr/>
        </p:nvSpPr>
        <p:spPr>
          <a:xfrm>
            <a:off x="1434905" y="3975703"/>
            <a:ext cx="73855" cy="27819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310"/>
          <p:cNvSpPr/>
          <p:nvPr/>
        </p:nvSpPr>
        <p:spPr>
          <a:xfrm>
            <a:off x="1582615" y="3886291"/>
            <a:ext cx="73855" cy="4570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311"/>
          <p:cNvSpPr/>
          <p:nvPr/>
        </p:nvSpPr>
        <p:spPr>
          <a:xfrm>
            <a:off x="1730326" y="3923055"/>
            <a:ext cx="73855" cy="3834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312"/>
          <p:cNvSpPr/>
          <p:nvPr/>
        </p:nvSpPr>
        <p:spPr>
          <a:xfrm>
            <a:off x="1878037" y="3889558"/>
            <a:ext cx="73855" cy="4504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313"/>
          <p:cNvSpPr/>
          <p:nvPr/>
        </p:nvSpPr>
        <p:spPr>
          <a:xfrm>
            <a:off x="2025748" y="3853774"/>
            <a:ext cx="73855" cy="522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314"/>
          <p:cNvSpPr/>
          <p:nvPr/>
        </p:nvSpPr>
        <p:spPr>
          <a:xfrm>
            <a:off x="2173458" y="3996882"/>
            <a:ext cx="73855" cy="23583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315"/>
          <p:cNvSpPr/>
          <p:nvPr/>
        </p:nvSpPr>
        <p:spPr>
          <a:xfrm>
            <a:off x="2321169" y="3926974"/>
            <a:ext cx="73855" cy="3756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316"/>
          <p:cNvSpPr/>
          <p:nvPr/>
        </p:nvSpPr>
        <p:spPr>
          <a:xfrm>
            <a:off x="2468880" y="3911371"/>
            <a:ext cx="73855" cy="40685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317"/>
          <p:cNvSpPr/>
          <p:nvPr/>
        </p:nvSpPr>
        <p:spPr>
          <a:xfrm>
            <a:off x="2616591" y="3923243"/>
            <a:ext cx="73855" cy="3831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18"/>
          <p:cNvSpPr/>
          <p:nvPr/>
        </p:nvSpPr>
        <p:spPr>
          <a:xfrm>
            <a:off x="2764302" y="3850647"/>
            <a:ext cx="73855" cy="52830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9"/>
          <p:cNvSpPr/>
          <p:nvPr/>
        </p:nvSpPr>
        <p:spPr>
          <a:xfrm>
            <a:off x="2912012" y="3882193"/>
            <a:ext cx="73855" cy="4652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0"/>
          <p:cNvSpPr/>
          <p:nvPr/>
        </p:nvSpPr>
        <p:spPr>
          <a:xfrm>
            <a:off x="3059723" y="4027652"/>
            <a:ext cx="73855" cy="17429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21"/>
          <p:cNvSpPr/>
          <p:nvPr/>
        </p:nvSpPr>
        <p:spPr>
          <a:xfrm>
            <a:off x="3207434" y="3916313"/>
            <a:ext cx="73855" cy="3969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22"/>
          <p:cNvSpPr/>
          <p:nvPr/>
        </p:nvSpPr>
        <p:spPr>
          <a:xfrm>
            <a:off x="3355145" y="3936143"/>
            <a:ext cx="73855" cy="3573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23"/>
          <p:cNvSpPr/>
          <p:nvPr/>
        </p:nvSpPr>
        <p:spPr>
          <a:xfrm>
            <a:off x="3502855" y="3892635"/>
            <a:ext cx="73855" cy="44432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24"/>
          <p:cNvSpPr/>
          <p:nvPr/>
        </p:nvSpPr>
        <p:spPr>
          <a:xfrm>
            <a:off x="3650566" y="3829307"/>
            <a:ext cx="73855" cy="57098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325"/>
          <p:cNvSpPr/>
          <p:nvPr/>
        </p:nvSpPr>
        <p:spPr>
          <a:xfrm>
            <a:off x="3798277" y="3945588"/>
            <a:ext cx="73855" cy="3384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326"/>
          <p:cNvSpPr/>
          <p:nvPr/>
        </p:nvSpPr>
        <p:spPr>
          <a:xfrm>
            <a:off x="3945988" y="3971666"/>
            <a:ext cx="73855" cy="28626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327"/>
          <p:cNvSpPr/>
          <p:nvPr/>
        </p:nvSpPr>
        <p:spPr>
          <a:xfrm>
            <a:off x="4093698" y="3934495"/>
            <a:ext cx="73855" cy="36061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Wave-328"/>
          <p:cNvSpPr/>
          <p:nvPr/>
        </p:nvSpPr>
        <p:spPr>
          <a:xfrm>
            <a:off x="4241409" y="3936739"/>
            <a:ext cx="73855" cy="35612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3" name="Text-329"/>
          <p:cNvSpPr txBox="1"/>
          <p:nvPr/>
        </p:nvSpPr>
        <p:spPr>
          <a:xfrm>
            <a:off x="4663440" y="3703320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 for families, classrooms and live streams.</a:t>
            </a:r>
            <a:endParaRPr lang="en-US" sz="2400" dirty="0"/>
          </a:p>
        </p:txBody>
      </p:sp>
      <p:sp>
        <p:nvSpPr>
          <p:cNvPr id="44" name="Card-330"/>
          <p:cNvSpPr/>
          <p:nvPr/>
        </p:nvSpPr>
        <p:spPr>
          <a:xfrm>
            <a:off x="548640" y="475488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-331"/>
          <p:cNvSpPr txBox="1"/>
          <p:nvPr/>
        </p:nvSpPr>
        <p:spPr>
          <a:xfrm>
            <a:off x="822960" y="47548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Gönül Demet · [email] · [phone]</a:t>
            </a:r>
            <a:endParaRPr lang="en-US" sz="1800" dirty="0"/>
          </a:p>
        </p:txBody>
      </p:sp>
      <p:sp>
        <p:nvSpPr>
          <p:cNvPr id="46" name="Text-332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and forward-looking statements, not forecasts. An investment may result in total loss.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ine Stimme">
      <a:dk1>
        <a:srgbClr val="15111A"/>
      </a:dk1>
      <a:lt1>
        <a:srgbClr val="FFFFFF"/>
      </a:lt1>
      <a:dk2>
        <a:srgbClr val="241C2A"/>
      </a:dk2>
      <a:lt2>
        <a:srgbClr val="BDB3C4"/>
      </a:lt2>
      <a:accent1>
        <a:srgbClr val="D4B27A"/>
      </a:accent1>
      <a:accent2>
        <a:srgbClr val="FF2D75"/>
      </a:accent2>
      <a:accent3>
        <a:srgbClr val="A08FFF"/>
      </a:accent3>
      <a:accent4>
        <a:srgbClr val="2DFFB5"/>
      </a:accent4>
      <a:accent5>
        <a:srgbClr val="6E1630"/>
      </a:accent5>
      <a:accent6>
        <a:srgbClr val="FFD166"/>
      </a:accent6>
      <a:hlink>
        <a:srgbClr val="FFD166"/>
      </a:hlink>
      <a:folHlink>
        <a:srgbClr val="D4B27A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Voice, Three Products – Portfolio Investment</dc:title>
  <dc:subject>One Voice, Three Products – Portfolio Investment</dc:subject>
  <dc:creator>Gönül Demet (Investor Relations)</dc:creator>
  <cp:lastModifiedBy>Gönül Demet (Investor Relations)</cp:lastModifiedBy>
  <cp:revision>1</cp:revision>
  <dcterms:created xsi:type="dcterms:W3CDTF">2026-10-03T13:14:02Z</dcterms:created>
  <dcterms:modified xsi:type="dcterms:W3CDTF">2026-10-03T13:14:02Z</dcterms:modified>
</cp:coreProperties>
</file>