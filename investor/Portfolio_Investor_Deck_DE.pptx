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c6ce6e6b-e5e3-df48-cf0d-d22a48b5008e}">
          <p14:sldIdLst>
            <p14:sldId id="256"/>
            <p14:sldId id="257"/>
          </p14:sldIdLst>
        </p14:section>
        <p14:section name="Portfolio" id="{4bed6e03-94c0-c9dd-b3f7-ac45d38002a5}">
          <p14:sldIdLst>
            <p14:sldId id="258"/>
            <p14:sldId id="259"/>
            <p14:sldId id="260"/>
            <p14:sldId id="261"/>
            <p14:sldId id="262"/>
          </p14:sldIdLst>
        </p14:section>
        <p14:section name="Angebot" id="{03640492-43c8-f232-c63f-5f8150b67d6f}">
          <p14:sldIdLst>
            <p14:sldId id="263"/>
            <p14:sldId id="264"/>
            <p14:sldId id="265"/>
            <p14:sldId id="266"/>
          </p14:sldIdLst>
        </p14:section>
        <p14:section name="Abschluss" id="{05cb86c0-14fa-f065-d4a2-fd7a73208ac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Aufteilung (Vorschlag)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B27A"/>
              </a:solidFill>
              <a:ln w="25400" cap="flat">
                <a:solidFill>
                  <a:srgbClr val="15111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2D75"/>
              </a:solidFill>
              <a:ln w="25400" cap="flat">
                <a:solidFill>
                  <a:srgbClr val="15111A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08FFF"/>
              </a:solidFill>
              <a:ln w="25400" cap="flat">
                <a:solidFill>
                  <a:srgbClr val="15111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5111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5111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5111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Aybal</c:v>
                </c:pt>
                <c:pt idx="1">
                  <c:v>LiveFX</c:v>
                </c:pt>
                <c:pt idx="2">
                  <c:v>Buchreihe / Content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250000</c:v>
                </c:pt>
                <c:pt idx="1">
                  <c:v>200000</c:v>
                </c:pt>
                <c:pt idx="2">
                  <c:v>50000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Aybal</c:v>
                </c:pt>
              </c:strCache>
            </c:strRef>
          </c:tx>
          <c:spPr>
            <a:solidFill>
              <a:srgbClr val="D4B27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Team</c:v>
                  </c:pt>
                  <c:pt idx="1">
                    <c:v>Marketing</c:v>
                  </c:pt>
                  <c:pt idx="2">
                    <c:v>EU-Stimmbetrieb + Store-App</c:v>
                  </c:pt>
                  <c:pt idx="3">
                    <c:v>Recht / Vertrauen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Eine Stimme, drei Produkte – Aybal · LiveFX · Buchreihe „Mein neurodiverser Kompass“ – Sprachtechnologie für Familie, Bildung und Creator in Deutsch, Türkisch und Englisch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 Investment, ein gemeinsamer Stimm- und Content-Stack, drei Erlöspfade.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Aybal-Konditionen laut eigenem Deck: Cap 1,30 Mio. € pre-money, ~16 % bei Cap, Closing geplant März 2027. Konditionen für LiveFX und Content: [offen].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F_TITLE">
    <p:bg>
      <p:bgPr>
        <a:solidFill>
          <a:srgbClr val="15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VERTRAULICH  •  PORTFOLIO-INVESTMENT  •  OKTOBER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51560"/>
            <a:ext cx="55778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F_CONTENT">
    <p:bg>
      <p:bgPr>
        <a:solidFill>
          <a:srgbClr val="15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VERTRAULICH  •  PORTFOLIO-INVESTMENT  •  OKTOBER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PORTFOLIO-INVESTMENT  ·  OKTOBER 2026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5156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Stimme,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Produkte</a:t>
            </a:r>
            <a:endParaRPr lang="en-US" sz="5000" dirty="0"/>
          </a:p>
        </p:txBody>
      </p:sp>
      <p:sp>
        <p:nvSpPr>
          <p:cNvPr id="4" name="Text-2"/>
          <p:cNvSpPr txBox="1"/>
          <p:nvPr/>
        </p:nvSpPr>
        <p:spPr>
          <a:xfrm>
            <a:off x="548640" y="3063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· LiveFX · Buchreihe „Mein neurodiverser Kompass“ – Sprachtechnologie für Familie, Bildung und Creator in Deutsch, Türkisch und Englisch</a:t>
            </a:r>
            <a:endParaRPr lang="en-US" sz="1500" dirty="0"/>
          </a:p>
        </p:txBody>
      </p:sp>
      <p:sp>
        <p:nvSpPr>
          <p:cNvPr id="5" name="Wave-3"/>
          <p:cNvSpPr/>
          <p:nvPr/>
        </p:nvSpPr>
        <p:spPr>
          <a:xfrm>
            <a:off x="548640" y="4233672"/>
            <a:ext cx="79338" cy="8229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6" name="Wave-4"/>
          <p:cNvSpPr/>
          <p:nvPr/>
        </p:nvSpPr>
        <p:spPr>
          <a:xfrm>
            <a:off x="707315" y="4128344"/>
            <a:ext cx="79338" cy="29295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7" name="Wave-5"/>
          <p:cNvSpPr/>
          <p:nvPr/>
        </p:nvSpPr>
        <p:spPr>
          <a:xfrm>
            <a:off x="865991" y="4134173"/>
            <a:ext cx="79338" cy="28129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8" name="Wave-6"/>
          <p:cNvSpPr/>
          <p:nvPr/>
        </p:nvSpPr>
        <p:spPr>
          <a:xfrm>
            <a:off x="1024666" y="4148710"/>
            <a:ext cx="79338" cy="25221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9" name="Wave-7"/>
          <p:cNvSpPr/>
          <p:nvPr/>
        </p:nvSpPr>
        <p:spPr>
          <a:xfrm>
            <a:off x="1183341" y="4113536"/>
            <a:ext cx="79338" cy="32256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0" name="Wave-8"/>
          <p:cNvSpPr/>
          <p:nvPr/>
        </p:nvSpPr>
        <p:spPr>
          <a:xfrm>
            <a:off x="1342016" y="4153702"/>
            <a:ext cx="79338" cy="24223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1" name="Wave-9"/>
          <p:cNvSpPr/>
          <p:nvPr/>
        </p:nvSpPr>
        <p:spPr>
          <a:xfrm>
            <a:off x="1500692" y="4185401"/>
            <a:ext cx="79338" cy="17883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2" name="Wave-10"/>
          <p:cNvSpPr/>
          <p:nvPr/>
        </p:nvSpPr>
        <p:spPr>
          <a:xfrm>
            <a:off x="1659367" y="4127921"/>
            <a:ext cx="79338" cy="29379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3" name="Wave-11"/>
          <p:cNvSpPr/>
          <p:nvPr/>
        </p:nvSpPr>
        <p:spPr>
          <a:xfrm>
            <a:off x="1818042" y="4151555"/>
            <a:ext cx="79338" cy="24653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4" name="Wave-12"/>
          <p:cNvSpPr/>
          <p:nvPr/>
        </p:nvSpPr>
        <p:spPr>
          <a:xfrm>
            <a:off x="1976718" y="4130021"/>
            <a:ext cx="79338" cy="289597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5" name="Wave-13"/>
          <p:cNvSpPr/>
          <p:nvPr/>
        </p:nvSpPr>
        <p:spPr>
          <a:xfrm>
            <a:off x="2135393" y="4107018"/>
            <a:ext cx="79338" cy="335605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6" name="Wave-14"/>
          <p:cNvSpPr/>
          <p:nvPr/>
        </p:nvSpPr>
        <p:spPr>
          <a:xfrm>
            <a:off x="2294068" y="4199016"/>
            <a:ext cx="79338" cy="15160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7" name="Wave-15"/>
          <p:cNvSpPr/>
          <p:nvPr/>
        </p:nvSpPr>
        <p:spPr>
          <a:xfrm>
            <a:off x="2452744" y="4154075"/>
            <a:ext cx="79338" cy="24149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8" name="Wave-16"/>
          <p:cNvSpPr/>
          <p:nvPr/>
        </p:nvSpPr>
        <p:spPr>
          <a:xfrm>
            <a:off x="2611419" y="4144044"/>
            <a:ext cx="79338" cy="26155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9" name="Wave-17"/>
          <p:cNvSpPr/>
          <p:nvPr/>
        </p:nvSpPr>
        <p:spPr>
          <a:xfrm>
            <a:off x="2770094" y="4151676"/>
            <a:ext cx="79338" cy="24628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0" name="Wave-18"/>
          <p:cNvSpPr/>
          <p:nvPr/>
        </p:nvSpPr>
        <p:spPr>
          <a:xfrm>
            <a:off x="2928769" y="4105008"/>
            <a:ext cx="79338" cy="339625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1" name="Wave-19"/>
          <p:cNvSpPr/>
          <p:nvPr/>
        </p:nvSpPr>
        <p:spPr>
          <a:xfrm>
            <a:off x="3087445" y="4125287"/>
            <a:ext cx="79338" cy="29906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2" name="Wave-20"/>
          <p:cNvSpPr/>
          <p:nvPr/>
        </p:nvSpPr>
        <p:spPr>
          <a:xfrm>
            <a:off x="3246120" y="4218796"/>
            <a:ext cx="79338" cy="11204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3" name="Wave-21"/>
          <p:cNvSpPr/>
          <p:nvPr/>
        </p:nvSpPr>
        <p:spPr>
          <a:xfrm>
            <a:off x="3404795" y="4147221"/>
            <a:ext cx="79338" cy="25519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4" name="Wave-22"/>
          <p:cNvSpPr/>
          <p:nvPr/>
        </p:nvSpPr>
        <p:spPr>
          <a:xfrm>
            <a:off x="3563471" y="4159969"/>
            <a:ext cx="79338" cy="229701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5" name="Wave-23"/>
          <p:cNvSpPr/>
          <p:nvPr/>
        </p:nvSpPr>
        <p:spPr>
          <a:xfrm>
            <a:off x="3722146" y="4132000"/>
            <a:ext cx="79338" cy="285640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6" name="Wave-24"/>
          <p:cNvSpPr/>
          <p:nvPr/>
        </p:nvSpPr>
        <p:spPr>
          <a:xfrm>
            <a:off x="3880821" y="4091289"/>
            <a:ext cx="79338" cy="36706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7" name="Wave-25"/>
          <p:cNvSpPr/>
          <p:nvPr/>
        </p:nvSpPr>
        <p:spPr>
          <a:xfrm>
            <a:off x="4039496" y="4166041"/>
            <a:ext cx="79338" cy="21755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8" name="Wave-26"/>
          <p:cNvSpPr/>
          <p:nvPr/>
        </p:nvSpPr>
        <p:spPr>
          <a:xfrm>
            <a:off x="4198172" y="4182805"/>
            <a:ext cx="79338" cy="184030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9" name="Wave-27"/>
          <p:cNvSpPr/>
          <p:nvPr/>
        </p:nvSpPr>
        <p:spPr>
          <a:xfrm>
            <a:off x="4356847" y="4158910"/>
            <a:ext cx="79338" cy="231821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0" name="Wave-28"/>
          <p:cNvSpPr/>
          <p:nvPr/>
        </p:nvSpPr>
        <p:spPr>
          <a:xfrm>
            <a:off x="4515522" y="4160352"/>
            <a:ext cx="79338" cy="22893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1" name="Wave-29"/>
          <p:cNvSpPr/>
          <p:nvPr/>
        </p:nvSpPr>
        <p:spPr>
          <a:xfrm>
            <a:off x="4674198" y="4102973"/>
            <a:ext cx="79338" cy="34369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2" name="Wave-30"/>
          <p:cNvSpPr/>
          <p:nvPr/>
        </p:nvSpPr>
        <p:spPr>
          <a:xfrm>
            <a:off x="4832873" y="4101588"/>
            <a:ext cx="79338" cy="34646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3" name="Wave-31"/>
          <p:cNvSpPr/>
          <p:nvPr/>
        </p:nvSpPr>
        <p:spPr>
          <a:xfrm>
            <a:off x="4991548" y="4215113"/>
            <a:ext cx="79338" cy="11941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4" name="Wave-32"/>
          <p:cNvSpPr/>
          <p:nvPr/>
        </p:nvSpPr>
        <p:spPr>
          <a:xfrm>
            <a:off x="5150224" y="4170248"/>
            <a:ext cx="79338" cy="20914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5" name="Wave-33"/>
          <p:cNvSpPr/>
          <p:nvPr/>
        </p:nvSpPr>
        <p:spPr>
          <a:xfrm>
            <a:off x="5308899" y="4173385"/>
            <a:ext cx="79338" cy="202870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6" name="Wave-34"/>
          <p:cNvSpPr/>
          <p:nvPr/>
        </p:nvSpPr>
        <p:spPr>
          <a:xfrm>
            <a:off x="5467574" y="4140174"/>
            <a:ext cx="79338" cy="269292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7" name="Wave-35"/>
          <p:cNvSpPr/>
          <p:nvPr/>
        </p:nvSpPr>
        <p:spPr>
          <a:xfrm>
            <a:off x="5626249" y="4082076"/>
            <a:ext cx="79338" cy="38548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8" name="Wave-36"/>
          <p:cNvSpPr/>
          <p:nvPr/>
        </p:nvSpPr>
        <p:spPr>
          <a:xfrm>
            <a:off x="5784925" y="4136341"/>
            <a:ext cx="79338" cy="27695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9" name="Card-37"/>
          <p:cNvSpPr/>
          <p:nvPr/>
        </p:nvSpPr>
        <p:spPr>
          <a:xfrm>
            <a:off x="548640" y="4709160"/>
            <a:ext cx="2743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40" name="Text-38"/>
          <p:cNvSpPr txBox="1"/>
          <p:nvPr/>
        </p:nvSpPr>
        <p:spPr>
          <a:xfrm>
            <a:off x="777240" y="4846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GESAMTVOLUMEN</a:t>
            </a:r>
            <a:endParaRPr lang="en-US" sz="1000" dirty="0"/>
          </a:p>
        </p:txBody>
      </p:sp>
      <p:sp>
        <p:nvSpPr>
          <p:cNvPr id="41" name="Text-39"/>
          <p:cNvSpPr txBox="1"/>
          <p:nvPr/>
        </p:nvSpPr>
        <p:spPr>
          <a:xfrm>
            <a:off x="777240" y="5120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500.000 €</a:t>
            </a:r>
            <a:endParaRPr lang="en-US" sz="2800" dirty="0"/>
          </a:p>
        </p:txBody>
      </p:sp>
      <p:sp>
        <p:nvSpPr>
          <p:cNvPr id="42" name="Text-40"/>
          <p:cNvSpPr txBox="1"/>
          <p:nvPr/>
        </p:nvSpPr>
        <p:spPr>
          <a:xfrm>
            <a:off x="3566160" y="47548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GRÜNDER &amp; ERFINDER (AYBAL)</a:t>
            </a:r>
            <a:endParaRPr lang="en-US" sz="900" dirty="0"/>
          </a:p>
        </p:txBody>
      </p:sp>
      <p:sp>
        <p:nvSpPr>
          <p:cNvPr id="43" name="Text-41"/>
          <p:cNvSpPr txBox="1"/>
          <p:nvPr/>
        </p:nvSpPr>
        <p:spPr>
          <a:xfrm>
            <a:off x="3566160" y="49560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1600" dirty="0"/>
          </a:p>
        </p:txBody>
      </p:sp>
      <p:sp>
        <p:nvSpPr>
          <p:cNvPr id="44" name="Text-42"/>
          <p:cNvSpPr txBox="1"/>
          <p:nvPr/>
        </p:nvSpPr>
        <p:spPr>
          <a:xfrm>
            <a:off x="3566160" y="5376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RELATIONS</a:t>
            </a:r>
            <a:endParaRPr lang="en-US" sz="900" dirty="0"/>
          </a:p>
        </p:txBody>
      </p:sp>
      <p:sp>
        <p:nvSpPr>
          <p:cNvPr id="45" name="Text-43"/>
          <p:cNvSpPr txBox="1"/>
          <p:nvPr/>
        </p:nvSpPr>
        <p:spPr>
          <a:xfrm>
            <a:off x="3566160" y="55778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600" dirty="0"/>
          </a:p>
        </p:txBody>
      </p:sp>
      <p:pic>
        <p:nvPicPr>
          <p:cNvPr id="46" name="Image-44" descr="/home/user/Notion/aybal-show/assets/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548640"/>
            <a:ext cx="2606040" cy="5577840"/>
          </a:xfrm>
          <a:prstGeom prst="rect">
            <a:avLst/>
          </a:prstGeom>
        </p:spPr>
      </p:pic>
      <p:pic>
        <p:nvPicPr>
          <p:cNvPr id="47" name="Image-45" descr="/home/user/Notion/live-fx/business/landing-assets/overlay-neo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89720" y="548640"/>
            <a:ext cx="2450592" cy="2697480"/>
          </a:xfrm>
          <a:prstGeom prst="rect">
            <a:avLst/>
          </a:prstGeom>
        </p:spPr>
      </p:pic>
      <p:pic>
        <p:nvPicPr>
          <p:cNvPr id="48" name="Image-46" descr="/home/user/Notion/live-fx/business/video/stills/vision-de-16x9-8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89720" y="3429000"/>
            <a:ext cx="2450592" cy="2697480"/>
          </a:xfrm>
          <a:prstGeom prst="rect">
            <a:avLst/>
          </a:prstGeom>
        </p:spPr>
      </p:pic>
      <p:sp>
        <p:nvSpPr>
          <p:cNvPr id="49" name="Pill-47"/>
          <p:cNvSpPr txBox="1"/>
          <p:nvPr/>
        </p:nvSpPr>
        <p:spPr>
          <a:xfrm>
            <a:off x="6629400" y="5650992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</a:t>
            </a:r>
            <a:endParaRPr lang="en-US" sz="1000" dirty="0"/>
          </a:p>
        </p:txBody>
      </p:sp>
      <p:sp>
        <p:nvSpPr>
          <p:cNvPr id="50" name="Pill-48"/>
          <p:cNvSpPr txBox="1"/>
          <p:nvPr/>
        </p:nvSpPr>
        <p:spPr>
          <a:xfrm>
            <a:off x="9372600" y="2770632"/>
            <a:ext cx="10058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 / THESE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Stimme, drei Produkte</a:t>
            </a:r>
            <a:endParaRPr lang="en-US" sz="3200" dirty="0"/>
          </a:p>
        </p:txBody>
      </p:sp>
      <p:sp>
        <p:nvSpPr>
          <p:cNvPr id="4" name="Card-49"/>
          <p:cNvSpPr/>
          <p:nvPr/>
        </p:nvSpPr>
        <p:spPr>
          <a:xfrm>
            <a:off x="548640" y="16002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Badge-50"/>
          <p:cNvSpPr txBox="1"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-51"/>
          <p:cNvSpPr txBox="1"/>
          <p:nvPr/>
        </p:nvSpPr>
        <p:spPr>
          <a:xfrm>
            <a:off x="868680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Sprachtechnologie</a:t>
            </a:r>
            <a:endParaRPr lang="en-US" sz="1900" dirty="0"/>
          </a:p>
        </p:txBody>
      </p:sp>
      <p:sp>
        <p:nvSpPr>
          <p:cNvPr id="7" name="Text-52"/>
          <p:cNvSpPr txBox="1"/>
          <p:nvPr/>
        </p:nvSpPr>
        <p:spPr>
          <a:xfrm>
            <a:off x="868680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Vorlesen mit natürlichen und persönlichen Stimmen (Aybal) und Sprache → Live-Effekt in unter einer Sekunde (LiveFX).</a:t>
            </a:r>
            <a:endParaRPr lang="en-US" sz="1400" dirty="0"/>
          </a:p>
        </p:txBody>
      </p:sp>
      <p:sp>
        <p:nvSpPr>
          <p:cNvPr id="8" name="Card-53"/>
          <p:cNvSpPr/>
          <p:nvPr/>
        </p:nvSpPr>
        <p:spPr>
          <a:xfrm>
            <a:off x="4334256" y="16002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Badge-54"/>
          <p:cNvSpPr txBox="1"/>
          <p:nvPr/>
        </p:nvSpPr>
        <p:spPr>
          <a:xfrm>
            <a:off x="4654296" y="1874520"/>
            <a:ext cx="640080" cy="64008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-55"/>
          <p:cNvSpPr txBox="1"/>
          <p:nvPr/>
        </p:nvSpPr>
        <p:spPr>
          <a:xfrm>
            <a:off x="4654296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Sprachen</a:t>
            </a:r>
            <a:endParaRPr lang="en-US" sz="1900" dirty="0"/>
          </a:p>
        </p:txBody>
      </p:sp>
      <p:sp>
        <p:nvSpPr>
          <p:cNvPr id="11" name="Text-56"/>
          <p:cNvSpPr txBox="1"/>
          <p:nvPr/>
        </p:nvSpPr>
        <p:spPr>
          <a:xfrm>
            <a:off x="4654296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Deutsch, Türkisch, Englisch von Anfang an: Aybal mit 3 Oberflächen- und 13 Stimmsprachen, LiveFX mit automatischer DE/TR/EN-Erkennung.</a:t>
            </a:r>
            <a:endParaRPr lang="en-US" sz="1400" dirty="0"/>
          </a:p>
        </p:txBody>
      </p:sp>
      <p:sp>
        <p:nvSpPr>
          <p:cNvPr id="12" name="Card-57"/>
          <p:cNvSpPr/>
          <p:nvPr/>
        </p:nvSpPr>
        <p:spPr>
          <a:xfrm>
            <a:off x="8119872" y="16002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3" name="Badge-58"/>
          <p:cNvSpPr txBox="1"/>
          <p:nvPr/>
        </p:nvSpPr>
        <p:spPr>
          <a:xfrm>
            <a:off x="8439912" y="1874520"/>
            <a:ext cx="640080" cy="64008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-59"/>
          <p:cNvSpPr txBox="1"/>
          <p:nvPr/>
        </p:nvSpPr>
        <p:spPr>
          <a:xfrm>
            <a:off x="8439912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Familie · Bildung · Creator</a:t>
            </a:r>
            <a:endParaRPr lang="en-US" sz="1900" dirty="0"/>
          </a:p>
        </p:txBody>
      </p:sp>
      <p:sp>
        <p:nvSpPr>
          <p:cNvPr id="15" name="Text-60"/>
          <p:cNvSpPr txBox="1"/>
          <p:nvPr/>
        </p:nvSpPr>
        <p:spPr>
          <a:xfrm>
            <a:off x="8439912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Publikum, drei Zugänge: Familien lesen (Aybal), Creator und Lehrkräfte streamen (LiveFX), Kinder lernen mit eigenen Geschichten (Buchreihe).</a:t>
            </a:r>
            <a:endParaRPr lang="en-US" sz="1400" dirty="0"/>
          </a:p>
        </p:txBody>
      </p:sp>
      <p:sp>
        <p:nvSpPr>
          <p:cNvPr id="16" name="Text-61"/>
          <p:cNvSpPr txBox="1"/>
          <p:nvPr/>
        </p:nvSpPr>
        <p:spPr>
          <a:xfrm>
            <a:off x="548640" y="5257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Investment, ein gemeinsamer Stimm- und Content-Stack, drei Erlöspfade.</a:t>
            </a:r>
            <a:endParaRPr lang="en-US" sz="1800" dirty="0"/>
          </a:p>
        </p:txBody>
      </p:sp>
      <p:sp>
        <p:nvSpPr>
          <p:cNvPr id="17" name="Wave-62"/>
          <p:cNvSpPr/>
          <p:nvPr/>
        </p:nvSpPr>
        <p:spPr>
          <a:xfrm>
            <a:off x="8503920" y="5486400"/>
            <a:ext cx="71282" cy="10058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8" name="Wave-63"/>
          <p:cNvSpPr/>
          <p:nvPr/>
        </p:nvSpPr>
        <p:spPr>
          <a:xfrm>
            <a:off x="8646483" y="5357666"/>
            <a:ext cx="71282" cy="35805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9" name="Wave-64"/>
          <p:cNvSpPr/>
          <p:nvPr/>
        </p:nvSpPr>
        <p:spPr>
          <a:xfrm>
            <a:off x="8789047" y="5364790"/>
            <a:ext cx="71282" cy="34380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0" name="Wave-65"/>
          <p:cNvSpPr/>
          <p:nvPr/>
        </p:nvSpPr>
        <p:spPr>
          <a:xfrm>
            <a:off x="8931610" y="5382558"/>
            <a:ext cx="71282" cy="30826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1" name="Wave-66"/>
          <p:cNvSpPr/>
          <p:nvPr/>
        </p:nvSpPr>
        <p:spPr>
          <a:xfrm>
            <a:off x="9074173" y="5339567"/>
            <a:ext cx="71282" cy="39424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2" name="Wave-67"/>
          <p:cNvSpPr/>
          <p:nvPr/>
        </p:nvSpPr>
        <p:spPr>
          <a:xfrm>
            <a:off x="9216736" y="5388659"/>
            <a:ext cx="71282" cy="29606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3" name="Wave-68"/>
          <p:cNvSpPr/>
          <p:nvPr/>
        </p:nvSpPr>
        <p:spPr>
          <a:xfrm>
            <a:off x="9359300" y="5427402"/>
            <a:ext cx="71282" cy="21858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4" name="Wave-69"/>
          <p:cNvSpPr/>
          <p:nvPr/>
        </p:nvSpPr>
        <p:spPr>
          <a:xfrm>
            <a:off x="9501863" y="5357149"/>
            <a:ext cx="71282" cy="35908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5" name="Wave-70"/>
          <p:cNvSpPr/>
          <p:nvPr/>
        </p:nvSpPr>
        <p:spPr>
          <a:xfrm>
            <a:off x="9644426" y="5386035"/>
            <a:ext cx="71282" cy="30131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6" name="Wave-71"/>
          <p:cNvSpPr/>
          <p:nvPr/>
        </p:nvSpPr>
        <p:spPr>
          <a:xfrm>
            <a:off x="9786989" y="5359716"/>
            <a:ext cx="71282" cy="35395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7" name="Wave-72"/>
          <p:cNvSpPr/>
          <p:nvPr/>
        </p:nvSpPr>
        <p:spPr>
          <a:xfrm>
            <a:off x="9929553" y="5331600"/>
            <a:ext cx="71282" cy="410183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8" name="Wave-73"/>
          <p:cNvSpPr/>
          <p:nvPr/>
        </p:nvSpPr>
        <p:spPr>
          <a:xfrm>
            <a:off x="10072116" y="5444042"/>
            <a:ext cx="71282" cy="18529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9" name="Wave-74"/>
          <p:cNvSpPr/>
          <p:nvPr/>
        </p:nvSpPr>
        <p:spPr>
          <a:xfrm>
            <a:off x="10214679" y="5389114"/>
            <a:ext cx="71282" cy="29515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0" name="Wave-75"/>
          <p:cNvSpPr/>
          <p:nvPr/>
        </p:nvSpPr>
        <p:spPr>
          <a:xfrm>
            <a:off x="10357243" y="5376855"/>
            <a:ext cx="71282" cy="31967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1" name="Wave-76"/>
          <p:cNvSpPr/>
          <p:nvPr/>
        </p:nvSpPr>
        <p:spPr>
          <a:xfrm>
            <a:off x="10499806" y="5386183"/>
            <a:ext cx="71282" cy="30101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2" name="Wave-77"/>
          <p:cNvSpPr/>
          <p:nvPr/>
        </p:nvSpPr>
        <p:spPr>
          <a:xfrm>
            <a:off x="10642369" y="5329143"/>
            <a:ext cx="71282" cy="41509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3" name="Wave-78"/>
          <p:cNvSpPr/>
          <p:nvPr/>
        </p:nvSpPr>
        <p:spPr>
          <a:xfrm>
            <a:off x="10784932" y="5353930"/>
            <a:ext cx="71282" cy="36552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4" name="Wave-79"/>
          <p:cNvSpPr/>
          <p:nvPr/>
        </p:nvSpPr>
        <p:spPr>
          <a:xfrm>
            <a:off x="10927496" y="5468219"/>
            <a:ext cx="71282" cy="13694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5" name="Wave-80"/>
          <p:cNvSpPr/>
          <p:nvPr/>
        </p:nvSpPr>
        <p:spPr>
          <a:xfrm>
            <a:off x="11070059" y="5380738"/>
            <a:ext cx="71282" cy="31190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6" name="Wave-81"/>
          <p:cNvSpPr/>
          <p:nvPr/>
        </p:nvSpPr>
        <p:spPr>
          <a:xfrm>
            <a:off x="11212622" y="5396319"/>
            <a:ext cx="71282" cy="28074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7" name="Wave-82"/>
          <p:cNvSpPr/>
          <p:nvPr/>
        </p:nvSpPr>
        <p:spPr>
          <a:xfrm>
            <a:off x="11355185" y="5362134"/>
            <a:ext cx="71282" cy="34911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8" name="Wave-83"/>
          <p:cNvSpPr/>
          <p:nvPr/>
        </p:nvSpPr>
        <p:spPr>
          <a:xfrm>
            <a:off x="11497749" y="5312376"/>
            <a:ext cx="71282" cy="448632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 / ÜBERBLICK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Portfolio auf einen Blick</a:t>
            </a:r>
            <a:endParaRPr lang="en-US" sz="3200" dirty="0"/>
          </a:p>
        </p:txBody>
      </p:sp>
      <p:sp>
        <p:nvSpPr>
          <p:cNvPr id="4" name="Card-84"/>
          <p:cNvSpPr/>
          <p:nvPr/>
        </p:nvSpPr>
        <p:spPr>
          <a:xfrm>
            <a:off x="548640" y="150876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Pill-85"/>
          <p:cNvSpPr txBox="1"/>
          <p:nvPr/>
        </p:nvSpPr>
        <p:spPr>
          <a:xfrm>
            <a:off x="822960" y="1783080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</a:t>
            </a:r>
            <a:endParaRPr lang="en-US" sz="1000" dirty="0"/>
          </a:p>
        </p:txBody>
      </p:sp>
      <p:sp>
        <p:nvSpPr>
          <p:cNvPr id="6" name="Text-86"/>
          <p:cNvSpPr txBox="1"/>
          <p:nvPr/>
        </p:nvSpPr>
        <p:spPr>
          <a:xfrm>
            <a:off x="822960" y="22219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Familienvorlesen mit Stimme</a:t>
            </a:r>
            <a:endParaRPr lang="en-US" sz="1700" dirty="0"/>
          </a:p>
        </p:txBody>
      </p:sp>
      <p:sp>
        <p:nvSpPr>
          <p:cNvPr id="7" name="Text-87"/>
          <p:cNvSpPr txBox="1"/>
          <p:nvPr/>
        </p:nvSpPr>
        <p:spPr>
          <a:xfrm>
            <a:off x="822960" y="2898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 gebaut · Closed Beta ab 12.10.2026 · Deutschland-Launch 20.11.2026</a:t>
            </a:r>
            <a:endParaRPr lang="en-US" sz="1200" dirty="0"/>
          </a:p>
        </p:txBody>
      </p:sp>
      <p:sp>
        <p:nvSpPr>
          <p:cNvPr id="8" name="Text-88"/>
          <p:cNvSpPr txBox="1"/>
          <p:nvPr/>
        </p:nvSpPr>
        <p:spPr>
          <a:xfrm>
            <a:off x="82296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1.779</a:t>
            </a:r>
            <a:endParaRPr lang="en-US" sz="2200" dirty="0"/>
          </a:p>
        </p:txBody>
      </p:sp>
      <p:sp>
        <p:nvSpPr>
          <p:cNvPr id="9" name="Text-89"/>
          <p:cNvSpPr txBox="1"/>
          <p:nvPr/>
        </p:nvSpPr>
        <p:spPr>
          <a:xfrm>
            <a:off x="246888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automatisierte Tests</a:t>
            </a:r>
            <a:endParaRPr lang="en-US" sz="1300" dirty="0"/>
          </a:p>
        </p:txBody>
      </p:sp>
      <p:sp>
        <p:nvSpPr>
          <p:cNvPr id="10" name="Text-90"/>
          <p:cNvSpPr txBox="1"/>
          <p:nvPr/>
        </p:nvSpPr>
        <p:spPr>
          <a:xfrm>
            <a:off x="822960" y="4251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200" dirty="0"/>
          </a:p>
        </p:txBody>
      </p:sp>
      <p:sp>
        <p:nvSpPr>
          <p:cNvPr id="11" name="Text-91"/>
          <p:cNvSpPr txBox="1"/>
          <p:nvPr/>
        </p:nvSpPr>
        <p:spPr>
          <a:xfrm>
            <a:off x="246888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Stimmsprachen</a:t>
            </a:r>
            <a:endParaRPr lang="en-US" sz="1300" dirty="0"/>
          </a:p>
        </p:txBody>
      </p:sp>
      <p:sp>
        <p:nvSpPr>
          <p:cNvPr id="12" name="Text-92"/>
          <p:cNvSpPr txBox="1"/>
          <p:nvPr/>
        </p:nvSpPr>
        <p:spPr>
          <a:xfrm>
            <a:off x="822960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 Mio.</a:t>
            </a:r>
            <a:endParaRPr lang="en-US" sz="2200" dirty="0"/>
          </a:p>
        </p:txBody>
      </p:sp>
      <p:sp>
        <p:nvSpPr>
          <p:cNvPr id="13" name="Text-93"/>
          <p:cNvSpPr txBox="1"/>
          <p:nvPr/>
        </p:nvSpPr>
        <p:spPr>
          <a:xfrm>
            <a:off x="2468880" y="4846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Familien im Zielmarkt</a:t>
            </a:r>
            <a:endParaRPr lang="en-US" sz="1300" dirty="0"/>
          </a:p>
        </p:txBody>
      </p:sp>
      <p:sp>
        <p:nvSpPr>
          <p:cNvPr id="14" name="Text-94"/>
          <p:cNvSpPr txBox="1"/>
          <p:nvPr/>
        </p:nvSpPr>
        <p:spPr>
          <a:xfrm>
            <a:off x="822960" y="5486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aybal-show/Aybal_Investor_Deck.pptx</a:t>
            </a:r>
            <a:endParaRPr lang="en-US" sz="900" dirty="0"/>
          </a:p>
        </p:txBody>
      </p:sp>
      <p:sp>
        <p:nvSpPr>
          <p:cNvPr id="15" name="Card-95"/>
          <p:cNvSpPr/>
          <p:nvPr/>
        </p:nvSpPr>
        <p:spPr>
          <a:xfrm>
            <a:off x="4334256" y="150876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6" name="Pill-96"/>
          <p:cNvSpPr txBox="1"/>
          <p:nvPr/>
        </p:nvSpPr>
        <p:spPr>
          <a:xfrm>
            <a:off x="4608576" y="1783080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000" dirty="0"/>
          </a:p>
        </p:txBody>
      </p:sp>
      <p:sp>
        <p:nvSpPr>
          <p:cNvPr id="17" name="Text-97"/>
          <p:cNvSpPr txBox="1"/>
          <p:nvPr/>
        </p:nvSpPr>
        <p:spPr>
          <a:xfrm>
            <a:off x="4608576" y="22219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Stimme → Live-Effekt</a:t>
            </a:r>
            <a:endParaRPr lang="en-US" sz="1700" dirty="0"/>
          </a:p>
        </p:txBody>
      </p:sp>
      <p:sp>
        <p:nvSpPr>
          <p:cNvPr id="18" name="Text-98"/>
          <p:cNvSpPr txBox="1"/>
          <p:nvPr/>
        </p:nvSpPr>
        <p:spPr>
          <a:xfrm>
            <a:off x="4608576" y="2898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2.0 funktionsfähig · noch keine Umsätze · TR-Launch Q4 2026</a:t>
            </a:r>
            <a:endParaRPr lang="en-US" sz="1200" dirty="0"/>
          </a:p>
        </p:txBody>
      </p:sp>
      <p:sp>
        <p:nvSpPr>
          <p:cNvPr id="19" name="Text-99"/>
          <p:cNvSpPr txBox="1"/>
          <p:nvPr/>
        </p:nvSpPr>
        <p:spPr>
          <a:xfrm>
            <a:off x="4608576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238</a:t>
            </a:r>
            <a:endParaRPr lang="en-US" sz="2200" dirty="0"/>
          </a:p>
        </p:txBody>
      </p:sp>
      <p:sp>
        <p:nvSpPr>
          <p:cNvPr id="20" name="Text-100"/>
          <p:cNvSpPr txBox="1"/>
          <p:nvPr/>
        </p:nvSpPr>
        <p:spPr>
          <a:xfrm>
            <a:off x="6254496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in 5 Paketen</a:t>
            </a:r>
            <a:endParaRPr lang="en-US" sz="1300" dirty="0"/>
          </a:p>
        </p:txBody>
      </p:sp>
      <p:sp>
        <p:nvSpPr>
          <p:cNvPr id="21" name="Text-101"/>
          <p:cNvSpPr txBox="1"/>
          <p:nvPr/>
        </p:nvSpPr>
        <p:spPr>
          <a:xfrm>
            <a:off x="4608576" y="4251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200" dirty="0"/>
          </a:p>
        </p:txBody>
      </p:sp>
      <p:sp>
        <p:nvSpPr>
          <p:cNvPr id="22" name="Text-102"/>
          <p:cNvSpPr txBox="1"/>
          <p:nvPr/>
        </p:nvSpPr>
        <p:spPr>
          <a:xfrm>
            <a:off x="6254496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animierte Szenen</a:t>
            </a:r>
            <a:endParaRPr lang="en-US" sz="1300" dirty="0"/>
          </a:p>
        </p:txBody>
      </p:sp>
      <p:sp>
        <p:nvSpPr>
          <p:cNvPr id="23" name="Text-103"/>
          <p:cNvSpPr txBox="1"/>
          <p:nvPr/>
        </p:nvSpPr>
        <p:spPr>
          <a:xfrm>
            <a:off x="4608576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240+</a:t>
            </a:r>
            <a:endParaRPr lang="en-US" sz="2200" dirty="0"/>
          </a:p>
        </p:txBody>
      </p:sp>
      <p:sp>
        <p:nvSpPr>
          <p:cNvPr id="24" name="Text-104"/>
          <p:cNvSpPr txBox="1"/>
          <p:nvPr/>
        </p:nvSpPr>
        <p:spPr>
          <a:xfrm>
            <a:off x="6254496" y="4846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automatisierte Tests</a:t>
            </a:r>
            <a:endParaRPr lang="en-US" sz="1300" dirty="0"/>
          </a:p>
        </p:txBody>
      </p:sp>
      <p:sp>
        <p:nvSpPr>
          <p:cNvPr id="25" name="Text-105"/>
          <p:cNvSpPr txBox="1"/>
          <p:nvPr/>
        </p:nvSpPr>
        <p:spPr>
          <a:xfrm>
            <a:off x="4608576" y="5486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live-fx/business/BUSINESSPLAN.md, PITCH-DECK.md</a:t>
            </a:r>
            <a:endParaRPr lang="en-US" sz="900" dirty="0"/>
          </a:p>
        </p:txBody>
      </p:sp>
      <p:sp>
        <p:nvSpPr>
          <p:cNvPr id="26" name="Card-106"/>
          <p:cNvSpPr/>
          <p:nvPr/>
        </p:nvSpPr>
        <p:spPr>
          <a:xfrm>
            <a:off x="8119872" y="150876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27" name="Pill-107"/>
          <p:cNvSpPr txBox="1"/>
          <p:nvPr/>
        </p:nvSpPr>
        <p:spPr>
          <a:xfrm>
            <a:off x="8394192" y="1783080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BUCHREIHE</a:t>
            </a:r>
            <a:endParaRPr lang="en-US" sz="1000" dirty="0"/>
          </a:p>
        </p:txBody>
      </p:sp>
      <p:sp>
        <p:nvSpPr>
          <p:cNvPr id="28" name="Text-108"/>
          <p:cNvSpPr txBox="1"/>
          <p:nvPr/>
        </p:nvSpPr>
        <p:spPr>
          <a:xfrm>
            <a:off x="8394192" y="22219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Content-IP zu Neurodiversität</a:t>
            </a:r>
            <a:endParaRPr lang="en-US" sz="1700" dirty="0"/>
          </a:p>
        </p:txBody>
      </p:sp>
      <p:sp>
        <p:nvSpPr>
          <p:cNvPr id="29" name="Text-109"/>
          <p:cNvSpPr txBox="1"/>
          <p:nvPr/>
        </p:nvSpPr>
        <p:spPr>
          <a:xfrm>
            <a:off x="8394192" y="2898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Bände in TR/DE/EN · Trailer in 3 Sprachen · Teen-Ableger in Arbeit</a:t>
            </a:r>
            <a:endParaRPr lang="en-US" sz="1200" dirty="0"/>
          </a:p>
        </p:txBody>
      </p:sp>
      <p:sp>
        <p:nvSpPr>
          <p:cNvPr id="30" name="Text-110"/>
          <p:cNvSpPr txBox="1"/>
          <p:nvPr/>
        </p:nvSpPr>
        <p:spPr>
          <a:xfrm>
            <a:off x="8394192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-111"/>
          <p:cNvSpPr txBox="1"/>
          <p:nvPr/>
        </p:nvSpPr>
        <p:spPr>
          <a:xfrm>
            <a:off x="10040112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Bände</a:t>
            </a:r>
            <a:endParaRPr lang="en-US" sz="1300" dirty="0"/>
          </a:p>
        </p:txBody>
      </p:sp>
      <p:sp>
        <p:nvSpPr>
          <p:cNvPr id="32" name="Text-112"/>
          <p:cNvSpPr txBox="1"/>
          <p:nvPr/>
        </p:nvSpPr>
        <p:spPr>
          <a:xfrm>
            <a:off x="8394192" y="4251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33" name="Text-113"/>
          <p:cNvSpPr txBox="1"/>
          <p:nvPr/>
        </p:nvSpPr>
        <p:spPr>
          <a:xfrm>
            <a:off x="10040112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Sprachen</a:t>
            </a:r>
            <a:endParaRPr lang="en-US" sz="1300" dirty="0"/>
          </a:p>
        </p:txBody>
      </p:sp>
      <p:sp>
        <p:nvSpPr>
          <p:cNvPr id="34" name="Text-114"/>
          <p:cNvSpPr txBox="1"/>
          <p:nvPr/>
        </p:nvSpPr>
        <p:spPr>
          <a:xfrm>
            <a:off x="8394192" y="4846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Text-115"/>
          <p:cNvSpPr txBox="1"/>
          <p:nvPr/>
        </p:nvSpPr>
        <p:spPr>
          <a:xfrm>
            <a:off x="10040112" y="4846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Teen-Titel</a:t>
            </a:r>
            <a:endParaRPr lang="en-US" sz="1300" dirty="0"/>
          </a:p>
        </p:txBody>
      </p:sp>
      <p:sp>
        <p:nvSpPr>
          <p:cNvPr id="36" name="Text-116"/>
          <p:cNvSpPr txBox="1"/>
          <p:nvPr/>
        </p:nvSpPr>
        <p:spPr>
          <a:xfrm>
            <a:off x="8394192" y="5486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deniz-trailer/, deniz-teen/books.js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 / AYBAL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Aybal: die Stimme des Familienvorlesens</a:t>
            </a:r>
            <a:endParaRPr lang="en-US" sz="3200" dirty="0"/>
          </a:p>
        </p:txBody>
      </p:sp>
      <p:pic>
        <p:nvPicPr>
          <p:cNvPr id="4" name="Image-117" descr="/home/user/Notion/aybal-show/assets/produc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4572000" cy="3621024"/>
          </a:xfrm>
          <a:prstGeom prst="rect">
            <a:avLst/>
          </a:prstGeom>
        </p:spPr>
      </p:pic>
      <p:sp>
        <p:nvSpPr>
          <p:cNvPr id="5" name="Card-118"/>
          <p:cNvSpPr/>
          <p:nvPr/>
        </p:nvSpPr>
        <p:spPr>
          <a:xfrm>
            <a:off x="548640" y="5303520"/>
            <a:ext cx="4572000" cy="65836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119"/>
          <p:cNvSpPr txBox="1"/>
          <p:nvPr/>
        </p:nvSpPr>
        <p:spPr>
          <a:xfrm>
            <a:off x="731520" y="53035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Runde: 250.000 € Pre-Seed · Cap 1,30 Mio. € pre-money · Closing geplant März 2027</a:t>
            </a:r>
            <a:endParaRPr lang="en-US" sz="1200" dirty="0"/>
          </a:p>
        </p:txBody>
      </p:sp>
      <p:sp>
        <p:nvSpPr>
          <p:cNvPr id="7" name="Text-120"/>
          <p:cNvSpPr txBox="1"/>
          <p:nvPr/>
        </p:nvSpPr>
        <p:spPr>
          <a:xfrm>
            <a:off x="5486400" y="1508760"/>
            <a:ext cx="6156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Familien laden PDFs, EPUBs, Word-Dateien, Text oder Fotos von Buchseiten hoch – Aybal liest vor und hebt Wort für Wort hervor.</a:t>
            </a:r>
            <a:endParaRPr lang="en-US" sz="1500" dirty="0"/>
          </a:p>
        </p:txBody>
      </p:sp>
      <p:sp>
        <p:nvSpPr>
          <p:cNvPr id="8" name="Text-121"/>
          <p:cNvSpPr txBox="1"/>
          <p:nvPr/>
        </p:nvSpPr>
        <p:spPr>
          <a:xfrm>
            <a:off x="54864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7,6 Mrd. €</a:t>
            </a:r>
            <a:endParaRPr lang="en-US" sz="2200" dirty="0"/>
          </a:p>
        </p:txBody>
      </p:sp>
      <p:sp>
        <p:nvSpPr>
          <p:cNvPr id="9" name="Text-122"/>
          <p:cNvSpPr txBox="1"/>
          <p:nvPr/>
        </p:nvSpPr>
        <p:spPr>
          <a:xfrm>
            <a:off x="7909560" y="2331720"/>
            <a:ext cx="3733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Familien-Lesemarkt in den Zielmärkten</a:t>
            </a:r>
            <a:endParaRPr lang="en-US" sz="1300" dirty="0"/>
          </a:p>
        </p:txBody>
      </p:sp>
      <p:sp>
        <p:nvSpPr>
          <p:cNvPr id="10" name="Text-123"/>
          <p:cNvSpPr txBox="1"/>
          <p:nvPr/>
        </p:nvSpPr>
        <p:spPr>
          <a:xfrm>
            <a:off x="5486400" y="29535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1,14 Mrd. €</a:t>
            </a:r>
            <a:endParaRPr lang="en-US" sz="2200" dirty="0"/>
          </a:p>
        </p:txBody>
      </p:sp>
      <p:sp>
        <p:nvSpPr>
          <p:cNvPr id="11" name="Text-124"/>
          <p:cNvSpPr txBox="1"/>
          <p:nvPr/>
        </p:nvSpPr>
        <p:spPr>
          <a:xfrm>
            <a:off x="7909560" y="2953512"/>
            <a:ext cx="3733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 15 % angenommene Zahlungsbereitschaft</a:t>
            </a:r>
            <a:endParaRPr lang="en-US" sz="1300" dirty="0"/>
          </a:p>
        </p:txBody>
      </p:sp>
      <p:sp>
        <p:nvSpPr>
          <p:cNvPr id="12" name="Text-125"/>
          <p:cNvSpPr txBox="1"/>
          <p:nvPr/>
        </p:nvSpPr>
        <p:spPr>
          <a:xfrm>
            <a:off x="5486400" y="35753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 Mio. €</a:t>
            </a:r>
            <a:endParaRPr lang="en-US" sz="2200" dirty="0"/>
          </a:p>
        </p:txBody>
      </p:sp>
      <p:sp>
        <p:nvSpPr>
          <p:cNvPr id="13" name="Text-126"/>
          <p:cNvSpPr txBox="1"/>
          <p:nvPr/>
        </p:nvSpPr>
        <p:spPr>
          <a:xfrm>
            <a:off x="7909560" y="3575304"/>
            <a:ext cx="3733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SOM: richtungsweisend, keine Prognose</a:t>
            </a:r>
            <a:endParaRPr lang="en-US" sz="1300" dirty="0"/>
          </a:p>
        </p:txBody>
      </p:sp>
      <p:sp>
        <p:nvSpPr>
          <p:cNvPr id="14" name="Text-127"/>
          <p:cNvSpPr txBox="1"/>
          <p:nvPr/>
        </p:nvSpPr>
        <p:spPr>
          <a:xfrm>
            <a:off x="5486400" y="4343400"/>
            <a:ext cx="6156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Preise: Plus 9,99 €/Monat · Family 24,99 €/Monat · Web-Marge 75–77 %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Verständlichkeit gemessen: Deutsch 98 % · Türkisch 97 %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(Szenario): Strong Case Aug. 2030 · Venture Case Okt. 2031</a:t>
            </a:r>
            <a:endParaRPr lang="en-US" sz="1400" dirty="0"/>
          </a:p>
        </p:txBody>
      </p:sp>
      <p:sp>
        <p:nvSpPr>
          <p:cNvPr id="15" name="Text-128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Aybal_Investor_Deck.pptx, Folien 3–12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 / LIVEFX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LiveFX: Live-Streams, die zuhören</a:t>
            </a:r>
            <a:endParaRPr lang="en-US" sz="3200" dirty="0"/>
          </a:p>
        </p:txBody>
      </p:sp>
      <p:pic>
        <p:nvPicPr>
          <p:cNvPr id="4" name="Image-129" descr="/home/user/Notion/live-fx/business/landing-assets/pan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508760"/>
            <a:ext cx="5105095" cy="3190685"/>
          </a:xfrm>
          <a:prstGeom prst="rect">
            <a:avLst/>
          </a:prstGeom>
        </p:spPr>
      </p:pic>
      <p:pic>
        <p:nvPicPr>
          <p:cNvPr id="5" name="Image-130" descr="/home/user/Notion/live-fx/business/landing-assets/overlay-portrait-rai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08615" y="3510724"/>
            <a:ext cx="1051560" cy="187452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6" name="Text-131"/>
          <p:cNvSpPr txBox="1"/>
          <p:nvPr/>
        </p:nvSpPr>
        <p:spPr>
          <a:xfrm>
            <a:off x="548640" y="15087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Creator spricht – in unter einer Sekunde erscheinen Meme, Sound oder eine animierte Szene im Stream. Story-Modus fürs Vorlesen, Zuschauer-Trigger per Chat und Geschenk.</a:t>
            </a:r>
            <a:endParaRPr lang="en-US" sz="1400" dirty="0"/>
          </a:p>
        </p:txBody>
      </p:sp>
      <p:sp>
        <p:nvSpPr>
          <p:cNvPr id="7" name="Text-132"/>
          <p:cNvSpPr txBox="1"/>
          <p:nvPr/>
        </p:nvSpPr>
        <p:spPr>
          <a:xfrm>
            <a:off x="548640" y="2514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97–157 Mrd. USD</a:t>
            </a:r>
            <a:endParaRPr lang="en-US" sz="2000" dirty="0"/>
          </a:p>
        </p:txBody>
      </p:sp>
      <p:sp>
        <p:nvSpPr>
          <p:cNvPr id="8" name="Text-133"/>
          <p:cNvSpPr txBox="1"/>
          <p:nvPr/>
        </p:nvSpPr>
        <p:spPr>
          <a:xfrm>
            <a:off x="347472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Live-Streaming-Markt weltweit 2026</a:t>
            </a:r>
            <a:endParaRPr lang="en-US" sz="1300" dirty="0"/>
          </a:p>
        </p:txBody>
      </p:sp>
      <p:sp>
        <p:nvSpPr>
          <p:cNvPr id="9" name="Text-134"/>
          <p:cNvSpPr txBox="1"/>
          <p:nvPr/>
        </p:nvSpPr>
        <p:spPr>
          <a:xfrm>
            <a:off x="548640" y="31363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 Mio.</a:t>
            </a:r>
            <a:endParaRPr lang="en-US" sz="2000" dirty="0"/>
          </a:p>
        </p:txBody>
      </p:sp>
      <p:sp>
        <p:nvSpPr>
          <p:cNvPr id="10" name="Text-135"/>
          <p:cNvSpPr txBox="1"/>
          <p:nvPr/>
        </p:nvSpPr>
        <p:spPr>
          <a:xfrm>
            <a:off x="347472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im TR/DE/EN-Raum (SAM, Schätzung)</a:t>
            </a:r>
            <a:endParaRPr lang="en-US" sz="1300" dirty="0"/>
          </a:p>
        </p:txBody>
      </p:sp>
      <p:sp>
        <p:nvSpPr>
          <p:cNvPr id="11" name="Text-136"/>
          <p:cNvSpPr txBox="1"/>
          <p:nvPr/>
        </p:nvSpPr>
        <p:spPr>
          <a:xfrm>
            <a:off x="548640" y="37581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5.000–15.000</a:t>
            </a:r>
            <a:endParaRPr lang="en-US" sz="2000" dirty="0"/>
          </a:p>
        </p:txBody>
      </p:sp>
      <p:sp>
        <p:nvSpPr>
          <p:cNvPr id="12" name="Text-137"/>
          <p:cNvSpPr txBox="1"/>
          <p:nvPr/>
        </p:nvSpPr>
        <p:spPr>
          <a:xfrm>
            <a:off x="3474720" y="37581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zahlende Nutzer in Jahr 3 (SOM, Schätzung)</a:t>
            </a:r>
            <a:endParaRPr lang="en-US" sz="1300" dirty="0"/>
          </a:p>
        </p:txBody>
      </p:sp>
      <p:sp>
        <p:nvSpPr>
          <p:cNvPr id="13" name="Text-138"/>
          <p:cNvSpPr txBox="1"/>
          <p:nvPr/>
        </p:nvSpPr>
        <p:spPr>
          <a:xfrm>
            <a:off x="548640" y="45262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Preise: Free · Pro 9,99 €/Monat oder 79 €/Jahr · Packs 2,99–4,99 €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Basis-Szenario (Schätzung): Umsatz 51 / 336 / 1.039 T€ in J1–J3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Bedarf laut Businessplan: 250–350 T€ Seed für 18–24 Monate</a:t>
            </a:r>
            <a:endParaRPr lang="en-US" sz="1400" dirty="0"/>
          </a:p>
        </p:txBody>
      </p:sp>
      <p:sp>
        <p:nvSpPr>
          <p:cNvPr id="14" name="Text-139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live-fx/business/BUSINESSPLAN.md (Abschn. 1, 6, 9, 11), Marktzahlen dort [Quelle 1, 2]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 / CONTENT-IP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Buchreihe in drei Sprachen</a:t>
            </a:r>
            <a:endParaRPr lang="en-US" sz="3200" dirty="0"/>
          </a:p>
        </p:txBody>
      </p:sp>
      <p:sp>
        <p:nvSpPr>
          <p:cNvPr id="4" name="Pill-140"/>
          <p:cNvSpPr txBox="1"/>
          <p:nvPr/>
        </p:nvSpPr>
        <p:spPr>
          <a:xfrm>
            <a:off x="548640" y="1554480"/>
            <a:ext cx="5486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1000" dirty="0"/>
          </a:p>
        </p:txBody>
      </p:sp>
      <p:sp>
        <p:nvSpPr>
          <p:cNvPr id="5" name="Text-141"/>
          <p:cNvSpPr txBox="1"/>
          <p:nvPr/>
        </p:nvSpPr>
        <p:spPr>
          <a:xfrm>
            <a:off x="1234440" y="15544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Benim Nörofarklı Pusulam</a:t>
            </a:r>
            <a:endParaRPr lang="en-US" sz="1500" dirty="0"/>
          </a:p>
        </p:txBody>
      </p:sp>
      <p:sp>
        <p:nvSpPr>
          <p:cNvPr id="6" name="Pill-142"/>
          <p:cNvSpPr txBox="1"/>
          <p:nvPr/>
        </p:nvSpPr>
        <p:spPr>
          <a:xfrm>
            <a:off x="548640" y="1965960"/>
            <a:ext cx="5486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1000" dirty="0"/>
          </a:p>
        </p:txBody>
      </p:sp>
      <p:sp>
        <p:nvSpPr>
          <p:cNvPr id="7" name="Text-143"/>
          <p:cNvSpPr txBox="1"/>
          <p:nvPr/>
        </p:nvSpPr>
        <p:spPr>
          <a:xfrm>
            <a:off x="1234440" y="19659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Mein neurodiverser Kompass</a:t>
            </a:r>
            <a:endParaRPr lang="en-US" sz="1500" dirty="0"/>
          </a:p>
        </p:txBody>
      </p:sp>
      <p:sp>
        <p:nvSpPr>
          <p:cNvPr id="8" name="Pill-144"/>
          <p:cNvSpPr txBox="1"/>
          <p:nvPr/>
        </p:nvSpPr>
        <p:spPr>
          <a:xfrm>
            <a:off x="548640" y="2377440"/>
            <a:ext cx="5486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1000" dirty="0"/>
          </a:p>
        </p:txBody>
      </p:sp>
      <p:sp>
        <p:nvSpPr>
          <p:cNvPr id="9" name="Text-145"/>
          <p:cNvSpPr txBox="1"/>
          <p:nvPr/>
        </p:nvSpPr>
        <p:spPr>
          <a:xfrm>
            <a:off x="1234440" y="2377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Neurodivergent Compass</a:t>
            </a:r>
            <a:endParaRPr lang="en-US" sz="1500" dirty="0"/>
          </a:p>
        </p:txBody>
      </p:sp>
      <p:sp>
        <p:nvSpPr>
          <p:cNvPr id="10" name="Badge-146"/>
          <p:cNvSpPr txBox="1"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-147"/>
          <p:cNvSpPr txBox="1"/>
          <p:nvPr/>
        </p:nvSpPr>
        <p:spPr>
          <a:xfrm>
            <a:off x="960120" y="2926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Mein neurodiverser Kompass</a:t>
            </a:r>
            <a:endParaRPr lang="en-US" sz="1400" dirty="0"/>
          </a:p>
        </p:txBody>
      </p:sp>
      <p:sp>
        <p:nvSpPr>
          <p:cNvPr id="12" name="Badge-148"/>
          <p:cNvSpPr txBox="1"/>
          <p:nvPr/>
        </p:nvSpPr>
        <p:spPr>
          <a:xfrm>
            <a:off x="548640" y="3328416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-149"/>
          <p:cNvSpPr txBox="1"/>
          <p:nvPr/>
        </p:nvSpPr>
        <p:spPr>
          <a:xfrm>
            <a:off x="960120" y="33284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Deniz und die geheimen Botschaften seines Körpers</a:t>
            </a:r>
            <a:endParaRPr lang="en-US" sz="1400" dirty="0"/>
          </a:p>
        </p:txBody>
      </p:sp>
      <p:sp>
        <p:nvSpPr>
          <p:cNvPr id="14" name="Badge-150"/>
          <p:cNvSpPr txBox="1"/>
          <p:nvPr/>
        </p:nvSpPr>
        <p:spPr>
          <a:xfrm>
            <a:off x="548640" y="3730752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-151"/>
          <p:cNvSpPr txBox="1"/>
          <p:nvPr/>
        </p:nvSpPr>
        <p:spPr>
          <a:xfrm>
            <a:off x="960120" y="37307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Deniz findet seinen eigenen Weg in der Schule</a:t>
            </a:r>
            <a:endParaRPr lang="en-US" sz="1400" dirty="0"/>
          </a:p>
        </p:txBody>
      </p:sp>
      <p:sp>
        <p:nvSpPr>
          <p:cNvPr id="16" name="Badge-152"/>
          <p:cNvSpPr txBox="1"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-153"/>
          <p:cNvSpPr txBox="1"/>
          <p:nvPr/>
        </p:nvSpPr>
        <p:spPr>
          <a:xfrm>
            <a:off x="960120" y="4133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Deniz und der Freundschaftskompass</a:t>
            </a:r>
            <a:endParaRPr lang="en-US" sz="1400" dirty="0"/>
          </a:p>
        </p:txBody>
      </p:sp>
      <p:sp>
        <p:nvSpPr>
          <p:cNvPr id="18" name="Badge-154"/>
          <p:cNvSpPr txBox="1"/>
          <p:nvPr/>
        </p:nvSpPr>
        <p:spPr>
          <a:xfrm>
            <a:off x="548640" y="4535424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-155"/>
          <p:cNvSpPr txBox="1"/>
          <p:nvPr/>
        </p:nvSpPr>
        <p:spPr>
          <a:xfrm>
            <a:off x="960120" y="45354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Deniz und die Insel der Veränderungen</a:t>
            </a:r>
            <a:endParaRPr lang="en-US" sz="1400" dirty="0"/>
          </a:p>
        </p:txBody>
      </p:sp>
      <p:sp>
        <p:nvSpPr>
          <p:cNvPr id="20" name="Text-156"/>
          <p:cNvSpPr txBox="1"/>
          <p:nvPr/>
        </p:nvSpPr>
        <p:spPr>
          <a:xfrm>
            <a:off x="548640" y="5029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Geschenkbuch „İyi ki Varsın / Gut, dass es dich gibt / Good That You Exist“ · Teen-Ableger mit 4 Deniz-Titeln</a:t>
            </a:r>
            <a:endParaRPr lang="en-US" sz="1200" dirty="0"/>
          </a:p>
        </p:txBody>
      </p:sp>
      <p:sp>
        <p:nvSpPr>
          <p:cNvPr id="21" name="Text-157"/>
          <p:cNvSpPr txBox="1"/>
          <p:nvPr/>
        </p:nvSpPr>
        <p:spPr>
          <a:xfrm>
            <a:off x="548640" y="5486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Vorhanden: 5 Buch-Trailer (TR), Serien-Videos DE/TR/EN, Trailer zum Geschenkbuch in 3 Sprachen</a:t>
            </a:r>
            <a:endParaRPr lang="en-US" sz="1200" dirty="0"/>
          </a:p>
        </p:txBody>
      </p:sp>
      <p:pic>
        <p:nvPicPr>
          <p:cNvPr id="22" name="Image-158" descr="/home/user/Notion/live-fx/business/video/stills/vision-de-16x9-8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554480"/>
            <a:ext cx="4967935" cy="2794464"/>
          </a:xfrm>
          <a:prstGeom prst="rect">
            <a:avLst/>
          </a:prstGeom>
        </p:spPr>
      </p:pic>
      <p:sp>
        <p:nvSpPr>
          <p:cNvPr id="23" name="Text-159"/>
          <p:cNvSpPr txBox="1"/>
          <p:nvPr/>
        </p:nvSpPr>
        <p:spPr>
          <a:xfrm>
            <a:off x="6675120" y="4394664"/>
            <a:ext cx="4967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LiveFX-Erzählfilm (Vision-Trailer)</a:t>
            </a:r>
            <a:endParaRPr lang="en-US" sz="900" dirty="0"/>
          </a:p>
        </p:txBody>
      </p:sp>
      <p:sp>
        <p:nvSpPr>
          <p:cNvPr id="24" name="Card-160"/>
          <p:cNvSpPr/>
          <p:nvPr/>
        </p:nvSpPr>
        <p:spPr>
          <a:xfrm>
            <a:off x="6675120" y="4754880"/>
            <a:ext cx="2369668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25" name="Text-161"/>
          <p:cNvSpPr txBox="1"/>
          <p:nvPr/>
        </p:nvSpPr>
        <p:spPr>
          <a:xfrm>
            <a:off x="6858000" y="4864608"/>
            <a:ext cx="20039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Aybal</a:t>
            </a:r>
            <a:endParaRPr lang="en-US" sz="1600" dirty="0"/>
          </a:p>
        </p:txBody>
      </p:sp>
      <p:sp>
        <p:nvSpPr>
          <p:cNvPr id="26" name="Text-162"/>
          <p:cNvSpPr txBox="1"/>
          <p:nvPr/>
        </p:nvSpPr>
        <p:spPr>
          <a:xfrm>
            <a:off x="6858000" y="5212080"/>
            <a:ext cx="20039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Vorlese-Titel mit Stimme in drei Sprachen</a:t>
            </a:r>
            <a:endParaRPr lang="en-US" sz="1200" dirty="0"/>
          </a:p>
        </p:txBody>
      </p:sp>
      <p:sp>
        <p:nvSpPr>
          <p:cNvPr id="27" name="Card-163"/>
          <p:cNvSpPr/>
          <p:nvPr/>
        </p:nvSpPr>
        <p:spPr>
          <a:xfrm>
            <a:off x="9273388" y="4754880"/>
            <a:ext cx="2369668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28" name="Text-164"/>
          <p:cNvSpPr txBox="1"/>
          <p:nvPr/>
        </p:nvSpPr>
        <p:spPr>
          <a:xfrm>
            <a:off x="9456268" y="4864608"/>
            <a:ext cx="20039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LiveFX</a:t>
            </a:r>
            <a:endParaRPr lang="en-US" sz="1600" dirty="0"/>
          </a:p>
        </p:txBody>
      </p:sp>
      <p:sp>
        <p:nvSpPr>
          <p:cNvPr id="29" name="Text-165"/>
          <p:cNvSpPr txBox="1"/>
          <p:nvPr/>
        </p:nvSpPr>
        <p:spPr>
          <a:xfrm>
            <a:off x="9456268" y="5212080"/>
            <a:ext cx="20039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Story-Modus, Welten-Packs, erster Verlags-Pilot</a:t>
            </a:r>
            <a:endParaRPr lang="en-US" sz="1200" dirty="0"/>
          </a:p>
        </p:txBody>
      </p:sp>
      <p:sp>
        <p:nvSpPr>
          <p:cNvPr id="30" name="Text-166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Dateinamen in deniz-trailer/, deniz-teen/books.js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PORTFOLIO / SYNERGIEN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Synergien: ein Stack, ein Publikum</a:t>
            </a:r>
            <a:endParaRPr lang="en-US" sz="3200" dirty="0"/>
          </a:p>
        </p:txBody>
      </p:sp>
      <p:sp>
        <p:nvSpPr>
          <p:cNvPr id="4" name="Card-167"/>
          <p:cNvSpPr/>
          <p:nvPr/>
        </p:nvSpPr>
        <p:spPr>
          <a:xfrm>
            <a:off x="548640" y="1508760"/>
            <a:ext cx="3200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Badge-168"/>
          <p:cNvSpPr txBox="1"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100" dirty="0"/>
          </a:p>
        </p:txBody>
      </p:sp>
      <p:sp>
        <p:nvSpPr>
          <p:cNvPr id="6" name="Text-169"/>
          <p:cNvSpPr txBox="1"/>
          <p:nvPr/>
        </p:nvSpPr>
        <p:spPr>
          <a:xfrm>
            <a:off x="137160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Sprach- und Stimm-Stack</a:t>
            </a:r>
            <a:endParaRPr lang="en-US" sz="1600" dirty="0"/>
          </a:p>
        </p:txBody>
      </p:sp>
      <p:sp>
        <p:nvSpPr>
          <p:cNvPr id="7" name="Text-170"/>
          <p:cNvSpPr txBox="1"/>
          <p:nvPr/>
        </p:nvSpPr>
        <p:spPr>
          <a:xfrm>
            <a:off x="777240" y="23317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Erkennung, Sprachausgabe und Wort-Timing tragen beide Produkte: Vorlesen mit Wort-Hervorhebung (Aybal), Szenen und Aussprache (LiveFX).</a:t>
            </a:r>
            <a:endParaRPr lang="en-US" sz="1200" dirty="0"/>
          </a:p>
        </p:txBody>
      </p:sp>
      <p:sp>
        <p:nvSpPr>
          <p:cNvPr id="8" name="Card-171"/>
          <p:cNvSpPr/>
          <p:nvPr/>
        </p:nvSpPr>
        <p:spPr>
          <a:xfrm>
            <a:off x="4023360" y="1508760"/>
            <a:ext cx="3200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Badge-172"/>
          <p:cNvSpPr txBox="1"/>
          <p:nvPr/>
        </p:nvSpPr>
        <p:spPr>
          <a:xfrm>
            <a:off x="4251960" y="173736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100" dirty="0"/>
          </a:p>
        </p:txBody>
      </p:sp>
      <p:sp>
        <p:nvSpPr>
          <p:cNvPr id="10" name="Text-173"/>
          <p:cNvSpPr txBox="1"/>
          <p:nvPr/>
        </p:nvSpPr>
        <p:spPr>
          <a:xfrm>
            <a:off x="484632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Content-IP</a:t>
            </a:r>
            <a:endParaRPr lang="en-US" sz="1600" dirty="0"/>
          </a:p>
        </p:txBody>
      </p:sp>
      <p:sp>
        <p:nvSpPr>
          <p:cNvPr id="11" name="Text-174"/>
          <p:cNvSpPr txBox="1"/>
          <p:nvPr/>
        </p:nvSpPr>
        <p:spPr>
          <a:xfrm>
            <a:off x="4251960" y="23317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Buchreihe liefert Vorlese-Titel für Aybal und Geschichten-Packs für den LiveFX-Story-Modus.</a:t>
            </a:r>
            <a:endParaRPr lang="en-US" sz="1200" dirty="0"/>
          </a:p>
        </p:txBody>
      </p:sp>
      <p:sp>
        <p:nvSpPr>
          <p:cNvPr id="12" name="Card-175"/>
          <p:cNvSpPr/>
          <p:nvPr/>
        </p:nvSpPr>
        <p:spPr>
          <a:xfrm>
            <a:off x="548640" y="3840480"/>
            <a:ext cx="3200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3" name="Badge-176"/>
          <p:cNvSpPr txBox="1"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100" dirty="0"/>
          </a:p>
        </p:txBody>
      </p:sp>
      <p:sp>
        <p:nvSpPr>
          <p:cNvPr id="14" name="Text-177"/>
          <p:cNvSpPr txBox="1"/>
          <p:nvPr/>
        </p:nvSpPr>
        <p:spPr>
          <a:xfrm>
            <a:off x="137160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Märkte DE/TR/EN</a:t>
            </a:r>
            <a:endParaRPr lang="en-US" sz="1600" dirty="0"/>
          </a:p>
        </p:txBody>
      </p:sp>
      <p:sp>
        <p:nvSpPr>
          <p:cNvPr id="15" name="Text-178"/>
          <p:cNvSpPr txBox="1"/>
          <p:nvPr/>
        </p:nvSpPr>
        <p:spPr>
          <a:xfrm>
            <a:off x="777240" y="46634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starten in der deutsch-türkischen Community: Aybal mit dem Deutschland-Launch, LiveFX mit TR-Creatorn.</a:t>
            </a:r>
            <a:endParaRPr lang="en-US" sz="1200" dirty="0"/>
          </a:p>
        </p:txBody>
      </p:sp>
      <p:sp>
        <p:nvSpPr>
          <p:cNvPr id="16" name="Card-179"/>
          <p:cNvSpPr/>
          <p:nvPr/>
        </p:nvSpPr>
        <p:spPr>
          <a:xfrm>
            <a:off x="4023360" y="3840480"/>
            <a:ext cx="320040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7" name="Badge-180"/>
          <p:cNvSpPr txBox="1"/>
          <p:nvPr/>
        </p:nvSpPr>
        <p:spPr>
          <a:xfrm>
            <a:off x="4251960" y="406908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100" dirty="0"/>
          </a:p>
        </p:txBody>
      </p:sp>
      <p:sp>
        <p:nvSpPr>
          <p:cNvPr id="18" name="Text-181"/>
          <p:cNvSpPr txBox="1"/>
          <p:nvPr/>
        </p:nvSpPr>
        <p:spPr>
          <a:xfrm>
            <a:off x="484632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Cross-Selling</a:t>
            </a:r>
            <a:endParaRPr lang="en-US" sz="1600" dirty="0"/>
          </a:p>
        </p:txBody>
      </p:sp>
      <p:sp>
        <p:nvSpPr>
          <p:cNvPr id="19" name="Text-182"/>
          <p:cNvSpPr txBox="1"/>
          <p:nvPr/>
        </p:nvSpPr>
        <p:spPr>
          <a:xfrm>
            <a:off x="4251960" y="46634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Vorlese-Streams führen Familien zu Aybal; Aybal-Familien sind Zielgruppe für WortBild (Sprachenlernen) von LiveFX.</a:t>
            </a:r>
            <a:endParaRPr lang="en-US" sz="1200" dirty="0"/>
          </a:p>
        </p:txBody>
      </p:sp>
      <p:pic>
        <p:nvPicPr>
          <p:cNvPr id="20" name="Image-183" descr="/home/user/Notion/live-fx/business/video/stills/vision-de-16x9-15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43800" y="1508760"/>
            <a:ext cx="4099255" cy="2305831"/>
          </a:xfrm>
          <a:prstGeom prst="rect">
            <a:avLst/>
          </a:prstGeom>
        </p:spPr>
      </p:pic>
      <p:sp>
        <p:nvSpPr>
          <p:cNvPr id="21" name="Text-184"/>
          <p:cNvSpPr txBox="1"/>
          <p:nvPr/>
        </p:nvSpPr>
        <p:spPr>
          <a:xfrm>
            <a:off x="7543800" y="3860311"/>
            <a:ext cx="4099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WortBild (Vision-Trailer)</a:t>
            </a:r>
            <a:endParaRPr lang="en-US" sz="900" dirty="0"/>
          </a:p>
        </p:txBody>
      </p:sp>
      <p:sp>
        <p:nvSpPr>
          <p:cNvPr id="22" name="Wave-185"/>
          <p:cNvSpPr/>
          <p:nvPr/>
        </p:nvSpPr>
        <p:spPr>
          <a:xfrm>
            <a:off x="7543800" y="4425696"/>
            <a:ext cx="102481" cy="109728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3" name="Wave-186"/>
          <p:cNvSpPr/>
          <p:nvPr/>
        </p:nvSpPr>
        <p:spPr>
          <a:xfrm>
            <a:off x="7748763" y="4285259"/>
            <a:ext cx="102481" cy="39060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4" name="Wave-187"/>
          <p:cNvSpPr/>
          <p:nvPr/>
        </p:nvSpPr>
        <p:spPr>
          <a:xfrm>
            <a:off x="7953726" y="4293030"/>
            <a:ext cx="102481" cy="37505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5" name="Wave-188"/>
          <p:cNvSpPr/>
          <p:nvPr/>
        </p:nvSpPr>
        <p:spPr>
          <a:xfrm>
            <a:off x="8158688" y="4312414"/>
            <a:ext cx="102481" cy="33629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6" name="Wave-189"/>
          <p:cNvSpPr/>
          <p:nvPr/>
        </p:nvSpPr>
        <p:spPr>
          <a:xfrm>
            <a:off x="8363651" y="4265515"/>
            <a:ext cx="102481" cy="43009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7" name="Wave-190"/>
          <p:cNvSpPr/>
          <p:nvPr/>
        </p:nvSpPr>
        <p:spPr>
          <a:xfrm>
            <a:off x="8568614" y="4319069"/>
            <a:ext cx="102481" cy="32298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8" name="Wave-191"/>
          <p:cNvSpPr/>
          <p:nvPr/>
        </p:nvSpPr>
        <p:spPr>
          <a:xfrm>
            <a:off x="8773577" y="4361334"/>
            <a:ext cx="102481" cy="23845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9" name="Wave-192"/>
          <p:cNvSpPr/>
          <p:nvPr/>
        </p:nvSpPr>
        <p:spPr>
          <a:xfrm>
            <a:off x="8978539" y="4284695"/>
            <a:ext cx="102481" cy="39173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0" name="Wave-193"/>
          <p:cNvSpPr/>
          <p:nvPr/>
        </p:nvSpPr>
        <p:spPr>
          <a:xfrm>
            <a:off x="9183502" y="4316207"/>
            <a:ext cx="102481" cy="32870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1" name="Wave-194"/>
          <p:cNvSpPr/>
          <p:nvPr/>
        </p:nvSpPr>
        <p:spPr>
          <a:xfrm>
            <a:off x="9388465" y="4287495"/>
            <a:ext cx="102481" cy="38612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2" name="Wave-195"/>
          <p:cNvSpPr/>
          <p:nvPr/>
        </p:nvSpPr>
        <p:spPr>
          <a:xfrm>
            <a:off x="9593428" y="4256824"/>
            <a:ext cx="102481" cy="44747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3" name="Wave-196"/>
          <p:cNvSpPr/>
          <p:nvPr/>
        </p:nvSpPr>
        <p:spPr>
          <a:xfrm>
            <a:off x="9798390" y="4379488"/>
            <a:ext cx="102481" cy="20214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4" name="Wave-197"/>
          <p:cNvSpPr/>
          <p:nvPr/>
        </p:nvSpPr>
        <p:spPr>
          <a:xfrm>
            <a:off x="10003353" y="4319566"/>
            <a:ext cx="102481" cy="32198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5" name="Wave-198"/>
          <p:cNvSpPr/>
          <p:nvPr/>
        </p:nvSpPr>
        <p:spPr>
          <a:xfrm>
            <a:off x="10208316" y="4306193"/>
            <a:ext cx="102481" cy="34873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6" name="Wave-199"/>
          <p:cNvSpPr/>
          <p:nvPr/>
        </p:nvSpPr>
        <p:spPr>
          <a:xfrm>
            <a:off x="10413279" y="4316368"/>
            <a:ext cx="102481" cy="32838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7" name="Wave-200"/>
          <p:cNvSpPr/>
          <p:nvPr/>
        </p:nvSpPr>
        <p:spPr>
          <a:xfrm>
            <a:off x="10618241" y="4254143"/>
            <a:ext cx="102481" cy="45283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8" name="Wave-201"/>
          <p:cNvSpPr/>
          <p:nvPr/>
        </p:nvSpPr>
        <p:spPr>
          <a:xfrm>
            <a:off x="10823204" y="4281183"/>
            <a:ext cx="102481" cy="39875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9" name="Wave-202"/>
          <p:cNvSpPr/>
          <p:nvPr/>
        </p:nvSpPr>
        <p:spPr>
          <a:xfrm>
            <a:off x="11028167" y="4405862"/>
            <a:ext cx="102481" cy="14939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0" name="Wave-203"/>
          <p:cNvSpPr/>
          <p:nvPr/>
        </p:nvSpPr>
        <p:spPr>
          <a:xfrm>
            <a:off x="11233130" y="4310428"/>
            <a:ext cx="102481" cy="34026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1" name="Wave-204"/>
          <p:cNvSpPr/>
          <p:nvPr/>
        </p:nvSpPr>
        <p:spPr>
          <a:xfrm>
            <a:off x="11438092" y="4327426"/>
            <a:ext cx="102481" cy="306268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2" name="Text-205"/>
          <p:cNvSpPr txBox="1"/>
          <p:nvPr/>
        </p:nvSpPr>
        <p:spPr>
          <a:xfrm>
            <a:off x="7543800" y="4983480"/>
            <a:ext cx="4099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Synergien sind Hypothesen und noch nicht gemessen.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ANGEBOT / RUNDE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500.000 € für drei Projekte</a:t>
            </a:r>
            <a:endParaRPr lang="en-US" sz="3200" dirty="0"/>
          </a:p>
        </p:txBody>
      </p:sp>
      <p:graphicFrame>
        <p:nvGraphicFramePr>
          <p:cNvPr id="4" name="Use-of-funds-donut" descr=""/>
          <p:cNvGraphicFramePr/>
          <p:nvPr/>
        </p:nvGraphicFramePr>
        <p:xfrm>
          <a:off x="548640" y="1417320"/>
          <a:ext cx="4572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206"/>
          <p:cNvSpPr txBox="1"/>
          <p:nvPr/>
        </p:nvSpPr>
        <p:spPr>
          <a:xfrm>
            <a:off x="1737360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500.000 €</a:t>
            </a:r>
            <a:endParaRPr lang="en-US" sz="2600" dirty="0"/>
          </a:p>
        </p:txBody>
      </p:sp>
      <p:sp>
        <p:nvSpPr>
          <p:cNvPr id="6" name="Text-207"/>
          <p:cNvSpPr txBox="1"/>
          <p:nvPr/>
        </p:nvSpPr>
        <p:spPr>
          <a:xfrm>
            <a:off x="17373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Aufteilung (Vorschlag)</a:t>
            </a:r>
            <a:endParaRPr lang="en-US" sz="1100" dirty="0"/>
          </a:p>
        </p:txBody>
      </p:sp>
      <p:sp>
        <p:nvSpPr>
          <p:cNvPr id="7" name="Pill-208"/>
          <p:cNvSpPr txBox="1"/>
          <p:nvPr/>
        </p:nvSpPr>
        <p:spPr>
          <a:xfrm>
            <a:off x="5669280" y="155448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2A1530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VORSCHLAG – BITTE BESTÄTIGEN</a:t>
            </a:r>
            <a:endParaRPr lang="en-US" sz="1000" dirty="0"/>
          </a:p>
        </p:txBody>
      </p:sp>
      <p:sp>
        <p:nvSpPr>
          <p:cNvPr id="8" name="Card-209"/>
          <p:cNvSpPr/>
          <p:nvPr/>
        </p:nvSpPr>
        <p:spPr>
          <a:xfrm>
            <a:off x="5669280" y="2148840"/>
            <a:ext cx="597377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Badge-210"/>
          <p:cNvSpPr txBox="1"/>
          <p:nvPr/>
        </p:nvSpPr>
        <p:spPr>
          <a:xfrm>
            <a:off x="5897880" y="2423160"/>
            <a:ext cx="320040" cy="3200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-211"/>
          <p:cNvSpPr txBox="1"/>
          <p:nvPr/>
        </p:nvSpPr>
        <p:spPr>
          <a:xfrm>
            <a:off x="6400800" y="22768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</a:t>
            </a:r>
            <a:endParaRPr lang="en-US" sz="1800" dirty="0"/>
          </a:p>
        </p:txBody>
      </p:sp>
      <p:sp>
        <p:nvSpPr>
          <p:cNvPr id="11" name="Text-212"/>
          <p:cNvSpPr txBox="1"/>
          <p:nvPr/>
        </p:nvSpPr>
        <p:spPr>
          <a:xfrm>
            <a:off x="6400800" y="26243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im Aybal-Deck</a:t>
            </a:r>
            <a:endParaRPr lang="en-US" sz="1200" dirty="0"/>
          </a:p>
        </p:txBody>
      </p:sp>
      <p:sp>
        <p:nvSpPr>
          <p:cNvPr id="12" name="Text-213"/>
          <p:cNvSpPr txBox="1"/>
          <p:nvPr/>
        </p:nvSpPr>
        <p:spPr>
          <a:xfrm>
            <a:off x="9265615" y="22585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250.000 €</a:t>
            </a:r>
            <a:endParaRPr lang="en-US" sz="2600" dirty="0"/>
          </a:p>
        </p:txBody>
      </p:sp>
      <p:sp>
        <p:nvSpPr>
          <p:cNvPr id="13" name="Card-214"/>
          <p:cNvSpPr/>
          <p:nvPr/>
        </p:nvSpPr>
        <p:spPr>
          <a:xfrm>
            <a:off x="5669280" y="3172968"/>
            <a:ext cx="597377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4" name="Badge-215"/>
          <p:cNvSpPr txBox="1"/>
          <p:nvPr/>
        </p:nvSpPr>
        <p:spPr>
          <a:xfrm>
            <a:off x="5897880" y="3447288"/>
            <a:ext cx="320040" cy="3200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-216"/>
          <p:cNvSpPr txBox="1"/>
          <p:nvPr/>
        </p:nvSpPr>
        <p:spPr>
          <a:xfrm>
            <a:off x="6400800" y="33009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800" dirty="0"/>
          </a:p>
        </p:txBody>
      </p:sp>
      <p:sp>
        <p:nvSpPr>
          <p:cNvPr id="16" name="Text-217"/>
          <p:cNvSpPr txBox="1"/>
          <p:nvPr/>
        </p:nvSpPr>
        <p:spPr>
          <a:xfrm>
            <a:off x="6400800" y="3648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der Seed-Spanne laut Businessplan</a:t>
            </a:r>
            <a:endParaRPr lang="en-US" sz="1200" dirty="0"/>
          </a:p>
        </p:txBody>
      </p:sp>
      <p:sp>
        <p:nvSpPr>
          <p:cNvPr id="17" name="Text-218"/>
          <p:cNvSpPr txBox="1"/>
          <p:nvPr/>
        </p:nvSpPr>
        <p:spPr>
          <a:xfrm>
            <a:off x="9265615" y="328269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200.000 €</a:t>
            </a:r>
            <a:endParaRPr lang="en-US" sz="2600" dirty="0"/>
          </a:p>
        </p:txBody>
      </p:sp>
      <p:sp>
        <p:nvSpPr>
          <p:cNvPr id="18" name="Card-219"/>
          <p:cNvSpPr/>
          <p:nvPr/>
        </p:nvSpPr>
        <p:spPr>
          <a:xfrm>
            <a:off x="5669280" y="4197096"/>
            <a:ext cx="597377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9" name="Badge-220"/>
          <p:cNvSpPr txBox="1"/>
          <p:nvPr/>
        </p:nvSpPr>
        <p:spPr>
          <a:xfrm>
            <a:off x="5897880" y="4471416"/>
            <a:ext cx="320040" cy="3200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Text-221"/>
          <p:cNvSpPr txBox="1"/>
          <p:nvPr/>
        </p:nvSpPr>
        <p:spPr>
          <a:xfrm>
            <a:off x="6400800" y="4325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Buchreihe / Content</a:t>
            </a:r>
            <a:endParaRPr lang="en-US" sz="1800" dirty="0"/>
          </a:p>
        </p:txBody>
      </p:sp>
      <p:sp>
        <p:nvSpPr>
          <p:cNvPr id="21" name="Text-222"/>
          <p:cNvSpPr txBox="1"/>
          <p:nvPr/>
        </p:nvSpPr>
        <p:spPr>
          <a:xfrm>
            <a:off x="6400800" y="46725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Hörfassungen, Editionen, Rechte</a:t>
            </a:r>
            <a:endParaRPr lang="en-US" sz="1200" dirty="0"/>
          </a:p>
        </p:txBody>
      </p:sp>
      <p:sp>
        <p:nvSpPr>
          <p:cNvPr id="22" name="Text-223"/>
          <p:cNvSpPr txBox="1"/>
          <p:nvPr/>
        </p:nvSpPr>
        <p:spPr>
          <a:xfrm>
            <a:off x="9265615" y="430682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50.000 €</a:t>
            </a:r>
            <a:endParaRPr lang="en-US" sz="2600" dirty="0"/>
          </a:p>
        </p:txBody>
      </p:sp>
      <p:sp>
        <p:nvSpPr>
          <p:cNvPr id="23" name="Text-224"/>
          <p:cNvSpPr txBox="1"/>
          <p:nvPr/>
        </p:nvSpPr>
        <p:spPr>
          <a:xfrm>
            <a:off x="5669280" y="5303520"/>
            <a:ext cx="5973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Aybal-Konditionen laut eigenem Deck: Cap 1,30 Mio. € pre-money, ~16 % bei Cap, Closing geplant März 2027. Konditionen für LiveFX und Content: [offen].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ANGEBOT / MITTELVERWENDUNG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Mittelverwendung je Projekt</a:t>
            </a:r>
            <a:endParaRPr lang="en-US" sz="3200" dirty="0"/>
          </a:p>
        </p:txBody>
      </p:sp>
      <p:sp>
        <p:nvSpPr>
          <p:cNvPr id="4" name="Card-225"/>
          <p:cNvSpPr/>
          <p:nvPr/>
        </p:nvSpPr>
        <p:spPr>
          <a:xfrm>
            <a:off x="548640" y="1508760"/>
            <a:ext cx="4343400" cy="4389120"/>
          </a:xfrm>
          <a:prstGeom prst="roundRect">
            <a:avLst>
              <a:gd name="adj" fmla="val 2526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Text-226"/>
          <p:cNvSpPr txBox="1"/>
          <p:nvPr/>
        </p:nvSpPr>
        <p:spPr>
          <a:xfrm>
            <a:off x="777240" y="17099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· 250.000 € (laut Aybal-Deck)</a:t>
            </a:r>
            <a:endParaRPr lang="en-US" sz="1600" dirty="0"/>
          </a:p>
        </p:txBody>
      </p:sp>
      <p:graphicFrame>
        <p:nvGraphicFramePr>
          <p:cNvPr id="6" name="Aybal-use-of-funds-bar" descr=""/>
          <p:cNvGraphicFramePr/>
          <p:nvPr/>
        </p:nvGraphicFramePr>
        <p:xfrm>
          <a:off x="640080" y="2286000"/>
          <a:ext cx="4160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-227"/>
          <p:cNvSpPr txBox="1"/>
          <p:nvPr/>
        </p:nvSpPr>
        <p:spPr>
          <a:xfrm>
            <a:off x="777240" y="50292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125.000 €  ·  Marketing: 62.500 €  ·  EU-Stimmbetrieb + Store-App: 37.500 €  ·  Recht / Vertrauen: 25.000 €</a:t>
            </a:r>
            <a:endParaRPr lang="en-US" sz="1100" dirty="0"/>
          </a:p>
        </p:txBody>
      </p:sp>
      <p:sp>
        <p:nvSpPr>
          <p:cNvPr id="8" name="Card-228"/>
          <p:cNvSpPr/>
          <p:nvPr/>
        </p:nvSpPr>
        <p:spPr>
          <a:xfrm>
            <a:off x="5157216" y="1508760"/>
            <a:ext cx="3154680" cy="4389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Text-229"/>
          <p:cNvSpPr txBox="1"/>
          <p:nvPr/>
        </p:nvSpPr>
        <p:spPr>
          <a:xfrm>
            <a:off x="5385816" y="17099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· 200.000 €</a:t>
            </a:r>
            <a:endParaRPr lang="en-US" sz="1600" dirty="0"/>
          </a:p>
        </p:txBody>
      </p:sp>
      <p:sp>
        <p:nvSpPr>
          <p:cNvPr id="10" name="Pill-230"/>
          <p:cNvSpPr txBox="1"/>
          <p:nvPr/>
        </p:nvSpPr>
        <p:spPr>
          <a:xfrm>
            <a:off x="5385816" y="2148840"/>
            <a:ext cx="26974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VORSCHLAG – BITTE BESTÄTIGEN</a:t>
            </a:r>
            <a:endParaRPr lang="en-US" sz="900" dirty="0"/>
          </a:p>
        </p:txBody>
      </p:sp>
      <p:sp>
        <p:nvSpPr>
          <p:cNvPr id="11" name="Text-231"/>
          <p:cNvSpPr txBox="1"/>
          <p:nvPr/>
        </p:nvSpPr>
        <p:spPr>
          <a:xfrm>
            <a:off x="5385816" y="260604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Deckt die Basis-Kosten von Jahr 1 (165 T€) plus Puffer. Der Businessplan nennt 250–350 T€; der Rest über Umsätze, Förderung oder Folgerunde.</a:t>
            </a:r>
            <a:endParaRPr lang="en-US" sz="1200" dirty="0"/>
          </a:p>
        </p:txBody>
      </p:sp>
      <p:sp>
        <p:nvSpPr>
          <p:cNvPr id="12" name="Text-232"/>
          <p:cNvSpPr txBox="1"/>
          <p:nvPr/>
        </p:nvSpPr>
        <p:spPr>
          <a:xfrm>
            <a:off x="5385816" y="402336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Mobile-Entwickler:in (erste Einstellung)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Creator-Partnerprogramm, Marketing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Plattform- und Bildungs-Piloten</a:t>
            </a:r>
            <a:endParaRPr lang="en-US" sz="1400" dirty="0"/>
          </a:p>
        </p:txBody>
      </p:sp>
      <p:sp>
        <p:nvSpPr>
          <p:cNvPr id="13" name="Card-233"/>
          <p:cNvSpPr/>
          <p:nvPr/>
        </p:nvSpPr>
        <p:spPr>
          <a:xfrm>
            <a:off x="8577072" y="1508760"/>
            <a:ext cx="3154680" cy="4389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4" name="Text-234"/>
          <p:cNvSpPr txBox="1"/>
          <p:nvPr/>
        </p:nvSpPr>
        <p:spPr>
          <a:xfrm>
            <a:off x="8805672" y="17099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Buchreihe · 50.000 €</a:t>
            </a:r>
            <a:endParaRPr lang="en-US" sz="1600" dirty="0"/>
          </a:p>
        </p:txBody>
      </p:sp>
      <p:sp>
        <p:nvSpPr>
          <p:cNvPr id="15" name="Pill-235"/>
          <p:cNvSpPr txBox="1"/>
          <p:nvPr/>
        </p:nvSpPr>
        <p:spPr>
          <a:xfrm>
            <a:off x="8805672" y="2148840"/>
            <a:ext cx="26974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VORSCHLAG – BITTE BESTÄTIGEN</a:t>
            </a:r>
            <a:endParaRPr lang="en-US" sz="900" dirty="0"/>
          </a:p>
        </p:txBody>
      </p:sp>
      <p:sp>
        <p:nvSpPr>
          <p:cNvPr id="16" name="Text-236"/>
          <p:cNvSpPr txBox="1"/>
          <p:nvPr/>
        </p:nvSpPr>
        <p:spPr>
          <a:xfrm>
            <a:off x="8805672" y="2606040"/>
            <a:ext cx="2697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Hörfassungen DE/TR/EN für Aybal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Lektorat, Übersetzung, Editionen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Rechte, Lizenzen, ISBN</a:t>
            </a:r>
            <a:endParaRPr lang="en-US" sz="1400" dirty="0"/>
          </a:p>
        </p:txBody>
      </p:sp>
      <p:sp>
        <p:nvSpPr>
          <p:cNvPr id="17" name="Text-237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Aybal_Investor_Deck.pptx Folie 12; BUSINESSPLAN.md Abschn. 11.3–11.4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ANGEBOT / MEILENSTEINE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Monate: Meilensteine je Projekt</a:t>
            </a:r>
            <a:endParaRPr lang="en-US" sz="3200" dirty="0"/>
          </a:p>
        </p:txBody>
      </p:sp>
      <p:sp>
        <p:nvSpPr>
          <p:cNvPr id="4" name="Text-238"/>
          <p:cNvSpPr txBox="1"/>
          <p:nvPr/>
        </p:nvSpPr>
        <p:spPr>
          <a:xfrm>
            <a:off x="1920240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26</a:t>
            </a:r>
            <a:endParaRPr lang="en-US" sz="1100" dirty="0"/>
          </a:p>
        </p:txBody>
      </p:sp>
      <p:sp>
        <p:nvSpPr>
          <p:cNvPr id="5" name="Text-239"/>
          <p:cNvSpPr txBox="1"/>
          <p:nvPr/>
        </p:nvSpPr>
        <p:spPr>
          <a:xfrm>
            <a:off x="3135592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27</a:t>
            </a:r>
            <a:endParaRPr lang="en-US" sz="1100" dirty="0"/>
          </a:p>
        </p:txBody>
      </p:sp>
      <p:sp>
        <p:nvSpPr>
          <p:cNvPr id="6" name="Text-240"/>
          <p:cNvSpPr txBox="1"/>
          <p:nvPr/>
        </p:nvSpPr>
        <p:spPr>
          <a:xfrm>
            <a:off x="4350944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27</a:t>
            </a:r>
            <a:endParaRPr lang="en-US" sz="1100" dirty="0"/>
          </a:p>
        </p:txBody>
      </p:sp>
      <p:sp>
        <p:nvSpPr>
          <p:cNvPr id="7" name="Text-241"/>
          <p:cNvSpPr txBox="1"/>
          <p:nvPr/>
        </p:nvSpPr>
        <p:spPr>
          <a:xfrm>
            <a:off x="5566296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27</a:t>
            </a:r>
            <a:endParaRPr lang="en-US" sz="1100" dirty="0"/>
          </a:p>
        </p:txBody>
      </p:sp>
      <p:sp>
        <p:nvSpPr>
          <p:cNvPr id="8" name="Text-242"/>
          <p:cNvSpPr txBox="1"/>
          <p:nvPr/>
        </p:nvSpPr>
        <p:spPr>
          <a:xfrm>
            <a:off x="6781648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27</a:t>
            </a:r>
            <a:endParaRPr lang="en-US" sz="1100" dirty="0"/>
          </a:p>
        </p:txBody>
      </p:sp>
      <p:sp>
        <p:nvSpPr>
          <p:cNvPr id="9" name="Text-243"/>
          <p:cNvSpPr txBox="1"/>
          <p:nvPr/>
        </p:nvSpPr>
        <p:spPr>
          <a:xfrm>
            <a:off x="7997000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28</a:t>
            </a:r>
            <a:endParaRPr lang="en-US" sz="1100" dirty="0"/>
          </a:p>
        </p:txBody>
      </p:sp>
      <p:sp>
        <p:nvSpPr>
          <p:cNvPr id="10" name="Text-244"/>
          <p:cNvSpPr txBox="1"/>
          <p:nvPr/>
        </p:nvSpPr>
        <p:spPr>
          <a:xfrm>
            <a:off x="9212351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28</a:t>
            </a:r>
            <a:endParaRPr lang="en-US" sz="1100" dirty="0"/>
          </a:p>
        </p:txBody>
      </p:sp>
      <p:sp>
        <p:nvSpPr>
          <p:cNvPr id="11" name="Text-245"/>
          <p:cNvSpPr txBox="1"/>
          <p:nvPr/>
        </p:nvSpPr>
        <p:spPr>
          <a:xfrm>
            <a:off x="10427703" y="1463040"/>
            <a:ext cx="121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28</a:t>
            </a:r>
            <a:endParaRPr lang="en-US" sz="1100" dirty="0"/>
          </a:p>
        </p:txBody>
      </p:sp>
      <p:sp>
        <p:nvSpPr>
          <p:cNvPr id="12" name="Lane-246"/>
          <p:cNvSpPr/>
          <p:nvPr/>
        </p:nvSpPr>
        <p:spPr>
          <a:xfrm>
            <a:off x="1920240" y="2377440"/>
            <a:ext cx="9722815" cy="0"/>
          </a:xfrm>
          <a:prstGeom prst="line">
            <a:avLst/>
          </a:prstGeom>
          <a:noFill/>
          <a:ln w="19050">
            <a:solidFill>
              <a:srgbClr val="3A2E40"/>
            </a:solidFill>
            <a:prstDash val="solid"/>
          </a:ln>
        </p:spPr>
      </p:sp>
      <p:sp>
        <p:nvSpPr>
          <p:cNvPr id="13" name="Text-247"/>
          <p:cNvSpPr txBox="1"/>
          <p:nvPr/>
        </p:nvSpPr>
        <p:spPr>
          <a:xfrm>
            <a:off x="54864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</a:t>
            </a:r>
            <a:endParaRPr lang="en-US" sz="1600" dirty="0"/>
          </a:p>
        </p:txBody>
      </p:sp>
      <p:sp>
        <p:nvSpPr>
          <p:cNvPr id="14" name="Milestone-248"/>
          <p:cNvSpPr txBox="1"/>
          <p:nvPr/>
        </p:nvSpPr>
        <p:spPr>
          <a:xfrm>
            <a:off x="1965960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(50 Familien) · DE-Launch</a:t>
            </a:r>
            <a:endParaRPr lang="en-US" sz="1100" dirty="0"/>
          </a:p>
        </p:txBody>
      </p:sp>
      <p:sp>
        <p:nvSpPr>
          <p:cNvPr id="15" name="Milestone-249"/>
          <p:cNvSpPr txBox="1"/>
          <p:nvPr/>
        </p:nvSpPr>
        <p:spPr>
          <a:xfrm>
            <a:off x="3181312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März 2027</a:t>
            </a:r>
            <a:endParaRPr lang="en-US" sz="1100" dirty="0"/>
          </a:p>
        </p:txBody>
      </p:sp>
      <p:sp>
        <p:nvSpPr>
          <p:cNvPr id="16" name="Milestone-250"/>
          <p:cNvSpPr txBox="1"/>
          <p:nvPr/>
        </p:nvSpPr>
        <p:spPr>
          <a:xfrm>
            <a:off x="4396664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1: Aktivierung</a:t>
            </a:r>
            <a:endParaRPr lang="en-US" sz="1100" dirty="0"/>
          </a:p>
        </p:txBody>
      </p:sp>
      <p:sp>
        <p:nvSpPr>
          <p:cNvPr id="17" name="Milestone-251"/>
          <p:cNvSpPr txBox="1"/>
          <p:nvPr/>
        </p:nvSpPr>
        <p:spPr>
          <a:xfrm>
            <a:off x="8042720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2: Retention</a:t>
            </a:r>
            <a:endParaRPr lang="en-US" sz="1100" dirty="0"/>
          </a:p>
        </p:txBody>
      </p:sp>
      <p:sp>
        <p:nvSpPr>
          <p:cNvPr id="18" name="Milestone-252"/>
          <p:cNvSpPr txBox="1"/>
          <p:nvPr/>
        </p:nvSpPr>
        <p:spPr>
          <a:xfrm>
            <a:off x="9258071" y="192024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Marktausbau 2027–28</a:t>
            </a:r>
            <a:endParaRPr lang="en-US" sz="1100" dirty="0"/>
          </a:p>
        </p:txBody>
      </p:sp>
      <p:sp>
        <p:nvSpPr>
          <p:cNvPr id="19" name="Lane-253"/>
          <p:cNvSpPr/>
          <p:nvPr/>
        </p:nvSpPr>
        <p:spPr>
          <a:xfrm>
            <a:off x="1920240" y="3703320"/>
            <a:ext cx="9722815" cy="0"/>
          </a:xfrm>
          <a:prstGeom prst="line">
            <a:avLst/>
          </a:prstGeom>
          <a:noFill/>
          <a:ln w="19050">
            <a:solidFill>
              <a:srgbClr val="3A2E40"/>
            </a:solidFill>
            <a:prstDash val="solid"/>
          </a:ln>
        </p:spPr>
      </p:sp>
      <p:sp>
        <p:nvSpPr>
          <p:cNvPr id="20" name="Text-254"/>
          <p:cNvSpPr txBox="1"/>
          <p:nvPr/>
        </p:nvSpPr>
        <p:spPr>
          <a:xfrm>
            <a:off x="548640" y="3474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600" dirty="0"/>
          </a:p>
        </p:txBody>
      </p:sp>
      <p:sp>
        <p:nvSpPr>
          <p:cNvPr id="21" name="Milestone-255"/>
          <p:cNvSpPr txBox="1"/>
          <p:nvPr/>
        </p:nvSpPr>
        <p:spPr>
          <a:xfrm>
            <a:off x="1965960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TR-Launch</a:t>
            </a:r>
            <a:endParaRPr lang="en-US" sz="1100" dirty="0"/>
          </a:p>
        </p:txBody>
      </p:sp>
      <p:sp>
        <p:nvSpPr>
          <p:cNvPr id="22" name="Milestone-256"/>
          <p:cNvSpPr txBox="1"/>
          <p:nvPr/>
        </p:nvSpPr>
        <p:spPr>
          <a:xfrm>
            <a:off x="3181312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Pro-Abo, DE/EN</a:t>
            </a:r>
            <a:endParaRPr lang="en-US" sz="1100" dirty="0"/>
          </a:p>
        </p:txBody>
      </p:sp>
      <p:sp>
        <p:nvSpPr>
          <p:cNvPr id="23" name="Milestone-257"/>
          <p:cNvSpPr txBox="1"/>
          <p:nvPr/>
        </p:nvSpPr>
        <p:spPr>
          <a:xfrm>
            <a:off x="4396664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Mobile-App</a:t>
            </a:r>
            <a:endParaRPr lang="en-US" sz="1100" dirty="0"/>
          </a:p>
        </p:txBody>
      </p:sp>
      <p:sp>
        <p:nvSpPr>
          <p:cNvPr id="24" name="Milestone-258"/>
          <p:cNvSpPr txBox="1"/>
          <p:nvPr/>
        </p:nvSpPr>
        <p:spPr>
          <a:xfrm>
            <a:off x="5612016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Pro+, Plattform-Pilot</a:t>
            </a:r>
            <a:endParaRPr lang="en-US" sz="1100" dirty="0"/>
          </a:p>
        </p:txBody>
      </p:sp>
      <p:sp>
        <p:nvSpPr>
          <p:cNvPr id="25" name="Milestone-259"/>
          <p:cNvSpPr txBox="1"/>
          <p:nvPr/>
        </p:nvSpPr>
        <p:spPr>
          <a:xfrm>
            <a:off x="6827368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Schullizenz</a:t>
            </a:r>
            <a:endParaRPr lang="en-US" sz="1100" dirty="0"/>
          </a:p>
        </p:txBody>
      </p:sp>
      <p:sp>
        <p:nvSpPr>
          <p:cNvPr id="26" name="Milestone-260"/>
          <p:cNvSpPr txBox="1"/>
          <p:nvPr/>
        </p:nvSpPr>
        <p:spPr>
          <a:xfrm>
            <a:off x="9258071" y="324612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Scene-SDK v1 (2028)</a:t>
            </a:r>
            <a:endParaRPr lang="en-US" sz="1100" dirty="0"/>
          </a:p>
        </p:txBody>
      </p:sp>
      <p:sp>
        <p:nvSpPr>
          <p:cNvPr id="27" name="Lane-261"/>
          <p:cNvSpPr/>
          <p:nvPr/>
        </p:nvSpPr>
        <p:spPr>
          <a:xfrm>
            <a:off x="1920240" y="5029200"/>
            <a:ext cx="9722815" cy="0"/>
          </a:xfrm>
          <a:prstGeom prst="line">
            <a:avLst/>
          </a:prstGeom>
          <a:noFill/>
          <a:ln w="19050">
            <a:solidFill>
              <a:srgbClr val="3A2E40"/>
            </a:solidFill>
            <a:prstDash val="solid"/>
          </a:ln>
        </p:spPr>
      </p:sp>
      <p:sp>
        <p:nvSpPr>
          <p:cNvPr id="28" name="Text-262"/>
          <p:cNvSpPr txBox="1"/>
          <p:nvPr/>
        </p:nvSpPr>
        <p:spPr>
          <a:xfrm>
            <a:off x="548640" y="4800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Buchreihe</a:t>
            </a:r>
            <a:endParaRPr lang="en-US" sz="1600" dirty="0"/>
          </a:p>
        </p:txBody>
      </p:sp>
      <p:sp>
        <p:nvSpPr>
          <p:cNvPr id="29" name="Milestone-263"/>
          <p:cNvSpPr txBox="1"/>
          <p:nvPr/>
        </p:nvSpPr>
        <p:spPr>
          <a:xfrm>
            <a:off x="3181312" y="457200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Hörfassungen in Aybal</a:t>
            </a:r>
            <a:endParaRPr lang="en-US" sz="1100" dirty="0"/>
          </a:p>
        </p:txBody>
      </p:sp>
      <p:sp>
        <p:nvSpPr>
          <p:cNvPr id="30" name="Milestone-264"/>
          <p:cNvSpPr txBox="1"/>
          <p:nvPr/>
        </p:nvSpPr>
        <p:spPr>
          <a:xfrm>
            <a:off x="5612016" y="457200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Verlags-Pilot in LiveFX</a:t>
            </a:r>
            <a:endParaRPr lang="en-US" sz="1100" dirty="0"/>
          </a:p>
        </p:txBody>
      </p:sp>
      <p:sp>
        <p:nvSpPr>
          <p:cNvPr id="31" name="Milestone-265"/>
          <p:cNvSpPr txBox="1"/>
          <p:nvPr/>
        </p:nvSpPr>
        <p:spPr>
          <a:xfrm>
            <a:off x="8042720" y="4572000"/>
            <a:ext cx="1123912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Teen-Ableger [Datum]</a:t>
            </a:r>
            <a:endParaRPr lang="en-US" sz="1100" dirty="0"/>
          </a:p>
        </p:txBody>
      </p:sp>
      <p:sp>
        <p:nvSpPr>
          <p:cNvPr id="32" name="Text-26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 und LiveFX laut Projektunterlagen; Buchreihe: Vorschlag – bitte bestätigen.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ANGEBOT / STRUKTUR &amp; RISIKEN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Struktur-Optionen und Risiken</a:t>
            </a:r>
            <a:endParaRPr lang="en-US" sz="3200" dirty="0"/>
          </a:p>
        </p:txBody>
      </p:sp>
      <p:sp>
        <p:nvSpPr>
          <p:cNvPr id="4" name="Text-267"/>
          <p:cNvSpPr txBox="1"/>
          <p:nvPr/>
        </p:nvSpPr>
        <p:spPr>
          <a:xfrm>
            <a:off x="548640" y="1463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– neutral, rechtliche Prüfung nötig</a:t>
            </a:r>
            <a:endParaRPr lang="en-US" sz="1500" dirty="0"/>
          </a:p>
        </p:txBody>
      </p:sp>
      <p:sp>
        <p:nvSpPr>
          <p:cNvPr id="5" name="Card-268"/>
          <p:cNvSpPr/>
          <p:nvPr/>
        </p:nvSpPr>
        <p:spPr>
          <a:xfrm>
            <a:off x="548640" y="1874520"/>
            <a:ext cx="6400800" cy="978408"/>
          </a:xfrm>
          <a:prstGeom prst="roundRect">
            <a:avLst>
              <a:gd name="adj" fmla="val 11215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6" name="Text-269"/>
          <p:cNvSpPr txBox="1"/>
          <p:nvPr/>
        </p:nvSpPr>
        <p:spPr>
          <a:xfrm>
            <a:off x="777240" y="19842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Eine Holding</a:t>
            </a:r>
            <a:endParaRPr lang="en-US" sz="1500" dirty="0"/>
          </a:p>
        </p:txBody>
      </p:sp>
      <p:sp>
        <p:nvSpPr>
          <p:cNvPr id="7" name="Text-270"/>
          <p:cNvSpPr txBox="1"/>
          <p:nvPr/>
        </p:nvSpPr>
        <p:spPr>
          <a:xfrm>
            <a:off x="777240" y="23134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Einstieg, gebündelte IP; dafür Neubewertung aller Teile und Übertragung der Aybal-Konditionen.</a:t>
            </a:r>
            <a:endParaRPr lang="en-US" sz="1200" dirty="0"/>
          </a:p>
        </p:txBody>
      </p:sp>
      <p:sp>
        <p:nvSpPr>
          <p:cNvPr id="8" name="Card-271"/>
          <p:cNvSpPr/>
          <p:nvPr/>
        </p:nvSpPr>
        <p:spPr>
          <a:xfrm>
            <a:off x="548640" y="2990088"/>
            <a:ext cx="6400800" cy="978408"/>
          </a:xfrm>
          <a:prstGeom prst="roundRect">
            <a:avLst>
              <a:gd name="adj" fmla="val 11215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Text-272"/>
          <p:cNvSpPr txBox="1"/>
          <p:nvPr/>
        </p:nvSpPr>
        <p:spPr>
          <a:xfrm>
            <a:off x="777240" y="309981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Getrennte SPVs</a:t>
            </a:r>
            <a:endParaRPr lang="en-US" sz="1500" dirty="0"/>
          </a:p>
        </p:txBody>
      </p:sp>
      <p:sp>
        <p:nvSpPr>
          <p:cNvPr id="10" name="Text-273"/>
          <p:cNvSpPr txBox="1"/>
          <p:nvPr/>
        </p:nvSpPr>
        <p:spPr>
          <a:xfrm>
            <a:off x="777240" y="3429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Bewertung und Risiko je Projekt, Aybal-Runde unverändert; dafür mehr Verträge und IP-Lizenzen.</a:t>
            </a:r>
            <a:endParaRPr lang="en-US" sz="1200" dirty="0"/>
          </a:p>
        </p:txBody>
      </p:sp>
      <p:sp>
        <p:nvSpPr>
          <p:cNvPr id="11" name="Card-274"/>
          <p:cNvSpPr/>
          <p:nvPr/>
        </p:nvSpPr>
        <p:spPr>
          <a:xfrm>
            <a:off x="548640" y="4105656"/>
            <a:ext cx="6400800" cy="978408"/>
          </a:xfrm>
          <a:prstGeom prst="roundRect">
            <a:avLst>
              <a:gd name="adj" fmla="val 11215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2" name="Text-275"/>
          <p:cNvSpPr txBox="1"/>
          <p:nvPr/>
        </p:nvSpPr>
        <p:spPr>
          <a:xfrm>
            <a:off x="777240" y="42153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Hybrid</a:t>
            </a:r>
            <a:endParaRPr lang="en-US" sz="1500" dirty="0"/>
          </a:p>
        </p:txBody>
      </p:sp>
      <p:sp>
        <p:nvSpPr>
          <p:cNvPr id="13" name="Text-276"/>
          <p:cNvSpPr txBox="1"/>
          <p:nvPr/>
        </p:nvSpPr>
        <p:spPr>
          <a:xfrm>
            <a:off x="777240" y="45445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Aybal-Runde wie geplant, LiveFX und Content in einer zweiten Gesellschaft mit Lizenzvertrag.</a:t>
            </a:r>
            <a:endParaRPr lang="en-US" sz="1200" dirty="0"/>
          </a:p>
        </p:txBody>
      </p:sp>
      <p:sp>
        <p:nvSpPr>
          <p:cNvPr id="14" name="Text-277"/>
          <p:cNvSpPr txBox="1"/>
          <p:nvPr/>
        </p:nvSpPr>
        <p:spPr>
          <a:xfrm>
            <a:off x="54864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Empfehlung – Rechts- und Steuerberatung erforderlich.</a:t>
            </a:r>
            <a:endParaRPr lang="en-US" sz="1300" dirty="0"/>
          </a:p>
        </p:txBody>
      </p:sp>
      <p:sp>
        <p:nvSpPr>
          <p:cNvPr id="15" name="Card-278"/>
          <p:cNvSpPr/>
          <p:nvPr/>
        </p:nvSpPr>
        <p:spPr>
          <a:xfrm>
            <a:off x="7315200" y="1463040"/>
            <a:ext cx="4327855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6" name="Text-279"/>
          <p:cNvSpPr txBox="1"/>
          <p:nvPr/>
        </p:nvSpPr>
        <p:spPr>
          <a:xfrm>
            <a:off x="7589520" y="164592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Wesentliche Risiken</a:t>
            </a:r>
            <a:endParaRPr lang="en-US" sz="1600" dirty="0"/>
          </a:p>
        </p:txBody>
      </p:sp>
      <p:sp>
        <p:nvSpPr>
          <p:cNvPr id="17" name="Badge-280"/>
          <p:cNvSpPr txBox="1"/>
          <p:nvPr/>
        </p:nvSpPr>
        <p:spPr>
          <a:xfrm>
            <a:off x="7589520" y="226771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18" name="Text-281"/>
          <p:cNvSpPr txBox="1"/>
          <p:nvPr/>
        </p:nvSpPr>
        <p:spPr>
          <a:xfrm>
            <a:off x="8046720" y="219456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Nachfrage und Retention unbewiesen</a:t>
            </a:r>
            <a:endParaRPr lang="en-US" sz="1400" dirty="0"/>
          </a:p>
        </p:txBody>
      </p:sp>
      <p:sp>
        <p:nvSpPr>
          <p:cNvPr id="19" name="Badge-282"/>
          <p:cNvSpPr txBox="1"/>
          <p:nvPr/>
        </p:nvSpPr>
        <p:spPr>
          <a:xfrm>
            <a:off x="7589520" y="290779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20" name="Text-283"/>
          <p:cNvSpPr txBox="1"/>
          <p:nvPr/>
        </p:nvSpPr>
        <p:spPr>
          <a:xfrm>
            <a:off x="8046720" y="283464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Schlüsselpersonen in allen Projekten</a:t>
            </a:r>
            <a:endParaRPr lang="en-US" sz="1400" dirty="0"/>
          </a:p>
        </p:txBody>
      </p:sp>
      <p:sp>
        <p:nvSpPr>
          <p:cNvPr id="21" name="Badge-284"/>
          <p:cNvSpPr txBox="1"/>
          <p:nvPr/>
        </p:nvSpPr>
        <p:spPr>
          <a:xfrm>
            <a:off x="7589520" y="354787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22" name="Text-285"/>
          <p:cNvSpPr txBox="1"/>
          <p:nvPr/>
        </p:nvSpPr>
        <p:spPr>
          <a:xfrm>
            <a:off x="8046720" y="34747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Fokus: drei Projekte, kleines Team</a:t>
            </a:r>
            <a:endParaRPr lang="en-US" sz="1400" dirty="0"/>
          </a:p>
        </p:txBody>
      </p:sp>
      <p:sp>
        <p:nvSpPr>
          <p:cNvPr id="23" name="Badge-286"/>
          <p:cNvSpPr txBox="1"/>
          <p:nvPr/>
        </p:nvSpPr>
        <p:spPr>
          <a:xfrm>
            <a:off x="7589520" y="418795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24" name="Text-287"/>
          <p:cNvSpPr txBox="1"/>
          <p:nvPr/>
        </p:nvSpPr>
        <p:spPr>
          <a:xfrm>
            <a:off x="8046720" y="411480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Stimme, Urheberrecht, Kinder-Datenschutz</a:t>
            </a:r>
            <a:endParaRPr lang="en-US" sz="1400" dirty="0"/>
          </a:p>
        </p:txBody>
      </p:sp>
      <p:sp>
        <p:nvSpPr>
          <p:cNvPr id="25" name="Badge-288"/>
          <p:cNvSpPr txBox="1"/>
          <p:nvPr/>
        </p:nvSpPr>
        <p:spPr>
          <a:xfrm>
            <a:off x="7589520" y="4828032"/>
            <a:ext cx="274320" cy="2743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000" dirty="0"/>
          </a:p>
        </p:txBody>
      </p:sp>
      <p:sp>
        <p:nvSpPr>
          <p:cNvPr id="26" name="Text-289"/>
          <p:cNvSpPr txBox="1"/>
          <p:nvPr/>
        </p:nvSpPr>
        <p:spPr>
          <a:xfrm>
            <a:off x="8046720" y="475488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Plattformabhängigkeit, Wechselkurs TRY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ABSCHLUSS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und Kontakt</a:t>
            </a:r>
            <a:endParaRPr lang="en-US" sz="3200" dirty="0"/>
          </a:p>
        </p:txBody>
      </p:sp>
      <p:sp>
        <p:nvSpPr>
          <p:cNvPr id="4" name="Card-290"/>
          <p:cNvSpPr/>
          <p:nvPr/>
        </p:nvSpPr>
        <p:spPr>
          <a:xfrm>
            <a:off x="548640" y="150876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5" name="Badge-291"/>
          <p:cNvSpPr txBox="1"/>
          <p:nvPr/>
        </p:nvSpPr>
        <p:spPr>
          <a:xfrm>
            <a:off x="777240" y="1783080"/>
            <a:ext cx="868680" cy="8686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</a:t>
            </a:r>
            <a:endParaRPr lang="en-US" sz="2100" dirty="0"/>
          </a:p>
        </p:txBody>
      </p:sp>
      <p:sp>
        <p:nvSpPr>
          <p:cNvPr id="6" name="Text-292"/>
          <p:cNvSpPr txBox="1"/>
          <p:nvPr/>
        </p:nvSpPr>
        <p:spPr>
          <a:xfrm>
            <a:off x="1828800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1800" dirty="0"/>
          </a:p>
        </p:txBody>
      </p:sp>
      <p:sp>
        <p:nvSpPr>
          <p:cNvPr id="7" name="Text-293"/>
          <p:cNvSpPr txBox="1"/>
          <p:nvPr/>
        </p:nvSpPr>
        <p:spPr>
          <a:xfrm>
            <a:off x="1828800" y="2176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Gründer &amp; Erfinder · Geschäftsführer (Aybal)</a:t>
            </a:r>
            <a:endParaRPr lang="en-US" sz="1200" dirty="0"/>
          </a:p>
        </p:txBody>
      </p:sp>
      <p:sp>
        <p:nvSpPr>
          <p:cNvPr id="8" name="Card-294"/>
          <p:cNvSpPr/>
          <p:nvPr/>
        </p:nvSpPr>
        <p:spPr>
          <a:xfrm>
            <a:off x="4334256" y="150876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9" name="Badge-295"/>
          <p:cNvSpPr txBox="1"/>
          <p:nvPr/>
        </p:nvSpPr>
        <p:spPr>
          <a:xfrm>
            <a:off x="4562856" y="1783080"/>
            <a:ext cx="868680" cy="8686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</a:t>
            </a:r>
            <a:endParaRPr lang="en-US" sz="2100" dirty="0"/>
          </a:p>
        </p:txBody>
      </p:sp>
      <p:sp>
        <p:nvSpPr>
          <p:cNvPr id="10" name="Text-296"/>
          <p:cNvSpPr txBox="1"/>
          <p:nvPr/>
        </p:nvSpPr>
        <p:spPr>
          <a:xfrm>
            <a:off x="5614416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800" dirty="0"/>
          </a:p>
        </p:txBody>
      </p:sp>
      <p:sp>
        <p:nvSpPr>
          <p:cNvPr id="11" name="Text-297"/>
          <p:cNvSpPr txBox="1"/>
          <p:nvPr/>
        </p:nvSpPr>
        <p:spPr>
          <a:xfrm>
            <a:off x="5614416" y="2176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Relations &amp; Fundraising (Aybal)</a:t>
            </a:r>
            <a:endParaRPr lang="en-US" sz="1200" dirty="0"/>
          </a:p>
        </p:txBody>
      </p:sp>
      <p:sp>
        <p:nvSpPr>
          <p:cNvPr id="12" name="Card-298"/>
          <p:cNvSpPr/>
          <p:nvPr/>
        </p:nvSpPr>
        <p:spPr>
          <a:xfrm>
            <a:off x="8119872" y="150876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3A2E40"/>
            </a:solidFill>
            <a:prstDash val="solid"/>
          </a:ln>
        </p:spPr>
      </p:sp>
      <p:sp>
        <p:nvSpPr>
          <p:cNvPr id="13" name="Badge-299"/>
          <p:cNvSpPr txBox="1"/>
          <p:nvPr/>
        </p:nvSpPr>
        <p:spPr>
          <a:xfrm>
            <a:off x="8348472" y="1783080"/>
            <a:ext cx="868680" cy="86868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100" dirty="0"/>
          </a:p>
        </p:txBody>
      </p:sp>
      <p:sp>
        <p:nvSpPr>
          <p:cNvPr id="14" name="Text-300"/>
          <p:cNvSpPr txBox="1"/>
          <p:nvPr/>
        </p:nvSpPr>
        <p:spPr>
          <a:xfrm>
            <a:off x="9400032" y="1783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800" dirty="0"/>
          </a:p>
        </p:txBody>
      </p:sp>
      <p:sp>
        <p:nvSpPr>
          <p:cNvPr id="15" name="Text-301"/>
          <p:cNvSpPr txBox="1"/>
          <p:nvPr/>
        </p:nvSpPr>
        <p:spPr>
          <a:xfrm>
            <a:off x="9400032" y="2176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Gründerin LiveFX · Autorin der Buchreihe</a:t>
            </a:r>
            <a:endParaRPr lang="en-US" sz="1200" dirty="0"/>
          </a:p>
        </p:txBody>
      </p:sp>
      <p:sp>
        <p:nvSpPr>
          <p:cNvPr id="16" name="Text-302"/>
          <p:cNvSpPr txBox="1"/>
          <p:nvPr/>
        </p:nvSpPr>
        <p:spPr>
          <a:xfrm>
            <a:off x="548640" y="3154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der Runde: technische:r Mitgründer:in &amp; Growth (Aybal), Mobile-Entwickler:in (LiveFX), Community TR/DE</a:t>
            </a:r>
            <a:endParaRPr lang="en-US" sz="1300" dirty="0"/>
          </a:p>
        </p:txBody>
      </p:sp>
      <p:sp>
        <p:nvSpPr>
          <p:cNvPr id="17" name="Wave-303"/>
          <p:cNvSpPr/>
          <p:nvPr/>
        </p:nvSpPr>
        <p:spPr>
          <a:xfrm>
            <a:off x="548640" y="4050792"/>
            <a:ext cx="73855" cy="128016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8" name="Wave-304"/>
          <p:cNvSpPr/>
          <p:nvPr/>
        </p:nvSpPr>
        <p:spPr>
          <a:xfrm>
            <a:off x="696351" y="3886949"/>
            <a:ext cx="73855" cy="45570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9" name="Wave-305"/>
          <p:cNvSpPr/>
          <p:nvPr/>
        </p:nvSpPr>
        <p:spPr>
          <a:xfrm>
            <a:off x="844062" y="3896015"/>
            <a:ext cx="73855" cy="43756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0" name="Wave-306"/>
          <p:cNvSpPr/>
          <p:nvPr/>
        </p:nvSpPr>
        <p:spPr>
          <a:xfrm>
            <a:off x="991772" y="3918630"/>
            <a:ext cx="73855" cy="39234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1" name="Wave-307"/>
          <p:cNvSpPr/>
          <p:nvPr/>
        </p:nvSpPr>
        <p:spPr>
          <a:xfrm>
            <a:off x="1139483" y="3863914"/>
            <a:ext cx="73855" cy="50177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2" name="Wave-308"/>
          <p:cNvSpPr/>
          <p:nvPr/>
        </p:nvSpPr>
        <p:spPr>
          <a:xfrm>
            <a:off x="1287194" y="3926394"/>
            <a:ext cx="73855" cy="376811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3" name="Wave-309"/>
          <p:cNvSpPr/>
          <p:nvPr/>
        </p:nvSpPr>
        <p:spPr>
          <a:xfrm>
            <a:off x="1434905" y="3975703"/>
            <a:ext cx="73855" cy="278193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4" name="Wave-310"/>
          <p:cNvSpPr/>
          <p:nvPr/>
        </p:nvSpPr>
        <p:spPr>
          <a:xfrm>
            <a:off x="1582615" y="3886291"/>
            <a:ext cx="73855" cy="45701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5" name="Wave-311"/>
          <p:cNvSpPr/>
          <p:nvPr/>
        </p:nvSpPr>
        <p:spPr>
          <a:xfrm>
            <a:off x="1730326" y="3923055"/>
            <a:ext cx="73855" cy="38349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6" name="Wave-312"/>
          <p:cNvSpPr/>
          <p:nvPr/>
        </p:nvSpPr>
        <p:spPr>
          <a:xfrm>
            <a:off x="1878037" y="3889558"/>
            <a:ext cx="73855" cy="450484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7" name="Wave-313"/>
          <p:cNvSpPr/>
          <p:nvPr/>
        </p:nvSpPr>
        <p:spPr>
          <a:xfrm>
            <a:off x="2025748" y="3853774"/>
            <a:ext cx="73855" cy="52205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8" name="Wave-314"/>
          <p:cNvSpPr/>
          <p:nvPr/>
        </p:nvSpPr>
        <p:spPr>
          <a:xfrm>
            <a:off x="2173458" y="3996882"/>
            <a:ext cx="73855" cy="235835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29" name="Wave-315"/>
          <p:cNvSpPr/>
          <p:nvPr/>
        </p:nvSpPr>
        <p:spPr>
          <a:xfrm>
            <a:off x="2321169" y="3926974"/>
            <a:ext cx="73855" cy="375652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0" name="Wave-316"/>
          <p:cNvSpPr/>
          <p:nvPr/>
        </p:nvSpPr>
        <p:spPr>
          <a:xfrm>
            <a:off x="2468880" y="3911371"/>
            <a:ext cx="73855" cy="40685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1" name="Wave-317"/>
          <p:cNvSpPr/>
          <p:nvPr/>
        </p:nvSpPr>
        <p:spPr>
          <a:xfrm>
            <a:off x="2616591" y="3923243"/>
            <a:ext cx="73855" cy="38311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2" name="Wave-318"/>
          <p:cNvSpPr/>
          <p:nvPr/>
        </p:nvSpPr>
        <p:spPr>
          <a:xfrm>
            <a:off x="2764302" y="3850647"/>
            <a:ext cx="73855" cy="528306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3" name="Wave-319"/>
          <p:cNvSpPr/>
          <p:nvPr/>
        </p:nvSpPr>
        <p:spPr>
          <a:xfrm>
            <a:off x="2912012" y="3882193"/>
            <a:ext cx="73855" cy="46521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4" name="Wave-320"/>
          <p:cNvSpPr/>
          <p:nvPr/>
        </p:nvSpPr>
        <p:spPr>
          <a:xfrm>
            <a:off x="3059723" y="4027652"/>
            <a:ext cx="73855" cy="17429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5" name="Wave-321"/>
          <p:cNvSpPr/>
          <p:nvPr/>
        </p:nvSpPr>
        <p:spPr>
          <a:xfrm>
            <a:off x="3207434" y="3916313"/>
            <a:ext cx="73855" cy="396974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6" name="Wave-322"/>
          <p:cNvSpPr/>
          <p:nvPr/>
        </p:nvSpPr>
        <p:spPr>
          <a:xfrm>
            <a:off x="3355145" y="3936143"/>
            <a:ext cx="73855" cy="35731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7" name="Wave-323"/>
          <p:cNvSpPr/>
          <p:nvPr/>
        </p:nvSpPr>
        <p:spPr>
          <a:xfrm>
            <a:off x="3502855" y="3892635"/>
            <a:ext cx="73855" cy="44432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8" name="Wave-324"/>
          <p:cNvSpPr/>
          <p:nvPr/>
        </p:nvSpPr>
        <p:spPr>
          <a:xfrm>
            <a:off x="3650566" y="3829307"/>
            <a:ext cx="73855" cy="570987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9" name="Wave-325"/>
          <p:cNvSpPr/>
          <p:nvPr/>
        </p:nvSpPr>
        <p:spPr>
          <a:xfrm>
            <a:off x="3798277" y="3945588"/>
            <a:ext cx="73855" cy="338425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0" name="Wave-326"/>
          <p:cNvSpPr/>
          <p:nvPr/>
        </p:nvSpPr>
        <p:spPr>
          <a:xfrm>
            <a:off x="3945988" y="3971666"/>
            <a:ext cx="73855" cy="286269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1" name="Wave-327"/>
          <p:cNvSpPr/>
          <p:nvPr/>
        </p:nvSpPr>
        <p:spPr>
          <a:xfrm>
            <a:off x="4093698" y="3934495"/>
            <a:ext cx="73855" cy="360610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2" name="Wave-328"/>
          <p:cNvSpPr/>
          <p:nvPr/>
        </p:nvSpPr>
        <p:spPr>
          <a:xfrm>
            <a:off x="4241409" y="3936739"/>
            <a:ext cx="73855" cy="356123"/>
          </a:xfrm>
          <a:prstGeom prst="roundRect">
            <a:avLst>
              <a:gd name="adj" fmla="val 5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3" name="Text-329"/>
          <p:cNvSpPr txBox="1"/>
          <p:nvPr/>
        </p:nvSpPr>
        <p:spPr>
          <a:xfrm>
            <a:off x="4663440" y="3703320"/>
            <a:ext cx="6979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Stimme für Familien, Klassenzimmer und Live-Streams.</a:t>
            </a:r>
            <a:endParaRPr lang="en-US" sz="2400" dirty="0"/>
          </a:p>
        </p:txBody>
      </p:sp>
      <p:sp>
        <p:nvSpPr>
          <p:cNvPr id="44" name="Card-330"/>
          <p:cNvSpPr/>
          <p:nvPr/>
        </p:nvSpPr>
        <p:spPr>
          <a:xfrm>
            <a:off x="548640" y="475488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-331"/>
          <p:cNvSpPr txBox="1"/>
          <p:nvPr/>
        </p:nvSpPr>
        <p:spPr>
          <a:xfrm>
            <a:off x="822960" y="47548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Kontakt: Gönül Demet · [E-Mail] · [Telefon]</a:t>
            </a:r>
            <a:endParaRPr lang="en-US" sz="1800" dirty="0"/>
          </a:p>
        </p:txBody>
      </p:sp>
      <p:sp>
        <p:nvSpPr>
          <p:cNvPr id="46" name="Text-332"/>
          <p:cNvSpPr txBox="1"/>
          <p:nvPr/>
        </p:nvSpPr>
        <p:spPr>
          <a:xfrm>
            <a:off x="548640" y="5669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Szenarien und zukunftsbezogene Aussagen, keine Prognosen. Eine Investition kann zum Totalverlust führen.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ine Stimme">
      <a:dk1>
        <a:srgbClr val="15111A"/>
      </a:dk1>
      <a:lt1>
        <a:srgbClr val="FFFFFF"/>
      </a:lt1>
      <a:dk2>
        <a:srgbClr val="241C2A"/>
      </a:dk2>
      <a:lt2>
        <a:srgbClr val="BDB3C4"/>
      </a:lt2>
      <a:accent1>
        <a:srgbClr val="D4B27A"/>
      </a:accent1>
      <a:accent2>
        <a:srgbClr val="FF2D75"/>
      </a:accent2>
      <a:accent3>
        <a:srgbClr val="A08FFF"/>
      </a:accent3>
      <a:accent4>
        <a:srgbClr val="2DFFB5"/>
      </a:accent4>
      <a:accent5>
        <a:srgbClr val="6E1630"/>
      </a:accent5>
      <a:accent6>
        <a:srgbClr val="FFD166"/>
      </a:accent6>
      <a:hlink>
        <a:srgbClr val="FFD166"/>
      </a:hlink>
      <a:folHlink>
        <a:srgbClr val="D4B27A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Eine Stimme, drei Produkte – Portfolio-Investment</dc:title>
  <dc:subject>Eine Stimme, drei Produkte – Portfolio-Investment</dc:subject>
  <dc:creator>Gönül Demet (Investor Relations)</dc:creator>
  <cp:lastModifiedBy>Gönül Demet (Investor Relations)</cp:lastModifiedBy>
  <cp:revision>1</cp:revision>
  <dcterms:created xsi:type="dcterms:W3CDTF">2026-10-03T13:14:01Z</dcterms:created>
  <dcterms:modified xsi:type="dcterms:W3CDTF">2026-10-03T13:14:01Z</dcterms:modified>
</cp:coreProperties>
</file>