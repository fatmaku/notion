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portunity" id="{ba2aaba6-b0cf-6a6f-1c80-ab3c40bdb27f}">
          <p14:sldIdLst>
            <p14:sldId id="256"/>
            <p14:sldId id="257"/>
            <p14:sldId id="258"/>
          </p14:sldIdLst>
        </p14:section>
        <p14:section name="Product &amp; vision" id="{02c6203f-26d0-1470-958b-1adf2b72be04}">
          <p14:sldIdLst>
            <p14:sldId id="259"/>
            <p14:sldId id="260"/>
            <p14:sldId id="261"/>
          </p14:sldIdLst>
        </p14:section>
        <p14:section name="Market &amp; model" id="{91bda91c-3c84-f1f2-a8e9-936f4518b46d}">
          <p14:sldIdLst>
            <p14:sldId id="262"/>
            <p14:sldId id="263"/>
            <p14:sldId id="264"/>
          </p14:sldIdLst>
        </p14:section>
        <p14:section name="Plan &amp; round" id="{ba1cb2fa-93cf-8a46-d343-6d46aa4dd18c}">
          <p14:sldIdLst>
            <p14:sldId id="265"/>
            <p14:sldId id="266"/>
            <p14:sldId id="267"/>
            <p14:sldId id="268"/>
            <p14:sldId id="269"/>
          </p14:sldIdLst>
        </p14:section>
        <p14:section name="Team" id="{0a4884fc-a8f3-913b-4ad5-ed8ba8fb2db8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€250k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2D75"/>
              </a:solidFill>
              <a:ln w="25400" cap="flat">
                <a:solidFill>
                  <a:srgbClr val="0F1115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DFFB5"/>
              </a:solidFill>
              <a:ln w="25400" cap="flat">
                <a:solidFill>
                  <a:srgbClr val="0F1115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FD166"/>
              </a:solidFill>
              <a:ln w="25400" cap="flat">
                <a:solidFill>
                  <a:srgbClr val="0F1115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6CC4FF"/>
              </a:solidFill>
              <a:ln w="25400" cap="flat">
                <a:solidFill>
                  <a:srgbClr val="0F1115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A6070"/>
              </a:solidFill>
              <a:ln w="25400" cap="flat">
                <a:solidFill>
                  <a:srgbClr val="0F1115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Team/product</c:v>
                </c:pt>
                <c:pt idx="1">
                  <c:v>Go-to-market</c:v>
                </c:pt>
                <c:pt idx="2">
                  <c:v>WordPicture (vision B)</c:v>
                </c:pt>
                <c:pt idx="3">
                  <c:v>Legal, trademark, privacy</c:v>
                </c:pt>
                <c:pt idx="4">
                  <c:v>Reserve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50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9B0B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A9B0BD"/>
                </a:solidFill>
                <a:latin typeface="+mn-lt"/>
              </a:rPr>
              <a:t>5-year P&amp;L, base case, €k (estimate)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DF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 2027</c:v>
                  </c:pt>
                  <c:pt idx="1">
                    <c:v>Y2 2028</c:v>
                  </c:pt>
                  <c:pt idx="2">
                    <c:v>Y3 2029</c:v>
                  </c:pt>
                  <c:pt idx="3">
                    <c:v>Y4 2030</c:v>
                  </c:pt>
                  <c:pt idx="4">
                    <c:v>Y5 2031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</c:v>
                </c:pt>
                <c:pt idx="1">
                  <c:v>336</c:v>
                </c:pt>
                <c:pt idx="2">
                  <c:v>1038</c:v>
                </c:pt>
                <c:pt idx="3">
                  <c:v>1984</c:v>
                </c:pt>
                <c:pt idx="4">
                  <c:v>3152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spPr>
            <a:solidFill>
              <a:srgbClr val="5A60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 2027</c:v>
                  </c:pt>
                  <c:pt idx="1">
                    <c:v>Y2 2028</c:v>
                  </c:pt>
                  <c:pt idx="2">
                    <c:v>Y3 2029</c:v>
                  </c:pt>
                  <c:pt idx="3">
                    <c:v>Y4 2030</c:v>
                  </c:pt>
                  <c:pt idx="4">
                    <c:v>Y5 2031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166</c:v>
                </c:pt>
                <c:pt idx="1">
                  <c:v>295</c:v>
                </c:pt>
                <c:pt idx="2">
                  <c:v>710</c:v>
                </c:pt>
                <c:pt idx="3">
                  <c:v>1065</c:v>
                </c:pt>
                <c:pt idx="4">
                  <c:v>1491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FF2D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 2027</c:v>
                  </c:pt>
                  <c:pt idx="1">
                    <c:v>Y2 2028</c:v>
                  </c:pt>
                  <c:pt idx="2">
                    <c:v>Y3 2029</c:v>
                  </c:pt>
                  <c:pt idx="3">
                    <c:v>Y4 2030</c:v>
                  </c:pt>
                  <c:pt idx="4">
                    <c:v>Y5 2031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-116</c:v>
                </c:pt>
                <c:pt idx="1">
                  <c:v>41</c:v>
                </c:pt>
                <c:pt idx="2">
                  <c:v>328</c:v>
                </c:pt>
                <c:pt idx="3">
                  <c:v>919</c:v>
                </c:pt>
                <c:pt idx="4">
                  <c:v>1661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A9B0B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LiveFX: Live streams that listen – The creator's voice becomes a meme, a sound and a scene in under a second – and tomorrow, a picture for everything spoken.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€250,000 takes LiveFX to market in 18 months and WordPicture from prototype to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FX_TITLE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bg2"/>
                </a:solidFill>
              </a:rPr>
              <a:t>CONFIDENTIAL  ·  PRE-SEED  ·  OCTOBER 2026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97280"/>
            <a:ext cx="576072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FX_CONTENT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bg2"/>
                </a:solidFill>
              </a:rPr>
              <a:t>CONFIDENTIAL  ·  PRE-SEED  ·  OCTOBER 2026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548640" y="640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INVESTMENT OPPORTUNITY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9728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LiveFX: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streams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listen</a:t>
            </a:r>
            <a:endParaRPr lang="en-US" sz="4800" dirty="0"/>
          </a:p>
        </p:txBody>
      </p:sp>
      <p:sp>
        <p:nvSpPr>
          <p:cNvPr id="4" name="Text-2"/>
          <p:cNvSpPr txBox="1"/>
          <p:nvPr/>
        </p:nvSpPr>
        <p:spPr>
          <a:xfrm>
            <a:off x="548640" y="3566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creator's voice becomes a meme, a sound and a scene in under a second – and tomorrow, a picture for everything spoken.</a:t>
            </a:r>
            <a:endParaRPr lang="en-US" sz="1500" dirty="0"/>
          </a:p>
        </p:txBody>
      </p:sp>
      <p:sp>
        <p:nvSpPr>
          <p:cNvPr id="5" name="Wave-3"/>
          <p:cNvSpPr/>
          <p:nvPr/>
        </p:nvSpPr>
        <p:spPr>
          <a:xfrm>
            <a:off x="548640" y="4535424"/>
            <a:ext cx="76200" cy="73152"/>
          </a:xfrm>
          <a:prstGeom prst="roundRect">
            <a:avLst>
              <a:gd name="adj" fmla="val 52083"/>
            </a:avLst>
          </a:prstGeom>
          <a:solidFill>
            <a:schemeClr val="accent1"/>
          </a:solidFill>
          <a:ln/>
        </p:spPr>
      </p:sp>
      <p:sp>
        <p:nvSpPr>
          <p:cNvPr id="6" name="Wave-4"/>
          <p:cNvSpPr/>
          <p:nvPr/>
        </p:nvSpPr>
        <p:spPr>
          <a:xfrm>
            <a:off x="701040" y="4441799"/>
            <a:ext cx="76200" cy="2604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Wave-5"/>
          <p:cNvSpPr/>
          <p:nvPr/>
        </p:nvSpPr>
        <p:spPr>
          <a:xfrm>
            <a:off x="853440" y="4446980"/>
            <a:ext cx="76200" cy="25003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Wave-6"/>
          <p:cNvSpPr/>
          <p:nvPr/>
        </p:nvSpPr>
        <p:spPr>
          <a:xfrm>
            <a:off x="1005840" y="4459903"/>
            <a:ext cx="76200" cy="22419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Wave-7"/>
          <p:cNvSpPr/>
          <p:nvPr/>
        </p:nvSpPr>
        <p:spPr>
          <a:xfrm>
            <a:off x="1158240" y="4428637"/>
            <a:ext cx="76200" cy="28672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Wave-8"/>
          <p:cNvSpPr/>
          <p:nvPr/>
        </p:nvSpPr>
        <p:spPr>
          <a:xfrm>
            <a:off x="1310640" y="4464340"/>
            <a:ext cx="76200" cy="2153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Wave-9"/>
          <p:cNvSpPr/>
          <p:nvPr/>
        </p:nvSpPr>
        <p:spPr>
          <a:xfrm>
            <a:off x="1463040" y="4492516"/>
            <a:ext cx="76200" cy="15896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Wave-10"/>
          <p:cNvSpPr/>
          <p:nvPr/>
        </p:nvSpPr>
        <p:spPr>
          <a:xfrm>
            <a:off x="1615440" y="4441423"/>
            <a:ext cx="76200" cy="26115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Wave-11"/>
          <p:cNvSpPr/>
          <p:nvPr/>
        </p:nvSpPr>
        <p:spPr>
          <a:xfrm>
            <a:off x="1767840" y="4462431"/>
            <a:ext cx="76200" cy="21913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Wave-12"/>
          <p:cNvSpPr/>
          <p:nvPr/>
        </p:nvSpPr>
        <p:spPr>
          <a:xfrm>
            <a:off x="1920240" y="4443290"/>
            <a:ext cx="76200" cy="2574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Wave-13"/>
          <p:cNvSpPr/>
          <p:nvPr/>
        </p:nvSpPr>
        <p:spPr>
          <a:xfrm>
            <a:off x="2072640" y="4422842"/>
            <a:ext cx="76200" cy="2983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Wave-14"/>
          <p:cNvSpPr/>
          <p:nvPr/>
        </p:nvSpPr>
        <p:spPr>
          <a:xfrm>
            <a:off x="2225040" y="4504619"/>
            <a:ext cx="76200" cy="13476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Wave-15"/>
          <p:cNvSpPr/>
          <p:nvPr/>
        </p:nvSpPr>
        <p:spPr>
          <a:xfrm>
            <a:off x="2377440" y="4464671"/>
            <a:ext cx="76200" cy="21465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8" name="Wave-16"/>
          <p:cNvSpPr/>
          <p:nvPr/>
        </p:nvSpPr>
        <p:spPr>
          <a:xfrm>
            <a:off x="2529840" y="4455755"/>
            <a:ext cx="76200" cy="2324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" name="Wave-17"/>
          <p:cNvSpPr/>
          <p:nvPr/>
        </p:nvSpPr>
        <p:spPr>
          <a:xfrm>
            <a:off x="2682240" y="4462539"/>
            <a:ext cx="76200" cy="2189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Wave-18"/>
          <p:cNvSpPr/>
          <p:nvPr/>
        </p:nvSpPr>
        <p:spPr>
          <a:xfrm>
            <a:off x="2834640" y="4421056"/>
            <a:ext cx="76200" cy="30188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Wave-19"/>
          <p:cNvSpPr/>
          <p:nvPr/>
        </p:nvSpPr>
        <p:spPr>
          <a:xfrm>
            <a:off x="2987040" y="4439082"/>
            <a:ext cx="76200" cy="2658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Wave-20"/>
          <p:cNvSpPr/>
          <p:nvPr/>
        </p:nvSpPr>
        <p:spPr>
          <a:xfrm>
            <a:off x="3139440" y="4522201"/>
            <a:ext cx="76200" cy="9959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Wave-21"/>
          <p:cNvSpPr/>
          <p:nvPr/>
        </p:nvSpPr>
        <p:spPr>
          <a:xfrm>
            <a:off x="3291840" y="4458579"/>
            <a:ext cx="76200" cy="22684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4" name="Wave-22"/>
          <p:cNvSpPr/>
          <p:nvPr/>
        </p:nvSpPr>
        <p:spPr>
          <a:xfrm>
            <a:off x="3444240" y="4469911"/>
            <a:ext cx="76200" cy="20417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5" name="Wave-23"/>
          <p:cNvSpPr/>
          <p:nvPr/>
        </p:nvSpPr>
        <p:spPr>
          <a:xfrm>
            <a:off x="3596640" y="4445049"/>
            <a:ext cx="76200" cy="25390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6" name="Wave-24"/>
          <p:cNvSpPr/>
          <p:nvPr/>
        </p:nvSpPr>
        <p:spPr>
          <a:xfrm>
            <a:off x="3749040" y="4408861"/>
            <a:ext cx="76200" cy="32627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7" name="Wave-25"/>
          <p:cNvSpPr/>
          <p:nvPr/>
        </p:nvSpPr>
        <p:spPr>
          <a:xfrm>
            <a:off x="3901440" y="4475307"/>
            <a:ext cx="76200" cy="1933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8" name="Wave-26"/>
          <p:cNvSpPr/>
          <p:nvPr/>
        </p:nvSpPr>
        <p:spPr>
          <a:xfrm>
            <a:off x="4053840" y="4490209"/>
            <a:ext cx="76200" cy="16358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9" name="Wave-27"/>
          <p:cNvSpPr/>
          <p:nvPr/>
        </p:nvSpPr>
        <p:spPr>
          <a:xfrm>
            <a:off x="4206240" y="4468969"/>
            <a:ext cx="76200" cy="20606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0" name="Wave-28"/>
          <p:cNvSpPr/>
          <p:nvPr/>
        </p:nvSpPr>
        <p:spPr>
          <a:xfrm>
            <a:off x="4358640" y="4470251"/>
            <a:ext cx="76200" cy="2034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1" name="Wave-29"/>
          <p:cNvSpPr/>
          <p:nvPr/>
        </p:nvSpPr>
        <p:spPr>
          <a:xfrm>
            <a:off x="4511040" y="4419248"/>
            <a:ext cx="76200" cy="30550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2" name="Wave-30"/>
          <p:cNvSpPr/>
          <p:nvPr/>
        </p:nvSpPr>
        <p:spPr>
          <a:xfrm>
            <a:off x="4663440" y="4418016"/>
            <a:ext cx="76200" cy="30796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3" name="Wave-31"/>
          <p:cNvSpPr/>
          <p:nvPr/>
        </p:nvSpPr>
        <p:spPr>
          <a:xfrm>
            <a:off x="4815840" y="4518927"/>
            <a:ext cx="76200" cy="10614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4" name="Wave-32"/>
          <p:cNvSpPr/>
          <p:nvPr/>
        </p:nvSpPr>
        <p:spPr>
          <a:xfrm>
            <a:off x="4968240" y="4479047"/>
            <a:ext cx="76200" cy="18590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5" name="Wave-33"/>
          <p:cNvSpPr/>
          <p:nvPr/>
        </p:nvSpPr>
        <p:spPr>
          <a:xfrm>
            <a:off x="5120640" y="4481836"/>
            <a:ext cx="76200" cy="18032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6" name="Wave-34"/>
          <p:cNvSpPr/>
          <p:nvPr/>
        </p:nvSpPr>
        <p:spPr>
          <a:xfrm>
            <a:off x="5273040" y="4452315"/>
            <a:ext cx="76200" cy="23937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7" name="Wave-35"/>
          <p:cNvSpPr/>
          <p:nvPr/>
        </p:nvSpPr>
        <p:spPr>
          <a:xfrm>
            <a:off x="5425440" y="4400672"/>
            <a:ext cx="76200" cy="3426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8" name="Wave-36"/>
          <p:cNvSpPr/>
          <p:nvPr/>
        </p:nvSpPr>
        <p:spPr>
          <a:xfrm>
            <a:off x="5577840" y="4448907"/>
            <a:ext cx="76200" cy="2461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9" name="Wave-37"/>
          <p:cNvSpPr/>
          <p:nvPr/>
        </p:nvSpPr>
        <p:spPr>
          <a:xfrm>
            <a:off x="5730240" y="4517048"/>
            <a:ext cx="76200" cy="1099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0" name="Wave-38"/>
          <p:cNvSpPr/>
          <p:nvPr/>
        </p:nvSpPr>
        <p:spPr>
          <a:xfrm>
            <a:off x="5882640" y="4485732"/>
            <a:ext cx="76200" cy="1725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1" name="Card-39"/>
          <p:cNvSpPr/>
          <p:nvPr/>
        </p:nvSpPr>
        <p:spPr>
          <a:xfrm>
            <a:off x="548640" y="4937760"/>
            <a:ext cx="283464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42" name="Text-40"/>
          <p:cNvSpPr txBox="1"/>
          <p:nvPr/>
        </p:nvSpPr>
        <p:spPr>
          <a:xfrm>
            <a:off x="777240" y="50474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ROUND</a:t>
            </a:r>
            <a:endParaRPr lang="en-US" sz="1000" dirty="0"/>
          </a:p>
        </p:txBody>
      </p:sp>
      <p:sp>
        <p:nvSpPr>
          <p:cNvPr id="43" name="Text-41"/>
          <p:cNvSpPr txBox="1"/>
          <p:nvPr/>
        </p:nvSpPr>
        <p:spPr>
          <a:xfrm>
            <a:off x="777240" y="5303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€250,000</a:t>
            </a:r>
            <a:endParaRPr lang="en-US" sz="3000" dirty="0"/>
          </a:p>
        </p:txBody>
      </p:sp>
      <p:sp>
        <p:nvSpPr>
          <p:cNvPr id="44" name="Text-42"/>
          <p:cNvSpPr txBox="1"/>
          <p:nvPr/>
        </p:nvSpPr>
        <p:spPr>
          <a:xfrm>
            <a:off x="777240" y="5760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months · runway 18 months even without revenue</a:t>
            </a:r>
            <a:endParaRPr lang="en-US" sz="1000" dirty="0"/>
          </a:p>
        </p:txBody>
      </p:sp>
      <p:sp>
        <p:nvSpPr>
          <p:cNvPr id="45" name="Text-43"/>
          <p:cNvSpPr txBox="1"/>
          <p:nvPr/>
        </p:nvSpPr>
        <p:spPr>
          <a:xfrm>
            <a:off x="3657600" y="4983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INVENTOR</a:t>
            </a:r>
            <a:endParaRPr lang="en-US" sz="900" dirty="0"/>
          </a:p>
        </p:txBody>
      </p:sp>
      <p:sp>
        <p:nvSpPr>
          <p:cNvPr id="46" name="Text-44"/>
          <p:cNvSpPr txBox="1"/>
          <p:nvPr/>
        </p:nvSpPr>
        <p:spPr>
          <a:xfrm>
            <a:off x="3657600" y="51846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Tuncay Sancak</a:t>
            </a:r>
            <a:endParaRPr lang="en-US" sz="1800" dirty="0"/>
          </a:p>
        </p:txBody>
      </p:sp>
      <p:sp>
        <p:nvSpPr>
          <p:cNvPr id="47" name="Text-45"/>
          <p:cNvSpPr txBox="1"/>
          <p:nvPr/>
        </p:nvSpPr>
        <p:spPr>
          <a:xfrm>
            <a:off x="3657600" y="5623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RELATIONS</a:t>
            </a:r>
            <a:endParaRPr lang="en-US" sz="900" dirty="0"/>
          </a:p>
        </p:txBody>
      </p:sp>
      <p:sp>
        <p:nvSpPr>
          <p:cNvPr id="48" name="Text-46"/>
          <p:cNvSpPr txBox="1"/>
          <p:nvPr/>
        </p:nvSpPr>
        <p:spPr>
          <a:xfrm>
            <a:off x="3657600" y="58247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Gönül Demet</a:t>
            </a:r>
            <a:endParaRPr lang="en-US" sz="1800" dirty="0"/>
          </a:p>
        </p:txBody>
      </p:sp>
      <p:pic>
        <p:nvPicPr>
          <p:cNvPr id="49" name="Image-47" descr="/home/user/Notion/live-fx/business/video/assets/overlay-card.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548640"/>
            <a:ext cx="5056632" cy="2843784"/>
          </a:xfrm>
          <a:prstGeom prst="rect">
            <a:avLst/>
          </a:prstGeom>
        </p:spPr>
      </p:pic>
      <p:pic>
        <p:nvPicPr>
          <p:cNvPr id="50" name="Image-48" descr="/home/user/Notion/live-fx/business/video/stills/vision-en-16x9-8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3566160"/>
            <a:ext cx="5056632" cy="2843784"/>
          </a:xfrm>
          <a:prstGeom prst="rect">
            <a:avLst/>
          </a:prstGeom>
        </p:spPr>
      </p:pic>
      <p:sp>
        <p:nvSpPr>
          <p:cNvPr id="51" name="Pill-49"/>
          <p:cNvSpPr txBox="1"/>
          <p:nvPr/>
        </p:nvSpPr>
        <p:spPr>
          <a:xfrm>
            <a:off x="6766560" y="73152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 2.1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INVESTMENT THESIS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 bet on voice as the live trigger</a:t>
            </a:r>
            <a:endParaRPr lang="en-US" sz="3200" dirty="0"/>
          </a:p>
        </p:txBody>
      </p:sp>
      <p:sp>
        <p:nvSpPr>
          <p:cNvPr id="4" name="Card-50"/>
          <p:cNvSpPr/>
          <p:nvPr/>
        </p:nvSpPr>
        <p:spPr>
          <a:xfrm>
            <a:off x="548640" y="1600200"/>
            <a:ext cx="2036003" cy="3383280"/>
          </a:xfrm>
          <a:prstGeom prst="roundRect">
            <a:avLst>
              <a:gd name="adj" fmla="val 5389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Text-51"/>
          <p:cNvSpPr txBox="1"/>
          <p:nvPr/>
        </p:nvSpPr>
        <p:spPr>
          <a:xfrm>
            <a:off x="77724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-52"/>
          <p:cNvSpPr txBox="1"/>
          <p:nvPr/>
        </p:nvSpPr>
        <p:spPr>
          <a:xfrm>
            <a:off x="777240" y="242316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&amp; tested</a:t>
            </a:r>
            <a:endParaRPr lang="en-US" sz="1800" dirty="0"/>
          </a:p>
        </p:txBody>
      </p:sp>
      <p:sp>
        <p:nvSpPr>
          <p:cNvPr id="7" name="Text-53"/>
          <p:cNvSpPr txBox="1"/>
          <p:nvPr/>
        </p:nvSpPr>
        <p:spPr>
          <a:xfrm>
            <a:off x="777240" y="32004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2.1 runs: 238 triggers, 143 free stickers, 575+ automated tests.</a:t>
            </a:r>
            <a:endParaRPr lang="en-US" sz="1300" dirty="0"/>
          </a:p>
        </p:txBody>
      </p:sp>
      <p:sp>
        <p:nvSpPr>
          <p:cNvPr id="8" name="Card-54"/>
          <p:cNvSpPr/>
          <p:nvPr/>
        </p:nvSpPr>
        <p:spPr>
          <a:xfrm>
            <a:off x="2813243" y="1600200"/>
            <a:ext cx="2036003" cy="3383280"/>
          </a:xfrm>
          <a:prstGeom prst="roundRect">
            <a:avLst>
              <a:gd name="adj" fmla="val 5389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9" name="Text-55"/>
          <p:cNvSpPr txBox="1"/>
          <p:nvPr/>
        </p:nvSpPr>
        <p:spPr>
          <a:xfrm>
            <a:off x="3041843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-56"/>
          <p:cNvSpPr txBox="1"/>
          <p:nvPr/>
        </p:nvSpPr>
        <p:spPr>
          <a:xfrm>
            <a:off x="3041843" y="242316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empty gap</a:t>
            </a:r>
            <a:endParaRPr lang="en-US" sz="1800" dirty="0"/>
          </a:p>
        </p:txBody>
      </p:sp>
      <p:sp>
        <p:nvSpPr>
          <p:cNvPr id="11" name="Text-57"/>
          <p:cNvSpPr txBox="1"/>
          <p:nvPr/>
        </p:nvSpPr>
        <p:spPr>
          <a:xfrm>
            <a:off x="3041843" y="32004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widely used tool reacts to what the creator says.</a:t>
            </a:r>
            <a:endParaRPr lang="en-US" sz="1300" dirty="0"/>
          </a:p>
        </p:txBody>
      </p:sp>
      <p:sp>
        <p:nvSpPr>
          <p:cNvPr id="12" name="Card-58"/>
          <p:cNvSpPr/>
          <p:nvPr/>
        </p:nvSpPr>
        <p:spPr>
          <a:xfrm>
            <a:off x="5077846" y="1600200"/>
            <a:ext cx="2036003" cy="3383280"/>
          </a:xfrm>
          <a:prstGeom prst="roundRect">
            <a:avLst>
              <a:gd name="adj" fmla="val 5389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3" name="Text-59"/>
          <p:cNvSpPr txBox="1"/>
          <p:nvPr/>
        </p:nvSpPr>
        <p:spPr>
          <a:xfrm>
            <a:off x="5306446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-60"/>
          <p:cNvSpPr txBox="1"/>
          <p:nvPr/>
        </p:nvSpPr>
        <p:spPr>
          <a:xfrm>
            <a:off x="5306446" y="242316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in the stream</a:t>
            </a:r>
            <a:endParaRPr lang="en-US" sz="1800" dirty="0"/>
          </a:p>
        </p:txBody>
      </p:sp>
      <p:sp>
        <p:nvSpPr>
          <p:cNvPr id="15" name="Text-61"/>
          <p:cNvSpPr txBox="1"/>
          <p:nvPr/>
        </p:nvSpPr>
        <p:spPr>
          <a:xfrm>
            <a:off x="5306446" y="32004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Gifts ≈ 50% of streamer income [Source 5, 6].</a:t>
            </a:r>
            <a:endParaRPr lang="en-US" sz="1300" dirty="0"/>
          </a:p>
        </p:txBody>
      </p:sp>
      <p:sp>
        <p:nvSpPr>
          <p:cNvPr id="16" name="Card-62"/>
          <p:cNvSpPr/>
          <p:nvPr/>
        </p:nvSpPr>
        <p:spPr>
          <a:xfrm>
            <a:off x="7342449" y="1600200"/>
            <a:ext cx="2036003" cy="3383280"/>
          </a:xfrm>
          <a:prstGeom prst="roundRect">
            <a:avLst>
              <a:gd name="adj" fmla="val 5389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7" name="Text-63"/>
          <p:cNvSpPr txBox="1"/>
          <p:nvPr/>
        </p:nvSpPr>
        <p:spPr>
          <a:xfrm>
            <a:off x="7571049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-64"/>
          <p:cNvSpPr txBox="1"/>
          <p:nvPr/>
        </p:nvSpPr>
        <p:spPr>
          <a:xfrm>
            <a:off x="7571049" y="242316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Draw, don't compute</a:t>
            </a:r>
            <a:endParaRPr lang="en-US" sz="1800" dirty="0"/>
          </a:p>
        </p:txBody>
      </p:sp>
      <p:sp>
        <p:nvSpPr>
          <p:cNvPr id="19" name="Text-65"/>
          <p:cNvSpPr txBox="1"/>
          <p:nvPr/>
        </p:nvSpPr>
        <p:spPr>
          <a:xfrm>
            <a:off x="7571049" y="32004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Scenes in the browser: 240 to 10,000+ times cheaper than video AI.</a:t>
            </a:r>
            <a:endParaRPr lang="en-US" sz="1300" dirty="0"/>
          </a:p>
        </p:txBody>
      </p:sp>
      <p:sp>
        <p:nvSpPr>
          <p:cNvPr id="20" name="Card-66"/>
          <p:cNvSpPr/>
          <p:nvPr/>
        </p:nvSpPr>
        <p:spPr>
          <a:xfrm>
            <a:off x="9607052" y="1600200"/>
            <a:ext cx="2036003" cy="3383280"/>
          </a:xfrm>
          <a:prstGeom prst="roundRect">
            <a:avLst>
              <a:gd name="adj" fmla="val 5389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1" name="Text-67"/>
          <p:cNvSpPr txBox="1"/>
          <p:nvPr/>
        </p:nvSpPr>
        <p:spPr>
          <a:xfrm>
            <a:off x="9835652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-68"/>
          <p:cNvSpPr txBox="1"/>
          <p:nvPr/>
        </p:nvSpPr>
        <p:spPr>
          <a:xfrm>
            <a:off x="9835652" y="242316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four lines</a:t>
            </a:r>
            <a:endParaRPr lang="en-US" sz="1800" dirty="0"/>
          </a:p>
        </p:txBody>
      </p:sp>
      <p:sp>
        <p:nvSpPr>
          <p:cNvPr id="23" name="Text-69"/>
          <p:cNvSpPr txBox="1"/>
          <p:nvPr/>
        </p:nvSpPr>
        <p:spPr>
          <a:xfrm>
            <a:off x="9835652" y="32004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WordPicture first; Story Film, Studio and Spaces in the follow-on round.</a:t>
            </a:r>
            <a:endParaRPr lang="en-US" sz="1300" dirty="0"/>
          </a:p>
        </p:txBody>
      </p:sp>
      <p:sp>
        <p:nvSpPr>
          <p:cNvPr id="24" name="Text-70"/>
          <p:cNvSpPr txBox="1"/>
          <p:nvPr/>
        </p:nvSpPr>
        <p:spPr>
          <a:xfrm>
            <a:off x="548640" y="5303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€250,000 takes LiveFX to market in 18 months and WordPicture from prototype to product.</a:t>
            </a:r>
            <a:endParaRPr lang="en-US" sz="1800" dirty="0"/>
          </a:p>
        </p:txBody>
      </p:sp>
      <p:sp>
        <p:nvSpPr>
          <p:cNvPr id="25" name="Wave-71"/>
          <p:cNvSpPr/>
          <p:nvPr/>
        </p:nvSpPr>
        <p:spPr>
          <a:xfrm>
            <a:off x="8778240" y="5550408"/>
            <a:ext cx="65047" cy="1005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Wave-72"/>
          <p:cNvSpPr/>
          <p:nvPr/>
        </p:nvSpPr>
        <p:spPr>
          <a:xfrm>
            <a:off x="8908334" y="5421674"/>
            <a:ext cx="65047" cy="3580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7" name="Wave-73"/>
          <p:cNvSpPr/>
          <p:nvPr/>
        </p:nvSpPr>
        <p:spPr>
          <a:xfrm>
            <a:off x="9038428" y="5428798"/>
            <a:ext cx="65047" cy="3438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Wave-74"/>
          <p:cNvSpPr/>
          <p:nvPr/>
        </p:nvSpPr>
        <p:spPr>
          <a:xfrm>
            <a:off x="9168523" y="5446566"/>
            <a:ext cx="65047" cy="30826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9" name="Wave-75"/>
          <p:cNvSpPr/>
          <p:nvPr/>
        </p:nvSpPr>
        <p:spPr>
          <a:xfrm>
            <a:off x="9298617" y="5403575"/>
            <a:ext cx="65047" cy="39424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0" name="Wave-76"/>
          <p:cNvSpPr/>
          <p:nvPr/>
        </p:nvSpPr>
        <p:spPr>
          <a:xfrm>
            <a:off x="9428711" y="5452667"/>
            <a:ext cx="65047" cy="29606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1" name="Wave-77"/>
          <p:cNvSpPr/>
          <p:nvPr/>
        </p:nvSpPr>
        <p:spPr>
          <a:xfrm>
            <a:off x="9558805" y="5491410"/>
            <a:ext cx="65047" cy="2185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2" name="Wave-78"/>
          <p:cNvSpPr/>
          <p:nvPr/>
        </p:nvSpPr>
        <p:spPr>
          <a:xfrm>
            <a:off x="9688899" y="5421157"/>
            <a:ext cx="65047" cy="35908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3" name="Wave-79"/>
          <p:cNvSpPr/>
          <p:nvPr/>
        </p:nvSpPr>
        <p:spPr>
          <a:xfrm>
            <a:off x="9818993" y="5450043"/>
            <a:ext cx="65047" cy="30131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4" name="Wave-80"/>
          <p:cNvSpPr/>
          <p:nvPr/>
        </p:nvSpPr>
        <p:spPr>
          <a:xfrm>
            <a:off x="9949088" y="5423724"/>
            <a:ext cx="65047" cy="3539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5" name="Wave-81"/>
          <p:cNvSpPr/>
          <p:nvPr/>
        </p:nvSpPr>
        <p:spPr>
          <a:xfrm>
            <a:off x="10079182" y="5395608"/>
            <a:ext cx="65047" cy="4101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6" name="Wave-82"/>
          <p:cNvSpPr/>
          <p:nvPr/>
        </p:nvSpPr>
        <p:spPr>
          <a:xfrm>
            <a:off x="10209276" y="5508050"/>
            <a:ext cx="65047" cy="1852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7" name="Wave-83"/>
          <p:cNvSpPr/>
          <p:nvPr/>
        </p:nvSpPr>
        <p:spPr>
          <a:xfrm>
            <a:off x="10339370" y="5453122"/>
            <a:ext cx="65047" cy="29515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8" name="Wave-84"/>
          <p:cNvSpPr/>
          <p:nvPr/>
        </p:nvSpPr>
        <p:spPr>
          <a:xfrm>
            <a:off x="10469464" y="5440863"/>
            <a:ext cx="65047" cy="31967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9" name="Wave-85"/>
          <p:cNvSpPr/>
          <p:nvPr/>
        </p:nvSpPr>
        <p:spPr>
          <a:xfrm>
            <a:off x="10599559" y="5450191"/>
            <a:ext cx="65047" cy="30101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0" name="Wave-86"/>
          <p:cNvSpPr/>
          <p:nvPr/>
        </p:nvSpPr>
        <p:spPr>
          <a:xfrm>
            <a:off x="10729653" y="5393151"/>
            <a:ext cx="65047" cy="41509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1" name="Wave-87"/>
          <p:cNvSpPr/>
          <p:nvPr/>
        </p:nvSpPr>
        <p:spPr>
          <a:xfrm>
            <a:off x="10859747" y="5417938"/>
            <a:ext cx="65047" cy="3655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2" name="Wave-88"/>
          <p:cNvSpPr/>
          <p:nvPr/>
        </p:nvSpPr>
        <p:spPr>
          <a:xfrm>
            <a:off x="10989841" y="5532227"/>
            <a:ext cx="65047" cy="13694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3" name="Wave-89"/>
          <p:cNvSpPr/>
          <p:nvPr/>
        </p:nvSpPr>
        <p:spPr>
          <a:xfrm>
            <a:off x="11119935" y="5444746"/>
            <a:ext cx="65047" cy="3119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4" name="Wave-90"/>
          <p:cNvSpPr/>
          <p:nvPr/>
        </p:nvSpPr>
        <p:spPr>
          <a:xfrm>
            <a:off x="11250029" y="5460327"/>
            <a:ext cx="65047" cy="28074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5" name="Wave-91"/>
          <p:cNvSpPr/>
          <p:nvPr/>
        </p:nvSpPr>
        <p:spPr>
          <a:xfrm>
            <a:off x="11380124" y="5426142"/>
            <a:ext cx="65047" cy="34911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6" name="Wave-92"/>
          <p:cNvSpPr/>
          <p:nvPr/>
        </p:nvSpPr>
        <p:spPr>
          <a:xfrm>
            <a:off x="11510218" y="5376384"/>
            <a:ext cx="65047" cy="4486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THE MARKET GAP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videos get edited. Live stays raw</a:t>
            </a:r>
            <a:endParaRPr lang="en-US" sz="3200" dirty="0"/>
          </a:p>
        </p:txBody>
      </p:sp>
      <p:sp>
        <p:nvSpPr>
          <p:cNvPr id="4" name="Text-93"/>
          <p:cNvSpPr txBox="1"/>
          <p:nvPr/>
        </p:nvSpPr>
        <p:spPr>
          <a:xfrm>
            <a:off x="548640" y="1783080"/>
            <a:ext cx="1188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Viewer-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driven</a:t>
            </a:r>
            <a:endParaRPr lang="en-US" sz="1200" dirty="0"/>
          </a:p>
        </p:txBody>
      </p:sp>
      <p:sp>
        <p:nvSpPr>
          <p:cNvPr id="5" name="Text-94"/>
          <p:cNvSpPr txBox="1"/>
          <p:nvPr/>
        </p:nvSpPr>
        <p:spPr>
          <a:xfrm>
            <a:off x="548640" y="3675888"/>
            <a:ext cx="1188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driven</a:t>
            </a:r>
            <a:endParaRPr lang="en-US" sz="1200" dirty="0"/>
          </a:p>
        </p:txBody>
      </p:sp>
      <p:sp>
        <p:nvSpPr>
          <p:cNvPr id="6" name="Text-95"/>
          <p:cNvSpPr txBox="1"/>
          <p:nvPr/>
        </p:nvSpPr>
        <p:spPr>
          <a:xfrm>
            <a:off x="1828800" y="1463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000" dirty="0"/>
          </a:p>
        </p:txBody>
      </p:sp>
      <p:sp>
        <p:nvSpPr>
          <p:cNvPr id="7" name="Text-96"/>
          <p:cNvSpPr txBox="1"/>
          <p:nvPr/>
        </p:nvSpPr>
        <p:spPr>
          <a:xfrm>
            <a:off x="4453128" y="1463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</a:t>
            </a:r>
            <a:endParaRPr lang="en-US" sz="1000" dirty="0"/>
          </a:p>
        </p:txBody>
      </p:sp>
      <p:sp>
        <p:nvSpPr>
          <p:cNvPr id="8" name="Card-97"/>
          <p:cNvSpPr/>
          <p:nvPr/>
        </p:nvSpPr>
        <p:spPr>
          <a:xfrm>
            <a:off x="1828800" y="1783080"/>
            <a:ext cx="251460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9" name="Text-98"/>
          <p:cNvSpPr txBox="1"/>
          <p:nvPr/>
        </p:nvSpPr>
        <p:spPr>
          <a:xfrm>
            <a:off x="2029968" y="205740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effects, stickers</a:t>
            </a:r>
            <a:endParaRPr lang="en-US" sz="1600" dirty="0"/>
          </a:p>
        </p:txBody>
      </p:sp>
      <p:sp>
        <p:nvSpPr>
          <p:cNvPr id="10" name="Text-99"/>
          <p:cNvSpPr txBox="1"/>
          <p:nvPr/>
        </p:nvSpPr>
        <p:spPr>
          <a:xfrm>
            <a:off x="2029968" y="278892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picked by hand</a:t>
            </a:r>
            <a:endParaRPr lang="en-US" sz="1300" dirty="0"/>
          </a:p>
        </p:txBody>
      </p:sp>
      <p:sp>
        <p:nvSpPr>
          <p:cNvPr id="11" name="Card-100"/>
          <p:cNvSpPr/>
          <p:nvPr/>
        </p:nvSpPr>
        <p:spPr>
          <a:xfrm>
            <a:off x="4453128" y="1783080"/>
            <a:ext cx="251460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2" name="Text-101"/>
          <p:cNvSpPr txBox="1"/>
          <p:nvPr/>
        </p:nvSpPr>
        <p:spPr>
          <a:xfrm>
            <a:off x="4654296" y="205740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(Streamlabs, StreamElements)</a:t>
            </a:r>
            <a:endParaRPr lang="en-US" sz="1600" dirty="0"/>
          </a:p>
        </p:txBody>
      </p:sp>
      <p:sp>
        <p:nvSpPr>
          <p:cNvPr id="13" name="Text-102"/>
          <p:cNvSpPr txBox="1"/>
          <p:nvPr/>
        </p:nvSpPr>
        <p:spPr>
          <a:xfrm>
            <a:off x="4654296" y="278892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to follows, donations</a:t>
            </a:r>
            <a:endParaRPr lang="en-US" sz="1300" dirty="0"/>
          </a:p>
        </p:txBody>
      </p:sp>
      <p:sp>
        <p:nvSpPr>
          <p:cNvPr id="14" name="Card-103"/>
          <p:cNvSpPr/>
          <p:nvPr/>
        </p:nvSpPr>
        <p:spPr>
          <a:xfrm>
            <a:off x="1828800" y="3675888"/>
            <a:ext cx="251460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5" name="Text-104"/>
          <p:cNvSpPr txBox="1"/>
          <p:nvPr/>
        </p:nvSpPr>
        <p:spPr>
          <a:xfrm>
            <a:off x="2029968" y="3950208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Voicemod, Stream Deck</a:t>
            </a:r>
            <a:endParaRPr lang="en-US" sz="1600" dirty="0"/>
          </a:p>
        </p:txBody>
      </p:sp>
      <p:sp>
        <p:nvSpPr>
          <p:cNvPr id="16" name="Text-105"/>
          <p:cNvSpPr txBox="1"/>
          <p:nvPr/>
        </p:nvSpPr>
        <p:spPr>
          <a:xfrm>
            <a:off x="2029968" y="4681728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hands</a:t>
            </a:r>
            <a:endParaRPr lang="en-US" sz="1300" dirty="0"/>
          </a:p>
        </p:txBody>
      </p:sp>
      <p:sp>
        <p:nvSpPr>
          <p:cNvPr id="17" name="Card-106"/>
          <p:cNvSpPr/>
          <p:nvPr/>
        </p:nvSpPr>
        <p:spPr>
          <a:xfrm>
            <a:off x="4453128" y="3675888"/>
            <a:ext cx="2514600" cy="178308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 w="19050">
            <a:solidFill>
              <a:srgbClr val="FF2D75"/>
            </a:solidFill>
            <a:prstDash val="solid"/>
          </a:ln>
        </p:spPr>
      </p:sp>
      <p:sp>
        <p:nvSpPr>
          <p:cNvPr id="18" name="Text-107"/>
          <p:cNvSpPr txBox="1"/>
          <p:nvPr/>
        </p:nvSpPr>
        <p:spPr>
          <a:xfrm>
            <a:off x="4654296" y="3950208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2600" dirty="0"/>
          </a:p>
        </p:txBody>
      </p:sp>
      <p:sp>
        <p:nvSpPr>
          <p:cNvPr id="19" name="Text-108"/>
          <p:cNvSpPr txBox="1"/>
          <p:nvPr/>
        </p:nvSpPr>
        <p:spPr>
          <a:xfrm>
            <a:off x="4654296" y="4681728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reacts to the voice – alone in the field</a:t>
            </a:r>
            <a:endParaRPr lang="en-US" sz="1300" dirty="0"/>
          </a:p>
        </p:txBody>
      </p:sp>
      <p:sp>
        <p:nvSpPr>
          <p:cNvPr id="20" name="Text-109"/>
          <p:cNvSpPr txBox="1"/>
          <p:nvPr/>
        </p:nvSpPr>
        <p:spPr>
          <a:xfrm>
            <a:off x="7406640" y="160020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~50%</a:t>
            </a:r>
            <a:endParaRPr lang="en-US" sz="3400" dirty="0"/>
          </a:p>
        </p:txBody>
      </p:sp>
      <p:sp>
        <p:nvSpPr>
          <p:cNvPr id="21" name="Text-110"/>
          <p:cNvSpPr txBox="1"/>
          <p:nvPr/>
        </p:nvSpPr>
        <p:spPr>
          <a:xfrm>
            <a:off x="7406640" y="2194560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gifts in live streamers' income [Source 5, 6]</a:t>
            </a:r>
            <a:endParaRPr lang="en-US" sz="1300" dirty="0"/>
          </a:p>
        </p:txBody>
      </p:sp>
      <p:sp>
        <p:nvSpPr>
          <p:cNvPr id="22" name="Text-111"/>
          <p:cNvSpPr txBox="1"/>
          <p:nvPr/>
        </p:nvSpPr>
        <p:spPr>
          <a:xfrm>
            <a:off x="7406640" y="306324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500–3,000</a:t>
            </a:r>
            <a:endParaRPr lang="en-US" sz="3400" dirty="0"/>
          </a:p>
        </p:txBody>
      </p:sp>
      <p:sp>
        <p:nvSpPr>
          <p:cNvPr id="23" name="Text-112"/>
          <p:cNvSpPr txBox="1"/>
          <p:nvPr/>
        </p:nvSpPr>
        <p:spPr>
          <a:xfrm>
            <a:off x="7406640" y="3657600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gifts per month at 20–100k followers [Source 5]</a:t>
            </a:r>
            <a:endParaRPr lang="en-US" sz="1300" dirty="0"/>
          </a:p>
        </p:txBody>
      </p:sp>
      <p:sp>
        <p:nvSpPr>
          <p:cNvPr id="24" name="Text-113"/>
          <p:cNvSpPr txBox="1"/>
          <p:nvPr/>
        </p:nvSpPr>
        <p:spPr>
          <a:xfrm>
            <a:off x="7406640" y="452628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100m</a:t>
            </a:r>
            <a:endParaRPr lang="en-US" sz="3400" dirty="0"/>
          </a:p>
        </p:txBody>
      </p:sp>
      <p:sp>
        <p:nvSpPr>
          <p:cNvPr id="25" name="Text-114"/>
          <p:cNvSpPr txBox="1"/>
          <p:nvPr/>
        </p:nvSpPr>
        <p:spPr>
          <a:xfrm>
            <a:off x="7406640" y="5120640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 went live on TikTok in 2025 in SE Asia, the Caucasus and Central Asia alone, +77% [Source 2]</a:t>
            </a:r>
            <a:endParaRPr lang="en-US" sz="1300" dirty="0"/>
          </a:p>
        </p:txBody>
      </p:sp>
      <p:sp>
        <p:nvSpPr>
          <p:cNvPr id="26" name="Text-115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QUELLEN.en.md · 2×2 after PITCH-DECK.en.md, slide 10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VALIDATED BUILD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2.1: from voice to effect in under a second</a:t>
            </a:r>
            <a:endParaRPr lang="en-US" sz="3200" dirty="0"/>
          </a:p>
        </p:txBody>
      </p:sp>
      <p:pic>
        <p:nvPicPr>
          <p:cNvPr id="4" name="Image-116" descr="/home/user/Notion/live-fx/business/video/assets/pane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5669280" cy="3543300"/>
          </a:xfrm>
          <a:prstGeom prst="rect">
            <a:avLst/>
          </a:prstGeom>
        </p:spPr>
      </p:pic>
      <p:pic>
        <p:nvPicPr>
          <p:cNvPr id="5" name="Image-117" descr="/home/user/Notion/live-fx/business/video/assets/overlay-card.e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86200" y="3954780"/>
            <a:ext cx="2194560" cy="12344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60000"/>
              </a:srgbClr>
            </a:outerShdw>
          </a:effectLst>
        </p:spPr>
      </p:pic>
      <p:sp>
        <p:nvSpPr>
          <p:cNvPr id="6" name="Pill-118"/>
          <p:cNvSpPr txBox="1"/>
          <p:nvPr/>
        </p:nvSpPr>
        <p:spPr>
          <a:xfrm>
            <a:off x="548640" y="5257800"/>
            <a:ext cx="5669280" cy="365760"/>
          </a:xfrm>
          <a:prstGeom prst="roundRect">
            <a:avLst>
              <a:gd name="adj" fmla="val 40000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v2.1  →  TR launch Q4 2026  →  Pro live month 3</a:t>
            </a:r>
            <a:endParaRPr lang="en-US" sz="1200" dirty="0"/>
          </a:p>
        </p:txBody>
      </p:sp>
      <p:sp>
        <p:nvSpPr>
          <p:cNvPr id="7" name="Text-119"/>
          <p:cNvSpPr txBox="1"/>
          <p:nvPr/>
        </p:nvSpPr>
        <p:spPr>
          <a:xfrm>
            <a:off x="6583680" y="1554480"/>
            <a:ext cx="5059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creator says "no way", "yok artık" or "applause" – the meme appears, the sound plays. When he reads aloud, the overlay turns into an animated scene.</a:t>
            </a:r>
            <a:endParaRPr lang="en-US" sz="1400" dirty="0"/>
          </a:p>
        </p:txBody>
      </p:sp>
      <p:sp>
        <p:nvSpPr>
          <p:cNvPr id="8" name="Text-120"/>
          <p:cNvSpPr txBox="1"/>
          <p:nvPr/>
        </p:nvSpPr>
        <p:spPr>
          <a:xfrm>
            <a:off x="6583680" y="2606040"/>
            <a:ext cx="2415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</a:t>
            </a:r>
            <a:endParaRPr lang="en-US" sz="2800" dirty="0"/>
          </a:p>
        </p:txBody>
      </p:sp>
      <p:sp>
        <p:nvSpPr>
          <p:cNvPr id="9" name="Text-121"/>
          <p:cNvSpPr txBox="1"/>
          <p:nvPr/>
        </p:nvSpPr>
        <p:spPr>
          <a:xfrm>
            <a:off x="6583680" y="3063240"/>
            <a:ext cx="2415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in 5 packs</a:t>
            </a:r>
            <a:endParaRPr lang="en-US" sz="1200" dirty="0"/>
          </a:p>
        </p:txBody>
      </p:sp>
      <p:sp>
        <p:nvSpPr>
          <p:cNvPr id="10" name="Text-122"/>
          <p:cNvSpPr txBox="1"/>
          <p:nvPr/>
        </p:nvSpPr>
        <p:spPr>
          <a:xfrm>
            <a:off x="9227668" y="2606040"/>
            <a:ext cx="2415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</a:t>
            </a:r>
            <a:endParaRPr lang="en-US" sz="2800" dirty="0"/>
          </a:p>
        </p:txBody>
      </p:sp>
      <p:sp>
        <p:nvSpPr>
          <p:cNvPr id="11" name="Text-123"/>
          <p:cNvSpPr txBox="1"/>
          <p:nvPr/>
        </p:nvSpPr>
        <p:spPr>
          <a:xfrm>
            <a:off x="9227668" y="3063240"/>
            <a:ext cx="2415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stickers (MIT)</a:t>
            </a:r>
            <a:endParaRPr lang="en-US" sz="1200" dirty="0"/>
          </a:p>
        </p:txBody>
      </p:sp>
      <p:sp>
        <p:nvSpPr>
          <p:cNvPr id="12" name="Text-124"/>
          <p:cNvSpPr txBox="1"/>
          <p:nvPr/>
        </p:nvSpPr>
        <p:spPr>
          <a:xfrm>
            <a:off x="6583680" y="3474720"/>
            <a:ext cx="2415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−63–69%</a:t>
            </a:r>
            <a:endParaRPr lang="en-US" sz="2800" dirty="0"/>
          </a:p>
        </p:txBody>
      </p:sp>
      <p:sp>
        <p:nvSpPr>
          <p:cNvPr id="13" name="Text-125"/>
          <p:cNvSpPr txBox="1"/>
          <p:nvPr/>
        </p:nvSpPr>
        <p:spPr>
          <a:xfrm>
            <a:off x="6583680" y="3931920"/>
            <a:ext cx="2415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time (performance mode)</a:t>
            </a:r>
            <a:endParaRPr lang="en-US" sz="1200" dirty="0"/>
          </a:p>
        </p:txBody>
      </p:sp>
      <p:sp>
        <p:nvSpPr>
          <p:cNvPr id="14" name="Text-126"/>
          <p:cNvSpPr txBox="1"/>
          <p:nvPr/>
        </p:nvSpPr>
        <p:spPr>
          <a:xfrm>
            <a:off x="9227668" y="3474720"/>
            <a:ext cx="2415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-127"/>
          <p:cNvSpPr txBox="1"/>
          <p:nvPr/>
        </p:nvSpPr>
        <p:spPr>
          <a:xfrm>
            <a:off x="9227668" y="3931920"/>
            <a:ext cx="2415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languages, auto-detected</a:t>
            </a:r>
            <a:endParaRPr lang="en-US" sz="1200" dirty="0"/>
          </a:p>
        </p:txBody>
      </p:sp>
      <p:sp>
        <p:nvSpPr>
          <p:cNvPr id="16" name="Text-128"/>
          <p:cNvSpPr txBox="1"/>
          <p:nvPr/>
        </p:nvSpPr>
        <p:spPr>
          <a:xfrm>
            <a:off x="6583680" y="4343400"/>
            <a:ext cx="2415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s</a:t>
            </a:r>
            <a:endParaRPr lang="en-US" sz="2800" dirty="0"/>
          </a:p>
        </p:txBody>
      </p:sp>
      <p:sp>
        <p:nvSpPr>
          <p:cNvPr id="17" name="Text-129"/>
          <p:cNvSpPr txBox="1"/>
          <p:nvPr/>
        </p:nvSpPr>
        <p:spPr>
          <a:xfrm>
            <a:off x="6583680" y="4800600"/>
            <a:ext cx="2415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→ effect</a:t>
            </a:r>
            <a:endParaRPr lang="en-US" sz="1200" dirty="0"/>
          </a:p>
        </p:txBody>
      </p:sp>
      <p:sp>
        <p:nvSpPr>
          <p:cNvPr id="18" name="Text-130"/>
          <p:cNvSpPr txBox="1"/>
          <p:nvPr/>
        </p:nvSpPr>
        <p:spPr>
          <a:xfrm>
            <a:off x="9227668" y="4343400"/>
            <a:ext cx="2415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575+</a:t>
            </a:r>
            <a:endParaRPr lang="en-US" sz="2800" dirty="0"/>
          </a:p>
        </p:txBody>
      </p:sp>
      <p:sp>
        <p:nvSpPr>
          <p:cNvPr id="19" name="Text-131"/>
          <p:cNvSpPr txBox="1"/>
          <p:nvPr/>
        </p:nvSpPr>
        <p:spPr>
          <a:xfrm>
            <a:off x="9227668" y="4800600"/>
            <a:ext cx="2415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200" dirty="0"/>
          </a:p>
        </p:txBody>
      </p:sp>
      <p:sp>
        <p:nvSpPr>
          <p:cNvPr id="20" name="Text-132"/>
          <p:cNvSpPr txBox="1"/>
          <p:nvPr/>
        </p:nvSpPr>
        <p:spPr>
          <a:xfrm>
            <a:off x="6583680" y="5257800"/>
            <a:ext cx="5059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 2.1: text-sticker packs TR/DE/EN · safe GIF search (KLIPY/GIPHY, rating g, child-safety filter) · story mode · viewer triggers · phone remote · offline · OBS/Streamlabs → TikTok LIVE, Instagram, YouTube, Twitch</a:t>
            </a:r>
            <a:endParaRPr lang="en-US" sz="1200" dirty="0"/>
          </a:p>
        </p:txBody>
      </p:sp>
      <p:sp>
        <p:nvSpPr>
          <p:cNvPr id="21" name="Text-133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BUSINESSPLAN.en.md §3; live-fx/CHANGELOG.md 2.1.0 (measured with 31 effects, 1920×1080) · no revenue yet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VISION 2027–2029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talk. It becomes a scene</a:t>
            </a:r>
            <a:endParaRPr lang="en-US" sz="3200" dirty="0"/>
          </a:p>
        </p:txBody>
      </p:sp>
      <p:sp>
        <p:nvSpPr>
          <p:cNvPr id="4" name="Card-134"/>
          <p:cNvSpPr/>
          <p:nvPr/>
        </p:nvSpPr>
        <p:spPr>
          <a:xfrm>
            <a:off x="548640" y="1554480"/>
            <a:ext cx="2602154" cy="3886200"/>
          </a:xfrm>
          <a:prstGeom prst="roundRect">
            <a:avLst>
              <a:gd name="adj" fmla="val 4217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pic>
        <p:nvPicPr>
          <p:cNvPr id="5" name="Image-135" descr="/home/user/Notion/live-fx/business/video/stills/vision-en-16x9-8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2602154" cy="1463712"/>
          </a:xfrm>
          <a:prstGeom prst="rect">
            <a:avLst/>
          </a:prstGeom>
        </p:spPr>
      </p:pic>
      <p:sp>
        <p:nvSpPr>
          <p:cNvPr id="6" name="Badge-136"/>
          <p:cNvSpPr txBox="1"/>
          <p:nvPr/>
        </p:nvSpPr>
        <p:spPr>
          <a:xfrm>
            <a:off x="731520" y="321936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-137"/>
          <p:cNvSpPr txBox="1"/>
          <p:nvPr/>
        </p:nvSpPr>
        <p:spPr>
          <a:xfrm>
            <a:off x="1325880" y="3219360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Film</a:t>
            </a:r>
            <a:endParaRPr lang="en-US" sz="2000" dirty="0"/>
          </a:p>
        </p:txBody>
      </p:sp>
      <p:sp>
        <p:nvSpPr>
          <p:cNvPr id="8" name="Text-138"/>
          <p:cNvSpPr txBox="1"/>
          <p:nvPr/>
        </p:nvSpPr>
        <p:spPr>
          <a:xfrm>
            <a:off x="731520" y="3841152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Scene Engine: narrated sentences become a continuous animated film, live.</a:t>
            </a:r>
            <a:endParaRPr lang="en-US" sz="1300" dirty="0"/>
          </a:p>
        </p:txBody>
      </p:sp>
      <p:sp>
        <p:nvSpPr>
          <p:cNvPr id="9" name="Pill-139"/>
          <p:cNvSpPr txBox="1"/>
          <p:nvPr/>
        </p:nvSpPr>
        <p:spPr>
          <a:xfrm>
            <a:off x="731520" y="4983480"/>
            <a:ext cx="2236394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FOLLOW-ON ROUND</a:t>
            </a:r>
            <a:endParaRPr lang="en-US" sz="1000" dirty="0"/>
          </a:p>
        </p:txBody>
      </p:sp>
      <p:sp>
        <p:nvSpPr>
          <p:cNvPr id="10" name="Card-140"/>
          <p:cNvSpPr/>
          <p:nvPr/>
        </p:nvSpPr>
        <p:spPr>
          <a:xfrm>
            <a:off x="3379394" y="1554480"/>
            <a:ext cx="2602154" cy="3886200"/>
          </a:xfrm>
          <a:prstGeom prst="roundRect">
            <a:avLst>
              <a:gd name="adj" fmla="val 4217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pic>
        <p:nvPicPr>
          <p:cNvPr id="11" name="Image-141" descr="/home/user/Notion/live-fx/business/video/stills/vision-en-16x9-15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79394" y="1554480"/>
            <a:ext cx="2602154" cy="1463712"/>
          </a:xfrm>
          <a:prstGeom prst="rect">
            <a:avLst/>
          </a:prstGeom>
        </p:spPr>
      </p:pic>
      <p:sp>
        <p:nvSpPr>
          <p:cNvPr id="12" name="Badge-142"/>
          <p:cNvSpPr txBox="1"/>
          <p:nvPr/>
        </p:nvSpPr>
        <p:spPr>
          <a:xfrm>
            <a:off x="3562274" y="3219360"/>
            <a:ext cx="457200" cy="45720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-143"/>
          <p:cNvSpPr txBox="1"/>
          <p:nvPr/>
        </p:nvSpPr>
        <p:spPr>
          <a:xfrm>
            <a:off x="4156634" y="3219360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WordPicture</a:t>
            </a:r>
            <a:endParaRPr lang="en-US" sz="2000" dirty="0"/>
          </a:p>
        </p:txBody>
      </p:sp>
      <p:sp>
        <p:nvSpPr>
          <p:cNvPr id="14" name="Text-144"/>
          <p:cNvSpPr txBox="1"/>
          <p:nvPr/>
        </p:nvSpPr>
        <p:spPr>
          <a:xfrm>
            <a:off x="3562274" y="3841152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learning: word → picture + target language + pronunciation; reading aid, repeat.</a:t>
            </a:r>
            <a:endParaRPr lang="en-US" sz="1300" dirty="0"/>
          </a:p>
        </p:txBody>
      </p:sp>
      <p:sp>
        <p:nvSpPr>
          <p:cNvPr id="15" name="Pill-145"/>
          <p:cNvSpPr txBox="1"/>
          <p:nvPr/>
        </p:nvSpPr>
        <p:spPr>
          <a:xfrm>
            <a:off x="3562274" y="4983480"/>
            <a:ext cx="2236394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→ PRODUCT</a:t>
            </a:r>
            <a:endParaRPr lang="en-US" sz="1000" dirty="0"/>
          </a:p>
        </p:txBody>
      </p:sp>
      <p:sp>
        <p:nvSpPr>
          <p:cNvPr id="16" name="Card-146"/>
          <p:cNvSpPr/>
          <p:nvPr/>
        </p:nvSpPr>
        <p:spPr>
          <a:xfrm>
            <a:off x="6210148" y="1554480"/>
            <a:ext cx="2602154" cy="3886200"/>
          </a:xfrm>
          <a:prstGeom prst="roundRect">
            <a:avLst>
              <a:gd name="adj" fmla="val 4217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pic>
        <p:nvPicPr>
          <p:cNvPr id="17" name="Image-147" descr="/home/user/Notion/live-fx/business/video/stills/vision-en-16x9-22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0148" y="1554480"/>
            <a:ext cx="2602154" cy="1463712"/>
          </a:xfrm>
          <a:prstGeom prst="rect">
            <a:avLst/>
          </a:prstGeom>
        </p:spPr>
      </p:pic>
      <p:sp>
        <p:nvSpPr>
          <p:cNvPr id="18" name="Badge-148"/>
          <p:cNvSpPr txBox="1"/>
          <p:nvPr/>
        </p:nvSpPr>
        <p:spPr>
          <a:xfrm>
            <a:off x="6393028" y="321936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-149"/>
          <p:cNvSpPr txBox="1"/>
          <p:nvPr/>
        </p:nvSpPr>
        <p:spPr>
          <a:xfrm>
            <a:off x="6987388" y="3219360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</a:t>
            </a:r>
            <a:endParaRPr lang="en-US" sz="2000" dirty="0"/>
          </a:p>
        </p:txBody>
      </p:sp>
      <p:sp>
        <p:nvSpPr>
          <p:cNvPr id="20" name="Text-150"/>
          <p:cNvSpPr txBox="1"/>
          <p:nvPr/>
        </p:nvSpPr>
        <p:spPr>
          <a:xfrm>
            <a:off x="6393028" y="3841152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timeline on stage, projector, phone AR, VR and display glasses.</a:t>
            </a:r>
            <a:endParaRPr lang="en-US" sz="1300" dirty="0"/>
          </a:p>
        </p:txBody>
      </p:sp>
      <p:sp>
        <p:nvSpPr>
          <p:cNvPr id="21" name="Pill-151"/>
          <p:cNvSpPr txBox="1"/>
          <p:nvPr/>
        </p:nvSpPr>
        <p:spPr>
          <a:xfrm>
            <a:off x="6393028" y="4983480"/>
            <a:ext cx="2236394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FOLLOW-ON ROUND</a:t>
            </a:r>
            <a:endParaRPr lang="en-US" sz="1000" dirty="0"/>
          </a:p>
        </p:txBody>
      </p:sp>
      <p:sp>
        <p:nvSpPr>
          <p:cNvPr id="22" name="Card-152"/>
          <p:cNvSpPr/>
          <p:nvPr/>
        </p:nvSpPr>
        <p:spPr>
          <a:xfrm>
            <a:off x="9040901" y="1554480"/>
            <a:ext cx="2602154" cy="3886200"/>
          </a:xfrm>
          <a:prstGeom prst="roundRect">
            <a:avLst>
              <a:gd name="adj" fmla="val 4217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pic>
        <p:nvPicPr>
          <p:cNvPr id="23" name="Image-153" descr="/home/user/Notion/live-fx/business/video/stills/vision-en-16x9-29s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40901" y="1554480"/>
            <a:ext cx="2602154" cy="1463712"/>
          </a:xfrm>
          <a:prstGeom prst="rect">
            <a:avLst/>
          </a:prstGeom>
        </p:spPr>
      </p:pic>
      <p:sp>
        <p:nvSpPr>
          <p:cNvPr id="24" name="Badge-154"/>
          <p:cNvSpPr txBox="1"/>
          <p:nvPr/>
        </p:nvSpPr>
        <p:spPr>
          <a:xfrm>
            <a:off x="9223781" y="321936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25" name="Text-155"/>
          <p:cNvSpPr txBox="1"/>
          <p:nvPr/>
        </p:nvSpPr>
        <p:spPr>
          <a:xfrm>
            <a:off x="9818141" y="3219360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2000" dirty="0"/>
          </a:p>
        </p:txBody>
      </p:sp>
      <p:sp>
        <p:nvSpPr>
          <p:cNvPr id="26" name="Text-156"/>
          <p:cNvSpPr txBox="1"/>
          <p:nvPr/>
        </p:nvSpPr>
        <p:spPr>
          <a:xfrm>
            <a:off x="9223781" y="3841152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from the stream, auto-edit of finished videos, local export.</a:t>
            </a:r>
            <a:endParaRPr lang="en-US" sz="1300" dirty="0"/>
          </a:p>
        </p:txBody>
      </p:sp>
      <p:sp>
        <p:nvSpPr>
          <p:cNvPr id="27" name="Pill-157"/>
          <p:cNvSpPr txBox="1"/>
          <p:nvPr/>
        </p:nvSpPr>
        <p:spPr>
          <a:xfrm>
            <a:off x="9223781" y="4983480"/>
            <a:ext cx="2236394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FOLLOW-ON ROUND</a:t>
            </a:r>
            <a:endParaRPr lang="en-US" sz="1000" dirty="0"/>
          </a:p>
        </p:txBody>
      </p:sp>
      <p:sp>
        <p:nvSpPr>
          <p:cNvPr id="28" name="Text-158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pre-seed funds WordPicture (€37,500); story engine, auto-edit and VR move to the follow-on round.</a:t>
            </a:r>
            <a:endParaRPr lang="en-US" sz="1500" dirty="0"/>
          </a:p>
        </p:txBody>
      </p:sp>
      <p:sp>
        <p:nvSpPr>
          <p:cNvPr id="29" name="Text-159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VISION.en.md §1, BUSINESSPLAN.en.md §15 · images: vision trailer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PROTOTYPES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 already run in the browser</a:t>
            </a:r>
            <a:endParaRPr lang="en-US" sz="3200" dirty="0"/>
          </a:p>
        </p:txBody>
      </p:sp>
      <p:pic>
        <p:nvPicPr>
          <p:cNvPr id="4" name="Image-160" descr="/home/user/Notion/investor/assets/proto-story-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3794760" cy="2924567"/>
          </a:xfrm>
          <a:prstGeom prst="rect">
            <a:avLst/>
          </a:prstGeom>
        </p:spPr>
      </p:pic>
      <p:pic>
        <p:nvPicPr>
          <p:cNvPr id="5" name="Image-161" descr="/home/user/Notion/investor/assets/proto-wortbild-e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1554480"/>
            <a:ext cx="3200400" cy="1916906"/>
          </a:xfrm>
          <a:prstGeom prst="rect">
            <a:avLst/>
          </a:prstGeom>
        </p:spPr>
      </p:pic>
      <p:sp>
        <p:nvSpPr>
          <p:cNvPr id="6" name="Text-162"/>
          <p:cNvSpPr txBox="1"/>
          <p:nvPr/>
        </p:nvSpPr>
        <p:spPr>
          <a:xfrm>
            <a:off x="548640" y="4570487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Story Film</a:t>
            </a:r>
            <a:endParaRPr lang="en-US" sz="1500" dirty="0"/>
          </a:p>
        </p:txBody>
      </p:sp>
      <p:sp>
        <p:nvSpPr>
          <p:cNvPr id="7" name="Text-163"/>
          <p:cNvSpPr txBox="1"/>
          <p:nvPr/>
        </p:nvSpPr>
        <p:spPr>
          <a:xfrm>
            <a:off x="548640" y="4908815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live-story.html: 22 characters, 10 places, weather, mood · 60 fps</a:t>
            </a:r>
            <a:endParaRPr lang="en-US" sz="1200" dirty="0"/>
          </a:p>
        </p:txBody>
      </p:sp>
      <p:sp>
        <p:nvSpPr>
          <p:cNvPr id="8" name="Text-164"/>
          <p:cNvSpPr txBox="1"/>
          <p:nvPr/>
        </p:nvSpPr>
        <p:spPr>
          <a:xfrm>
            <a:off x="4617720" y="356282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WordPicture</a:t>
            </a:r>
            <a:endParaRPr lang="en-US" sz="1500" dirty="0"/>
          </a:p>
        </p:txBody>
      </p:sp>
      <p:sp>
        <p:nvSpPr>
          <p:cNvPr id="9" name="Text-165"/>
          <p:cNvSpPr txBox="1"/>
          <p:nvPr/>
        </p:nvSpPr>
        <p:spPr>
          <a:xfrm>
            <a:off x="4617720" y="390115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sprachlernen.html: 85 words DE/TR/EN, syllables, pronunciation</a:t>
            </a:r>
            <a:endParaRPr lang="en-US" sz="1200" dirty="0"/>
          </a:p>
        </p:txBody>
      </p:sp>
      <p:sp>
        <p:nvSpPr>
          <p:cNvPr id="10" name="Card-166"/>
          <p:cNvSpPr/>
          <p:nvPr/>
        </p:nvSpPr>
        <p:spPr>
          <a:xfrm>
            <a:off x="8183880" y="1554480"/>
            <a:ext cx="3459175" cy="4343400"/>
          </a:xfrm>
          <a:prstGeom prst="roundRect">
            <a:avLst>
              <a:gd name="adj" fmla="val 317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1" name="Text-167"/>
          <p:cNvSpPr txBox="1"/>
          <p:nvPr/>
        </p:nvSpPr>
        <p:spPr>
          <a:xfrm>
            <a:off x="8458200" y="1737360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Draw, don't generate</a:t>
            </a:r>
            <a:endParaRPr lang="en-US" sz="1800" dirty="0"/>
          </a:p>
        </p:txBody>
      </p:sp>
      <p:sp>
        <p:nvSpPr>
          <p:cNvPr id="12" name="Text-168"/>
          <p:cNvSpPr txBox="1"/>
          <p:nvPr/>
        </p:nvSpPr>
        <p:spPr>
          <a:xfrm>
            <a:off x="8458200" y="2331720"/>
            <a:ext cx="2910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AI</a:t>
            </a:r>
            <a:endParaRPr lang="en-US" sz="1000" dirty="0"/>
          </a:p>
        </p:txBody>
      </p:sp>
      <p:sp>
        <p:nvSpPr>
          <p:cNvPr id="13" name="Text-169"/>
          <p:cNvSpPr txBox="1"/>
          <p:nvPr/>
        </p:nvSpPr>
        <p:spPr>
          <a:xfrm>
            <a:off x="8458200" y="2587752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180–2,700</a:t>
            </a:r>
            <a:endParaRPr lang="en-US" sz="2600" dirty="0"/>
          </a:p>
        </p:txBody>
      </p:sp>
      <p:sp>
        <p:nvSpPr>
          <p:cNvPr id="14" name="Text-170"/>
          <p:cNvSpPr txBox="1"/>
          <p:nvPr/>
        </p:nvSpPr>
        <p:spPr>
          <a:xfrm>
            <a:off x="8458200" y="3108960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hour [Source 24, 25]</a:t>
            </a:r>
            <a:endParaRPr lang="en-US" sz="1100" dirty="0"/>
          </a:p>
        </p:txBody>
      </p:sp>
      <p:sp>
        <p:nvSpPr>
          <p:cNvPr id="15" name="Text-171"/>
          <p:cNvSpPr txBox="1"/>
          <p:nvPr/>
        </p:nvSpPr>
        <p:spPr>
          <a:xfrm>
            <a:off x="8458200" y="3566160"/>
            <a:ext cx="2910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1000" dirty="0"/>
          </a:p>
        </p:txBody>
      </p:sp>
      <p:sp>
        <p:nvSpPr>
          <p:cNvPr id="16" name="Text-172"/>
          <p:cNvSpPr txBox="1"/>
          <p:nvPr/>
        </p:nvSpPr>
        <p:spPr>
          <a:xfrm>
            <a:off x="8458200" y="3822192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€0 – USD 0.75</a:t>
            </a:r>
            <a:endParaRPr lang="en-US" sz="2600" dirty="0"/>
          </a:p>
        </p:txBody>
      </p:sp>
      <p:sp>
        <p:nvSpPr>
          <p:cNvPr id="17" name="Text-173"/>
          <p:cNvSpPr txBox="1"/>
          <p:nvPr/>
        </p:nvSpPr>
        <p:spPr>
          <a:xfrm>
            <a:off x="8458200" y="4343400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hour (project measurement)</a:t>
            </a:r>
            <a:endParaRPr lang="en-US" sz="1100" dirty="0"/>
          </a:p>
        </p:txBody>
      </p:sp>
      <p:sp>
        <p:nvSpPr>
          <p:cNvPr id="18" name="Text-174"/>
          <p:cNvSpPr txBox="1"/>
          <p:nvPr/>
        </p:nvSpPr>
        <p:spPr>
          <a:xfrm>
            <a:off x="8458200" y="4846320"/>
            <a:ext cx="2910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to more than 10,000 times cheaper – and the only one that runs live.</a:t>
            </a:r>
            <a:endParaRPr lang="en-US" sz="1400" dirty="0"/>
          </a:p>
        </p:txBody>
      </p:sp>
      <p:sp>
        <p:nvSpPr>
          <p:cNvPr id="19" name="Text-175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prototypes/README.md, VISION.en.md §2 · screenshots of the prototypes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MARKET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growth market with a clear entry point</a:t>
            </a:r>
            <a:endParaRPr lang="en-US" sz="3200" dirty="0"/>
          </a:p>
        </p:txBody>
      </p:sp>
      <p:sp>
        <p:nvSpPr>
          <p:cNvPr id="4" name="Ring-176"/>
          <p:cNvSpPr/>
          <p:nvPr/>
        </p:nvSpPr>
        <p:spPr>
          <a:xfrm>
            <a:off x="548640" y="1600200"/>
            <a:ext cx="4206240" cy="4206240"/>
          </a:xfrm>
          <a:prstGeom prst="ellipse">
            <a:avLst/>
          </a:prstGeom>
          <a:solidFill>
            <a:srgbClr val="1A1D24"/>
          </a:solidFill>
          <a:ln w="15875">
            <a:solidFill>
              <a:srgbClr val="2A2E38"/>
            </a:solidFill>
            <a:prstDash val="solid"/>
          </a:ln>
        </p:spPr>
      </p:sp>
      <p:sp>
        <p:nvSpPr>
          <p:cNvPr id="5" name="Ring-177"/>
          <p:cNvSpPr/>
          <p:nvPr/>
        </p:nvSpPr>
        <p:spPr>
          <a:xfrm>
            <a:off x="1234440" y="2971800"/>
            <a:ext cx="2834640" cy="2834640"/>
          </a:xfrm>
          <a:prstGeom prst="ellipse">
            <a:avLst/>
          </a:prstGeom>
          <a:solidFill>
            <a:srgbClr val="2A1622"/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6" name="Ring-178"/>
          <p:cNvSpPr/>
          <p:nvPr/>
        </p:nvSpPr>
        <p:spPr>
          <a:xfrm>
            <a:off x="1920240" y="4343400"/>
            <a:ext cx="1463040" cy="1463040"/>
          </a:xfrm>
          <a:prstGeom prst="ellipse">
            <a:avLst/>
          </a:prstGeom>
          <a:solidFill>
            <a:srgbClr val="3A0F22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7" name="Text-179"/>
          <p:cNvSpPr txBox="1"/>
          <p:nvPr/>
        </p:nvSpPr>
        <p:spPr>
          <a:xfrm>
            <a:off x="1005840" y="18745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· monetising live creators</a:t>
            </a:r>
            <a:endParaRPr lang="en-US" sz="1000" dirty="0"/>
          </a:p>
        </p:txBody>
      </p:sp>
      <p:sp>
        <p:nvSpPr>
          <p:cNvPr id="8" name="Text-180"/>
          <p:cNvSpPr txBox="1"/>
          <p:nvPr/>
        </p:nvSpPr>
        <p:spPr>
          <a:xfrm>
            <a:off x="1005840" y="21214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10–20m</a:t>
            </a:r>
            <a:endParaRPr lang="en-US" sz="2200" dirty="0"/>
          </a:p>
        </p:txBody>
      </p:sp>
      <p:sp>
        <p:nvSpPr>
          <p:cNvPr id="9" name="Text-181"/>
          <p:cNvSpPr txBox="1"/>
          <p:nvPr/>
        </p:nvSpPr>
        <p:spPr>
          <a:xfrm>
            <a:off x="1554480" y="3200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· TR/DE/EN</a:t>
            </a:r>
            <a:endParaRPr lang="en-US" sz="1000" dirty="0"/>
          </a:p>
        </p:txBody>
      </p:sp>
      <p:sp>
        <p:nvSpPr>
          <p:cNvPr id="10" name="Text-182"/>
          <p:cNvSpPr txBox="1"/>
          <p:nvPr/>
        </p:nvSpPr>
        <p:spPr>
          <a:xfrm>
            <a:off x="1554480" y="34472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1–3m</a:t>
            </a:r>
            <a:endParaRPr lang="en-US" sz="2200" dirty="0"/>
          </a:p>
        </p:txBody>
      </p:sp>
      <p:sp>
        <p:nvSpPr>
          <p:cNvPr id="11" name="Text-183"/>
          <p:cNvSpPr txBox="1"/>
          <p:nvPr/>
        </p:nvSpPr>
        <p:spPr>
          <a:xfrm>
            <a:off x="2011680" y="4617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· paying, Y3</a:t>
            </a:r>
            <a:endParaRPr lang="en-US" sz="900" dirty="0"/>
          </a:p>
        </p:txBody>
      </p:sp>
      <p:sp>
        <p:nvSpPr>
          <p:cNvPr id="12" name="Text-184"/>
          <p:cNvSpPr txBox="1"/>
          <p:nvPr/>
        </p:nvSpPr>
        <p:spPr>
          <a:xfrm>
            <a:off x="2011680" y="4937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5–15k</a:t>
            </a:r>
            <a:endParaRPr lang="en-US" sz="1800" dirty="0"/>
          </a:p>
        </p:txBody>
      </p:sp>
      <p:sp>
        <p:nvSpPr>
          <p:cNvPr id="13" name="Text-185"/>
          <p:cNvSpPr txBox="1"/>
          <p:nvPr/>
        </p:nvSpPr>
        <p:spPr>
          <a:xfrm>
            <a:off x="548640" y="58521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Bottom-up, estimate (BUSINESSPLAN.en.md §6)</a:t>
            </a:r>
            <a:endParaRPr lang="en-US" sz="900" dirty="0"/>
          </a:p>
        </p:txBody>
      </p:sp>
      <p:sp>
        <p:nvSpPr>
          <p:cNvPr id="14" name="Text-186"/>
          <p:cNvSpPr txBox="1"/>
          <p:nvPr/>
        </p:nvSpPr>
        <p:spPr>
          <a:xfrm>
            <a:off x="5257800" y="155448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market: live</a:t>
            </a:r>
            <a:endParaRPr lang="en-US" sz="1600" dirty="0"/>
          </a:p>
        </p:txBody>
      </p:sp>
      <p:sp>
        <p:nvSpPr>
          <p:cNvPr id="15" name="Text-187"/>
          <p:cNvSpPr txBox="1"/>
          <p:nvPr/>
        </p:nvSpPr>
        <p:spPr>
          <a:xfrm>
            <a:off x="5257800" y="201168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97–157bn</a:t>
            </a:r>
            <a:endParaRPr lang="en-US" sz="2400" dirty="0"/>
          </a:p>
        </p:txBody>
      </p:sp>
      <p:sp>
        <p:nvSpPr>
          <p:cNvPr id="16" name="Text-188"/>
          <p:cNvSpPr txBox="1"/>
          <p:nvPr/>
        </p:nvSpPr>
        <p:spPr>
          <a:xfrm>
            <a:off x="5257800" y="248716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streaming 2026 [S 1, 2]</a:t>
            </a:r>
            <a:endParaRPr lang="en-US" sz="1200" dirty="0"/>
          </a:p>
        </p:txBody>
      </p:sp>
      <p:sp>
        <p:nvSpPr>
          <p:cNvPr id="17" name="Text-189"/>
          <p:cNvSpPr txBox="1"/>
          <p:nvPr/>
        </p:nvSpPr>
        <p:spPr>
          <a:xfrm>
            <a:off x="5257800" y="320040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216–260bn</a:t>
            </a:r>
            <a:endParaRPr lang="en-US" sz="2400" dirty="0"/>
          </a:p>
        </p:txBody>
      </p:sp>
      <p:sp>
        <p:nvSpPr>
          <p:cNvPr id="18" name="Text-190"/>
          <p:cNvSpPr txBox="1"/>
          <p:nvPr/>
        </p:nvSpPr>
        <p:spPr>
          <a:xfrm>
            <a:off x="5257800" y="367588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economy 2026 [S 3, 4]</a:t>
            </a:r>
            <a:endParaRPr lang="en-US" sz="1200" dirty="0"/>
          </a:p>
        </p:txBody>
      </p:sp>
      <p:sp>
        <p:nvSpPr>
          <p:cNvPr id="19" name="Text-191"/>
          <p:cNvSpPr txBox="1"/>
          <p:nvPr/>
        </p:nvSpPr>
        <p:spPr>
          <a:xfrm>
            <a:off x="5257800" y="438912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~14%</a:t>
            </a:r>
            <a:endParaRPr lang="en-US" sz="2400" dirty="0"/>
          </a:p>
        </p:txBody>
      </p:sp>
      <p:sp>
        <p:nvSpPr>
          <p:cNvPr id="20" name="Text-192"/>
          <p:cNvSpPr txBox="1"/>
          <p:nvPr/>
        </p:nvSpPr>
        <p:spPr>
          <a:xfrm>
            <a:off x="5257800" y="486460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share ≈ USD 36bn [S 3]</a:t>
            </a:r>
            <a:endParaRPr lang="en-US" sz="1200" dirty="0"/>
          </a:p>
        </p:txBody>
      </p:sp>
      <p:sp>
        <p:nvSpPr>
          <p:cNvPr id="21" name="Text-193"/>
          <p:cNvSpPr txBox="1"/>
          <p:nvPr/>
        </p:nvSpPr>
        <p:spPr>
          <a:xfrm>
            <a:off x="8549640" y="155448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(vision)</a:t>
            </a:r>
            <a:endParaRPr lang="en-US" sz="1600" dirty="0"/>
          </a:p>
        </p:txBody>
      </p:sp>
      <p:sp>
        <p:nvSpPr>
          <p:cNvPr id="22" name="Text-194"/>
          <p:cNvSpPr txBox="1"/>
          <p:nvPr/>
        </p:nvSpPr>
        <p:spPr>
          <a:xfrm>
            <a:off x="8549640" y="201168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3.67bn</a:t>
            </a:r>
            <a:endParaRPr lang="en-US" sz="1800" dirty="0"/>
          </a:p>
        </p:txBody>
      </p:sp>
      <p:sp>
        <p:nvSpPr>
          <p:cNvPr id="23" name="Text-195"/>
          <p:cNvSpPr txBox="1"/>
          <p:nvPr/>
        </p:nvSpPr>
        <p:spPr>
          <a:xfrm>
            <a:off x="8549640" y="237744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video 2026 [S 23]</a:t>
            </a:r>
            <a:endParaRPr lang="en-US" sz="1100" dirty="0"/>
          </a:p>
        </p:txBody>
      </p:sp>
      <p:sp>
        <p:nvSpPr>
          <p:cNvPr id="24" name="Text-196"/>
          <p:cNvSpPr txBox="1"/>
          <p:nvPr/>
        </p:nvSpPr>
        <p:spPr>
          <a:xfrm>
            <a:off x="8549640" y="276148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2.68bn</a:t>
            </a:r>
            <a:endParaRPr lang="en-US" sz="1800" dirty="0"/>
          </a:p>
        </p:txBody>
      </p:sp>
      <p:sp>
        <p:nvSpPr>
          <p:cNvPr id="25" name="Text-197"/>
          <p:cNvSpPr txBox="1"/>
          <p:nvPr/>
        </p:nvSpPr>
        <p:spPr>
          <a:xfrm>
            <a:off x="8549640" y="312724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editing 2026 [S 51]</a:t>
            </a:r>
            <a:endParaRPr lang="en-US" sz="1100" dirty="0"/>
          </a:p>
        </p:txBody>
      </p:sp>
      <p:sp>
        <p:nvSpPr>
          <p:cNvPr id="26" name="Text-198"/>
          <p:cNvSpPr txBox="1"/>
          <p:nvPr/>
        </p:nvSpPr>
        <p:spPr>
          <a:xfrm>
            <a:off x="8549640" y="35112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1.54bn</a:t>
            </a:r>
            <a:endParaRPr lang="en-US" sz="1800" dirty="0"/>
          </a:p>
        </p:txBody>
      </p:sp>
      <p:sp>
        <p:nvSpPr>
          <p:cNvPr id="27" name="Text-199"/>
          <p:cNvSpPr txBox="1"/>
          <p:nvPr/>
        </p:nvSpPr>
        <p:spPr>
          <a:xfrm>
            <a:off x="8549640" y="387705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language-learning apps 2025 [S 33]</a:t>
            </a:r>
            <a:endParaRPr lang="en-US" sz="1100" dirty="0"/>
          </a:p>
        </p:txBody>
      </p:sp>
      <p:sp>
        <p:nvSpPr>
          <p:cNvPr id="28" name="Text-200"/>
          <p:cNvSpPr txBox="1"/>
          <p:nvPr/>
        </p:nvSpPr>
        <p:spPr>
          <a:xfrm>
            <a:off x="8549640" y="4261104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€374m</a:t>
            </a:r>
            <a:endParaRPr lang="en-US" sz="1800" dirty="0"/>
          </a:p>
        </p:txBody>
      </p:sp>
      <p:sp>
        <p:nvSpPr>
          <p:cNvPr id="29" name="Text-201"/>
          <p:cNvSpPr txBox="1"/>
          <p:nvPr/>
        </p:nvSpPr>
        <p:spPr>
          <a:xfrm>
            <a:off x="8549640" y="4626864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 audiobooks 2025 [S 19]</a:t>
            </a:r>
            <a:endParaRPr lang="en-US" sz="1100" dirty="0"/>
          </a:p>
        </p:txBody>
      </p:sp>
      <p:sp>
        <p:nvSpPr>
          <p:cNvPr id="30" name="Text-202"/>
          <p:cNvSpPr txBox="1"/>
          <p:nvPr/>
        </p:nvSpPr>
        <p:spPr>
          <a:xfrm>
            <a:off x="8549640" y="501091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5.1bn</a:t>
            </a:r>
            <a:endParaRPr lang="en-US" sz="1800" dirty="0"/>
          </a:p>
        </p:txBody>
      </p:sp>
      <p:sp>
        <p:nvSpPr>
          <p:cNvPr id="31" name="Text-203"/>
          <p:cNvSpPr txBox="1"/>
          <p:nvPr/>
        </p:nvSpPr>
        <p:spPr>
          <a:xfrm>
            <a:off x="8549640" y="537667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glasses 2026 [S 45]</a:t>
            </a:r>
            <a:endParaRPr lang="en-US" sz="1100" dirty="0"/>
          </a:p>
        </p:txBody>
      </p:sp>
      <p:sp>
        <p:nvSpPr>
          <p:cNvPr id="32" name="Text-204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 n] = [Source n] in QUELLEN.en.md · adjacent markets are not included in the SOM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BUSINESS MODEL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for creators, licences for institutions</a:t>
            </a:r>
            <a:endParaRPr lang="en-US" sz="3200" dirty="0"/>
          </a:p>
        </p:txBody>
      </p:sp>
      <p:sp>
        <p:nvSpPr>
          <p:cNvPr id="4" name="Card-205"/>
          <p:cNvSpPr/>
          <p:nvPr/>
        </p:nvSpPr>
        <p:spPr>
          <a:xfrm>
            <a:off x="548640" y="1554480"/>
            <a:ext cx="242620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Text-206"/>
          <p:cNvSpPr txBox="1"/>
          <p:nvPr/>
        </p:nvSpPr>
        <p:spPr>
          <a:xfrm>
            <a:off x="749808" y="1737360"/>
            <a:ext cx="202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000" dirty="0"/>
          </a:p>
        </p:txBody>
      </p:sp>
      <p:sp>
        <p:nvSpPr>
          <p:cNvPr id="6" name="Text-207"/>
          <p:cNvSpPr txBox="1"/>
          <p:nvPr/>
        </p:nvSpPr>
        <p:spPr>
          <a:xfrm>
            <a:off x="749808" y="2029968"/>
            <a:ext cx="202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€0</a:t>
            </a:r>
            <a:endParaRPr lang="en-US" sz="2100" dirty="0"/>
          </a:p>
        </p:txBody>
      </p:sp>
      <p:sp>
        <p:nvSpPr>
          <p:cNvPr id="7" name="Text-208"/>
          <p:cNvSpPr txBox="1"/>
          <p:nvPr/>
        </p:nvSpPr>
        <p:spPr>
          <a:xfrm>
            <a:off x="749808" y="2606040"/>
            <a:ext cx="2023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function, standard packs, phone remote</a:t>
            </a:r>
            <a:endParaRPr lang="en-US" sz="1200" dirty="0"/>
          </a:p>
        </p:txBody>
      </p:sp>
      <p:sp>
        <p:nvSpPr>
          <p:cNvPr id="8" name="Card-209"/>
          <p:cNvSpPr/>
          <p:nvPr/>
        </p:nvSpPr>
        <p:spPr>
          <a:xfrm>
            <a:off x="3176016" y="1554480"/>
            <a:ext cx="2426208" cy="2011680"/>
          </a:xfrm>
          <a:prstGeom prst="roundRect">
            <a:avLst>
              <a:gd name="adj" fmla="val 5455"/>
            </a:avLst>
          </a:prstGeom>
          <a:solidFill>
            <a:schemeClr val="accent6"/>
          </a:solidFill>
          <a:ln w="19050">
            <a:solidFill>
              <a:srgbClr val="FF2D75"/>
            </a:solidFill>
            <a:prstDash val="solid"/>
          </a:ln>
        </p:spPr>
      </p:sp>
      <p:sp>
        <p:nvSpPr>
          <p:cNvPr id="9" name="Text-210"/>
          <p:cNvSpPr txBox="1"/>
          <p:nvPr/>
        </p:nvSpPr>
        <p:spPr>
          <a:xfrm>
            <a:off x="3377184" y="1737360"/>
            <a:ext cx="202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000" dirty="0"/>
          </a:p>
        </p:txBody>
      </p:sp>
      <p:sp>
        <p:nvSpPr>
          <p:cNvPr id="10" name="Text-211"/>
          <p:cNvSpPr txBox="1"/>
          <p:nvPr/>
        </p:nvSpPr>
        <p:spPr>
          <a:xfrm>
            <a:off x="3377184" y="2029968"/>
            <a:ext cx="202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€9.99/month</a:t>
            </a:r>
            <a:endParaRPr lang="en-US" sz="2100" dirty="0"/>
          </a:p>
        </p:txBody>
      </p:sp>
      <p:sp>
        <p:nvSpPr>
          <p:cNvPr id="11" name="Text-212"/>
          <p:cNvSpPr txBox="1"/>
          <p:nvPr/>
        </p:nvSpPr>
        <p:spPr>
          <a:xfrm>
            <a:off x="3377184" y="2606040"/>
            <a:ext cx="2023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understanding, all scenes, viewer triggers; €79/year</a:t>
            </a:r>
            <a:endParaRPr lang="en-US" sz="1200" dirty="0"/>
          </a:p>
        </p:txBody>
      </p:sp>
      <p:sp>
        <p:nvSpPr>
          <p:cNvPr id="12" name="Card-213"/>
          <p:cNvSpPr/>
          <p:nvPr/>
        </p:nvSpPr>
        <p:spPr>
          <a:xfrm>
            <a:off x="5803392" y="1554480"/>
            <a:ext cx="242620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3" name="Text-214"/>
          <p:cNvSpPr txBox="1"/>
          <p:nvPr/>
        </p:nvSpPr>
        <p:spPr>
          <a:xfrm>
            <a:off x="6004560" y="1737360"/>
            <a:ext cx="202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PRO+ (VISION)</a:t>
            </a:r>
            <a:endParaRPr lang="en-US" sz="1000" dirty="0"/>
          </a:p>
        </p:txBody>
      </p:sp>
      <p:sp>
        <p:nvSpPr>
          <p:cNvPr id="14" name="Text-215"/>
          <p:cNvSpPr txBox="1"/>
          <p:nvPr/>
        </p:nvSpPr>
        <p:spPr>
          <a:xfrm>
            <a:off x="6004560" y="2029968"/>
            <a:ext cx="202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€14.99/month</a:t>
            </a:r>
            <a:endParaRPr lang="en-US" sz="2100" dirty="0"/>
          </a:p>
        </p:txBody>
      </p:sp>
      <p:sp>
        <p:nvSpPr>
          <p:cNvPr id="15" name="Text-216"/>
          <p:cNvSpPr txBox="1"/>
          <p:nvPr/>
        </p:nvSpPr>
        <p:spPr>
          <a:xfrm>
            <a:off x="6004560" y="2606040"/>
            <a:ext cx="2023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scenes, auto-edit, MP4 export</a:t>
            </a:r>
            <a:endParaRPr lang="en-US" sz="1200" dirty="0"/>
          </a:p>
        </p:txBody>
      </p:sp>
      <p:sp>
        <p:nvSpPr>
          <p:cNvPr id="16" name="Card-217"/>
          <p:cNvSpPr/>
          <p:nvPr/>
        </p:nvSpPr>
        <p:spPr>
          <a:xfrm>
            <a:off x="548640" y="3767328"/>
            <a:ext cx="242620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7" name="Text-218"/>
          <p:cNvSpPr txBox="1"/>
          <p:nvPr/>
        </p:nvSpPr>
        <p:spPr>
          <a:xfrm>
            <a:off x="749808" y="3950208"/>
            <a:ext cx="202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WORDPICTURE FAMILY</a:t>
            </a:r>
            <a:endParaRPr lang="en-US" sz="1000" dirty="0"/>
          </a:p>
        </p:txBody>
      </p:sp>
      <p:sp>
        <p:nvSpPr>
          <p:cNvPr id="18" name="Text-219"/>
          <p:cNvSpPr txBox="1"/>
          <p:nvPr/>
        </p:nvSpPr>
        <p:spPr>
          <a:xfrm>
            <a:off x="749808" y="4242816"/>
            <a:ext cx="202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€4.99/month</a:t>
            </a:r>
            <a:endParaRPr lang="en-US" sz="2100" dirty="0"/>
          </a:p>
        </p:txBody>
      </p:sp>
      <p:sp>
        <p:nvSpPr>
          <p:cNvPr id="19" name="Text-220"/>
          <p:cNvSpPr txBox="1"/>
          <p:nvPr/>
        </p:nvSpPr>
        <p:spPr>
          <a:xfrm>
            <a:off x="749808" y="4818888"/>
            <a:ext cx="2023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learning and reading aid</a:t>
            </a:r>
            <a:endParaRPr lang="en-US" sz="1200" dirty="0"/>
          </a:p>
        </p:txBody>
      </p:sp>
      <p:sp>
        <p:nvSpPr>
          <p:cNvPr id="20" name="Card-221"/>
          <p:cNvSpPr/>
          <p:nvPr/>
        </p:nvSpPr>
        <p:spPr>
          <a:xfrm>
            <a:off x="3176016" y="3767328"/>
            <a:ext cx="242620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1" name="Text-222"/>
          <p:cNvSpPr txBox="1"/>
          <p:nvPr/>
        </p:nvSpPr>
        <p:spPr>
          <a:xfrm>
            <a:off x="3377184" y="3950208"/>
            <a:ext cx="202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PACKS</a:t>
            </a:r>
            <a:endParaRPr lang="en-US" sz="1000" dirty="0"/>
          </a:p>
        </p:txBody>
      </p:sp>
      <p:sp>
        <p:nvSpPr>
          <p:cNvPr id="22" name="Text-223"/>
          <p:cNvSpPr txBox="1"/>
          <p:nvPr/>
        </p:nvSpPr>
        <p:spPr>
          <a:xfrm>
            <a:off x="3377184" y="4242816"/>
            <a:ext cx="202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€2.99–4.99</a:t>
            </a:r>
            <a:endParaRPr lang="en-US" sz="2100" dirty="0"/>
          </a:p>
        </p:txBody>
      </p:sp>
      <p:sp>
        <p:nvSpPr>
          <p:cNvPr id="23" name="Text-224"/>
          <p:cNvSpPr txBox="1"/>
          <p:nvPr/>
        </p:nvSpPr>
        <p:spPr>
          <a:xfrm>
            <a:off x="3377184" y="4818888"/>
            <a:ext cx="2023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Meme, story, world, vocabulary packs; marketplace 70/30</a:t>
            </a:r>
            <a:endParaRPr lang="en-US" sz="1200" dirty="0"/>
          </a:p>
        </p:txBody>
      </p:sp>
      <p:sp>
        <p:nvSpPr>
          <p:cNvPr id="24" name="Card-225"/>
          <p:cNvSpPr/>
          <p:nvPr/>
        </p:nvSpPr>
        <p:spPr>
          <a:xfrm>
            <a:off x="5803392" y="3767328"/>
            <a:ext cx="242620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5" name="Text-226"/>
          <p:cNvSpPr txBox="1"/>
          <p:nvPr/>
        </p:nvSpPr>
        <p:spPr>
          <a:xfrm>
            <a:off x="6004560" y="3950208"/>
            <a:ext cx="202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LICENCE</a:t>
            </a:r>
            <a:endParaRPr lang="en-US" sz="1000" dirty="0"/>
          </a:p>
        </p:txBody>
      </p:sp>
      <p:sp>
        <p:nvSpPr>
          <p:cNvPr id="26" name="Text-227"/>
          <p:cNvSpPr txBox="1"/>
          <p:nvPr/>
        </p:nvSpPr>
        <p:spPr>
          <a:xfrm>
            <a:off x="6004560" y="4242816"/>
            <a:ext cx="202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€300–800/year</a:t>
            </a:r>
            <a:endParaRPr lang="en-US" sz="2100" dirty="0"/>
          </a:p>
        </p:txBody>
      </p:sp>
      <p:sp>
        <p:nvSpPr>
          <p:cNvPr id="27" name="Text-228"/>
          <p:cNvSpPr txBox="1"/>
          <p:nvPr/>
        </p:nvSpPr>
        <p:spPr>
          <a:xfrm>
            <a:off x="6004560" y="4818888"/>
            <a:ext cx="2023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€49/teacher · events · publishers · agencies · B2B/SDK</a:t>
            </a:r>
            <a:endParaRPr lang="en-US" sz="1200" dirty="0"/>
          </a:p>
        </p:txBody>
      </p:sp>
      <p:sp>
        <p:nvSpPr>
          <p:cNvPr id="28" name="Card-229"/>
          <p:cNvSpPr/>
          <p:nvPr/>
        </p:nvSpPr>
        <p:spPr>
          <a:xfrm>
            <a:off x="8503920" y="1554480"/>
            <a:ext cx="3139135" cy="4224528"/>
          </a:xfrm>
          <a:prstGeom prst="roundRect">
            <a:avLst>
              <a:gd name="adj" fmla="val 3495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9" name="Text-230"/>
          <p:cNvSpPr txBox="1"/>
          <p:nvPr/>
        </p:nvSpPr>
        <p:spPr>
          <a:xfrm>
            <a:off x="8732520" y="1719072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anchors</a:t>
            </a:r>
            <a:endParaRPr lang="en-US" sz="1600" dirty="0"/>
          </a:p>
        </p:txBody>
      </p:sp>
      <p:sp>
        <p:nvSpPr>
          <p:cNvPr id="30" name="Text-231"/>
          <p:cNvSpPr txBox="1"/>
          <p:nvPr/>
        </p:nvSpPr>
        <p:spPr>
          <a:xfrm>
            <a:off x="8732520" y="2148840"/>
            <a:ext cx="26819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Streamlabs Ultra USD 27/month [S 11, 12]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StreamYard ~35 · Restream ~16 USD [S 12]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Voicemod ~USD 10/month [S 13]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 school licence €250–700/year [S 41]</a:t>
            </a:r>
            <a:endParaRPr lang="en-US" sz="1200" dirty="0"/>
          </a:p>
        </p:txBody>
      </p:sp>
      <p:sp>
        <p:nvSpPr>
          <p:cNvPr id="31" name="Text-232"/>
          <p:cNvSpPr txBox="1"/>
          <p:nvPr/>
        </p:nvSpPr>
        <p:spPr>
          <a:xfrm>
            <a:off x="8732520" y="4343400"/>
            <a:ext cx="26819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software: marginal cost close to zero. AI only with Pro: USD 0.25–0.75 per stream hour.</a:t>
            </a:r>
            <a:endParaRPr lang="en-US" sz="1300" dirty="0"/>
          </a:p>
        </p:txBody>
      </p:sp>
      <p:sp>
        <p:nvSpPr>
          <p:cNvPr id="32" name="Text-233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BUSINESSPLAN.en.md §9, §15.6 · vision and licence prices are estimates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DIFFERENTIATION &amp; RISKS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trigger that is always there: the voice</a:t>
            </a:r>
            <a:endParaRPr lang="en-US" sz="3200" dirty="0"/>
          </a:p>
        </p:txBody>
      </p:sp>
      <p:sp>
        <p:nvSpPr>
          <p:cNvPr id="4" name="Matrix-highlight"/>
          <p:cNvSpPr/>
          <p:nvPr/>
        </p:nvSpPr>
        <p:spPr>
          <a:xfrm>
            <a:off x="2880360" y="1554480"/>
            <a:ext cx="868680" cy="3584448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5" name="Text-234"/>
          <p:cNvSpPr txBox="1"/>
          <p:nvPr/>
        </p:nvSpPr>
        <p:spPr>
          <a:xfrm>
            <a:off x="2880360" y="15544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1100" dirty="0"/>
          </a:p>
        </p:txBody>
      </p:sp>
      <p:sp>
        <p:nvSpPr>
          <p:cNvPr id="6" name="Text-235"/>
          <p:cNvSpPr txBox="1"/>
          <p:nvPr/>
        </p:nvSpPr>
        <p:spPr>
          <a:xfrm>
            <a:off x="3749040" y="15544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1100" dirty="0"/>
          </a:p>
        </p:txBody>
      </p:sp>
      <p:sp>
        <p:nvSpPr>
          <p:cNvPr id="7" name="Text-236"/>
          <p:cNvSpPr txBox="1"/>
          <p:nvPr/>
        </p:nvSpPr>
        <p:spPr>
          <a:xfrm>
            <a:off x="4617720" y="15544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Voicemod</a:t>
            </a:r>
            <a:endParaRPr lang="en-US" sz="1100" dirty="0"/>
          </a:p>
        </p:txBody>
      </p:sp>
      <p:sp>
        <p:nvSpPr>
          <p:cNvPr id="8" name="Text-237"/>
          <p:cNvSpPr txBox="1"/>
          <p:nvPr/>
        </p:nvSpPr>
        <p:spPr>
          <a:xfrm>
            <a:off x="5486400" y="15544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</a:t>
            </a:r>
            <a:endParaRPr lang="en-US" sz="1100" dirty="0"/>
          </a:p>
        </p:txBody>
      </p:sp>
      <p:sp>
        <p:nvSpPr>
          <p:cNvPr id="9" name="Text-238"/>
          <p:cNvSpPr txBox="1"/>
          <p:nvPr/>
        </p:nvSpPr>
        <p:spPr>
          <a:xfrm>
            <a:off x="6355080" y="15544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Editors</a:t>
            </a:r>
            <a:endParaRPr lang="en-US" sz="1100" dirty="0"/>
          </a:p>
        </p:txBody>
      </p:sp>
      <p:sp>
        <p:nvSpPr>
          <p:cNvPr id="10" name="Rule-239"/>
          <p:cNvSpPr/>
          <p:nvPr/>
        </p:nvSpPr>
        <p:spPr>
          <a:xfrm>
            <a:off x="548640" y="2066544"/>
            <a:ext cx="66751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11" name="Text-240"/>
          <p:cNvSpPr txBox="1"/>
          <p:nvPr/>
        </p:nvSpPr>
        <p:spPr>
          <a:xfrm>
            <a:off x="548640" y="206654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Voice-driven</a:t>
            </a:r>
            <a:endParaRPr lang="en-US" sz="1300" dirty="0"/>
          </a:p>
        </p:txBody>
      </p:sp>
      <p:sp>
        <p:nvSpPr>
          <p:cNvPr id="12" name="Mark-241"/>
          <p:cNvSpPr/>
          <p:nvPr/>
        </p:nvSpPr>
        <p:spPr>
          <a:xfrm>
            <a:off x="3204972" y="2212848"/>
            <a:ext cx="219456" cy="219456"/>
          </a:xfrm>
          <a:prstGeom prst="ellipse">
            <a:avLst/>
          </a:prstGeom>
          <a:solidFill>
            <a:srgbClr val="FF2D75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13" name="Mark-242"/>
          <p:cNvSpPr/>
          <p:nvPr/>
        </p:nvSpPr>
        <p:spPr>
          <a:xfrm>
            <a:off x="4073652" y="2212848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14" name="Mark-243"/>
          <p:cNvSpPr/>
          <p:nvPr/>
        </p:nvSpPr>
        <p:spPr>
          <a:xfrm>
            <a:off x="4942332" y="2212848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15" name="Mark-244"/>
          <p:cNvSpPr/>
          <p:nvPr/>
        </p:nvSpPr>
        <p:spPr>
          <a:xfrm>
            <a:off x="5811012" y="2212848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16" name="Mark-245"/>
          <p:cNvSpPr/>
          <p:nvPr/>
        </p:nvSpPr>
        <p:spPr>
          <a:xfrm>
            <a:off x="6679692" y="2212848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17" name="Rule-246"/>
          <p:cNvSpPr/>
          <p:nvPr/>
        </p:nvSpPr>
        <p:spPr>
          <a:xfrm>
            <a:off x="548640" y="2578608"/>
            <a:ext cx="66751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18" name="Text-247"/>
          <p:cNvSpPr txBox="1"/>
          <p:nvPr/>
        </p:nvSpPr>
        <p:spPr>
          <a:xfrm>
            <a:off x="548640" y="257860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Turkish / 3 languages</a:t>
            </a:r>
            <a:endParaRPr lang="en-US" sz="1300" dirty="0"/>
          </a:p>
        </p:txBody>
      </p:sp>
      <p:sp>
        <p:nvSpPr>
          <p:cNvPr id="19" name="Mark-248"/>
          <p:cNvSpPr/>
          <p:nvPr/>
        </p:nvSpPr>
        <p:spPr>
          <a:xfrm>
            <a:off x="3204972" y="2724912"/>
            <a:ext cx="219456" cy="219456"/>
          </a:xfrm>
          <a:prstGeom prst="ellipse">
            <a:avLst/>
          </a:prstGeom>
          <a:solidFill>
            <a:srgbClr val="FF2D75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20" name="Mark-249"/>
          <p:cNvSpPr/>
          <p:nvPr/>
        </p:nvSpPr>
        <p:spPr>
          <a:xfrm>
            <a:off x="4073652" y="2724912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21" name="Mark-250"/>
          <p:cNvSpPr/>
          <p:nvPr/>
        </p:nvSpPr>
        <p:spPr>
          <a:xfrm>
            <a:off x="4942332" y="2724912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22" name="Mark-251"/>
          <p:cNvSpPr/>
          <p:nvPr/>
        </p:nvSpPr>
        <p:spPr>
          <a:xfrm>
            <a:off x="5811012" y="2724912"/>
            <a:ext cx="219456" cy="219456"/>
          </a:xfrm>
          <a:prstGeom prst="ellipse">
            <a:avLst/>
          </a:prstGeom>
          <a:solidFill>
            <a:srgbClr val="FFD166">
              <a:alpha val="65000"/>
            </a:srgbClr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23" name="Mark-252"/>
          <p:cNvSpPr/>
          <p:nvPr/>
        </p:nvSpPr>
        <p:spPr>
          <a:xfrm>
            <a:off x="6679692" y="2724912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Rule-253"/>
          <p:cNvSpPr/>
          <p:nvPr/>
        </p:nvSpPr>
        <p:spPr>
          <a:xfrm>
            <a:off x="548640" y="3090672"/>
            <a:ext cx="66751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25" name="Text-254"/>
          <p:cNvSpPr txBox="1"/>
          <p:nvPr/>
        </p:nvSpPr>
        <p:spPr>
          <a:xfrm>
            <a:off x="548640" y="309067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Story/scene mode</a:t>
            </a:r>
            <a:endParaRPr lang="en-US" sz="1300" dirty="0"/>
          </a:p>
        </p:txBody>
      </p:sp>
      <p:sp>
        <p:nvSpPr>
          <p:cNvPr id="26" name="Mark-255"/>
          <p:cNvSpPr/>
          <p:nvPr/>
        </p:nvSpPr>
        <p:spPr>
          <a:xfrm>
            <a:off x="3204972" y="3236976"/>
            <a:ext cx="219456" cy="219456"/>
          </a:xfrm>
          <a:prstGeom prst="ellipse">
            <a:avLst/>
          </a:prstGeom>
          <a:solidFill>
            <a:srgbClr val="FF2D75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27" name="Mark-256"/>
          <p:cNvSpPr/>
          <p:nvPr/>
        </p:nvSpPr>
        <p:spPr>
          <a:xfrm>
            <a:off x="4073652" y="3236976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28" name="Mark-257"/>
          <p:cNvSpPr/>
          <p:nvPr/>
        </p:nvSpPr>
        <p:spPr>
          <a:xfrm>
            <a:off x="4942332" y="3236976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29" name="Mark-258"/>
          <p:cNvSpPr/>
          <p:nvPr/>
        </p:nvSpPr>
        <p:spPr>
          <a:xfrm>
            <a:off x="5811012" y="3236976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30" name="Mark-259"/>
          <p:cNvSpPr/>
          <p:nvPr/>
        </p:nvSpPr>
        <p:spPr>
          <a:xfrm>
            <a:off x="6679692" y="3236976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31" name="Rule-260"/>
          <p:cNvSpPr/>
          <p:nvPr/>
        </p:nvSpPr>
        <p:spPr>
          <a:xfrm>
            <a:off x="548640" y="3602736"/>
            <a:ext cx="66751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32" name="Text-261"/>
          <p:cNvSpPr txBox="1"/>
          <p:nvPr/>
        </p:nvSpPr>
        <p:spPr>
          <a:xfrm>
            <a:off x="548640" y="3602736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/ offline</a:t>
            </a:r>
            <a:endParaRPr lang="en-US" sz="1300" dirty="0"/>
          </a:p>
        </p:txBody>
      </p:sp>
      <p:sp>
        <p:nvSpPr>
          <p:cNvPr id="33" name="Mark-262"/>
          <p:cNvSpPr/>
          <p:nvPr/>
        </p:nvSpPr>
        <p:spPr>
          <a:xfrm>
            <a:off x="3204972" y="3749040"/>
            <a:ext cx="219456" cy="219456"/>
          </a:xfrm>
          <a:prstGeom prst="ellipse">
            <a:avLst/>
          </a:prstGeom>
          <a:solidFill>
            <a:srgbClr val="FF2D75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34" name="Mark-263"/>
          <p:cNvSpPr/>
          <p:nvPr/>
        </p:nvSpPr>
        <p:spPr>
          <a:xfrm>
            <a:off x="4073652" y="3749040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35" name="Mark-264"/>
          <p:cNvSpPr/>
          <p:nvPr/>
        </p:nvSpPr>
        <p:spPr>
          <a:xfrm>
            <a:off x="4942332" y="3749040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Mark-265"/>
          <p:cNvSpPr/>
          <p:nvPr/>
        </p:nvSpPr>
        <p:spPr>
          <a:xfrm>
            <a:off x="5811012" y="3749040"/>
            <a:ext cx="219456" cy="219456"/>
          </a:xfrm>
          <a:prstGeom prst="ellipse">
            <a:avLst/>
          </a:prstGeom>
          <a:solidFill>
            <a:srgbClr val="FFD166">
              <a:alpha val="65000"/>
            </a:srgbClr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37" name="Mark-266"/>
          <p:cNvSpPr/>
          <p:nvPr/>
        </p:nvSpPr>
        <p:spPr>
          <a:xfrm>
            <a:off x="6679692" y="3749040"/>
            <a:ext cx="219456" cy="219456"/>
          </a:xfrm>
          <a:prstGeom prst="ellipse">
            <a:avLst/>
          </a:prstGeom>
          <a:solidFill>
            <a:srgbClr val="FFD166">
              <a:alpha val="65000"/>
            </a:srgbClr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38" name="Rule-267"/>
          <p:cNvSpPr/>
          <p:nvPr/>
        </p:nvSpPr>
        <p:spPr>
          <a:xfrm>
            <a:off x="548640" y="4114800"/>
            <a:ext cx="66751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39" name="Text-268"/>
          <p:cNvSpPr txBox="1"/>
          <p:nvPr/>
        </p:nvSpPr>
        <p:spPr>
          <a:xfrm>
            <a:off x="548640" y="411480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API</a:t>
            </a:r>
            <a:endParaRPr lang="en-US" sz="1300" dirty="0"/>
          </a:p>
        </p:txBody>
      </p:sp>
      <p:sp>
        <p:nvSpPr>
          <p:cNvPr id="40" name="Mark-269"/>
          <p:cNvSpPr/>
          <p:nvPr/>
        </p:nvSpPr>
        <p:spPr>
          <a:xfrm>
            <a:off x="3204972" y="4261104"/>
            <a:ext cx="219456" cy="219456"/>
          </a:xfrm>
          <a:prstGeom prst="ellipse">
            <a:avLst/>
          </a:prstGeom>
          <a:solidFill>
            <a:srgbClr val="FF2D75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41" name="Mark-270"/>
          <p:cNvSpPr/>
          <p:nvPr/>
        </p:nvSpPr>
        <p:spPr>
          <a:xfrm>
            <a:off x="4073652" y="4261104"/>
            <a:ext cx="219456" cy="219456"/>
          </a:xfrm>
          <a:prstGeom prst="ellipse">
            <a:avLst/>
          </a:prstGeom>
          <a:solidFill>
            <a:srgbClr val="FFD166">
              <a:alpha val="65000"/>
            </a:srgbClr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42" name="Mark-271"/>
          <p:cNvSpPr/>
          <p:nvPr/>
        </p:nvSpPr>
        <p:spPr>
          <a:xfrm>
            <a:off x="4942332" y="4261104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43" name="Mark-272"/>
          <p:cNvSpPr/>
          <p:nvPr/>
        </p:nvSpPr>
        <p:spPr>
          <a:xfrm>
            <a:off x="5811012" y="4261104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44" name="Mark-273"/>
          <p:cNvSpPr/>
          <p:nvPr/>
        </p:nvSpPr>
        <p:spPr>
          <a:xfrm>
            <a:off x="6679692" y="4261104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45" name="Rule-274"/>
          <p:cNvSpPr/>
          <p:nvPr/>
        </p:nvSpPr>
        <p:spPr>
          <a:xfrm>
            <a:off x="548640" y="4626864"/>
            <a:ext cx="66751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46" name="Text-275"/>
          <p:cNvSpPr txBox="1"/>
          <p:nvPr/>
        </p:nvSpPr>
        <p:spPr>
          <a:xfrm>
            <a:off x="548640" y="462686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(not after the fact)</a:t>
            </a:r>
            <a:endParaRPr lang="en-US" sz="1300" dirty="0"/>
          </a:p>
        </p:txBody>
      </p:sp>
      <p:sp>
        <p:nvSpPr>
          <p:cNvPr id="47" name="Mark-276"/>
          <p:cNvSpPr/>
          <p:nvPr/>
        </p:nvSpPr>
        <p:spPr>
          <a:xfrm>
            <a:off x="3204972" y="4773168"/>
            <a:ext cx="219456" cy="219456"/>
          </a:xfrm>
          <a:prstGeom prst="ellipse">
            <a:avLst/>
          </a:prstGeom>
          <a:solidFill>
            <a:srgbClr val="FF2D75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48" name="Mark-277"/>
          <p:cNvSpPr/>
          <p:nvPr/>
        </p:nvSpPr>
        <p:spPr>
          <a:xfrm>
            <a:off x="4073652" y="4773168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9" name="Mark-278"/>
          <p:cNvSpPr/>
          <p:nvPr/>
        </p:nvSpPr>
        <p:spPr>
          <a:xfrm>
            <a:off x="4942332" y="4773168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0" name="Mark-279"/>
          <p:cNvSpPr/>
          <p:nvPr/>
        </p:nvSpPr>
        <p:spPr>
          <a:xfrm>
            <a:off x="5811012" y="4773168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Mark-280"/>
          <p:cNvSpPr/>
          <p:nvPr/>
        </p:nvSpPr>
        <p:spPr>
          <a:xfrm>
            <a:off x="6679692" y="4773168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52" name="Mark-281"/>
          <p:cNvSpPr/>
          <p:nvPr/>
        </p:nvSpPr>
        <p:spPr>
          <a:xfrm>
            <a:off x="548640" y="5285232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3" name="Text-282"/>
          <p:cNvSpPr txBox="1"/>
          <p:nvPr/>
        </p:nvSpPr>
        <p:spPr>
          <a:xfrm>
            <a:off x="86868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54" name="Mark-283"/>
          <p:cNvSpPr/>
          <p:nvPr/>
        </p:nvSpPr>
        <p:spPr>
          <a:xfrm>
            <a:off x="2286000" y="5285232"/>
            <a:ext cx="219456" cy="219456"/>
          </a:xfrm>
          <a:prstGeom prst="ellipse">
            <a:avLst/>
          </a:prstGeom>
          <a:solidFill>
            <a:srgbClr val="FFD166">
              <a:alpha val="65000"/>
            </a:srgbClr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55" name="Text-284"/>
          <p:cNvSpPr txBox="1"/>
          <p:nvPr/>
        </p:nvSpPr>
        <p:spPr>
          <a:xfrm>
            <a:off x="260604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partly</a:t>
            </a:r>
            <a:endParaRPr lang="en-US" sz="1100" dirty="0"/>
          </a:p>
        </p:txBody>
      </p:sp>
      <p:sp>
        <p:nvSpPr>
          <p:cNvPr id="56" name="Mark-285"/>
          <p:cNvSpPr/>
          <p:nvPr/>
        </p:nvSpPr>
        <p:spPr>
          <a:xfrm>
            <a:off x="4023360" y="5285232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57" name="Text-286"/>
          <p:cNvSpPr txBox="1"/>
          <p:nvPr/>
        </p:nvSpPr>
        <p:spPr>
          <a:xfrm>
            <a:off x="434340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58" name="Text-287"/>
          <p:cNvSpPr txBox="1"/>
          <p:nvPr/>
        </p:nvSpPr>
        <p:spPr>
          <a:xfrm>
            <a:off x="7589520" y="155448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– named up front</a:t>
            </a:r>
            <a:endParaRPr lang="en-US" sz="1600" dirty="0"/>
          </a:p>
        </p:txBody>
      </p:sp>
      <p:sp>
        <p:nvSpPr>
          <p:cNvPr id="59" name="Badge-288"/>
          <p:cNvSpPr txBox="1"/>
          <p:nvPr/>
        </p:nvSpPr>
        <p:spPr>
          <a:xfrm>
            <a:off x="7589520" y="205740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60" name="Text-289"/>
          <p:cNvSpPr txBox="1"/>
          <p:nvPr/>
        </p:nvSpPr>
        <p:spPr>
          <a:xfrm>
            <a:off x="8001000" y="2011680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unproven</a:t>
            </a:r>
            <a:endParaRPr lang="en-US" sz="1300" dirty="0"/>
          </a:p>
        </p:txBody>
      </p:sp>
      <p:sp>
        <p:nvSpPr>
          <p:cNvPr id="61" name="Text-290"/>
          <p:cNvSpPr txBox="1"/>
          <p:nvPr/>
        </p:nvSpPr>
        <p:spPr>
          <a:xfrm>
            <a:off x="8001000" y="2304288"/>
            <a:ext cx="3642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gates, budget only after release</a:t>
            </a:r>
            <a:endParaRPr lang="en-US" sz="1100" dirty="0"/>
          </a:p>
        </p:txBody>
      </p:sp>
      <p:sp>
        <p:nvSpPr>
          <p:cNvPr id="62" name="Badge-291"/>
          <p:cNvSpPr txBox="1"/>
          <p:nvPr/>
        </p:nvSpPr>
        <p:spPr>
          <a:xfrm>
            <a:off x="7589520" y="283464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63" name="Text-292"/>
          <p:cNvSpPr txBox="1"/>
          <p:nvPr/>
        </p:nvSpPr>
        <p:spPr>
          <a:xfrm>
            <a:off x="8001000" y="2788920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platform copies it</a:t>
            </a:r>
            <a:endParaRPr lang="en-US" sz="1300" dirty="0"/>
          </a:p>
        </p:txBody>
      </p:sp>
      <p:sp>
        <p:nvSpPr>
          <p:cNvPr id="64" name="Text-293"/>
          <p:cNvSpPr txBox="1"/>
          <p:nvPr/>
        </p:nvSpPr>
        <p:spPr>
          <a:xfrm>
            <a:off x="8001000" y="3081528"/>
            <a:ext cx="3642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pilot, language packs as a moat</a:t>
            </a:r>
            <a:endParaRPr lang="en-US" sz="1100" dirty="0"/>
          </a:p>
        </p:txBody>
      </p:sp>
      <p:sp>
        <p:nvSpPr>
          <p:cNvPr id="65" name="Badge-294"/>
          <p:cNvSpPr txBox="1"/>
          <p:nvPr/>
        </p:nvSpPr>
        <p:spPr>
          <a:xfrm>
            <a:off x="7589520" y="361188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66" name="Text-295"/>
          <p:cNvSpPr txBox="1"/>
          <p:nvPr/>
        </p:nvSpPr>
        <p:spPr>
          <a:xfrm>
            <a:off x="8001000" y="3566160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creators without OBS</a:t>
            </a:r>
            <a:endParaRPr lang="en-US" sz="1300" dirty="0"/>
          </a:p>
        </p:txBody>
      </p:sp>
      <p:sp>
        <p:nvSpPr>
          <p:cNvPr id="67" name="Text-296"/>
          <p:cNvSpPr txBox="1"/>
          <p:nvPr/>
        </p:nvSpPr>
        <p:spPr>
          <a:xfrm>
            <a:off x="8001000" y="3858768"/>
            <a:ext cx="3642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developer first</a:t>
            </a:r>
            <a:endParaRPr lang="en-US" sz="1100" dirty="0"/>
          </a:p>
        </p:txBody>
      </p:sp>
      <p:sp>
        <p:nvSpPr>
          <p:cNvPr id="68" name="Badge-297"/>
          <p:cNvSpPr txBox="1"/>
          <p:nvPr/>
        </p:nvSpPr>
        <p:spPr>
          <a:xfrm>
            <a:off x="7589520" y="438912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69" name="Text-298"/>
          <p:cNvSpPr txBox="1"/>
          <p:nvPr/>
        </p:nvSpPr>
        <p:spPr>
          <a:xfrm>
            <a:off x="8001000" y="4343400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protection school/family</a:t>
            </a:r>
            <a:endParaRPr lang="en-US" sz="1300" dirty="0"/>
          </a:p>
        </p:txBody>
      </p:sp>
      <p:sp>
        <p:nvSpPr>
          <p:cNvPr id="70" name="Text-299"/>
          <p:cNvSpPr txBox="1"/>
          <p:nvPr/>
        </p:nvSpPr>
        <p:spPr>
          <a:xfrm>
            <a:off x="8001000" y="4636008"/>
            <a:ext cx="3642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Local, no accounts, on-device ASR</a:t>
            </a:r>
            <a:endParaRPr lang="en-US" sz="1100" dirty="0"/>
          </a:p>
        </p:txBody>
      </p:sp>
      <p:sp>
        <p:nvSpPr>
          <p:cNvPr id="71" name="Badge-300"/>
          <p:cNvSpPr txBox="1"/>
          <p:nvPr/>
        </p:nvSpPr>
        <p:spPr>
          <a:xfrm>
            <a:off x="7589520" y="516636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72" name="Text-301"/>
          <p:cNvSpPr txBox="1"/>
          <p:nvPr/>
        </p:nvSpPr>
        <p:spPr>
          <a:xfrm>
            <a:off x="8001000" y="5120640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spreads the team</a:t>
            </a:r>
            <a:endParaRPr lang="en-US" sz="1300" dirty="0"/>
          </a:p>
        </p:txBody>
      </p:sp>
      <p:sp>
        <p:nvSpPr>
          <p:cNvPr id="73" name="Text-302"/>
          <p:cNvSpPr txBox="1"/>
          <p:nvPr/>
        </p:nvSpPr>
        <p:spPr>
          <a:xfrm>
            <a:off x="8001000" y="5413248"/>
            <a:ext cx="3642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funds WordPicture only; rest in the seed</a:t>
            </a:r>
            <a:endParaRPr lang="en-US" sz="1100" dirty="0"/>
          </a:p>
        </p:txBody>
      </p:sp>
      <p:sp>
        <p:nvSpPr>
          <p:cNvPr id="74" name="Text-303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BUSINESSPLAN.en.md §7, §13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ROADMAP &amp; GO-TO-MARKET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Launch. Monetise. Expand</a:t>
            </a:r>
            <a:endParaRPr lang="en-US" sz="3200" dirty="0"/>
          </a:p>
        </p:txBody>
      </p:sp>
      <p:sp>
        <p:nvSpPr>
          <p:cNvPr id="4" name="Timeline"/>
          <p:cNvSpPr/>
          <p:nvPr/>
        </p:nvSpPr>
        <p:spPr>
          <a:xfrm>
            <a:off x="1341098" y="2148840"/>
            <a:ext cx="9509499" cy="0"/>
          </a:xfrm>
          <a:prstGeom prst="line">
            <a:avLst/>
          </a:prstGeom>
          <a:noFill/>
          <a:ln w="25400">
            <a:solidFill>
              <a:srgbClr val="2A2E38"/>
            </a:solidFill>
            <a:prstDash val="solid"/>
          </a:ln>
        </p:spPr>
      </p:sp>
      <p:sp>
        <p:nvSpPr>
          <p:cNvPr id="5" name="Text-304"/>
          <p:cNvSpPr txBox="1"/>
          <p:nvPr/>
        </p:nvSpPr>
        <p:spPr>
          <a:xfrm>
            <a:off x="548640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200" dirty="0"/>
          </a:p>
        </p:txBody>
      </p:sp>
      <p:sp>
        <p:nvSpPr>
          <p:cNvPr id="6" name="Badge-305"/>
          <p:cNvSpPr txBox="1"/>
          <p:nvPr/>
        </p:nvSpPr>
        <p:spPr>
          <a:xfrm>
            <a:off x="1194794" y="2002536"/>
            <a:ext cx="292608" cy="29260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-306"/>
          <p:cNvSpPr txBox="1"/>
          <p:nvPr/>
        </p:nvSpPr>
        <p:spPr>
          <a:xfrm>
            <a:off x="594360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v2.1 + TR launch</a:t>
            </a:r>
            <a:endParaRPr lang="en-US" sz="1500" dirty="0"/>
          </a:p>
        </p:txBody>
      </p:sp>
      <p:sp>
        <p:nvSpPr>
          <p:cNvPr id="8" name="Text-307"/>
          <p:cNvSpPr txBox="1"/>
          <p:nvPr/>
        </p:nvSpPr>
        <p:spPr>
          <a:xfrm>
            <a:off x="621792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mode, 143 stickers, safe GIFs</a:t>
            </a:r>
            <a:endParaRPr lang="en-US" sz="1100" dirty="0"/>
          </a:p>
        </p:txBody>
      </p:sp>
      <p:sp>
        <p:nvSpPr>
          <p:cNvPr id="9" name="Text-308"/>
          <p:cNvSpPr txBox="1"/>
          <p:nvPr/>
        </p:nvSpPr>
        <p:spPr>
          <a:xfrm>
            <a:off x="2133556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Jan 2027</a:t>
            </a:r>
            <a:endParaRPr lang="en-US" sz="1200" dirty="0"/>
          </a:p>
        </p:txBody>
      </p:sp>
      <p:sp>
        <p:nvSpPr>
          <p:cNvPr id="10" name="Badge-309"/>
          <p:cNvSpPr txBox="1"/>
          <p:nvPr/>
        </p:nvSpPr>
        <p:spPr>
          <a:xfrm>
            <a:off x="2779711" y="2002536"/>
            <a:ext cx="292608" cy="29260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-310"/>
          <p:cNvSpPr txBox="1"/>
          <p:nvPr/>
        </p:nvSpPr>
        <p:spPr>
          <a:xfrm>
            <a:off x="2179276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€250k</a:t>
            </a:r>
            <a:endParaRPr lang="en-US" sz="1500" dirty="0"/>
          </a:p>
        </p:txBody>
      </p:sp>
      <p:sp>
        <p:nvSpPr>
          <p:cNvPr id="12" name="Text-311"/>
          <p:cNvSpPr txBox="1"/>
          <p:nvPr/>
        </p:nvSpPr>
        <p:spPr>
          <a:xfrm>
            <a:off x="2206708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phase 1, trademark</a:t>
            </a:r>
            <a:endParaRPr lang="en-US" sz="1100" dirty="0"/>
          </a:p>
        </p:txBody>
      </p:sp>
      <p:sp>
        <p:nvSpPr>
          <p:cNvPr id="13" name="Text-312"/>
          <p:cNvSpPr txBox="1"/>
          <p:nvPr/>
        </p:nvSpPr>
        <p:spPr>
          <a:xfrm>
            <a:off x="3718473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1200" dirty="0"/>
          </a:p>
        </p:txBody>
      </p:sp>
      <p:sp>
        <p:nvSpPr>
          <p:cNvPr id="14" name="Badge-313"/>
          <p:cNvSpPr txBox="1"/>
          <p:nvPr/>
        </p:nvSpPr>
        <p:spPr>
          <a:xfrm>
            <a:off x="4364627" y="2002536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-314"/>
          <p:cNvSpPr txBox="1"/>
          <p:nvPr/>
        </p:nvSpPr>
        <p:spPr>
          <a:xfrm>
            <a:off x="3764193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0</a:t>
            </a:r>
            <a:endParaRPr lang="en-US" sz="1500" dirty="0"/>
          </a:p>
        </p:txBody>
      </p:sp>
      <p:sp>
        <p:nvSpPr>
          <p:cNvPr id="16" name="Text-315"/>
          <p:cNvSpPr txBox="1"/>
          <p:nvPr/>
        </p:nvSpPr>
        <p:spPr>
          <a:xfrm>
            <a:off x="3791625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live, developer on board</a:t>
            </a:r>
            <a:endParaRPr lang="en-US" sz="1100" dirty="0"/>
          </a:p>
        </p:txBody>
      </p:sp>
      <p:sp>
        <p:nvSpPr>
          <p:cNvPr id="17" name="Text-316"/>
          <p:cNvSpPr txBox="1"/>
          <p:nvPr/>
        </p:nvSpPr>
        <p:spPr>
          <a:xfrm>
            <a:off x="5303389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1200" dirty="0"/>
          </a:p>
        </p:txBody>
      </p:sp>
      <p:sp>
        <p:nvSpPr>
          <p:cNvPr id="18" name="Badge-317"/>
          <p:cNvSpPr txBox="1"/>
          <p:nvPr/>
        </p:nvSpPr>
        <p:spPr>
          <a:xfrm>
            <a:off x="5949544" y="2002536"/>
            <a:ext cx="292608" cy="29260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-318"/>
          <p:cNvSpPr txBox="1"/>
          <p:nvPr/>
        </p:nvSpPr>
        <p:spPr>
          <a:xfrm>
            <a:off x="5349109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</a:t>
            </a:r>
            <a:endParaRPr lang="en-US" sz="1500" dirty="0"/>
          </a:p>
        </p:txBody>
      </p:sp>
      <p:sp>
        <p:nvSpPr>
          <p:cNvPr id="20" name="Text-319"/>
          <p:cNvSpPr txBox="1"/>
          <p:nvPr/>
        </p:nvSpPr>
        <p:spPr>
          <a:xfrm>
            <a:off x="5376541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app/PWA; WordPicture 300 words</a:t>
            </a:r>
            <a:endParaRPr lang="en-US" sz="1100" dirty="0"/>
          </a:p>
        </p:txBody>
      </p:sp>
      <p:sp>
        <p:nvSpPr>
          <p:cNvPr id="21" name="Text-320"/>
          <p:cNvSpPr txBox="1"/>
          <p:nvPr/>
        </p:nvSpPr>
        <p:spPr>
          <a:xfrm>
            <a:off x="6888306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7–9</a:t>
            </a:r>
            <a:endParaRPr lang="en-US" sz="1200" dirty="0"/>
          </a:p>
        </p:txBody>
      </p:sp>
      <p:sp>
        <p:nvSpPr>
          <p:cNvPr id="22" name="Badge-321"/>
          <p:cNvSpPr txBox="1"/>
          <p:nvPr/>
        </p:nvSpPr>
        <p:spPr>
          <a:xfrm>
            <a:off x="7534460" y="2002536"/>
            <a:ext cx="292608" cy="29260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3" name="Text-322"/>
          <p:cNvSpPr txBox="1"/>
          <p:nvPr/>
        </p:nvSpPr>
        <p:spPr>
          <a:xfrm>
            <a:off x="6934026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DE/EN + pilot</a:t>
            </a:r>
            <a:endParaRPr lang="en-US" sz="1500" dirty="0"/>
          </a:p>
        </p:txBody>
      </p:sp>
      <p:sp>
        <p:nvSpPr>
          <p:cNvPr id="24" name="Text-323"/>
          <p:cNvSpPr txBox="1"/>
          <p:nvPr/>
        </p:nvSpPr>
        <p:spPr>
          <a:xfrm>
            <a:off x="6961458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or education pilot</a:t>
            </a:r>
            <a:endParaRPr lang="en-US" sz="1100" dirty="0"/>
          </a:p>
        </p:txBody>
      </p:sp>
      <p:sp>
        <p:nvSpPr>
          <p:cNvPr id="25" name="Text-324"/>
          <p:cNvSpPr txBox="1"/>
          <p:nvPr/>
        </p:nvSpPr>
        <p:spPr>
          <a:xfrm>
            <a:off x="8473222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12</a:t>
            </a:r>
            <a:endParaRPr lang="en-US" sz="1200" dirty="0"/>
          </a:p>
        </p:txBody>
      </p:sp>
      <p:sp>
        <p:nvSpPr>
          <p:cNvPr id="26" name="Badge-325"/>
          <p:cNvSpPr txBox="1"/>
          <p:nvPr/>
        </p:nvSpPr>
        <p:spPr>
          <a:xfrm>
            <a:off x="9119377" y="2002536"/>
            <a:ext cx="292608" cy="29260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7" name="Text-326"/>
          <p:cNvSpPr txBox="1"/>
          <p:nvPr/>
        </p:nvSpPr>
        <p:spPr>
          <a:xfrm>
            <a:off x="8518942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2a</a:t>
            </a:r>
            <a:endParaRPr lang="en-US" sz="1500" dirty="0"/>
          </a:p>
        </p:txBody>
      </p:sp>
      <p:sp>
        <p:nvSpPr>
          <p:cNvPr id="28" name="Text-327"/>
          <p:cNvSpPr txBox="1"/>
          <p:nvPr/>
        </p:nvSpPr>
        <p:spPr>
          <a:xfrm>
            <a:off x="8546374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Traction; seed talks start</a:t>
            </a:r>
            <a:endParaRPr lang="en-US" sz="1100" dirty="0"/>
          </a:p>
        </p:txBody>
      </p:sp>
      <p:sp>
        <p:nvSpPr>
          <p:cNvPr id="29" name="Text-328"/>
          <p:cNvSpPr txBox="1"/>
          <p:nvPr/>
        </p:nvSpPr>
        <p:spPr>
          <a:xfrm>
            <a:off x="10058139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18</a:t>
            </a:r>
            <a:endParaRPr lang="en-US" sz="1200" dirty="0"/>
          </a:p>
        </p:txBody>
      </p:sp>
      <p:sp>
        <p:nvSpPr>
          <p:cNvPr id="30" name="Badge-329"/>
          <p:cNvSpPr txBox="1"/>
          <p:nvPr/>
        </p:nvSpPr>
        <p:spPr>
          <a:xfrm>
            <a:off x="10704293" y="2002536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1" name="Text-330"/>
          <p:cNvSpPr txBox="1"/>
          <p:nvPr/>
        </p:nvSpPr>
        <p:spPr>
          <a:xfrm>
            <a:off x="10103859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 → seed</a:t>
            </a:r>
            <a:endParaRPr lang="en-US" sz="1500" dirty="0"/>
          </a:p>
        </p:txBody>
      </p:sp>
      <p:sp>
        <p:nvSpPr>
          <p:cNvPr id="32" name="Text-331"/>
          <p:cNvSpPr txBox="1"/>
          <p:nvPr/>
        </p:nvSpPr>
        <p:spPr>
          <a:xfrm>
            <a:off x="10131291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€350k; story engine, Studio, VR</a:t>
            </a:r>
            <a:endParaRPr lang="en-US" sz="1100" dirty="0"/>
          </a:p>
        </p:txBody>
      </p:sp>
      <p:sp>
        <p:nvSpPr>
          <p:cNvPr id="33" name="Card-332"/>
          <p:cNvSpPr/>
          <p:nvPr/>
        </p:nvSpPr>
        <p:spPr>
          <a:xfrm>
            <a:off x="548640" y="4297680"/>
            <a:ext cx="2622728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4" name="Text-333"/>
          <p:cNvSpPr txBox="1"/>
          <p:nvPr/>
        </p:nvSpPr>
        <p:spPr>
          <a:xfrm>
            <a:off x="749808" y="448056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TR community</a:t>
            </a:r>
            <a:endParaRPr lang="en-US" sz="1500" dirty="0"/>
          </a:p>
        </p:txBody>
      </p:sp>
      <p:sp>
        <p:nvSpPr>
          <p:cNvPr id="35" name="Text-334"/>
          <p:cNvSpPr txBox="1"/>
          <p:nvPr/>
        </p:nvSpPr>
        <p:spPr>
          <a:xfrm>
            <a:off x="749808" y="4919472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1–6: own streams, pack and sticker drops</a:t>
            </a:r>
            <a:endParaRPr lang="en-US" sz="1200" dirty="0"/>
          </a:p>
        </p:txBody>
      </p:sp>
      <p:sp>
        <p:nvSpPr>
          <p:cNvPr id="36" name="Card-335"/>
          <p:cNvSpPr/>
          <p:nvPr/>
        </p:nvSpPr>
        <p:spPr>
          <a:xfrm>
            <a:off x="3372536" y="4297680"/>
            <a:ext cx="2622728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7" name="Text-336"/>
          <p:cNvSpPr txBox="1"/>
          <p:nvPr/>
        </p:nvSpPr>
        <p:spPr>
          <a:xfrm>
            <a:off x="3573704" y="448056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DE/EN</a:t>
            </a:r>
            <a:endParaRPr lang="en-US" sz="1500" dirty="0"/>
          </a:p>
        </p:txBody>
      </p:sp>
      <p:sp>
        <p:nvSpPr>
          <p:cNvPr id="38" name="Text-337"/>
          <p:cNvSpPr txBox="1"/>
          <p:nvPr/>
        </p:nvSpPr>
        <p:spPr>
          <a:xfrm>
            <a:off x="3573704" y="4919472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7–18: read-aloud and education streams</a:t>
            </a:r>
            <a:endParaRPr lang="en-US" sz="1200" dirty="0"/>
          </a:p>
        </p:txBody>
      </p:sp>
      <p:sp>
        <p:nvSpPr>
          <p:cNvPr id="39" name="Card-338"/>
          <p:cNvSpPr/>
          <p:nvPr/>
        </p:nvSpPr>
        <p:spPr>
          <a:xfrm>
            <a:off x="6196432" y="4297680"/>
            <a:ext cx="2622728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0" name="Text-339"/>
          <p:cNvSpPr txBox="1"/>
          <p:nvPr/>
        </p:nvSpPr>
        <p:spPr>
          <a:xfrm>
            <a:off x="6397600" y="448056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Pilot</a:t>
            </a:r>
            <a:endParaRPr lang="en-US" sz="1500" dirty="0"/>
          </a:p>
        </p:txBody>
      </p:sp>
      <p:sp>
        <p:nvSpPr>
          <p:cNvPr id="41" name="Text-340"/>
          <p:cNvSpPr txBox="1"/>
          <p:nvPr/>
        </p:nvSpPr>
        <p:spPr>
          <a:xfrm>
            <a:off x="6397600" y="4919472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month 9: platform (8 weeks, 20 creators) or courses</a:t>
            </a:r>
            <a:endParaRPr lang="en-US" sz="1200" dirty="0"/>
          </a:p>
        </p:txBody>
      </p:sp>
      <p:sp>
        <p:nvSpPr>
          <p:cNvPr id="42" name="Card-341"/>
          <p:cNvSpPr/>
          <p:nvPr/>
        </p:nvSpPr>
        <p:spPr>
          <a:xfrm>
            <a:off x="9020327" y="4297680"/>
            <a:ext cx="2622728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3" name="Text-342"/>
          <p:cNvSpPr txBox="1"/>
          <p:nvPr/>
        </p:nvSpPr>
        <p:spPr>
          <a:xfrm>
            <a:off x="9221495" y="448056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Follow-on round</a:t>
            </a:r>
            <a:endParaRPr lang="en-US" sz="1500" dirty="0"/>
          </a:p>
        </p:txBody>
      </p:sp>
      <p:sp>
        <p:nvSpPr>
          <p:cNvPr id="44" name="Text-343"/>
          <p:cNvSpPr txBox="1"/>
          <p:nvPr/>
        </p:nvSpPr>
        <p:spPr>
          <a:xfrm>
            <a:off x="9221495" y="4919472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month 19: team, story engine, Studio, VR</a:t>
            </a:r>
            <a:endParaRPr lang="en-US" sz="1200" dirty="0"/>
          </a:p>
        </p:txBody>
      </p:sp>
      <p:sp>
        <p:nvSpPr>
          <p:cNvPr id="45" name="Text-344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BUSINESSPLAN.en.md §10, §14.1 · LiveFX_Finanzmodell.xlsx (timeline: closing Jan 2027 = month 1)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USE OF FUNDS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€250,000 over 18 months: execution first</a:t>
            </a:r>
            <a:endParaRPr lang="en-US" sz="3200" dirty="0"/>
          </a:p>
        </p:txBody>
      </p:sp>
      <p:graphicFrame>
        <p:nvGraphicFramePr>
          <p:cNvPr id="4" name="Use-of-funds-donut" descr=""/>
          <p:cNvGraphicFramePr/>
          <p:nvPr/>
        </p:nvGraphicFramePr>
        <p:xfrm>
          <a:off x="548640" y="1463040"/>
          <a:ext cx="4480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-345"/>
          <p:cNvSpPr txBox="1"/>
          <p:nvPr/>
        </p:nvSpPr>
        <p:spPr>
          <a:xfrm>
            <a:off x="164592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€250k</a:t>
            </a:r>
            <a:endParaRPr lang="en-US" sz="3200" dirty="0"/>
          </a:p>
        </p:txBody>
      </p:sp>
      <p:sp>
        <p:nvSpPr>
          <p:cNvPr id="6" name="Text-346"/>
          <p:cNvSpPr txBox="1"/>
          <p:nvPr/>
        </p:nvSpPr>
        <p:spPr>
          <a:xfrm>
            <a:off x="164592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MONTHS</a:t>
            </a:r>
            <a:endParaRPr lang="en-US" sz="1000" dirty="0"/>
          </a:p>
        </p:txBody>
      </p:sp>
      <p:sp>
        <p:nvSpPr>
          <p:cNvPr id="7" name="Pill-347"/>
          <p:cNvSpPr txBox="1"/>
          <p:nvPr/>
        </p:nvSpPr>
        <p:spPr>
          <a:xfrm>
            <a:off x="5486400" y="1508760"/>
            <a:ext cx="457200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– REVIEW WITH TAX/LEGAL ADVISOR</a:t>
            </a:r>
            <a:endParaRPr lang="en-US" sz="1000" dirty="0"/>
          </a:p>
        </p:txBody>
      </p:sp>
      <p:sp>
        <p:nvSpPr>
          <p:cNvPr id="8" name="Key-348"/>
          <p:cNvSpPr/>
          <p:nvPr/>
        </p:nvSpPr>
        <p:spPr>
          <a:xfrm>
            <a:off x="5486400" y="212140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2D75"/>
          </a:solidFill>
          <a:ln/>
        </p:spPr>
      </p:sp>
      <p:sp>
        <p:nvSpPr>
          <p:cNvPr id="9" name="Text-349"/>
          <p:cNvSpPr txBox="1"/>
          <p:nvPr/>
        </p:nvSpPr>
        <p:spPr>
          <a:xfrm>
            <a:off x="5852160" y="19659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400" dirty="0"/>
          </a:p>
        </p:txBody>
      </p:sp>
      <p:sp>
        <p:nvSpPr>
          <p:cNvPr id="10" name="Text-350"/>
          <p:cNvSpPr txBox="1"/>
          <p:nvPr/>
        </p:nvSpPr>
        <p:spPr>
          <a:xfrm>
            <a:off x="6858000" y="1984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Team/product</a:t>
            </a:r>
            <a:endParaRPr lang="en-US" sz="1400" dirty="0"/>
          </a:p>
        </p:txBody>
      </p:sp>
      <p:sp>
        <p:nvSpPr>
          <p:cNvPr id="11" name="Text-351"/>
          <p:cNvSpPr txBox="1"/>
          <p:nvPr/>
        </p:nvSpPr>
        <p:spPr>
          <a:xfrm>
            <a:off x="6858000" y="2267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from M3, founder in part, devices</a:t>
            </a:r>
            <a:endParaRPr lang="en-US" sz="1100" dirty="0"/>
          </a:p>
        </p:txBody>
      </p:sp>
      <p:sp>
        <p:nvSpPr>
          <p:cNvPr id="12" name="Text-352"/>
          <p:cNvSpPr txBox="1"/>
          <p:nvPr/>
        </p:nvSpPr>
        <p:spPr>
          <a:xfrm>
            <a:off x="9905695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€125,000</a:t>
            </a:r>
            <a:endParaRPr lang="en-US" sz="1800" dirty="0"/>
          </a:p>
        </p:txBody>
      </p:sp>
      <p:sp>
        <p:nvSpPr>
          <p:cNvPr id="13" name="Rule-353"/>
          <p:cNvSpPr/>
          <p:nvPr/>
        </p:nvSpPr>
        <p:spPr>
          <a:xfrm>
            <a:off x="5486400" y="2642616"/>
            <a:ext cx="6156655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14" name="Key-354"/>
          <p:cNvSpPr/>
          <p:nvPr/>
        </p:nvSpPr>
        <p:spPr>
          <a:xfrm>
            <a:off x="5486400" y="28895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2DFFB5"/>
          </a:solidFill>
          <a:ln/>
        </p:spPr>
      </p:sp>
      <p:sp>
        <p:nvSpPr>
          <p:cNvPr id="15" name="Text-355"/>
          <p:cNvSpPr txBox="1"/>
          <p:nvPr/>
        </p:nvSpPr>
        <p:spPr>
          <a:xfrm>
            <a:off x="5852160" y="273405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400" dirty="0"/>
          </a:p>
        </p:txBody>
      </p:sp>
      <p:sp>
        <p:nvSpPr>
          <p:cNvPr id="16" name="Text-356"/>
          <p:cNvSpPr txBox="1"/>
          <p:nvPr/>
        </p:nvSpPr>
        <p:spPr>
          <a:xfrm>
            <a:off x="6858000" y="2752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17" name="Text-357"/>
          <p:cNvSpPr txBox="1"/>
          <p:nvPr/>
        </p:nvSpPr>
        <p:spPr>
          <a:xfrm>
            <a:off x="6858000" y="3035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then DE/EN launch, ambassadors, 1 pilot</a:t>
            </a:r>
            <a:endParaRPr lang="en-US" sz="1100" dirty="0"/>
          </a:p>
        </p:txBody>
      </p:sp>
      <p:sp>
        <p:nvSpPr>
          <p:cNvPr id="18" name="Text-358"/>
          <p:cNvSpPr txBox="1"/>
          <p:nvPr/>
        </p:nvSpPr>
        <p:spPr>
          <a:xfrm>
            <a:off x="9905695" y="273405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€50,000</a:t>
            </a:r>
            <a:endParaRPr lang="en-US" sz="1800" dirty="0"/>
          </a:p>
        </p:txBody>
      </p:sp>
      <p:sp>
        <p:nvSpPr>
          <p:cNvPr id="19" name="Rule-359"/>
          <p:cNvSpPr/>
          <p:nvPr/>
        </p:nvSpPr>
        <p:spPr>
          <a:xfrm>
            <a:off x="5486400" y="3410712"/>
            <a:ext cx="6156655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20" name="Key-360"/>
          <p:cNvSpPr/>
          <p:nvPr/>
        </p:nvSpPr>
        <p:spPr>
          <a:xfrm>
            <a:off x="5486400" y="36576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D166"/>
          </a:solidFill>
          <a:ln/>
        </p:spPr>
      </p:sp>
      <p:sp>
        <p:nvSpPr>
          <p:cNvPr id="21" name="Text-361"/>
          <p:cNvSpPr txBox="1"/>
          <p:nvPr/>
        </p:nvSpPr>
        <p:spPr>
          <a:xfrm>
            <a:off x="5852160" y="350215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400" dirty="0"/>
          </a:p>
        </p:txBody>
      </p:sp>
      <p:sp>
        <p:nvSpPr>
          <p:cNvPr id="22" name="Text-362"/>
          <p:cNvSpPr txBox="1"/>
          <p:nvPr/>
        </p:nvSpPr>
        <p:spPr>
          <a:xfrm>
            <a:off x="685800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WordPicture (vision B)</a:t>
            </a:r>
            <a:endParaRPr lang="en-US" sz="1400" dirty="0"/>
          </a:p>
        </p:txBody>
      </p:sp>
      <p:sp>
        <p:nvSpPr>
          <p:cNvPr id="23" name="Text-363"/>
          <p:cNvSpPr txBox="1"/>
          <p:nvPr/>
        </p:nvSpPr>
        <p:spPr>
          <a:xfrm>
            <a:off x="6858000" y="38039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words, voices DE/TR/EN, course pilot</a:t>
            </a:r>
            <a:endParaRPr lang="en-US" sz="1100" dirty="0"/>
          </a:p>
        </p:txBody>
      </p:sp>
      <p:sp>
        <p:nvSpPr>
          <p:cNvPr id="24" name="Text-364"/>
          <p:cNvSpPr txBox="1"/>
          <p:nvPr/>
        </p:nvSpPr>
        <p:spPr>
          <a:xfrm>
            <a:off x="9905695" y="35021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€37,500</a:t>
            </a:r>
            <a:endParaRPr lang="en-US" sz="1800" dirty="0"/>
          </a:p>
        </p:txBody>
      </p:sp>
      <p:sp>
        <p:nvSpPr>
          <p:cNvPr id="25" name="Rule-365"/>
          <p:cNvSpPr/>
          <p:nvPr/>
        </p:nvSpPr>
        <p:spPr>
          <a:xfrm>
            <a:off x="5486400" y="4178808"/>
            <a:ext cx="6156655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26" name="Key-366"/>
          <p:cNvSpPr/>
          <p:nvPr/>
        </p:nvSpPr>
        <p:spPr>
          <a:xfrm>
            <a:off x="5486400" y="442569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CC4FF"/>
          </a:solidFill>
          <a:ln/>
        </p:spPr>
      </p:sp>
      <p:sp>
        <p:nvSpPr>
          <p:cNvPr id="27" name="Text-367"/>
          <p:cNvSpPr txBox="1"/>
          <p:nvPr/>
        </p:nvSpPr>
        <p:spPr>
          <a:xfrm>
            <a:off x="5852160" y="42702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400" dirty="0"/>
          </a:p>
        </p:txBody>
      </p:sp>
      <p:sp>
        <p:nvSpPr>
          <p:cNvPr id="28" name="Text-368"/>
          <p:cNvSpPr txBox="1"/>
          <p:nvPr/>
        </p:nvSpPr>
        <p:spPr>
          <a:xfrm>
            <a:off x="6858000" y="4288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Legal, trademark, privacy</a:t>
            </a:r>
            <a:endParaRPr lang="en-US" sz="1400" dirty="0"/>
          </a:p>
        </p:txBody>
      </p:sp>
      <p:sp>
        <p:nvSpPr>
          <p:cNvPr id="29" name="Text-369"/>
          <p:cNvSpPr txBox="1"/>
          <p:nvPr/>
        </p:nvSpPr>
        <p:spPr>
          <a:xfrm>
            <a:off x="6858000" y="4572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Trademark DE/EU/TR, GDPR, agreements</a:t>
            </a:r>
            <a:endParaRPr lang="en-US" sz="1100" dirty="0"/>
          </a:p>
        </p:txBody>
      </p:sp>
      <p:sp>
        <p:nvSpPr>
          <p:cNvPr id="30" name="Text-370"/>
          <p:cNvSpPr txBox="1"/>
          <p:nvPr/>
        </p:nvSpPr>
        <p:spPr>
          <a:xfrm>
            <a:off x="9905695" y="42702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€25,000</a:t>
            </a:r>
            <a:endParaRPr lang="en-US" sz="1800" dirty="0"/>
          </a:p>
        </p:txBody>
      </p:sp>
      <p:sp>
        <p:nvSpPr>
          <p:cNvPr id="31" name="Rule-371"/>
          <p:cNvSpPr/>
          <p:nvPr/>
        </p:nvSpPr>
        <p:spPr>
          <a:xfrm>
            <a:off x="5486400" y="4946904"/>
            <a:ext cx="6156655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32" name="Key-372"/>
          <p:cNvSpPr/>
          <p:nvPr/>
        </p:nvSpPr>
        <p:spPr>
          <a:xfrm>
            <a:off x="5486400" y="519379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5A6070"/>
          </a:solidFill>
          <a:ln/>
        </p:spPr>
      </p:sp>
      <p:sp>
        <p:nvSpPr>
          <p:cNvPr id="33" name="Text-373"/>
          <p:cNvSpPr txBox="1"/>
          <p:nvPr/>
        </p:nvSpPr>
        <p:spPr>
          <a:xfrm>
            <a:off x="5852160" y="5038344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400" dirty="0"/>
          </a:p>
        </p:txBody>
      </p:sp>
      <p:sp>
        <p:nvSpPr>
          <p:cNvPr id="34" name="Text-374"/>
          <p:cNvSpPr txBox="1"/>
          <p:nvPr/>
        </p:nvSpPr>
        <p:spPr>
          <a:xfrm>
            <a:off x="6858000" y="5056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1400" dirty="0"/>
          </a:p>
        </p:txBody>
      </p:sp>
      <p:sp>
        <p:nvSpPr>
          <p:cNvPr id="35" name="Text-375"/>
          <p:cNvSpPr txBox="1"/>
          <p:nvPr/>
        </p:nvSpPr>
        <p:spPr>
          <a:xfrm>
            <a:off x="6858000" y="5340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scheduled</a:t>
            </a:r>
            <a:endParaRPr lang="en-US" sz="1100" dirty="0"/>
          </a:p>
        </p:txBody>
      </p:sp>
      <p:sp>
        <p:nvSpPr>
          <p:cNvPr id="36" name="Text-376"/>
          <p:cNvSpPr txBox="1"/>
          <p:nvPr/>
        </p:nvSpPr>
        <p:spPr>
          <a:xfrm>
            <a:off x="9905695" y="50383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€12,500</a:t>
            </a:r>
            <a:endParaRPr lang="en-US" sz="1800" dirty="0"/>
          </a:p>
        </p:txBody>
      </p:sp>
      <p:sp>
        <p:nvSpPr>
          <p:cNvPr id="37" name="Text-377"/>
          <p:cNvSpPr txBox="1"/>
          <p:nvPr/>
        </p:nvSpPr>
        <p:spPr>
          <a:xfrm>
            <a:off x="5486400" y="5852160"/>
            <a:ext cx="6156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LiveFX_Finanzmodell.xlsx, sheet Use of funds. Story engine, auto-edit and VR move to the follow-on round.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FINANCIALS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case: EBITDA-positive in Y2, €3.2M revenue in Y5</a:t>
            </a:r>
            <a:endParaRPr lang="en-US" sz="3200" dirty="0"/>
          </a:p>
        </p:txBody>
      </p:sp>
      <p:graphicFrame>
        <p:nvGraphicFramePr>
          <p:cNvPr id="4" name="PnL-chart" descr=""/>
          <p:cNvGraphicFramePr/>
          <p:nvPr/>
        </p:nvGraphicFramePr>
        <p:xfrm>
          <a:off x="548640" y="1463040"/>
          <a:ext cx="6400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-378"/>
          <p:cNvSpPr txBox="1"/>
          <p:nvPr/>
        </p:nvSpPr>
        <p:spPr>
          <a:xfrm>
            <a:off x="548640" y="523036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EBITDA</a:t>
            </a:r>
            <a:endParaRPr lang="en-US" sz="1100" dirty="0"/>
          </a:p>
        </p:txBody>
      </p:sp>
      <p:sp>
        <p:nvSpPr>
          <p:cNvPr id="6" name="Text-379"/>
          <p:cNvSpPr txBox="1"/>
          <p:nvPr/>
        </p:nvSpPr>
        <p:spPr>
          <a:xfrm>
            <a:off x="2423160" y="523036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−116 / +41 / +328 / +919 / +1,661 €k</a:t>
            </a:r>
            <a:endParaRPr lang="en-US" sz="1100" dirty="0"/>
          </a:p>
        </p:txBody>
      </p:sp>
      <p:sp>
        <p:nvSpPr>
          <p:cNvPr id="7" name="Text-380"/>
          <p:cNvSpPr txBox="1"/>
          <p:nvPr/>
        </p:nvSpPr>
        <p:spPr>
          <a:xfrm>
            <a:off x="548640" y="549554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1100" dirty="0"/>
          </a:p>
        </p:txBody>
      </p:sp>
      <p:sp>
        <p:nvSpPr>
          <p:cNvPr id="8" name="Text-381"/>
          <p:cNvSpPr txBox="1"/>
          <p:nvPr/>
        </p:nvSpPr>
        <p:spPr>
          <a:xfrm>
            <a:off x="2423160" y="5495544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−148 / −114 / −59 / +36 / +147 €k</a:t>
            </a:r>
            <a:endParaRPr lang="en-US" sz="1100" dirty="0"/>
          </a:p>
        </p:txBody>
      </p:sp>
      <p:sp>
        <p:nvSpPr>
          <p:cNvPr id="9" name="Text-382"/>
          <p:cNvSpPr txBox="1"/>
          <p:nvPr/>
        </p:nvSpPr>
        <p:spPr>
          <a:xfrm>
            <a:off x="548640" y="576072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</a:t>
            </a:r>
            <a:endParaRPr lang="en-US" sz="1100" dirty="0"/>
          </a:p>
        </p:txBody>
      </p:sp>
      <p:sp>
        <p:nvSpPr>
          <p:cNvPr id="10" name="Text-383"/>
          <p:cNvSpPr txBox="1"/>
          <p:nvPr/>
        </p:nvSpPr>
        <p:spPr>
          <a:xfrm>
            <a:off x="2423160" y="576072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−48 / +496 / +1,499 / +3,178 / +5,134 €k</a:t>
            </a:r>
            <a:endParaRPr lang="en-US" sz="1100" dirty="0"/>
          </a:p>
        </p:txBody>
      </p:sp>
      <p:sp>
        <p:nvSpPr>
          <p:cNvPr id="11" name="Card-384"/>
          <p:cNvSpPr/>
          <p:nvPr/>
        </p:nvSpPr>
        <p:spPr>
          <a:xfrm>
            <a:off x="7223760" y="1463040"/>
            <a:ext cx="4419295" cy="4526280"/>
          </a:xfrm>
          <a:prstGeom prst="roundRect">
            <a:avLst>
              <a:gd name="adj" fmla="val 2483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2" name="Text-385"/>
          <p:cNvSpPr txBox="1"/>
          <p:nvPr/>
        </p:nvSpPr>
        <p:spPr>
          <a:xfrm>
            <a:off x="7452360" y="160020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by scenario (€k)</a:t>
            </a:r>
            <a:endParaRPr lang="en-US" sz="1500" dirty="0"/>
          </a:p>
        </p:txBody>
      </p:sp>
      <p:sp>
        <p:nvSpPr>
          <p:cNvPr id="13" name="Text-386"/>
          <p:cNvSpPr txBox="1"/>
          <p:nvPr/>
        </p:nvSpPr>
        <p:spPr>
          <a:xfrm>
            <a:off x="8778240" y="2011680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000" dirty="0"/>
          </a:p>
        </p:txBody>
      </p:sp>
      <p:sp>
        <p:nvSpPr>
          <p:cNvPr id="14" name="Text-387"/>
          <p:cNvSpPr txBox="1"/>
          <p:nvPr/>
        </p:nvSpPr>
        <p:spPr>
          <a:xfrm>
            <a:off x="9437294" y="2011680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</a:t>
            </a:r>
            <a:endParaRPr lang="en-US" sz="1000" dirty="0"/>
          </a:p>
        </p:txBody>
      </p:sp>
      <p:sp>
        <p:nvSpPr>
          <p:cNvPr id="15" name="Text-388"/>
          <p:cNvSpPr txBox="1"/>
          <p:nvPr/>
        </p:nvSpPr>
        <p:spPr>
          <a:xfrm>
            <a:off x="10096348" y="2011680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M18</a:t>
            </a:r>
            <a:endParaRPr lang="en-US" sz="1000" dirty="0"/>
          </a:p>
        </p:txBody>
      </p:sp>
      <p:sp>
        <p:nvSpPr>
          <p:cNvPr id="16" name="Text-389"/>
          <p:cNvSpPr txBox="1"/>
          <p:nvPr/>
        </p:nvSpPr>
        <p:spPr>
          <a:xfrm>
            <a:off x="10755401" y="2011680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M24</a:t>
            </a:r>
            <a:endParaRPr lang="en-US" sz="1000" dirty="0"/>
          </a:p>
        </p:txBody>
      </p:sp>
      <p:sp>
        <p:nvSpPr>
          <p:cNvPr id="17" name="Rule-390"/>
          <p:cNvSpPr/>
          <p:nvPr/>
        </p:nvSpPr>
        <p:spPr>
          <a:xfrm>
            <a:off x="7452360" y="2340864"/>
            <a:ext cx="3962095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18" name="Text-391"/>
          <p:cNvSpPr txBox="1"/>
          <p:nvPr/>
        </p:nvSpPr>
        <p:spPr>
          <a:xfrm>
            <a:off x="7452360" y="23408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revenue</a:t>
            </a:r>
            <a:endParaRPr lang="en-US" sz="1100" dirty="0"/>
          </a:p>
        </p:txBody>
      </p:sp>
      <p:sp>
        <p:nvSpPr>
          <p:cNvPr id="19" name="Text-392"/>
          <p:cNvSpPr txBox="1"/>
          <p:nvPr/>
        </p:nvSpPr>
        <p:spPr>
          <a:xfrm>
            <a:off x="8778240" y="2340864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</a:t>
            </a:r>
            <a:endParaRPr lang="en-US" sz="1100" dirty="0"/>
          </a:p>
        </p:txBody>
      </p:sp>
      <p:sp>
        <p:nvSpPr>
          <p:cNvPr id="20" name="Text-393"/>
          <p:cNvSpPr txBox="1"/>
          <p:nvPr/>
        </p:nvSpPr>
        <p:spPr>
          <a:xfrm>
            <a:off x="9437294" y="2340864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100" dirty="0"/>
          </a:p>
        </p:txBody>
      </p:sp>
      <p:sp>
        <p:nvSpPr>
          <p:cNvPr id="21" name="Text-394"/>
          <p:cNvSpPr txBox="1"/>
          <p:nvPr/>
        </p:nvSpPr>
        <p:spPr>
          <a:xfrm>
            <a:off x="10096348" y="2340864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Text-395"/>
          <p:cNvSpPr txBox="1"/>
          <p:nvPr/>
        </p:nvSpPr>
        <p:spPr>
          <a:xfrm>
            <a:off x="10755401" y="2340864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−63</a:t>
            </a:r>
            <a:endParaRPr lang="en-US" sz="1100" dirty="0"/>
          </a:p>
        </p:txBody>
      </p:sp>
      <p:sp>
        <p:nvSpPr>
          <p:cNvPr id="23" name="Rule-396"/>
          <p:cNvSpPr/>
          <p:nvPr/>
        </p:nvSpPr>
        <p:spPr>
          <a:xfrm>
            <a:off x="7452360" y="2670048"/>
            <a:ext cx="3962095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24" name="Text-397"/>
          <p:cNvSpPr txBox="1"/>
          <p:nvPr/>
        </p:nvSpPr>
        <p:spPr>
          <a:xfrm>
            <a:off x="7452360" y="267004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1100" dirty="0"/>
          </a:p>
        </p:txBody>
      </p:sp>
      <p:sp>
        <p:nvSpPr>
          <p:cNvPr id="25" name="Text-398"/>
          <p:cNvSpPr txBox="1"/>
          <p:nvPr/>
        </p:nvSpPr>
        <p:spPr>
          <a:xfrm>
            <a:off x="8778240" y="2670048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</a:t>
            </a:r>
            <a:endParaRPr lang="en-US" sz="1100" dirty="0"/>
          </a:p>
        </p:txBody>
      </p:sp>
      <p:sp>
        <p:nvSpPr>
          <p:cNvPr id="26" name="Text-399"/>
          <p:cNvSpPr txBox="1"/>
          <p:nvPr/>
        </p:nvSpPr>
        <p:spPr>
          <a:xfrm>
            <a:off x="9437294" y="2670048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100" dirty="0"/>
          </a:p>
        </p:txBody>
      </p:sp>
      <p:sp>
        <p:nvSpPr>
          <p:cNvPr id="27" name="Text-400"/>
          <p:cNvSpPr txBox="1"/>
          <p:nvPr/>
        </p:nvSpPr>
        <p:spPr>
          <a:xfrm>
            <a:off x="10096348" y="2670048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100" dirty="0"/>
          </a:p>
        </p:txBody>
      </p:sp>
      <p:sp>
        <p:nvSpPr>
          <p:cNvPr id="28" name="Text-401"/>
          <p:cNvSpPr txBox="1"/>
          <p:nvPr/>
        </p:nvSpPr>
        <p:spPr>
          <a:xfrm>
            <a:off x="10755401" y="2670048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−11</a:t>
            </a:r>
            <a:endParaRPr lang="en-US" sz="1100" dirty="0"/>
          </a:p>
        </p:txBody>
      </p:sp>
      <p:sp>
        <p:nvSpPr>
          <p:cNvPr id="29" name="Rule-402"/>
          <p:cNvSpPr/>
          <p:nvPr/>
        </p:nvSpPr>
        <p:spPr>
          <a:xfrm>
            <a:off x="7452360" y="2999232"/>
            <a:ext cx="3962095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30" name="Text-403"/>
          <p:cNvSpPr txBox="1"/>
          <p:nvPr/>
        </p:nvSpPr>
        <p:spPr>
          <a:xfrm>
            <a:off x="7452360" y="299923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100" dirty="0"/>
          </a:p>
        </p:txBody>
      </p:sp>
      <p:sp>
        <p:nvSpPr>
          <p:cNvPr id="31" name="Text-404"/>
          <p:cNvSpPr txBox="1"/>
          <p:nvPr/>
        </p:nvSpPr>
        <p:spPr>
          <a:xfrm>
            <a:off x="8778240" y="2999232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</a:t>
            </a:r>
            <a:endParaRPr lang="en-US" sz="1100" dirty="0"/>
          </a:p>
        </p:txBody>
      </p:sp>
      <p:sp>
        <p:nvSpPr>
          <p:cNvPr id="32" name="Text-405"/>
          <p:cNvSpPr txBox="1"/>
          <p:nvPr/>
        </p:nvSpPr>
        <p:spPr>
          <a:xfrm>
            <a:off x="9437294" y="2999232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</a:t>
            </a:r>
            <a:endParaRPr lang="en-US" sz="1100" dirty="0"/>
          </a:p>
        </p:txBody>
      </p:sp>
      <p:sp>
        <p:nvSpPr>
          <p:cNvPr id="33" name="Text-406"/>
          <p:cNvSpPr txBox="1"/>
          <p:nvPr/>
        </p:nvSpPr>
        <p:spPr>
          <a:xfrm>
            <a:off x="10096348" y="2999232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</a:t>
            </a:r>
            <a:endParaRPr lang="en-US" sz="1100" dirty="0"/>
          </a:p>
        </p:txBody>
      </p:sp>
      <p:sp>
        <p:nvSpPr>
          <p:cNvPr id="34" name="Text-407"/>
          <p:cNvSpPr txBox="1"/>
          <p:nvPr/>
        </p:nvSpPr>
        <p:spPr>
          <a:xfrm>
            <a:off x="10755401" y="2999232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</a:t>
            </a:r>
            <a:endParaRPr lang="en-US" sz="1100" dirty="0"/>
          </a:p>
        </p:txBody>
      </p:sp>
      <p:sp>
        <p:nvSpPr>
          <p:cNvPr id="35" name="Rule-408"/>
          <p:cNvSpPr/>
          <p:nvPr/>
        </p:nvSpPr>
        <p:spPr>
          <a:xfrm>
            <a:off x="7452360" y="3328416"/>
            <a:ext cx="3962095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36" name="Text-409"/>
          <p:cNvSpPr txBox="1"/>
          <p:nvPr/>
        </p:nvSpPr>
        <p:spPr>
          <a:xfrm>
            <a:off x="7452360" y="332841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</a:t>
            </a:r>
            <a:endParaRPr lang="en-US" sz="1100" dirty="0"/>
          </a:p>
        </p:txBody>
      </p:sp>
      <p:sp>
        <p:nvSpPr>
          <p:cNvPr id="37" name="Text-410"/>
          <p:cNvSpPr txBox="1"/>
          <p:nvPr/>
        </p:nvSpPr>
        <p:spPr>
          <a:xfrm>
            <a:off x="8778240" y="3328416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208</a:t>
            </a:r>
            <a:endParaRPr lang="en-US" sz="1100" dirty="0"/>
          </a:p>
        </p:txBody>
      </p:sp>
      <p:sp>
        <p:nvSpPr>
          <p:cNvPr id="38" name="Text-411"/>
          <p:cNvSpPr txBox="1"/>
          <p:nvPr/>
        </p:nvSpPr>
        <p:spPr>
          <a:xfrm>
            <a:off x="9437294" y="3328416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endParaRPr lang="en-US" sz="1100" dirty="0"/>
          </a:p>
        </p:txBody>
      </p:sp>
      <p:sp>
        <p:nvSpPr>
          <p:cNvPr id="39" name="Text-412"/>
          <p:cNvSpPr txBox="1"/>
          <p:nvPr/>
        </p:nvSpPr>
        <p:spPr>
          <a:xfrm>
            <a:off x="10096348" y="3328416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369</a:t>
            </a:r>
            <a:endParaRPr lang="en-US" sz="1100" dirty="0"/>
          </a:p>
        </p:txBody>
      </p:sp>
      <p:sp>
        <p:nvSpPr>
          <p:cNvPr id="40" name="Text-413"/>
          <p:cNvSpPr txBox="1"/>
          <p:nvPr/>
        </p:nvSpPr>
        <p:spPr>
          <a:xfrm>
            <a:off x="10755401" y="3328416"/>
            <a:ext cx="659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698</a:t>
            </a:r>
            <a:endParaRPr lang="en-US" sz="1100" dirty="0"/>
          </a:p>
        </p:txBody>
      </p:sp>
      <p:sp>
        <p:nvSpPr>
          <p:cNvPr id="41" name="Text-414"/>
          <p:cNvSpPr txBox="1"/>
          <p:nvPr/>
        </p:nvSpPr>
        <p:spPr>
          <a:xfrm>
            <a:off x="7452360" y="3703320"/>
            <a:ext cx="3962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 follow-on round. Break-even: base M22, optimistic M10.</a:t>
            </a:r>
            <a:endParaRPr lang="en-US" sz="900" dirty="0"/>
          </a:p>
        </p:txBody>
      </p:sp>
      <p:sp>
        <p:nvSpPr>
          <p:cNvPr id="42" name="Text-415"/>
          <p:cNvSpPr txBox="1"/>
          <p:nvPr/>
        </p:nvSpPr>
        <p:spPr>
          <a:xfrm>
            <a:off x="7452360" y="4069080"/>
            <a:ext cx="3962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months</a:t>
            </a:r>
            <a:endParaRPr lang="en-US" sz="2400" dirty="0"/>
          </a:p>
        </p:txBody>
      </p:sp>
      <p:sp>
        <p:nvSpPr>
          <p:cNvPr id="43" name="Text-416"/>
          <p:cNvSpPr txBox="1"/>
          <p:nvPr/>
        </p:nvSpPr>
        <p:spPr>
          <a:xfrm>
            <a:off x="7452360" y="4489704"/>
            <a:ext cx="3962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 even without any revenue (conservative: 22)</a:t>
            </a:r>
            <a:endParaRPr lang="en-US" sz="1100" dirty="0"/>
          </a:p>
        </p:txBody>
      </p:sp>
      <p:sp>
        <p:nvSpPr>
          <p:cNvPr id="44" name="Text-417"/>
          <p:cNvSpPr txBox="1"/>
          <p:nvPr/>
        </p:nvSpPr>
        <p:spPr>
          <a:xfrm>
            <a:off x="7452360" y="4983480"/>
            <a:ext cx="3962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€350k seed</a:t>
            </a:r>
            <a:endParaRPr lang="en-US" sz="2400" dirty="0"/>
          </a:p>
        </p:txBody>
      </p:sp>
      <p:sp>
        <p:nvSpPr>
          <p:cNvPr id="45" name="Text-418"/>
          <p:cNvSpPr txBox="1"/>
          <p:nvPr/>
        </p:nvSpPr>
        <p:spPr>
          <a:xfrm>
            <a:off x="7452360" y="5404104"/>
            <a:ext cx="3962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guide, closed by month 18 after gate 2</a:t>
            </a:r>
            <a:endParaRPr lang="en-US" sz="1100" dirty="0"/>
          </a:p>
        </p:txBody>
      </p:sp>
      <p:sp>
        <p:nvSpPr>
          <p:cNvPr id="46" name="Text-419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LiveFX_Finanzmodell.xlsx (5-year P&amp;L, monthly cash flow, follow-on) · Y1–Y3 revenue from BUSINESSPLAN.en.md §11.1 · scenarios, not forecasts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VALUATION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offer: €2.25M pre-money, 10% for €250k</a:t>
            </a:r>
            <a:endParaRPr lang="en-US" sz="3200" dirty="0"/>
          </a:p>
        </p:txBody>
      </p:sp>
      <p:sp>
        <p:nvSpPr>
          <p:cNvPr id="4" name="Pill-420"/>
          <p:cNvSpPr txBox="1"/>
          <p:nvPr/>
        </p:nvSpPr>
        <p:spPr>
          <a:xfrm>
            <a:off x="6522415" y="347472"/>
            <a:ext cx="512064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RANGE – REVIEW WITH TAX/LEGAL ADVISOR</a:t>
            </a:r>
            <a:endParaRPr lang="en-US" sz="850" dirty="0"/>
          </a:p>
        </p:txBody>
      </p:sp>
      <p:sp>
        <p:nvSpPr>
          <p:cNvPr id="5" name="Text-421"/>
          <p:cNvSpPr txBox="1"/>
          <p:nvPr/>
        </p:nvSpPr>
        <p:spPr>
          <a:xfrm>
            <a:off x="548640" y="14630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METHODS (INVESTOR VIEW) · PRE-MONEY</a:t>
            </a:r>
            <a:endParaRPr lang="en-US" sz="1100" dirty="0"/>
          </a:p>
        </p:txBody>
      </p:sp>
      <p:sp>
        <p:nvSpPr>
          <p:cNvPr id="6" name="Text-422"/>
          <p:cNvSpPr txBox="1"/>
          <p:nvPr/>
        </p:nvSpPr>
        <p:spPr>
          <a:xfrm>
            <a:off x="548640" y="18105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Berkus (2× variant)</a:t>
            </a:r>
            <a:endParaRPr lang="en-US" sz="1300" dirty="0"/>
          </a:p>
        </p:txBody>
      </p:sp>
      <p:sp>
        <p:nvSpPr>
          <p:cNvPr id="7" name="Track-423"/>
          <p:cNvSpPr/>
          <p:nvPr/>
        </p:nvSpPr>
        <p:spPr>
          <a:xfrm>
            <a:off x="2514600" y="1847088"/>
            <a:ext cx="3154680" cy="256032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/>
        </p:spPr>
      </p:sp>
      <p:sp>
        <p:nvSpPr>
          <p:cNvPr id="8" name="Bar-424"/>
          <p:cNvSpPr/>
          <p:nvPr/>
        </p:nvSpPr>
        <p:spPr>
          <a:xfrm>
            <a:off x="2514600" y="1847088"/>
            <a:ext cx="2471166" cy="256032"/>
          </a:xfrm>
          <a:prstGeom prst="roundRect">
            <a:avLst>
              <a:gd name="adj" fmla="val 17857"/>
            </a:avLst>
          </a:prstGeom>
          <a:solidFill>
            <a:srgbClr val="2DFFB5"/>
          </a:solidFill>
          <a:ln/>
        </p:spPr>
      </p:sp>
      <p:sp>
        <p:nvSpPr>
          <p:cNvPr id="9" name="Text-425"/>
          <p:cNvSpPr txBox="1"/>
          <p:nvPr/>
        </p:nvSpPr>
        <p:spPr>
          <a:xfrm>
            <a:off x="5760720" y="18105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€2.35M</a:t>
            </a:r>
            <a:endParaRPr lang="en-US" sz="1500" dirty="0"/>
          </a:p>
        </p:txBody>
      </p:sp>
      <p:sp>
        <p:nvSpPr>
          <p:cNvPr id="10" name="Text-426"/>
          <p:cNvSpPr txBox="1"/>
          <p:nvPr/>
        </p:nvSpPr>
        <p:spPr>
          <a:xfrm>
            <a:off x="548640" y="21488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factors up to €1M each: product 0.8, idea 0.7, team 0.5, relationships 0.25, revenue 0.1</a:t>
            </a:r>
            <a:endParaRPr lang="en-US" sz="900" dirty="0"/>
          </a:p>
        </p:txBody>
      </p:sp>
      <p:sp>
        <p:nvSpPr>
          <p:cNvPr id="11" name="Text-427"/>
          <p:cNvSpPr txBox="1"/>
          <p:nvPr/>
        </p:nvSpPr>
        <p:spPr>
          <a:xfrm>
            <a:off x="548640" y="25237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1300" dirty="0"/>
          </a:p>
        </p:txBody>
      </p:sp>
      <p:sp>
        <p:nvSpPr>
          <p:cNvPr id="12" name="Track-428"/>
          <p:cNvSpPr/>
          <p:nvPr/>
        </p:nvSpPr>
        <p:spPr>
          <a:xfrm>
            <a:off x="2514600" y="2560320"/>
            <a:ext cx="3154680" cy="256032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/>
        </p:spPr>
      </p:sp>
      <p:sp>
        <p:nvSpPr>
          <p:cNvPr id="13" name="Bar-429"/>
          <p:cNvSpPr/>
          <p:nvPr/>
        </p:nvSpPr>
        <p:spPr>
          <a:xfrm>
            <a:off x="2514600" y="2560320"/>
            <a:ext cx="3102102" cy="256032"/>
          </a:xfrm>
          <a:prstGeom prst="roundRect">
            <a:avLst>
              <a:gd name="adj" fmla="val 17857"/>
            </a:avLst>
          </a:prstGeom>
          <a:solidFill>
            <a:srgbClr val="FFD166"/>
          </a:solidFill>
          <a:ln/>
        </p:spPr>
      </p:sp>
      <p:sp>
        <p:nvSpPr>
          <p:cNvPr id="14" name="Text-430"/>
          <p:cNvSpPr txBox="1"/>
          <p:nvPr/>
        </p:nvSpPr>
        <p:spPr>
          <a:xfrm>
            <a:off x="5760720" y="252374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€2.95M</a:t>
            </a:r>
            <a:endParaRPr lang="en-US" sz="1500" dirty="0"/>
          </a:p>
        </p:txBody>
      </p:sp>
      <p:sp>
        <p:nvSpPr>
          <p:cNvPr id="15" name="Text-431"/>
          <p:cNvSpPr txBox="1"/>
          <p:nvPr/>
        </p:nvSpPr>
        <p:spPr>
          <a:xfrm>
            <a:off x="548640" y="28620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€2.5M reference (lower part of DACH range €1.5–5M, below EU median ~€4.2M) × 1.18</a:t>
            </a:r>
            <a:endParaRPr lang="en-US" sz="900" dirty="0"/>
          </a:p>
        </p:txBody>
      </p:sp>
      <p:sp>
        <p:nvSpPr>
          <p:cNvPr id="16" name="Text-432"/>
          <p:cNvSpPr txBox="1"/>
          <p:nvPr/>
        </p:nvSpPr>
        <p:spPr>
          <a:xfrm>
            <a:off x="548640" y="32369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 method (upside)</a:t>
            </a:r>
            <a:endParaRPr lang="en-US" sz="1300" dirty="0"/>
          </a:p>
        </p:txBody>
      </p:sp>
      <p:sp>
        <p:nvSpPr>
          <p:cNvPr id="17" name="Track-433"/>
          <p:cNvSpPr/>
          <p:nvPr/>
        </p:nvSpPr>
        <p:spPr>
          <a:xfrm>
            <a:off x="2514600" y="3273552"/>
            <a:ext cx="3154680" cy="256032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/>
        </p:spPr>
      </p:sp>
      <p:sp>
        <p:nvSpPr>
          <p:cNvPr id="18" name="Bar-434"/>
          <p:cNvSpPr/>
          <p:nvPr/>
        </p:nvSpPr>
        <p:spPr>
          <a:xfrm>
            <a:off x="2514600" y="3273552"/>
            <a:ext cx="2555291" cy="256032"/>
          </a:xfrm>
          <a:prstGeom prst="roundRect">
            <a:avLst>
              <a:gd name="adj" fmla="val 17857"/>
            </a:avLst>
          </a:prstGeom>
          <a:solidFill>
            <a:srgbClr val="6CC4FF"/>
          </a:solidFill>
          <a:ln/>
        </p:spPr>
      </p:sp>
      <p:sp>
        <p:nvSpPr>
          <p:cNvPr id="19" name="Text-435"/>
          <p:cNvSpPr txBox="1"/>
          <p:nvPr/>
        </p:nvSpPr>
        <p:spPr>
          <a:xfrm>
            <a:off x="5760720" y="32369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€2.43M</a:t>
            </a:r>
            <a:endParaRPr lang="en-US" sz="1500" dirty="0"/>
          </a:p>
        </p:txBody>
      </p:sp>
      <p:sp>
        <p:nvSpPr>
          <p:cNvPr id="20" name="Text-436"/>
          <p:cNvSpPr txBox="1"/>
          <p:nvPr/>
        </p:nvSpPr>
        <p:spPr>
          <a:xfrm>
            <a:off x="548640" y="35753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Y5 revenue €7.44M (optimistic) × 6 = €44.7M exit; 10× return, 40% dilution</a:t>
            </a:r>
            <a:endParaRPr lang="en-US" sz="900" dirty="0"/>
          </a:p>
        </p:txBody>
      </p:sp>
      <p:sp>
        <p:nvSpPr>
          <p:cNvPr id="21" name="Text-437"/>
          <p:cNvSpPr txBox="1"/>
          <p:nvPr/>
        </p:nvSpPr>
        <p:spPr>
          <a:xfrm>
            <a:off x="548640" y="39502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 sum.</a:t>
            </a:r>
            <a:endParaRPr lang="en-US" sz="1300" dirty="0"/>
          </a:p>
        </p:txBody>
      </p:sp>
      <p:sp>
        <p:nvSpPr>
          <p:cNvPr id="22" name="Track-438"/>
          <p:cNvSpPr/>
          <p:nvPr/>
        </p:nvSpPr>
        <p:spPr>
          <a:xfrm>
            <a:off x="2514600" y="3986784"/>
            <a:ext cx="3154680" cy="256032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/>
        </p:spPr>
      </p:sp>
      <p:sp>
        <p:nvSpPr>
          <p:cNvPr id="23" name="Bar-439"/>
          <p:cNvSpPr/>
          <p:nvPr/>
        </p:nvSpPr>
        <p:spPr>
          <a:xfrm>
            <a:off x="2514600" y="3986784"/>
            <a:ext cx="3154680" cy="256032"/>
          </a:xfrm>
          <a:prstGeom prst="roundRect">
            <a:avLst>
              <a:gd name="adj" fmla="val 17857"/>
            </a:avLst>
          </a:prstGeom>
          <a:solidFill>
            <a:srgbClr val="FF2D75"/>
          </a:solidFill>
          <a:ln/>
        </p:spPr>
      </p:sp>
      <p:sp>
        <p:nvSpPr>
          <p:cNvPr id="24" name="Text-440"/>
          <p:cNvSpPr txBox="1"/>
          <p:nvPr/>
        </p:nvSpPr>
        <p:spPr>
          <a:xfrm>
            <a:off x="5760720" y="39502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€3.0M</a:t>
            </a:r>
            <a:endParaRPr lang="en-US" sz="1500" dirty="0"/>
          </a:p>
        </p:txBody>
      </p:sp>
      <p:sp>
        <p:nvSpPr>
          <p:cNvPr id="25" name="Text-441"/>
          <p:cNvSpPr txBox="1"/>
          <p:nvPr/>
        </p:nvSpPr>
        <p:spPr>
          <a:xfrm>
            <a:off x="548640" y="428853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€2.5M base + 2 × €250k from twelve scored risks</a:t>
            </a:r>
            <a:endParaRPr lang="en-US" sz="900" dirty="0"/>
          </a:p>
        </p:txBody>
      </p:sp>
      <p:sp>
        <p:nvSpPr>
          <p:cNvPr id="26" name="Offer-line"/>
          <p:cNvSpPr/>
          <p:nvPr/>
        </p:nvSpPr>
        <p:spPr>
          <a:xfrm>
            <a:off x="4880610" y="1737360"/>
            <a:ext cx="0" cy="283464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27" name="Text-442"/>
          <p:cNvSpPr txBox="1"/>
          <p:nvPr/>
        </p:nvSpPr>
        <p:spPr>
          <a:xfrm>
            <a:off x="3417570" y="45537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€2.25M – below every method</a:t>
            </a:r>
            <a:endParaRPr lang="en-US" sz="1000" dirty="0"/>
          </a:p>
        </p:txBody>
      </p:sp>
      <p:sp>
        <p:nvSpPr>
          <p:cNvPr id="28" name="Text-443"/>
          <p:cNvSpPr txBox="1"/>
          <p:nvPr/>
        </p:nvSpPr>
        <p:spPr>
          <a:xfrm>
            <a:off x="548640" y="4846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€2.25M</a:t>
            </a:r>
            <a:endParaRPr lang="en-US" sz="1200" dirty="0"/>
          </a:p>
        </p:txBody>
      </p:sp>
      <p:sp>
        <p:nvSpPr>
          <p:cNvPr id="29" name="Text-444"/>
          <p:cNvSpPr txBox="1"/>
          <p:nvPr/>
        </p:nvSpPr>
        <p:spPr>
          <a:xfrm>
            <a:off x="548640" y="513892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product v2.1, 575+ automated tests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IP: 238 triggers, 143 stickers, matcher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DE/TR/EN incl. the Turkish niche</a:t>
            </a:r>
            <a:endParaRPr lang="en-US" sz="1000" dirty="0"/>
          </a:p>
        </p:txBody>
      </p:sp>
      <p:sp>
        <p:nvSpPr>
          <p:cNvPr id="30" name="Text-445"/>
          <p:cNvSpPr txBox="1"/>
          <p:nvPr/>
        </p:nvSpPr>
        <p:spPr>
          <a:xfrm>
            <a:off x="3886200" y="513892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options A–D on one engine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USD 97–157bn; SAM 1–3m creators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v2.1 without external capital</a:t>
            </a:r>
            <a:endParaRPr lang="en-US" sz="1000" dirty="0"/>
          </a:p>
        </p:txBody>
      </p:sp>
      <p:sp>
        <p:nvSpPr>
          <p:cNvPr id="31" name="Card-446"/>
          <p:cNvSpPr/>
          <p:nvPr/>
        </p:nvSpPr>
        <p:spPr>
          <a:xfrm>
            <a:off x="7452360" y="1463040"/>
            <a:ext cx="4190695" cy="274320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32" name="Text-447"/>
          <p:cNvSpPr txBox="1"/>
          <p:nvPr/>
        </p:nvSpPr>
        <p:spPr>
          <a:xfrm>
            <a:off x="7680960" y="1600200"/>
            <a:ext cx="3733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OFFER (PRICED ROUND)</a:t>
            </a:r>
            <a:endParaRPr lang="en-US" sz="1200" dirty="0"/>
          </a:p>
        </p:txBody>
      </p:sp>
      <p:sp>
        <p:nvSpPr>
          <p:cNvPr id="33" name="Text-448"/>
          <p:cNvSpPr txBox="1"/>
          <p:nvPr/>
        </p:nvSpPr>
        <p:spPr>
          <a:xfrm>
            <a:off x="7680960" y="19385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€2.25M</a:t>
            </a:r>
            <a:endParaRPr lang="en-US" sz="3000" dirty="0"/>
          </a:p>
        </p:txBody>
      </p:sp>
      <p:sp>
        <p:nvSpPr>
          <p:cNvPr id="34" name="Text-449"/>
          <p:cNvSpPr txBox="1"/>
          <p:nvPr/>
        </p:nvSpPr>
        <p:spPr>
          <a:xfrm>
            <a:off x="10058400" y="1938528"/>
            <a:ext cx="1356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pre-money</a:t>
            </a:r>
            <a:endParaRPr lang="en-US" sz="1200" dirty="0"/>
          </a:p>
        </p:txBody>
      </p:sp>
      <p:sp>
        <p:nvSpPr>
          <p:cNvPr id="35" name="Text-450"/>
          <p:cNvSpPr txBox="1"/>
          <p:nvPr/>
        </p:nvSpPr>
        <p:spPr>
          <a:xfrm>
            <a:off x="7680960" y="2651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€2.5M</a:t>
            </a:r>
            <a:endParaRPr lang="en-US" sz="3000" dirty="0"/>
          </a:p>
        </p:txBody>
      </p:sp>
      <p:sp>
        <p:nvSpPr>
          <p:cNvPr id="36" name="Text-451"/>
          <p:cNvSpPr txBox="1"/>
          <p:nvPr/>
        </p:nvSpPr>
        <p:spPr>
          <a:xfrm>
            <a:off x="10058400" y="2651760"/>
            <a:ext cx="1356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post-money</a:t>
            </a:r>
            <a:endParaRPr lang="en-US" sz="1200" dirty="0"/>
          </a:p>
        </p:txBody>
      </p:sp>
      <p:sp>
        <p:nvSpPr>
          <p:cNvPr id="37" name="Text-452"/>
          <p:cNvSpPr txBox="1"/>
          <p:nvPr/>
        </p:nvSpPr>
        <p:spPr>
          <a:xfrm>
            <a:off x="7680960" y="33649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3000" dirty="0"/>
          </a:p>
        </p:txBody>
      </p:sp>
      <p:sp>
        <p:nvSpPr>
          <p:cNvPr id="38" name="Text-453"/>
          <p:cNvSpPr txBox="1"/>
          <p:nvPr/>
        </p:nvSpPr>
        <p:spPr>
          <a:xfrm>
            <a:off x="10058400" y="3364992"/>
            <a:ext cx="1356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investors · founder 90%</a:t>
            </a:r>
            <a:endParaRPr lang="en-US" sz="1200" dirty="0"/>
          </a:p>
        </p:txBody>
      </p:sp>
      <p:sp>
        <p:nvSpPr>
          <p:cNvPr id="39" name="Card-454"/>
          <p:cNvSpPr/>
          <p:nvPr/>
        </p:nvSpPr>
        <p:spPr>
          <a:xfrm>
            <a:off x="7452360" y="4343400"/>
            <a:ext cx="4190695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0" name="Text-455"/>
          <p:cNvSpPr txBox="1"/>
          <p:nvPr/>
        </p:nvSpPr>
        <p:spPr>
          <a:xfrm>
            <a:off x="7680960" y="4462272"/>
            <a:ext cx="3733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Alternative: SAFE / convertible</a:t>
            </a:r>
            <a:endParaRPr lang="en-US" sz="1300" dirty="0"/>
          </a:p>
        </p:txBody>
      </p:sp>
      <p:sp>
        <p:nvSpPr>
          <p:cNvPr id="41" name="Text-456"/>
          <p:cNvSpPr txBox="1"/>
          <p:nvPr/>
        </p:nvSpPr>
        <p:spPr>
          <a:xfrm>
            <a:off x="7680960" y="4791456"/>
            <a:ext cx="37334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cap €2.25M (= offer)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20% (negotiable 15–20%)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interest; converts at the seed round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Max. stake at the cap: 10%</a:t>
            </a:r>
            <a:endParaRPr lang="en-US" sz="1100" dirty="0"/>
          </a:p>
        </p:txBody>
      </p:sp>
      <p:sp>
        <p:nvSpPr>
          <p:cNvPr id="42" name="Text-457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LiveFX_Finanzmodell.xlsx, sheet Valuation (founder view; valu.vc, upxcale, Capvisory, Equidam, SaaS Capital, Carta, Lexr, Vektora) · not investment advice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MILESTONE GATES – 18 MONTHS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only after evidence clears the gate</a:t>
            </a:r>
            <a:endParaRPr lang="en-US" sz="3200" dirty="0"/>
          </a:p>
        </p:txBody>
      </p:sp>
      <p:sp>
        <p:nvSpPr>
          <p:cNvPr id="4" name="Card-458"/>
          <p:cNvSpPr/>
          <p:nvPr/>
        </p:nvSpPr>
        <p:spPr>
          <a:xfrm>
            <a:off x="548640" y="2697480"/>
            <a:ext cx="2636444" cy="2971800"/>
          </a:xfrm>
          <a:prstGeom prst="roundRect">
            <a:avLst>
              <a:gd name="adj" fmla="val 416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Text-459"/>
          <p:cNvSpPr txBox="1"/>
          <p:nvPr/>
        </p:nvSpPr>
        <p:spPr>
          <a:xfrm>
            <a:off x="731520" y="28620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</a:t>
            </a:r>
            <a:endParaRPr lang="en-US" sz="2400" dirty="0"/>
          </a:p>
        </p:txBody>
      </p:sp>
      <p:sp>
        <p:nvSpPr>
          <p:cNvPr id="6" name="Text-460"/>
          <p:cNvSpPr txBox="1"/>
          <p:nvPr/>
        </p:nvSpPr>
        <p:spPr>
          <a:xfrm>
            <a:off x="731520" y="3300984"/>
            <a:ext cx="2270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1000" dirty="0"/>
          </a:p>
        </p:txBody>
      </p:sp>
      <p:sp>
        <p:nvSpPr>
          <p:cNvPr id="7" name="Text-461"/>
          <p:cNvSpPr txBox="1"/>
          <p:nvPr/>
        </p:nvSpPr>
        <p:spPr>
          <a:xfrm>
            <a:off x="731520" y="3566160"/>
            <a:ext cx="22706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900" dirty="0"/>
          </a:p>
        </p:txBody>
      </p:sp>
      <p:sp>
        <p:nvSpPr>
          <p:cNvPr id="8" name="Text-462"/>
          <p:cNvSpPr txBox="1"/>
          <p:nvPr/>
        </p:nvSpPr>
        <p:spPr>
          <a:xfrm>
            <a:off x="731520" y="4023360"/>
            <a:ext cx="22706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subscription live (payments)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Mobile/web developer on board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Unlocks GTM phase 2</a:t>
            </a:r>
            <a:endParaRPr lang="en-US" sz="1200" dirty="0"/>
          </a:p>
        </p:txBody>
      </p:sp>
      <p:sp>
        <p:nvSpPr>
          <p:cNvPr id="9" name="Card-463"/>
          <p:cNvSpPr/>
          <p:nvPr/>
        </p:nvSpPr>
        <p:spPr>
          <a:xfrm>
            <a:off x="3367964" y="2404872"/>
            <a:ext cx="2636444" cy="3264408"/>
          </a:xfrm>
          <a:prstGeom prst="roundRect">
            <a:avLst>
              <a:gd name="adj" fmla="val 416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0" name="Text-464"/>
          <p:cNvSpPr txBox="1"/>
          <p:nvPr/>
        </p:nvSpPr>
        <p:spPr>
          <a:xfrm>
            <a:off x="3550844" y="25694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2400" dirty="0"/>
          </a:p>
        </p:txBody>
      </p:sp>
      <p:sp>
        <p:nvSpPr>
          <p:cNvPr id="11" name="Text-465"/>
          <p:cNvSpPr txBox="1"/>
          <p:nvPr/>
        </p:nvSpPr>
        <p:spPr>
          <a:xfrm>
            <a:off x="3550844" y="3008376"/>
            <a:ext cx="2270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1000" dirty="0"/>
          </a:p>
        </p:txBody>
      </p:sp>
      <p:sp>
        <p:nvSpPr>
          <p:cNvPr id="12" name="Text-466"/>
          <p:cNvSpPr txBox="1"/>
          <p:nvPr/>
        </p:nvSpPr>
        <p:spPr>
          <a:xfrm>
            <a:off x="3550844" y="3273552"/>
            <a:ext cx="22706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</a:t>
            </a:r>
            <a:endParaRPr lang="en-US" sz="1900" dirty="0"/>
          </a:p>
        </p:txBody>
      </p:sp>
      <p:sp>
        <p:nvSpPr>
          <p:cNvPr id="13" name="Text-467"/>
          <p:cNvSpPr txBox="1"/>
          <p:nvPr/>
        </p:nvSpPr>
        <p:spPr>
          <a:xfrm>
            <a:off x="3550844" y="3730752"/>
            <a:ext cx="227068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registered (threshold 4,000)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paying Pro (120)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beta creators, WordPicture 300 words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Week-4 retention ≥ 30%</a:t>
            </a:r>
            <a:endParaRPr lang="en-US" sz="1200" dirty="0"/>
          </a:p>
        </p:txBody>
      </p:sp>
      <p:sp>
        <p:nvSpPr>
          <p:cNvPr id="14" name="Card-468"/>
          <p:cNvSpPr/>
          <p:nvPr/>
        </p:nvSpPr>
        <p:spPr>
          <a:xfrm>
            <a:off x="6187288" y="2112264"/>
            <a:ext cx="2636444" cy="3557016"/>
          </a:xfrm>
          <a:prstGeom prst="roundRect">
            <a:avLst>
              <a:gd name="adj" fmla="val 416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5" name="Text-469"/>
          <p:cNvSpPr txBox="1"/>
          <p:nvPr/>
        </p:nvSpPr>
        <p:spPr>
          <a:xfrm>
            <a:off x="6370168" y="227685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G2a</a:t>
            </a:r>
            <a:endParaRPr lang="en-US" sz="2400" dirty="0"/>
          </a:p>
        </p:txBody>
      </p:sp>
      <p:sp>
        <p:nvSpPr>
          <p:cNvPr id="16" name="Text-470"/>
          <p:cNvSpPr txBox="1"/>
          <p:nvPr/>
        </p:nvSpPr>
        <p:spPr>
          <a:xfrm>
            <a:off x="6370168" y="2715768"/>
            <a:ext cx="2270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12</a:t>
            </a:r>
            <a:endParaRPr lang="en-US" sz="1000" dirty="0"/>
          </a:p>
        </p:txBody>
      </p:sp>
      <p:sp>
        <p:nvSpPr>
          <p:cNvPr id="17" name="Text-471"/>
          <p:cNvSpPr txBox="1"/>
          <p:nvPr/>
        </p:nvSpPr>
        <p:spPr>
          <a:xfrm>
            <a:off x="6370168" y="2980944"/>
            <a:ext cx="22706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900" dirty="0"/>
          </a:p>
        </p:txBody>
      </p:sp>
      <p:sp>
        <p:nvSpPr>
          <p:cNvPr id="18" name="Text-472"/>
          <p:cNvSpPr txBox="1"/>
          <p:nvPr/>
        </p:nvSpPr>
        <p:spPr>
          <a:xfrm>
            <a:off x="6370168" y="3438144"/>
            <a:ext cx="227068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registered (8,000)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paying Pro (240)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€8,073 (€2,500)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platform or education pilot</a:t>
            </a:r>
            <a:endParaRPr lang="en-US" sz="1200" dirty="0"/>
          </a:p>
        </p:txBody>
      </p:sp>
      <p:sp>
        <p:nvSpPr>
          <p:cNvPr id="19" name="Card-473"/>
          <p:cNvSpPr/>
          <p:nvPr/>
        </p:nvSpPr>
        <p:spPr>
          <a:xfrm>
            <a:off x="9006611" y="1819656"/>
            <a:ext cx="2636444" cy="3849624"/>
          </a:xfrm>
          <a:prstGeom prst="roundRect">
            <a:avLst>
              <a:gd name="adj" fmla="val 4162"/>
            </a:avLst>
          </a:prstGeom>
          <a:solidFill>
            <a:schemeClr val="accent6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20" name="Text-474"/>
          <p:cNvSpPr txBox="1"/>
          <p:nvPr/>
        </p:nvSpPr>
        <p:spPr>
          <a:xfrm>
            <a:off x="9189491" y="19842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2400" dirty="0"/>
          </a:p>
        </p:txBody>
      </p:sp>
      <p:sp>
        <p:nvSpPr>
          <p:cNvPr id="21" name="Text-475"/>
          <p:cNvSpPr txBox="1"/>
          <p:nvPr/>
        </p:nvSpPr>
        <p:spPr>
          <a:xfrm>
            <a:off x="9189491" y="2423160"/>
            <a:ext cx="2270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18</a:t>
            </a:r>
            <a:endParaRPr lang="en-US" sz="1000" dirty="0"/>
          </a:p>
        </p:txBody>
      </p:sp>
      <p:sp>
        <p:nvSpPr>
          <p:cNvPr id="22" name="Text-476"/>
          <p:cNvSpPr txBox="1"/>
          <p:nvPr/>
        </p:nvSpPr>
        <p:spPr>
          <a:xfrm>
            <a:off x="9189491" y="2688336"/>
            <a:ext cx="22706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Follow-on</a:t>
            </a:r>
            <a:endParaRPr lang="en-US" sz="1900" dirty="0"/>
          </a:p>
        </p:txBody>
      </p:sp>
      <p:sp>
        <p:nvSpPr>
          <p:cNvPr id="23" name="Text-477"/>
          <p:cNvSpPr txBox="1"/>
          <p:nvPr/>
        </p:nvSpPr>
        <p:spPr>
          <a:xfrm>
            <a:off x="9189491" y="3145536"/>
            <a:ext cx="227068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registered (19,000)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paying Pro (570)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€22,586 (€6,495)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retention ≥ 75%, ≥ 5 paying schools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seed round ≈ €350k</a:t>
            </a:r>
            <a:endParaRPr lang="en-US" sz="1200" dirty="0"/>
          </a:p>
        </p:txBody>
      </p:sp>
      <p:sp>
        <p:nvSpPr>
          <p:cNvPr id="24" name="Pill-478"/>
          <p:cNvSpPr txBox="1"/>
          <p:nvPr/>
        </p:nvSpPr>
        <p:spPr>
          <a:xfrm>
            <a:off x="7253935" y="347472"/>
            <a:ext cx="438912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– AGREE WITH INVESTORS</a:t>
            </a:r>
            <a:endParaRPr lang="en-US" sz="850" dirty="0"/>
          </a:p>
        </p:txBody>
      </p:sp>
      <p:sp>
        <p:nvSpPr>
          <p:cNvPr id="25" name="Text-479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= base case, (threshold) = conservative case; status of every gate: target (not yet achieved). Source: LiveFX_Finanzmodell.xlsx, sheet Gates 18M.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TEAM &amp; ROUND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behind LiveFX</a:t>
            </a:r>
            <a:endParaRPr lang="en-US" sz="3200" dirty="0"/>
          </a:p>
        </p:txBody>
      </p:sp>
      <p:sp>
        <p:nvSpPr>
          <p:cNvPr id="4" name="Card-480"/>
          <p:cNvSpPr/>
          <p:nvPr/>
        </p:nvSpPr>
        <p:spPr>
          <a:xfrm>
            <a:off x="548640" y="1554480"/>
            <a:ext cx="370332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Badge-481"/>
          <p:cNvSpPr txBox="1"/>
          <p:nvPr/>
        </p:nvSpPr>
        <p:spPr>
          <a:xfrm>
            <a:off x="777240" y="1783080"/>
            <a:ext cx="777240" cy="7772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</a:t>
            </a:r>
            <a:endParaRPr lang="en-US" sz="2000" dirty="0"/>
          </a:p>
        </p:txBody>
      </p:sp>
      <p:sp>
        <p:nvSpPr>
          <p:cNvPr id="6" name="Text-482"/>
          <p:cNvSpPr txBox="1"/>
          <p:nvPr/>
        </p:nvSpPr>
        <p:spPr>
          <a:xfrm>
            <a:off x="1737360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Tuncay Sancak</a:t>
            </a:r>
            <a:endParaRPr lang="en-US" sz="1900" dirty="0"/>
          </a:p>
        </p:txBody>
      </p:sp>
      <p:sp>
        <p:nvSpPr>
          <p:cNvPr id="7" name="Text-483"/>
          <p:cNvSpPr txBox="1"/>
          <p:nvPr/>
        </p:nvSpPr>
        <p:spPr>
          <a:xfrm>
            <a:off x="1737360" y="2176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INVENTOR · MANAGING DIRECTOR</a:t>
            </a:r>
            <a:endParaRPr lang="en-US" sz="900" dirty="0"/>
          </a:p>
        </p:txBody>
      </p:sp>
      <p:sp>
        <p:nvSpPr>
          <p:cNvPr id="8" name="Text-484"/>
          <p:cNvSpPr txBox="1"/>
          <p:nvPr/>
        </p:nvSpPr>
        <p:spPr>
          <a:xfrm>
            <a:off x="777240" y="274320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Invented LiveFX and built it to 2.1 before any funding. Former project lead, AI expert and data scientist at Mercedes-Benz; native German and Turkish speaker. Author of children's books, including "Good That You Exist".</a:t>
            </a:r>
            <a:endParaRPr lang="en-US" sz="1300" dirty="0"/>
          </a:p>
        </p:txBody>
      </p:sp>
      <p:sp>
        <p:nvSpPr>
          <p:cNvPr id="9" name="Card-485"/>
          <p:cNvSpPr/>
          <p:nvPr/>
        </p:nvSpPr>
        <p:spPr>
          <a:xfrm>
            <a:off x="4480560" y="1554480"/>
            <a:ext cx="370332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0" name="Badge-486"/>
          <p:cNvSpPr txBox="1"/>
          <p:nvPr/>
        </p:nvSpPr>
        <p:spPr>
          <a:xfrm>
            <a:off x="4709160" y="1783080"/>
            <a:ext cx="777240" cy="77724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</a:t>
            </a:r>
            <a:endParaRPr lang="en-US" sz="2000" dirty="0"/>
          </a:p>
        </p:txBody>
      </p:sp>
      <p:sp>
        <p:nvSpPr>
          <p:cNvPr id="11" name="Text-487"/>
          <p:cNvSpPr txBox="1"/>
          <p:nvPr/>
        </p:nvSpPr>
        <p:spPr>
          <a:xfrm>
            <a:off x="5669280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Gönül Demet</a:t>
            </a:r>
            <a:endParaRPr lang="en-US" sz="1900" dirty="0"/>
          </a:p>
        </p:txBody>
      </p:sp>
      <p:sp>
        <p:nvSpPr>
          <p:cNvPr id="12" name="Text-488"/>
          <p:cNvSpPr txBox="1"/>
          <p:nvPr/>
        </p:nvSpPr>
        <p:spPr>
          <a:xfrm>
            <a:off x="5669280" y="2176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RELATIONS &amp; FUNDRAISING</a:t>
            </a:r>
            <a:endParaRPr lang="en-US" sz="900" dirty="0"/>
          </a:p>
        </p:txBody>
      </p:sp>
      <p:sp>
        <p:nvSpPr>
          <p:cNvPr id="13" name="Text-489"/>
          <p:cNvSpPr txBox="1"/>
          <p:nvPr/>
        </p:nvSpPr>
        <p:spPr>
          <a:xfrm>
            <a:off x="4709160" y="274320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investor outreach for the pre-seed round and prepared these materials.</a:t>
            </a:r>
            <a:endParaRPr lang="en-US" sz="1300" dirty="0"/>
          </a:p>
        </p:txBody>
      </p:sp>
      <p:sp>
        <p:nvSpPr>
          <p:cNvPr id="14" name="Card-490"/>
          <p:cNvSpPr/>
          <p:nvPr/>
        </p:nvSpPr>
        <p:spPr>
          <a:xfrm>
            <a:off x="8412480" y="1554480"/>
            <a:ext cx="3230575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5" name="Text-491"/>
          <p:cNvSpPr txBox="1"/>
          <p:nvPr/>
        </p:nvSpPr>
        <p:spPr>
          <a:xfrm>
            <a:off x="8641080" y="1737360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build after financing</a:t>
            </a:r>
            <a:endParaRPr lang="en-US" sz="1600" dirty="0"/>
          </a:p>
        </p:txBody>
      </p:sp>
      <p:sp>
        <p:nvSpPr>
          <p:cNvPr id="16" name="Text-492"/>
          <p:cNvSpPr txBox="1"/>
          <p:nvPr/>
        </p:nvSpPr>
        <p:spPr>
          <a:xfrm>
            <a:off x="8641080" y="2377440"/>
            <a:ext cx="2773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Mobile/web developer</a:t>
            </a:r>
            <a:endParaRPr lang="en-US" sz="1300" dirty="0"/>
          </a:p>
        </p:txBody>
      </p:sp>
      <p:sp>
        <p:nvSpPr>
          <p:cNvPr id="17" name="Text-493"/>
          <p:cNvSpPr txBox="1"/>
          <p:nvPr/>
        </p:nvSpPr>
        <p:spPr>
          <a:xfrm>
            <a:off x="8641080" y="2624328"/>
            <a:ext cx="277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month 3</a:t>
            </a:r>
            <a:endParaRPr lang="en-US" sz="1100" dirty="0"/>
          </a:p>
        </p:txBody>
      </p:sp>
      <p:sp>
        <p:nvSpPr>
          <p:cNvPr id="18" name="Text-494"/>
          <p:cNvSpPr txBox="1"/>
          <p:nvPr/>
        </p:nvSpPr>
        <p:spPr>
          <a:xfrm>
            <a:off x="8641080" y="2898648"/>
            <a:ext cx="2773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WordPicture: illustration, voices</a:t>
            </a:r>
            <a:endParaRPr lang="en-US" sz="1300" dirty="0"/>
          </a:p>
        </p:txBody>
      </p:sp>
      <p:sp>
        <p:nvSpPr>
          <p:cNvPr id="19" name="Text-495"/>
          <p:cNvSpPr txBox="1"/>
          <p:nvPr/>
        </p:nvSpPr>
        <p:spPr>
          <a:xfrm>
            <a:off x="8641080" y="3145536"/>
            <a:ext cx="277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4–15 (freelance)</a:t>
            </a:r>
            <a:endParaRPr lang="en-US" sz="1100" dirty="0"/>
          </a:p>
        </p:txBody>
      </p:sp>
      <p:sp>
        <p:nvSpPr>
          <p:cNvPr id="20" name="Text-496"/>
          <p:cNvSpPr txBox="1"/>
          <p:nvPr/>
        </p:nvSpPr>
        <p:spPr>
          <a:xfrm>
            <a:off x="8641080" y="3419856"/>
            <a:ext cx="2773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Backend/ML, community</a:t>
            </a:r>
            <a:endParaRPr lang="en-US" sz="1300" dirty="0"/>
          </a:p>
        </p:txBody>
      </p:sp>
      <p:sp>
        <p:nvSpPr>
          <p:cNvPr id="21" name="Text-497"/>
          <p:cNvSpPr txBox="1"/>
          <p:nvPr/>
        </p:nvSpPr>
        <p:spPr>
          <a:xfrm>
            <a:off x="8641080" y="3666744"/>
            <a:ext cx="277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month 19 (seed)</a:t>
            </a:r>
            <a:endParaRPr lang="en-US" sz="1100" dirty="0"/>
          </a:p>
        </p:txBody>
      </p:sp>
      <p:sp>
        <p:nvSpPr>
          <p:cNvPr id="22" name="Text-498"/>
          <p:cNvSpPr txBox="1"/>
          <p:nvPr/>
        </p:nvSpPr>
        <p:spPr>
          <a:xfrm>
            <a:off x="8641080" y="3941064"/>
            <a:ext cx="2773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developer</a:t>
            </a:r>
            <a:endParaRPr lang="en-US" sz="1300" dirty="0"/>
          </a:p>
        </p:txBody>
      </p:sp>
      <p:sp>
        <p:nvSpPr>
          <p:cNvPr id="23" name="Text-499"/>
          <p:cNvSpPr txBox="1"/>
          <p:nvPr/>
        </p:nvSpPr>
        <p:spPr>
          <a:xfrm>
            <a:off x="8641080" y="4187952"/>
            <a:ext cx="277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month 19 (seed)</a:t>
            </a:r>
            <a:endParaRPr lang="en-US" sz="1100" dirty="0"/>
          </a:p>
        </p:txBody>
      </p:sp>
      <p:sp>
        <p:nvSpPr>
          <p:cNvPr id="24" name="Wave-500"/>
          <p:cNvSpPr/>
          <p:nvPr/>
        </p:nvSpPr>
        <p:spPr>
          <a:xfrm>
            <a:off x="548640" y="5020056"/>
            <a:ext cx="62345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5" name="Wave-501"/>
          <p:cNvSpPr/>
          <p:nvPr/>
        </p:nvSpPr>
        <p:spPr>
          <a:xfrm>
            <a:off x="673331" y="4879619"/>
            <a:ext cx="62345" cy="3906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Wave-502"/>
          <p:cNvSpPr/>
          <p:nvPr/>
        </p:nvSpPr>
        <p:spPr>
          <a:xfrm>
            <a:off x="798022" y="4887390"/>
            <a:ext cx="62345" cy="37505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7" name="Wave-503"/>
          <p:cNvSpPr/>
          <p:nvPr/>
        </p:nvSpPr>
        <p:spPr>
          <a:xfrm>
            <a:off x="922713" y="4906774"/>
            <a:ext cx="62345" cy="3362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Wave-504"/>
          <p:cNvSpPr/>
          <p:nvPr/>
        </p:nvSpPr>
        <p:spPr>
          <a:xfrm>
            <a:off x="1047404" y="4859875"/>
            <a:ext cx="62345" cy="4300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9" name="Wave-505"/>
          <p:cNvSpPr/>
          <p:nvPr/>
        </p:nvSpPr>
        <p:spPr>
          <a:xfrm>
            <a:off x="1172095" y="4913429"/>
            <a:ext cx="62345" cy="3229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0" name="Wave-506"/>
          <p:cNvSpPr/>
          <p:nvPr/>
        </p:nvSpPr>
        <p:spPr>
          <a:xfrm>
            <a:off x="1296785" y="4955694"/>
            <a:ext cx="62345" cy="2384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1" name="Wave-507"/>
          <p:cNvSpPr/>
          <p:nvPr/>
        </p:nvSpPr>
        <p:spPr>
          <a:xfrm>
            <a:off x="1421476" y="4879055"/>
            <a:ext cx="62345" cy="39173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2" name="Wave-508"/>
          <p:cNvSpPr/>
          <p:nvPr/>
        </p:nvSpPr>
        <p:spPr>
          <a:xfrm>
            <a:off x="1546167" y="4910567"/>
            <a:ext cx="62345" cy="32870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3" name="Wave-509"/>
          <p:cNvSpPr/>
          <p:nvPr/>
        </p:nvSpPr>
        <p:spPr>
          <a:xfrm>
            <a:off x="1670858" y="4881855"/>
            <a:ext cx="62345" cy="38612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4" name="Wave-510"/>
          <p:cNvSpPr/>
          <p:nvPr/>
        </p:nvSpPr>
        <p:spPr>
          <a:xfrm>
            <a:off x="1795549" y="4851184"/>
            <a:ext cx="62345" cy="44747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5" name="Wave-511"/>
          <p:cNvSpPr/>
          <p:nvPr/>
        </p:nvSpPr>
        <p:spPr>
          <a:xfrm>
            <a:off x="1920240" y="4973848"/>
            <a:ext cx="62345" cy="2021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6" name="Wave-512"/>
          <p:cNvSpPr/>
          <p:nvPr/>
        </p:nvSpPr>
        <p:spPr>
          <a:xfrm>
            <a:off x="2044931" y="4913926"/>
            <a:ext cx="62345" cy="3219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7" name="Wave-513"/>
          <p:cNvSpPr/>
          <p:nvPr/>
        </p:nvSpPr>
        <p:spPr>
          <a:xfrm>
            <a:off x="2169622" y="4900553"/>
            <a:ext cx="62345" cy="3487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8" name="Wave-514"/>
          <p:cNvSpPr/>
          <p:nvPr/>
        </p:nvSpPr>
        <p:spPr>
          <a:xfrm>
            <a:off x="2294313" y="4910728"/>
            <a:ext cx="62345" cy="3283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9" name="Wave-515"/>
          <p:cNvSpPr/>
          <p:nvPr/>
        </p:nvSpPr>
        <p:spPr>
          <a:xfrm>
            <a:off x="2419004" y="4848503"/>
            <a:ext cx="62345" cy="45283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0" name="Wave-516"/>
          <p:cNvSpPr/>
          <p:nvPr/>
        </p:nvSpPr>
        <p:spPr>
          <a:xfrm>
            <a:off x="2543695" y="4875543"/>
            <a:ext cx="62345" cy="39875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1" name="Wave-517"/>
          <p:cNvSpPr/>
          <p:nvPr/>
        </p:nvSpPr>
        <p:spPr>
          <a:xfrm>
            <a:off x="2668385" y="5000222"/>
            <a:ext cx="62345" cy="1493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2" name="Wave-518"/>
          <p:cNvSpPr/>
          <p:nvPr/>
        </p:nvSpPr>
        <p:spPr>
          <a:xfrm>
            <a:off x="2793076" y="4904788"/>
            <a:ext cx="62345" cy="34026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3" name="Wave-519"/>
          <p:cNvSpPr/>
          <p:nvPr/>
        </p:nvSpPr>
        <p:spPr>
          <a:xfrm>
            <a:off x="2917767" y="4921786"/>
            <a:ext cx="62345" cy="3062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4" name="Wave-520"/>
          <p:cNvSpPr/>
          <p:nvPr/>
        </p:nvSpPr>
        <p:spPr>
          <a:xfrm>
            <a:off x="3042458" y="4884493"/>
            <a:ext cx="62345" cy="38085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5" name="Wave-521"/>
          <p:cNvSpPr/>
          <p:nvPr/>
        </p:nvSpPr>
        <p:spPr>
          <a:xfrm>
            <a:off x="3167149" y="4830211"/>
            <a:ext cx="62345" cy="48941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6" name="Card-522"/>
          <p:cNvSpPr/>
          <p:nvPr/>
        </p:nvSpPr>
        <p:spPr>
          <a:xfrm>
            <a:off x="3520440" y="4709160"/>
            <a:ext cx="8122615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47" name="Text-523"/>
          <p:cNvSpPr txBox="1"/>
          <p:nvPr/>
        </p:nvSpPr>
        <p:spPr>
          <a:xfrm>
            <a:off x="3749040" y="47365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€250,000 pre-seed · offer €2.25M pre-money, 10%</a:t>
            </a:r>
            <a:endParaRPr lang="en-US" sz="1800" dirty="0"/>
          </a:p>
        </p:txBody>
      </p:sp>
      <p:sp>
        <p:nvSpPr>
          <p:cNvPr id="48" name="Text-524"/>
          <p:cNvSpPr txBox="1"/>
          <p:nvPr/>
        </p:nvSpPr>
        <p:spPr>
          <a:xfrm>
            <a:off x="8229600" y="4736592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contact: Gönül Demet · [email]</a:t>
            </a:r>
            <a:endParaRPr lang="en-US" sz="1300" dirty="0"/>
          </a:p>
        </p:txBody>
      </p:sp>
      <p:sp>
        <p:nvSpPr>
          <p:cNvPr id="49" name="Text-525"/>
          <p:cNvSpPr txBox="1"/>
          <p:nvPr/>
        </p:nvSpPr>
        <p:spPr>
          <a:xfrm>
            <a:off x="548640" y="5715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pre-seed materials. Forward-looking statements are subject to material risks and uncertainty; an investment may result in total loss.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veFX Investor">
      <a:dk1>
        <a:srgbClr val="0F1115"/>
      </a:dk1>
      <a:lt1>
        <a:srgbClr val="FFFFFF"/>
      </a:lt1>
      <a:dk2>
        <a:srgbClr val="1A1D24"/>
      </a:dk2>
      <a:lt2>
        <a:srgbClr val="A9B0BD"/>
      </a:lt2>
      <a:accent1>
        <a:srgbClr val="FF2D75"/>
      </a:accent1>
      <a:accent2>
        <a:srgbClr val="2DFFB5"/>
      </a:accent2>
      <a:accent3>
        <a:srgbClr val="FFD166"/>
      </a:accent3>
      <a:accent4>
        <a:srgbClr val="6CC4FF"/>
      </a:accent4>
      <a:accent5>
        <a:srgbClr val="2A2E38"/>
      </a:accent5>
      <a:accent6>
        <a:srgbClr val="3A0F22"/>
      </a:accent6>
      <a:hlink>
        <a:srgbClr val="FFD166"/>
      </a:hlink>
      <a:folHlink>
        <a:srgbClr val="2DFFB5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LiveFX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LiveFX – Investor Deck (Pre-Seed, October 2026)</dc:title>
  <dc:subject>LiveFX – Investor Deck (Pre-Seed, October 2026)</dc:subject>
  <dc:creator>Gönül Demet (Investor Relations)</dc:creator>
  <cp:lastModifiedBy>Gönül Demet (Investor Relations)</cp:lastModifiedBy>
  <cp:revision>1</cp:revision>
  <dcterms:created xsi:type="dcterms:W3CDTF">2026-10-04T18:23:38Z</dcterms:created>
  <dcterms:modified xsi:type="dcterms:W3CDTF">2026-10-04T18:23:38Z</dcterms:modified>
</cp:coreProperties>
</file>