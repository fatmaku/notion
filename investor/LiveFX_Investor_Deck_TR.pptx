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4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Fırsat" id="{34888c1d-2edf-5a56-9ddc-a70ceb8afe36}">
          <p14:sldIdLst>
            <p14:sldId id="256"/>
            <p14:sldId id="257"/>
            <p14:sldId id="258"/>
          </p14:sldIdLst>
        </p14:section>
        <p14:section name="Ürün ve vizyon" id="{e7a743e7-397d-c8c9-f38e-c0d5eca8f254}">
          <p14:sldIdLst>
            <p14:sldId id="259"/>
            <p14:sldId id="260"/>
            <p14:sldId id="261"/>
          </p14:sldIdLst>
        </p14:section>
        <p14:section name="Pazar ve model" id="{fa7ab064-e07d-7ea4-3f48-7933d47394de}">
          <p14:sldIdLst>
            <p14:sldId id="262"/>
            <p14:sldId id="263"/>
            <p14:sldId id="264"/>
          </p14:sldIdLst>
        </p14:section>
        <p14:section name="Plan ve tur" id="{41eff6a7-89cb-83de-ee64-227e88acdf49}">
          <p14:sldIdLst>
            <p14:sldId id="265"/>
            <p14:sldId id="266"/>
            <p14:sldId id="267"/>
            <p14:sldId id="268"/>
            <p14:sldId id="269"/>
          </p14:sldIdLst>
        </p14:section>
        <p14:section name="Ekip" id="{7d56b1fb-5a6d-adc4-938b-c4ce7d6f8822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250 bin €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F2D75"/>
              </a:solidFill>
              <a:ln w="25400" cap="flat">
                <a:solidFill>
                  <a:srgbClr val="0F1115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2DFFB5"/>
              </a:solidFill>
              <a:ln w="25400" cap="flat">
                <a:solidFill>
                  <a:srgbClr val="0F1115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FFD166"/>
              </a:solidFill>
              <a:ln w="25400" cap="flat">
                <a:solidFill>
                  <a:srgbClr val="0F1115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6CC4FF"/>
              </a:solidFill>
              <a:ln w="25400" cap="flat">
                <a:solidFill>
                  <a:srgbClr val="0F1115"/>
                </a:solidFill>
                <a:prstDash val="solid"/>
                <a:round/>
              </a:ln>
              <a:effectLst/>
            </c:spPr>
          </c:dPt>
          <c:dPt>
            <c:idx val="4"/>
            <c:bubble3D val="0"/>
            <c:spPr>
              <a:solidFill>
                <a:srgbClr val="5A6070"/>
              </a:solidFill>
              <a:ln w="25400" cap="flat">
                <a:solidFill>
                  <a:srgbClr val="0F1115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Ekip/ürün</c:v>
                </c:pt>
                <c:pt idx="1">
                  <c:v>Pazara giriş</c:v>
                </c:pt>
                <c:pt idx="2">
                  <c:v>Kelime-Resim (vizyon B)</c:v>
                </c:pt>
                <c:pt idx="3">
                  <c:v>Hukuk, marka, veri koruma</c:v>
                </c:pt>
                <c:pt idx="4">
                  <c:v>Yedek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50</c:v>
                </c:pt>
                <c:pt idx="1">
                  <c:v>20</c:v>
                </c:pt>
                <c:pt idx="2">
                  <c:v>15</c:v>
                </c:pt>
                <c:pt idx="3">
                  <c:v>10</c:v>
                </c:pt>
                <c:pt idx="4">
                  <c:v>5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A9B0BD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A9B0BD"/>
                </a:solidFill>
                <a:latin typeface="+mn-lt"/>
              </a:rPr>
              <a:t>5 yıllık gelir tablosu, baz, bin € (tahmin)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Gelir</c:v>
                </c:pt>
              </c:strCache>
            </c:strRef>
          </c:tx>
          <c:spPr>
            <a:solidFill>
              <a:srgbClr val="2DF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1. yıl 2027</c:v>
                  </c:pt>
                  <c:pt idx="1">
                    <c:v>2. yıl 2028</c:v>
                  </c:pt>
                  <c:pt idx="2">
                    <c:v>3. yıl 2029</c:v>
                  </c:pt>
                  <c:pt idx="3">
                    <c:v>4. yıl 2030</c:v>
                  </c:pt>
                  <c:pt idx="4">
                    <c:v>5. yıl 2031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51</c:v>
                </c:pt>
                <c:pt idx="1">
                  <c:v>336</c:v>
                </c:pt>
                <c:pt idx="2">
                  <c:v>1038</c:v>
                </c:pt>
                <c:pt idx="3">
                  <c:v>1984</c:v>
                </c:pt>
                <c:pt idx="4">
                  <c:v>3152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Maliyet</c:v>
                </c:pt>
              </c:strCache>
            </c:strRef>
          </c:tx>
          <c:spPr>
            <a:solidFill>
              <a:srgbClr val="5A607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1. yıl 2027</c:v>
                  </c:pt>
                  <c:pt idx="1">
                    <c:v>2. yıl 2028</c:v>
                  </c:pt>
                  <c:pt idx="2">
                    <c:v>3. yıl 2029</c:v>
                  </c:pt>
                  <c:pt idx="3">
                    <c:v>4. yıl 2030</c:v>
                  </c:pt>
                  <c:pt idx="4">
                    <c:v>5. yıl 2031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166</c:v>
                </c:pt>
                <c:pt idx="1">
                  <c:v>295</c:v>
                </c:pt>
                <c:pt idx="2">
                  <c:v>710</c:v>
                </c:pt>
                <c:pt idx="3">
                  <c:v>1065</c:v>
                </c:pt>
                <c:pt idx="4">
                  <c:v>1491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FAVÖK</c:v>
                </c:pt>
              </c:strCache>
            </c:strRef>
          </c:tx>
          <c:spPr>
            <a:solidFill>
              <a:srgbClr val="FF2D7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1. yıl 2027</c:v>
                  </c:pt>
                  <c:pt idx="1">
                    <c:v>2. yıl 2028</c:v>
                  </c:pt>
                  <c:pt idx="2">
                    <c:v>3. yıl 2029</c:v>
                  </c:pt>
                  <c:pt idx="3">
                    <c:v>4. yıl 2030</c:v>
                  </c:pt>
                  <c:pt idx="4">
                    <c:v>5. yıl 2031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-116</c:v>
                </c:pt>
                <c:pt idx="1">
                  <c:v>41</c:v>
                </c:pt>
                <c:pt idx="2">
                  <c:v>328</c:v>
                </c:pt>
                <c:pt idx="3">
                  <c:v>919</c:v>
                </c:pt>
                <c:pt idx="4">
                  <c:v>1661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A9B0BD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LiveFX: Dinleyen canlı yayınlar – Yayıncının sesi bir saniyeden kısa sürede meme’e, sese ve sahneye dönüşür – yarın da konuşulan her şeyin görüntüsüne.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250.000 €, LiveFX’i 18 ayda pazara çıkarır ve Kelime-Resim’i prototipten ürüne taşır.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FX_TITLE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chemeClr val="bg2"/>
                </a:solidFill>
              </a:rPr>
              <a:t>GİZLİ  ·  PRE-SEED  ·  EKİM 2026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097280"/>
            <a:ext cx="576072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FX_CONTENT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chemeClr val="bg2"/>
                </a:solidFill>
              </a:rPr>
              <a:t>GİZLİ  ·  PRE-SEED  ·  EKİM 2026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3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"/>
          <p:cNvSpPr txBox="1"/>
          <p:nvPr/>
        </p:nvSpPr>
        <p:spPr>
          <a:xfrm>
            <a:off x="548640" y="64008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PRE-SEED YATIRIM FIRSATI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097280"/>
            <a:ext cx="5760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LiveFX: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Dinleyen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canlı yayınlar</a:t>
            </a:r>
            <a:endParaRPr lang="en-US" sz="4800" dirty="0"/>
          </a:p>
        </p:txBody>
      </p:sp>
      <p:sp>
        <p:nvSpPr>
          <p:cNvPr id="4" name="Text-2"/>
          <p:cNvSpPr txBox="1"/>
          <p:nvPr/>
        </p:nvSpPr>
        <p:spPr>
          <a:xfrm>
            <a:off x="548640" y="356616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Yayıncının sesi bir saniyeden kısa sürede meme’e, sese ve sahneye dönüşür – yarın da konuşulan her şeyin görüntüsüne.</a:t>
            </a:r>
            <a:endParaRPr lang="en-US" sz="1500" dirty="0"/>
          </a:p>
        </p:txBody>
      </p:sp>
      <p:sp>
        <p:nvSpPr>
          <p:cNvPr id="5" name="Wave-3"/>
          <p:cNvSpPr/>
          <p:nvPr/>
        </p:nvSpPr>
        <p:spPr>
          <a:xfrm>
            <a:off x="548640" y="4535424"/>
            <a:ext cx="76200" cy="73152"/>
          </a:xfrm>
          <a:prstGeom prst="roundRect">
            <a:avLst>
              <a:gd name="adj" fmla="val 52083"/>
            </a:avLst>
          </a:prstGeom>
          <a:solidFill>
            <a:schemeClr val="accent1"/>
          </a:solidFill>
          <a:ln/>
        </p:spPr>
      </p:sp>
      <p:sp>
        <p:nvSpPr>
          <p:cNvPr id="6" name="Wave-4"/>
          <p:cNvSpPr/>
          <p:nvPr/>
        </p:nvSpPr>
        <p:spPr>
          <a:xfrm>
            <a:off x="701040" y="4441799"/>
            <a:ext cx="76200" cy="260401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7" name="Wave-5"/>
          <p:cNvSpPr/>
          <p:nvPr/>
        </p:nvSpPr>
        <p:spPr>
          <a:xfrm>
            <a:off x="853440" y="4446980"/>
            <a:ext cx="76200" cy="25003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8" name="Wave-6"/>
          <p:cNvSpPr/>
          <p:nvPr/>
        </p:nvSpPr>
        <p:spPr>
          <a:xfrm>
            <a:off x="1005840" y="4459903"/>
            <a:ext cx="76200" cy="2241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9" name="Wave-7"/>
          <p:cNvSpPr/>
          <p:nvPr/>
        </p:nvSpPr>
        <p:spPr>
          <a:xfrm>
            <a:off x="1158240" y="4428637"/>
            <a:ext cx="76200" cy="286727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0" name="Wave-8"/>
          <p:cNvSpPr/>
          <p:nvPr/>
        </p:nvSpPr>
        <p:spPr>
          <a:xfrm>
            <a:off x="1310640" y="4464340"/>
            <a:ext cx="76200" cy="215321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1" name="Wave-9"/>
          <p:cNvSpPr/>
          <p:nvPr/>
        </p:nvSpPr>
        <p:spPr>
          <a:xfrm>
            <a:off x="1463040" y="4492516"/>
            <a:ext cx="76200" cy="158967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2" name="Wave-10"/>
          <p:cNvSpPr/>
          <p:nvPr/>
        </p:nvSpPr>
        <p:spPr>
          <a:xfrm>
            <a:off x="1615440" y="4441423"/>
            <a:ext cx="76200" cy="26115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3" name="Wave-11"/>
          <p:cNvSpPr/>
          <p:nvPr/>
        </p:nvSpPr>
        <p:spPr>
          <a:xfrm>
            <a:off x="1767840" y="4462431"/>
            <a:ext cx="76200" cy="219137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4" name="Wave-12"/>
          <p:cNvSpPr/>
          <p:nvPr/>
        </p:nvSpPr>
        <p:spPr>
          <a:xfrm>
            <a:off x="1920240" y="4443290"/>
            <a:ext cx="76200" cy="2574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5" name="Wave-13"/>
          <p:cNvSpPr/>
          <p:nvPr/>
        </p:nvSpPr>
        <p:spPr>
          <a:xfrm>
            <a:off x="2072640" y="4422842"/>
            <a:ext cx="76200" cy="29831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6" name="Wave-14"/>
          <p:cNvSpPr/>
          <p:nvPr/>
        </p:nvSpPr>
        <p:spPr>
          <a:xfrm>
            <a:off x="2225040" y="4504619"/>
            <a:ext cx="76200" cy="13476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7" name="Wave-15"/>
          <p:cNvSpPr/>
          <p:nvPr/>
        </p:nvSpPr>
        <p:spPr>
          <a:xfrm>
            <a:off x="2377440" y="4464671"/>
            <a:ext cx="76200" cy="21465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8" name="Wave-16"/>
          <p:cNvSpPr/>
          <p:nvPr/>
        </p:nvSpPr>
        <p:spPr>
          <a:xfrm>
            <a:off x="2529840" y="4455755"/>
            <a:ext cx="76200" cy="23249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9" name="Wave-17"/>
          <p:cNvSpPr/>
          <p:nvPr/>
        </p:nvSpPr>
        <p:spPr>
          <a:xfrm>
            <a:off x="2682240" y="4462539"/>
            <a:ext cx="76200" cy="21892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0" name="Wave-18"/>
          <p:cNvSpPr/>
          <p:nvPr/>
        </p:nvSpPr>
        <p:spPr>
          <a:xfrm>
            <a:off x="2834640" y="4421056"/>
            <a:ext cx="76200" cy="30188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1" name="Wave-19"/>
          <p:cNvSpPr/>
          <p:nvPr/>
        </p:nvSpPr>
        <p:spPr>
          <a:xfrm>
            <a:off x="2987040" y="4439082"/>
            <a:ext cx="76200" cy="2658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2" name="Wave-20"/>
          <p:cNvSpPr/>
          <p:nvPr/>
        </p:nvSpPr>
        <p:spPr>
          <a:xfrm>
            <a:off x="3139440" y="4522201"/>
            <a:ext cx="76200" cy="99597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3" name="Wave-21"/>
          <p:cNvSpPr/>
          <p:nvPr/>
        </p:nvSpPr>
        <p:spPr>
          <a:xfrm>
            <a:off x="3291840" y="4458579"/>
            <a:ext cx="76200" cy="22684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24" name="Wave-22"/>
          <p:cNvSpPr/>
          <p:nvPr/>
        </p:nvSpPr>
        <p:spPr>
          <a:xfrm>
            <a:off x="3444240" y="4469911"/>
            <a:ext cx="76200" cy="204179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25" name="Wave-23"/>
          <p:cNvSpPr/>
          <p:nvPr/>
        </p:nvSpPr>
        <p:spPr>
          <a:xfrm>
            <a:off x="3596640" y="4445049"/>
            <a:ext cx="76200" cy="25390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26" name="Wave-24"/>
          <p:cNvSpPr/>
          <p:nvPr/>
        </p:nvSpPr>
        <p:spPr>
          <a:xfrm>
            <a:off x="3749040" y="4408861"/>
            <a:ext cx="76200" cy="32627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27" name="Wave-25"/>
          <p:cNvSpPr/>
          <p:nvPr/>
        </p:nvSpPr>
        <p:spPr>
          <a:xfrm>
            <a:off x="3901440" y="4475307"/>
            <a:ext cx="76200" cy="19338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28" name="Wave-26"/>
          <p:cNvSpPr/>
          <p:nvPr/>
        </p:nvSpPr>
        <p:spPr>
          <a:xfrm>
            <a:off x="4053840" y="4490209"/>
            <a:ext cx="76200" cy="16358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29" name="Wave-27"/>
          <p:cNvSpPr/>
          <p:nvPr/>
        </p:nvSpPr>
        <p:spPr>
          <a:xfrm>
            <a:off x="4206240" y="4468969"/>
            <a:ext cx="76200" cy="206063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0" name="Wave-28"/>
          <p:cNvSpPr/>
          <p:nvPr/>
        </p:nvSpPr>
        <p:spPr>
          <a:xfrm>
            <a:off x="4358640" y="4470251"/>
            <a:ext cx="76200" cy="203499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1" name="Wave-29"/>
          <p:cNvSpPr/>
          <p:nvPr/>
        </p:nvSpPr>
        <p:spPr>
          <a:xfrm>
            <a:off x="4511040" y="4419248"/>
            <a:ext cx="76200" cy="305505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2" name="Wave-30"/>
          <p:cNvSpPr/>
          <p:nvPr/>
        </p:nvSpPr>
        <p:spPr>
          <a:xfrm>
            <a:off x="4663440" y="4418016"/>
            <a:ext cx="76200" cy="307967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3" name="Wave-31"/>
          <p:cNvSpPr/>
          <p:nvPr/>
        </p:nvSpPr>
        <p:spPr>
          <a:xfrm>
            <a:off x="4815840" y="4518927"/>
            <a:ext cx="76200" cy="10614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4" name="Wave-32"/>
          <p:cNvSpPr/>
          <p:nvPr/>
        </p:nvSpPr>
        <p:spPr>
          <a:xfrm>
            <a:off x="4968240" y="4479047"/>
            <a:ext cx="76200" cy="18590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5" name="Wave-33"/>
          <p:cNvSpPr/>
          <p:nvPr/>
        </p:nvSpPr>
        <p:spPr>
          <a:xfrm>
            <a:off x="5120640" y="4481836"/>
            <a:ext cx="76200" cy="180329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6" name="Wave-34"/>
          <p:cNvSpPr/>
          <p:nvPr/>
        </p:nvSpPr>
        <p:spPr>
          <a:xfrm>
            <a:off x="5273040" y="4452315"/>
            <a:ext cx="76200" cy="23937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7" name="Wave-35"/>
          <p:cNvSpPr/>
          <p:nvPr/>
        </p:nvSpPr>
        <p:spPr>
          <a:xfrm>
            <a:off x="5425440" y="4400672"/>
            <a:ext cx="76200" cy="34265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8" name="Wave-36"/>
          <p:cNvSpPr/>
          <p:nvPr/>
        </p:nvSpPr>
        <p:spPr>
          <a:xfrm>
            <a:off x="5577840" y="4448907"/>
            <a:ext cx="76200" cy="24618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9" name="Wave-37"/>
          <p:cNvSpPr/>
          <p:nvPr/>
        </p:nvSpPr>
        <p:spPr>
          <a:xfrm>
            <a:off x="5730240" y="4517048"/>
            <a:ext cx="76200" cy="10990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0" name="Wave-38"/>
          <p:cNvSpPr/>
          <p:nvPr/>
        </p:nvSpPr>
        <p:spPr>
          <a:xfrm>
            <a:off x="5882640" y="4485732"/>
            <a:ext cx="76200" cy="17253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1" name="Card-39"/>
          <p:cNvSpPr/>
          <p:nvPr/>
        </p:nvSpPr>
        <p:spPr>
          <a:xfrm>
            <a:off x="548640" y="4937760"/>
            <a:ext cx="283464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42" name="Text-40"/>
          <p:cNvSpPr txBox="1"/>
          <p:nvPr/>
        </p:nvSpPr>
        <p:spPr>
          <a:xfrm>
            <a:off x="777240" y="504748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</a:t>
            </a:r>
            <a:endParaRPr lang="en-US" sz="1000" dirty="0"/>
          </a:p>
        </p:txBody>
      </p:sp>
      <p:sp>
        <p:nvSpPr>
          <p:cNvPr id="43" name="Text-41"/>
          <p:cNvSpPr txBox="1"/>
          <p:nvPr/>
        </p:nvSpPr>
        <p:spPr>
          <a:xfrm>
            <a:off x="777240" y="53035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250.000 €</a:t>
            </a:r>
            <a:endParaRPr lang="en-US" sz="3000" dirty="0"/>
          </a:p>
        </p:txBody>
      </p:sp>
      <p:sp>
        <p:nvSpPr>
          <p:cNvPr id="44" name="Text-42"/>
          <p:cNvSpPr txBox="1"/>
          <p:nvPr/>
        </p:nvSpPr>
        <p:spPr>
          <a:xfrm>
            <a:off x="777240" y="57607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ay · gelir olmasa bile 18 ay nakit ömrü</a:t>
            </a:r>
            <a:endParaRPr lang="en-US" sz="1000" dirty="0"/>
          </a:p>
        </p:txBody>
      </p:sp>
      <p:sp>
        <p:nvSpPr>
          <p:cNvPr id="45" name="Text-43"/>
          <p:cNvSpPr txBox="1"/>
          <p:nvPr/>
        </p:nvSpPr>
        <p:spPr>
          <a:xfrm>
            <a:off x="3657600" y="49834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KURUCU &amp; MUCİT</a:t>
            </a:r>
            <a:endParaRPr lang="en-US" sz="900" dirty="0"/>
          </a:p>
        </p:txBody>
      </p:sp>
      <p:sp>
        <p:nvSpPr>
          <p:cNvPr id="46" name="Text-44"/>
          <p:cNvSpPr txBox="1"/>
          <p:nvPr/>
        </p:nvSpPr>
        <p:spPr>
          <a:xfrm>
            <a:off x="3657600" y="518464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Tuncay Sancak</a:t>
            </a:r>
            <a:endParaRPr lang="en-US" sz="1800" dirty="0"/>
          </a:p>
        </p:txBody>
      </p:sp>
      <p:sp>
        <p:nvSpPr>
          <p:cNvPr id="47" name="Text-45"/>
          <p:cNvSpPr txBox="1"/>
          <p:nvPr/>
        </p:nvSpPr>
        <p:spPr>
          <a:xfrm>
            <a:off x="3657600" y="56235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YATIRIMCI İLİŞKİLERİ</a:t>
            </a:r>
            <a:endParaRPr lang="en-US" sz="900" dirty="0"/>
          </a:p>
        </p:txBody>
      </p:sp>
      <p:sp>
        <p:nvSpPr>
          <p:cNvPr id="48" name="Text-46"/>
          <p:cNvSpPr txBox="1"/>
          <p:nvPr/>
        </p:nvSpPr>
        <p:spPr>
          <a:xfrm>
            <a:off x="3657600" y="582472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Gönül Demet</a:t>
            </a:r>
            <a:endParaRPr lang="en-US" sz="1800" dirty="0"/>
          </a:p>
        </p:txBody>
      </p:sp>
      <p:pic>
        <p:nvPicPr>
          <p:cNvPr id="49" name="Image-47" descr="/home/user/Notion/live-fx/business/video/assets/overlay-card.t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0" y="548640"/>
            <a:ext cx="5056632" cy="2843784"/>
          </a:xfrm>
          <a:prstGeom prst="rect">
            <a:avLst/>
          </a:prstGeom>
        </p:spPr>
      </p:pic>
      <p:pic>
        <p:nvPicPr>
          <p:cNvPr id="50" name="Image-48" descr="/home/user/Notion/live-fx/business/video/stills/vision-tr-16x9-8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3680" y="3566160"/>
            <a:ext cx="5056632" cy="2843784"/>
          </a:xfrm>
          <a:prstGeom prst="rect">
            <a:avLst/>
          </a:prstGeom>
        </p:spPr>
      </p:pic>
      <p:sp>
        <p:nvSpPr>
          <p:cNvPr id="51" name="Pill-49"/>
          <p:cNvSpPr txBox="1"/>
          <p:nvPr/>
        </p:nvSpPr>
        <p:spPr>
          <a:xfrm>
            <a:off x="6766560" y="731520"/>
            <a:ext cx="1463040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5875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2.1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LIVEFX / YATIRIM TEZİ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Canlı yayında tetikleyici olarak sese odaklı bir yatırım</a:t>
            </a:r>
            <a:endParaRPr lang="en-US" sz="3200" dirty="0"/>
          </a:p>
        </p:txBody>
      </p:sp>
      <p:sp>
        <p:nvSpPr>
          <p:cNvPr id="4" name="Card-50"/>
          <p:cNvSpPr/>
          <p:nvPr/>
        </p:nvSpPr>
        <p:spPr>
          <a:xfrm>
            <a:off x="548640" y="1600200"/>
            <a:ext cx="2036003" cy="3383280"/>
          </a:xfrm>
          <a:prstGeom prst="roundRect">
            <a:avLst>
              <a:gd name="adj" fmla="val 5389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5" name="Text-51"/>
          <p:cNvSpPr txBox="1"/>
          <p:nvPr/>
        </p:nvSpPr>
        <p:spPr>
          <a:xfrm>
            <a:off x="777240" y="17830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-52"/>
          <p:cNvSpPr txBox="1"/>
          <p:nvPr/>
        </p:nvSpPr>
        <p:spPr>
          <a:xfrm>
            <a:off x="777240" y="2423160"/>
            <a:ext cx="162452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Hazır ve test edildi</a:t>
            </a:r>
            <a:endParaRPr lang="en-US" sz="1800" dirty="0"/>
          </a:p>
        </p:txBody>
      </p:sp>
      <p:sp>
        <p:nvSpPr>
          <p:cNvPr id="7" name="Text-53"/>
          <p:cNvSpPr txBox="1"/>
          <p:nvPr/>
        </p:nvSpPr>
        <p:spPr>
          <a:xfrm>
            <a:off x="777240" y="3200400"/>
            <a:ext cx="1624523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Sürüm 2.1 çalışıyor: 238 tetikleyici, 143 ücretsiz çıkartma, 575’ten fazla otomatik test.</a:t>
            </a:r>
            <a:endParaRPr lang="en-US" sz="1300" dirty="0"/>
          </a:p>
        </p:txBody>
      </p:sp>
      <p:sp>
        <p:nvSpPr>
          <p:cNvPr id="8" name="Card-54"/>
          <p:cNvSpPr/>
          <p:nvPr/>
        </p:nvSpPr>
        <p:spPr>
          <a:xfrm>
            <a:off x="2813243" y="1600200"/>
            <a:ext cx="2036003" cy="3383280"/>
          </a:xfrm>
          <a:prstGeom prst="roundRect">
            <a:avLst>
              <a:gd name="adj" fmla="val 5389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9" name="Text-55"/>
          <p:cNvSpPr txBox="1"/>
          <p:nvPr/>
        </p:nvSpPr>
        <p:spPr>
          <a:xfrm>
            <a:off x="3041843" y="17830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-56"/>
          <p:cNvSpPr txBox="1"/>
          <p:nvPr/>
        </p:nvSpPr>
        <p:spPr>
          <a:xfrm>
            <a:off x="3041843" y="2423160"/>
            <a:ext cx="162452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Boş bir alan</a:t>
            </a:r>
            <a:endParaRPr lang="en-US" sz="1800" dirty="0"/>
          </a:p>
        </p:txBody>
      </p:sp>
      <p:sp>
        <p:nvSpPr>
          <p:cNvPr id="11" name="Text-57"/>
          <p:cNvSpPr txBox="1"/>
          <p:nvPr/>
        </p:nvSpPr>
        <p:spPr>
          <a:xfrm>
            <a:off x="3041843" y="3200400"/>
            <a:ext cx="1624523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Yaygın hiçbir araç yayıncının söylediğine tepki vermiyor.</a:t>
            </a:r>
            <a:endParaRPr lang="en-US" sz="1300" dirty="0"/>
          </a:p>
        </p:txBody>
      </p:sp>
      <p:sp>
        <p:nvSpPr>
          <p:cNvPr id="12" name="Card-58"/>
          <p:cNvSpPr/>
          <p:nvPr/>
        </p:nvSpPr>
        <p:spPr>
          <a:xfrm>
            <a:off x="5077846" y="1600200"/>
            <a:ext cx="2036003" cy="3383280"/>
          </a:xfrm>
          <a:prstGeom prst="roundRect">
            <a:avLst>
              <a:gd name="adj" fmla="val 5389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3" name="Text-59"/>
          <p:cNvSpPr txBox="1"/>
          <p:nvPr/>
        </p:nvSpPr>
        <p:spPr>
          <a:xfrm>
            <a:off x="5306446" y="17830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-60"/>
          <p:cNvSpPr txBox="1"/>
          <p:nvPr/>
        </p:nvSpPr>
        <p:spPr>
          <a:xfrm>
            <a:off x="5306446" y="2423160"/>
            <a:ext cx="162452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yayında</a:t>
            </a:r>
            <a:endParaRPr lang="en-US" sz="1800" dirty="0"/>
          </a:p>
        </p:txBody>
      </p:sp>
      <p:sp>
        <p:nvSpPr>
          <p:cNvPr id="15" name="Text-61"/>
          <p:cNvSpPr txBox="1"/>
          <p:nvPr/>
        </p:nvSpPr>
        <p:spPr>
          <a:xfrm>
            <a:off x="5306446" y="3200400"/>
            <a:ext cx="1624523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Hediyeler yayıncı gelirinin ≈ %50’si [Kaynak 5, 6].</a:t>
            </a:r>
            <a:endParaRPr lang="en-US" sz="1300" dirty="0"/>
          </a:p>
        </p:txBody>
      </p:sp>
      <p:sp>
        <p:nvSpPr>
          <p:cNvPr id="16" name="Card-62"/>
          <p:cNvSpPr/>
          <p:nvPr/>
        </p:nvSpPr>
        <p:spPr>
          <a:xfrm>
            <a:off x="7342449" y="1600200"/>
            <a:ext cx="2036003" cy="3383280"/>
          </a:xfrm>
          <a:prstGeom prst="roundRect">
            <a:avLst>
              <a:gd name="adj" fmla="val 5389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7" name="Text-63"/>
          <p:cNvSpPr txBox="1"/>
          <p:nvPr/>
        </p:nvSpPr>
        <p:spPr>
          <a:xfrm>
            <a:off x="7571049" y="17830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-64"/>
          <p:cNvSpPr txBox="1"/>
          <p:nvPr/>
        </p:nvSpPr>
        <p:spPr>
          <a:xfrm>
            <a:off x="7571049" y="2423160"/>
            <a:ext cx="162452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Hesaplamak değil çizmek</a:t>
            </a:r>
            <a:endParaRPr lang="en-US" sz="1800" dirty="0"/>
          </a:p>
        </p:txBody>
      </p:sp>
      <p:sp>
        <p:nvSpPr>
          <p:cNvPr id="19" name="Text-65"/>
          <p:cNvSpPr txBox="1"/>
          <p:nvPr/>
        </p:nvSpPr>
        <p:spPr>
          <a:xfrm>
            <a:off x="7571049" y="3200400"/>
            <a:ext cx="1624523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Sahneler tarayıcıda: video yapay zekâsından 240 ile 10.000 kattan fazla ucuz.</a:t>
            </a:r>
            <a:endParaRPr lang="en-US" sz="1300" dirty="0"/>
          </a:p>
        </p:txBody>
      </p:sp>
      <p:sp>
        <p:nvSpPr>
          <p:cNvPr id="20" name="Card-66"/>
          <p:cNvSpPr/>
          <p:nvPr/>
        </p:nvSpPr>
        <p:spPr>
          <a:xfrm>
            <a:off x="9607052" y="1600200"/>
            <a:ext cx="2036003" cy="3383280"/>
          </a:xfrm>
          <a:prstGeom prst="roundRect">
            <a:avLst>
              <a:gd name="adj" fmla="val 5389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1" name="Text-67"/>
          <p:cNvSpPr txBox="1"/>
          <p:nvPr/>
        </p:nvSpPr>
        <p:spPr>
          <a:xfrm>
            <a:off x="9835652" y="17830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-68"/>
          <p:cNvSpPr txBox="1"/>
          <p:nvPr/>
        </p:nvSpPr>
        <p:spPr>
          <a:xfrm>
            <a:off x="9835652" y="2423160"/>
            <a:ext cx="162452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Tek motor, dört hat</a:t>
            </a:r>
            <a:endParaRPr lang="en-US" sz="1800" dirty="0"/>
          </a:p>
        </p:txBody>
      </p:sp>
      <p:sp>
        <p:nvSpPr>
          <p:cNvPr id="23" name="Text-69"/>
          <p:cNvSpPr txBox="1"/>
          <p:nvPr/>
        </p:nvSpPr>
        <p:spPr>
          <a:xfrm>
            <a:off x="9835652" y="3200400"/>
            <a:ext cx="1624523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Önce Kelime-Resim; Anlatı Filmi, Studio ve Mekânlar sonraki turda.</a:t>
            </a:r>
            <a:endParaRPr lang="en-US" sz="1300" dirty="0"/>
          </a:p>
        </p:txBody>
      </p:sp>
      <p:sp>
        <p:nvSpPr>
          <p:cNvPr id="24" name="Text-70"/>
          <p:cNvSpPr txBox="1"/>
          <p:nvPr/>
        </p:nvSpPr>
        <p:spPr>
          <a:xfrm>
            <a:off x="548640" y="53035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250.000 €, LiveFX’i 18 ayda pazara çıkarır ve Kelime-Resim’i prototipten ürüne taşır.</a:t>
            </a:r>
            <a:endParaRPr lang="en-US" sz="1800" dirty="0"/>
          </a:p>
        </p:txBody>
      </p:sp>
      <p:sp>
        <p:nvSpPr>
          <p:cNvPr id="25" name="Wave-71"/>
          <p:cNvSpPr/>
          <p:nvPr/>
        </p:nvSpPr>
        <p:spPr>
          <a:xfrm>
            <a:off x="8778240" y="5550408"/>
            <a:ext cx="65047" cy="1005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6" name="Wave-72"/>
          <p:cNvSpPr/>
          <p:nvPr/>
        </p:nvSpPr>
        <p:spPr>
          <a:xfrm>
            <a:off x="8908334" y="5421674"/>
            <a:ext cx="65047" cy="35805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7" name="Wave-73"/>
          <p:cNvSpPr/>
          <p:nvPr/>
        </p:nvSpPr>
        <p:spPr>
          <a:xfrm>
            <a:off x="9038428" y="5428798"/>
            <a:ext cx="65047" cy="34380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8" name="Wave-74"/>
          <p:cNvSpPr/>
          <p:nvPr/>
        </p:nvSpPr>
        <p:spPr>
          <a:xfrm>
            <a:off x="9168523" y="5446566"/>
            <a:ext cx="65047" cy="30826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9" name="Wave-75"/>
          <p:cNvSpPr/>
          <p:nvPr/>
        </p:nvSpPr>
        <p:spPr>
          <a:xfrm>
            <a:off x="9298617" y="5403575"/>
            <a:ext cx="65047" cy="39424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0" name="Wave-76"/>
          <p:cNvSpPr/>
          <p:nvPr/>
        </p:nvSpPr>
        <p:spPr>
          <a:xfrm>
            <a:off x="9428711" y="5452667"/>
            <a:ext cx="65047" cy="29606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1" name="Wave-77"/>
          <p:cNvSpPr/>
          <p:nvPr/>
        </p:nvSpPr>
        <p:spPr>
          <a:xfrm>
            <a:off x="9558805" y="5491410"/>
            <a:ext cx="65047" cy="21858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2" name="Wave-78"/>
          <p:cNvSpPr/>
          <p:nvPr/>
        </p:nvSpPr>
        <p:spPr>
          <a:xfrm>
            <a:off x="9688899" y="5421157"/>
            <a:ext cx="65047" cy="35908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3" name="Wave-79"/>
          <p:cNvSpPr/>
          <p:nvPr/>
        </p:nvSpPr>
        <p:spPr>
          <a:xfrm>
            <a:off x="9818993" y="5450043"/>
            <a:ext cx="65047" cy="30131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4" name="Wave-80"/>
          <p:cNvSpPr/>
          <p:nvPr/>
        </p:nvSpPr>
        <p:spPr>
          <a:xfrm>
            <a:off x="9949088" y="5423724"/>
            <a:ext cx="65047" cy="35395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5" name="Wave-81"/>
          <p:cNvSpPr/>
          <p:nvPr/>
        </p:nvSpPr>
        <p:spPr>
          <a:xfrm>
            <a:off x="10079182" y="5395608"/>
            <a:ext cx="65047" cy="41018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6" name="Wave-82"/>
          <p:cNvSpPr/>
          <p:nvPr/>
        </p:nvSpPr>
        <p:spPr>
          <a:xfrm>
            <a:off x="10209276" y="5508050"/>
            <a:ext cx="65047" cy="185299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7" name="Wave-83"/>
          <p:cNvSpPr/>
          <p:nvPr/>
        </p:nvSpPr>
        <p:spPr>
          <a:xfrm>
            <a:off x="10339370" y="5453122"/>
            <a:ext cx="65047" cy="295155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8" name="Wave-84"/>
          <p:cNvSpPr/>
          <p:nvPr/>
        </p:nvSpPr>
        <p:spPr>
          <a:xfrm>
            <a:off x="10469464" y="5440863"/>
            <a:ext cx="65047" cy="31967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9" name="Wave-85"/>
          <p:cNvSpPr/>
          <p:nvPr/>
        </p:nvSpPr>
        <p:spPr>
          <a:xfrm>
            <a:off x="10599559" y="5450191"/>
            <a:ext cx="65047" cy="30101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0" name="Wave-86"/>
          <p:cNvSpPr/>
          <p:nvPr/>
        </p:nvSpPr>
        <p:spPr>
          <a:xfrm>
            <a:off x="10729653" y="5393151"/>
            <a:ext cx="65047" cy="415097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1" name="Wave-87"/>
          <p:cNvSpPr/>
          <p:nvPr/>
        </p:nvSpPr>
        <p:spPr>
          <a:xfrm>
            <a:off x="10859747" y="5417938"/>
            <a:ext cx="65047" cy="365525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2" name="Wave-88"/>
          <p:cNvSpPr/>
          <p:nvPr/>
        </p:nvSpPr>
        <p:spPr>
          <a:xfrm>
            <a:off x="10989841" y="5532227"/>
            <a:ext cx="65047" cy="13694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3" name="Wave-89"/>
          <p:cNvSpPr/>
          <p:nvPr/>
        </p:nvSpPr>
        <p:spPr>
          <a:xfrm>
            <a:off x="11119935" y="5444746"/>
            <a:ext cx="65047" cy="3119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4" name="Wave-90"/>
          <p:cNvSpPr/>
          <p:nvPr/>
        </p:nvSpPr>
        <p:spPr>
          <a:xfrm>
            <a:off x="11250029" y="5460327"/>
            <a:ext cx="65047" cy="28074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5" name="Wave-91"/>
          <p:cNvSpPr/>
          <p:nvPr/>
        </p:nvSpPr>
        <p:spPr>
          <a:xfrm>
            <a:off x="11380124" y="5426142"/>
            <a:ext cx="65047" cy="34911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6" name="Wave-92"/>
          <p:cNvSpPr/>
          <p:nvPr/>
        </p:nvSpPr>
        <p:spPr>
          <a:xfrm>
            <a:off x="11510218" y="5376384"/>
            <a:ext cx="65047" cy="44863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LIVEFX / PAZARDAKİ BOŞLUK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Kısa videolar kurgulanır. Canlı yayın ham kalır</a:t>
            </a:r>
            <a:endParaRPr lang="en-US" sz="3200" dirty="0"/>
          </a:p>
        </p:txBody>
      </p:sp>
      <p:sp>
        <p:nvSpPr>
          <p:cNvPr id="4" name="Text-93"/>
          <p:cNvSpPr txBox="1"/>
          <p:nvPr/>
        </p:nvSpPr>
        <p:spPr>
          <a:xfrm>
            <a:off x="548640" y="1783080"/>
            <a:ext cx="11887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İzleyici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kontrollü</a:t>
            </a:r>
            <a:endParaRPr lang="en-US" sz="1200" dirty="0"/>
          </a:p>
        </p:txBody>
      </p:sp>
      <p:sp>
        <p:nvSpPr>
          <p:cNvPr id="5" name="Text-94"/>
          <p:cNvSpPr txBox="1"/>
          <p:nvPr/>
        </p:nvSpPr>
        <p:spPr>
          <a:xfrm>
            <a:off x="548640" y="3675888"/>
            <a:ext cx="11887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kontrollü</a:t>
            </a:r>
            <a:endParaRPr lang="en-US" sz="1200" dirty="0"/>
          </a:p>
        </p:txBody>
      </p:sp>
      <p:sp>
        <p:nvSpPr>
          <p:cNvPr id="6" name="Text-95"/>
          <p:cNvSpPr txBox="1"/>
          <p:nvPr/>
        </p:nvSpPr>
        <p:spPr>
          <a:xfrm>
            <a:off x="1828800" y="14630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MANUEL</a:t>
            </a:r>
            <a:endParaRPr lang="en-US" sz="1000" dirty="0"/>
          </a:p>
        </p:txBody>
      </p:sp>
      <p:sp>
        <p:nvSpPr>
          <p:cNvPr id="7" name="Text-96"/>
          <p:cNvSpPr txBox="1"/>
          <p:nvPr/>
        </p:nvSpPr>
        <p:spPr>
          <a:xfrm>
            <a:off x="4453128" y="14630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OTOMATIK</a:t>
            </a:r>
            <a:endParaRPr lang="en-US" sz="1000" dirty="0"/>
          </a:p>
        </p:txBody>
      </p:sp>
      <p:sp>
        <p:nvSpPr>
          <p:cNvPr id="8" name="Card-97"/>
          <p:cNvSpPr/>
          <p:nvPr/>
        </p:nvSpPr>
        <p:spPr>
          <a:xfrm>
            <a:off x="1828800" y="1783080"/>
            <a:ext cx="2514600" cy="178308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9" name="Text-98"/>
          <p:cNvSpPr txBox="1"/>
          <p:nvPr/>
        </p:nvSpPr>
        <p:spPr>
          <a:xfrm>
            <a:off x="2029968" y="2057400"/>
            <a:ext cx="2112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efektleri, çıkartmalar</a:t>
            </a:r>
            <a:endParaRPr lang="en-US" sz="1600" dirty="0"/>
          </a:p>
        </p:txBody>
      </p:sp>
      <p:sp>
        <p:nvSpPr>
          <p:cNvPr id="10" name="Text-99"/>
          <p:cNvSpPr txBox="1"/>
          <p:nvPr/>
        </p:nvSpPr>
        <p:spPr>
          <a:xfrm>
            <a:off x="2029968" y="2788920"/>
            <a:ext cx="2112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elle seçilir</a:t>
            </a:r>
            <a:endParaRPr lang="en-US" sz="1300" dirty="0"/>
          </a:p>
        </p:txBody>
      </p:sp>
      <p:sp>
        <p:nvSpPr>
          <p:cNvPr id="11" name="Card-100"/>
          <p:cNvSpPr/>
          <p:nvPr/>
        </p:nvSpPr>
        <p:spPr>
          <a:xfrm>
            <a:off x="4453128" y="1783080"/>
            <a:ext cx="2514600" cy="178308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2" name="Text-101"/>
          <p:cNvSpPr txBox="1"/>
          <p:nvPr/>
        </p:nvSpPr>
        <p:spPr>
          <a:xfrm>
            <a:off x="4654296" y="2057400"/>
            <a:ext cx="2112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Uyarılar (Streamlabs, StreamElements)</a:t>
            </a:r>
            <a:endParaRPr lang="en-US" sz="1600" dirty="0"/>
          </a:p>
        </p:txBody>
      </p:sp>
      <p:sp>
        <p:nvSpPr>
          <p:cNvPr id="13" name="Text-102"/>
          <p:cNvSpPr txBox="1"/>
          <p:nvPr/>
        </p:nvSpPr>
        <p:spPr>
          <a:xfrm>
            <a:off x="4654296" y="2788920"/>
            <a:ext cx="2112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takibe, bağışa tepki verir</a:t>
            </a:r>
            <a:endParaRPr lang="en-US" sz="1300" dirty="0"/>
          </a:p>
        </p:txBody>
      </p:sp>
      <p:sp>
        <p:nvSpPr>
          <p:cNvPr id="14" name="Card-103"/>
          <p:cNvSpPr/>
          <p:nvPr/>
        </p:nvSpPr>
        <p:spPr>
          <a:xfrm>
            <a:off x="1828800" y="3675888"/>
            <a:ext cx="2514600" cy="178308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5" name="Text-104"/>
          <p:cNvSpPr txBox="1"/>
          <p:nvPr/>
        </p:nvSpPr>
        <p:spPr>
          <a:xfrm>
            <a:off x="2029968" y="3950208"/>
            <a:ext cx="2112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Voicemod, Stream Deck</a:t>
            </a:r>
            <a:endParaRPr lang="en-US" sz="1600" dirty="0"/>
          </a:p>
        </p:txBody>
      </p:sp>
      <p:sp>
        <p:nvSpPr>
          <p:cNvPr id="16" name="Text-105"/>
          <p:cNvSpPr txBox="1"/>
          <p:nvPr/>
        </p:nvSpPr>
        <p:spPr>
          <a:xfrm>
            <a:off x="2029968" y="4681728"/>
            <a:ext cx="2112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eller gerekir</a:t>
            </a:r>
            <a:endParaRPr lang="en-US" sz="1300" dirty="0"/>
          </a:p>
        </p:txBody>
      </p:sp>
      <p:sp>
        <p:nvSpPr>
          <p:cNvPr id="17" name="Card-106"/>
          <p:cNvSpPr/>
          <p:nvPr/>
        </p:nvSpPr>
        <p:spPr>
          <a:xfrm>
            <a:off x="4453128" y="3675888"/>
            <a:ext cx="2514600" cy="1783080"/>
          </a:xfrm>
          <a:prstGeom prst="roundRect">
            <a:avLst>
              <a:gd name="adj" fmla="val 6154"/>
            </a:avLst>
          </a:prstGeom>
          <a:solidFill>
            <a:schemeClr val="accent6"/>
          </a:solidFill>
          <a:ln w="19050">
            <a:solidFill>
              <a:srgbClr val="FF2D75"/>
            </a:solidFill>
            <a:prstDash val="solid"/>
          </a:ln>
        </p:spPr>
      </p:sp>
      <p:sp>
        <p:nvSpPr>
          <p:cNvPr id="18" name="Text-107"/>
          <p:cNvSpPr txBox="1"/>
          <p:nvPr/>
        </p:nvSpPr>
        <p:spPr>
          <a:xfrm>
            <a:off x="4654296" y="3950208"/>
            <a:ext cx="2112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</a:t>
            </a:r>
            <a:endParaRPr lang="en-US" sz="2600" dirty="0"/>
          </a:p>
        </p:txBody>
      </p:sp>
      <p:sp>
        <p:nvSpPr>
          <p:cNvPr id="19" name="Text-108"/>
          <p:cNvSpPr txBox="1"/>
          <p:nvPr/>
        </p:nvSpPr>
        <p:spPr>
          <a:xfrm>
            <a:off x="4654296" y="4681728"/>
            <a:ext cx="2112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sese tepki verir – bu alanda tek</a:t>
            </a:r>
            <a:endParaRPr lang="en-US" sz="1300" dirty="0"/>
          </a:p>
        </p:txBody>
      </p:sp>
      <p:sp>
        <p:nvSpPr>
          <p:cNvPr id="20" name="Text-109"/>
          <p:cNvSpPr txBox="1"/>
          <p:nvPr/>
        </p:nvSpPr>
        <p:spPr>
          <a:xfrm>
            <a:off x="7406640" y="1600200"/>
            <a:ext cx="4236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~%50</a:t>
            </a:r>
            <a:endParaRPr lang="en-US" sz="3400" dirty="0"/>
          </a:p>
        </p:txBody>
      </p:sp>
      <p:sp>
        <p:nvSpPr>
          <p:cNvPr id="21" name="Text-110"/>
          <p:cNvSpPr txBox="1"/>
          <p:nvPr/>
        </p:nvSpPr>
        <p:spPr>
          <a:xfrm>
            <a:off x="7406640" y="2194560"/>
            <a:ext cx="4236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Hediyelerin canlı yayıncı gelirindeki payı [Kaynak 5, 6]</a:t>
            </a:r>
            <a:endParaRPr lang="en-US" sz="1300" dirty="0"/>
          </a:p>
        </p:txBody>
      </p:sp>
      <p:sp>
        <p:nvSpPr>
          <p:cNvPr id="22" name="Text-111"/>
          <p:cNvSpPr txBox="1"/>
          <p:nvPr/>
        </p:nvSpPr>
        <p:spPr>
          <a:xfrm>
            <a:off x="7406640" y="3063240"/>
            <a:ext cx="4236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500–3.000 USD</a:t>
            </a:r>
            <a:endParaRPr lang="en-US" sz="3400" dirty="0"/>
          </a:p>
        </p:txBody>
      </p:sp>
      <p:sp>
        <p:nvSpPr>
          <p:cNvPr id="23" name="Text-112"/>
          <p:cNvSpPr txBox="1"/>
          <p:nvPr/>
        </p:nvSpPr>
        <p:spPr>
          <a:xfrm>
            <a:off x="7406640" y="3657600"/>
            <a:ext cx="4236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20–100 bin takipçide aylık hediye geliri [Kaynak 5]</a:t>
            </a:r>
            <a:endParaRPr lang="en-US" sz="1300" dirty="0"/>
          </a:p>
        </p:txBody>
      </p:sp>
      <p:sp>
        <p:nvSpPr>
          <p:cNvPr id="24" name="Text-113"/>
          <p:cNvSpPr txBox="1"/>
          <p:nvPr/>
        </p:nvSpPr>
        <p:spPr>
          <a:xfrm>
            <a:off x="7406640" y="4526280"/>
            <a:ext cx="4236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milyon+</a:t>
            </a:r>
            <a:endParaRPr lang="en-US" sz="3400" dirty="0"/>
          </a:p>
        </p:txBody>
      </p:sp>
      <p:sp>
        <p:nvSpPr>
          <p:cNvPr id="25" name="Text-114"/>
          <p:cNvSpPr txBox="1"/>
          <p:nvPr/>
        </p:nvSpPr>
        <p:spPr>
          <a:xfrm>
            <a:off x="7406640" y="5120640"/>
            <a:ext cx="4236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yayıncı 2025’te yalnızca GD Asya, Kafkasya ve Orta Asya’da TikTok’ta canlı yayın yaptı, +%77 [Kaynak 2]</a:t>
            </a:r>
            <a:endParaRPr lang="en-US" sz="1300" dirty="0"/>
          </a:p>
        </p:txBody>
      </p:sp>
      <p:sp>
        <p:nvSpPr>
          <p:cNvPr id="26" name="Text-115"/>
          <p:cNvSpPr txBox="1"/>
          <p:nvPr/>
        </p:nvSpPr>
        <p:spPr>
          <a:xfrm>
            <a:off x="548640" y="605332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Kaynaklar: QUELLEN.tr.md · 2×2, PITCH-DECK.tr.md slayt 10’a göre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LIVEFX / KANITLANMIŞ ÜRÜN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Sürüm 2.1: sesten efekte bir saniyeden kısa sürede</a:t>
            </a:r>
            <a:endParaRPr lang="en-US" sz="3200" dirty="0"/>
          </a:p>
        </p:txBody>
      </p:sp>
      <p:pic>
        <p:nvPicPr>
          <p:cNvPr id="4" name="Image-116" descr="/home/user/Notion/live-fx/business/video/assets/pane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5669280" cy="3543300"/>
          </a:xfrm>
          <a:prstGeom prst="rect">
            <a:avLst/>
          </a:prstGeom>
        </p:spPr>
      </p:pic>
      <p:pic>
        <p:nvPicPr>
          <p:cNvPr id="5" name="Image-117" descr="/home/user/Notion/live-fx/business/video/assets/overlay-card.tr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886200" y="3954780"/>
            <a:ext cx="2194560" cy="1234440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00000">
                <a:alpha val="60000"/>
              </a:srgbClr>
            </a:outerShdw>
          </a:effectLst>
        </p:spPr>
      </p:pic>
      <p:sp>
        <p:nvSpPr>
          <p:cNvPr id="6" name="Pill-118"/>
          <p:cNvSpPr txBox="1"/>
          <p:nvPr/>
        </p:nvSpPr>
        <p:spPr>
          <a:xfrm>
            <a:off x="548640" y="5257800"/>
            <a:ext cx="5669280" cy="365760"/>
          </a:xfrm>
          <a:prstGeom prst="roundRect">
            <a:avLst>
              <a:gd name="adj" fmla="val 40000"/>
            </a:avLst>
          </a:prstGeom>
          <a:solidFill>
            <a:schemeClr val="tx1"/>
          </a:solidFill>
          <a:ln w="15875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v2.1  →  TR lansmanı 4Ç 2026  →  Pro 3. ayda canlı</a:t>
            </a:r>
            <a:endParaRPr lang="en-US" sz="1200" dirty="0"/>
          </a:p>
        </p:txBody>
      </p:sp>
      <p:sp>
        <p:nvSpPr>
          <p:cNvPr id="7" name="Text-119"/>
          <p:cNvSpPr txBox="1"/>
          <p:nvPr/>
        </p:nvSpPr>
        <p:spPr>
          <a:xfrm>
            <a:off x="6583680" y="1554480"/>
            <a:ext cx="50593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Yayıncı „yok artık“, „helal olsun“ ya da „alkış“ der – meme belirir, ses çalar. Sesli okuduğunda katman animasyonlu bir sahneye dönüşür.</a:t>
            </a:r>
            <a:endParaRPr lang="en-US" sz="1400" dirty="0"/>
          </a:p>
        </p:txBody>
      </p:sp>
      <p:sp>
        <p:nvSpPr>
          <p:cNvPr id="8" name="Text-120"/>
          <p:cNvSpPr txBox="1"/>
          <p:nvPr/>
        </p:nvSpPr>
        <p:spPr>
          <a:xfrm>
            <a:off x="6583680" y="2606040"/>
            <a:ext cx="24153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238</a:t>
            </a:r>
            <a:endParaRPr lang="en-US" sz="2800" dirty="0"/>
          </a:p>
        </p:txBody>
      </p:sp>
      <p:sp>
        <p:nvSpPr>
          <p:cNvPr id="9" name="Text-121"/>
          <p:cNvSpPr txBox="1"/>
          <p:nvPr/>
        </p:nvSpPr>
        <p:spPr>
          <a:xfrm>
            <a:off x="6583680" y="3063240"/>
            <a:ext cx="24153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tetikleyici, 5 paket</a:t>
            </a:r>
            <a:endParaRPr lang="en-US" sz="1200" dirty="0"/>
          </a:p>
        </p:txBody>
      </p:sp>
      <p:sp>
        <p:nvSpPr>
          <p:cNvPr id="10" name="Text-122"/>
          <p:cNvSpPr txBox="1"/>
          <p:nvPr/>
        </p:nvSpPr>
        <p:spPr>
          <a:xfrm>
            <a:off x="9227668" y="2606040"/>
            <a:ext cx="24153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</a:t>
            </a:r>
            <a:endParaRPr lang="en-US" sz="2800" dirty="0"/>
          </a:p>
        </p:txBody>
      </p:sp>
      <p:sp>
        <p:nvSpPr>
          <p:cNvPr id="11" name="Text-123"/>
          <p:cNvSpPr txBox="1"/>
          <p:nvPr/>
        </p:nvSpPr>
        <p:spPr>
          <a:xfrm>
            <a:off x="9227668" y="3063240"/>
            <a:ext cx="24153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ücretsiz çıkartma (MIT)</a:t>
            </a:r>
            <a:endParaRPr lang="en-US" sz="1200" dirty="0"/>
          </a:p>
        </p:txBody>
      </p:sp>
      <p:sp>
        <p:nvSpPr>
          <p:cNvPr id="12" name="Text-124"/>
          <p:cNvSpPr txBox="1"/>
          <p:nvPr/>
        </p:nvSpPr>
        <p:spPr>
          <a:xfrm>
            <a:off x="6583680" y="3474720"/>
            <a:ext cx="24153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%63–69</a:t>
            </a:r>
            <a:endParaRPr lang="en-US" sz="2800" dirty="0"/>
          </a:p>
        </p:txBody>
      </p:sp>
      <p:sp>
        <p:nvSpPr>
          <p:cNvPr id="13" name="Text-125"/>
          <p:cNvSpPr txBox="1"/>
          <p:nvPr/>
        </p:nvSpPr>
        <p:spPr>
          <a:xfrm>
            <a:off x="6583680" y="3931920"/>
            <a:ext cx="24153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daha kısa kare süresi</a:t>
            </a:r>
            <a:endParaRPr lang="en-US" sz="1200" dirty="0"/>
          </a:p>
        </p:txBody>
      </p:sp>
      <p:sp>
        <p:nvSpPr>
          <p:cNvPr id="14" name="Text-126"/>
          <p:cNvSpPr txBox="1"/>
          <p:nvPr/>
        </p:nvSpPr>
        <p:spPr>
          <a:xfrm>
            <a:off x="9227668" y="3474720"/>
            <a:ext cx="24153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15" name="Text-127"/>
          <p:cNvSpPr txBox="1"/>
          <p:nvPr/>
        </p:nvSpPr>
        <p:spPr>
          <a:xfrm>
            <a:off x="9227668" y="3931920"/>
            <a:ext cx="24153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dil, otomatik tanıma</a:t>
            </a:r>
            <a:endParaRPr lang="en-US" sz="1200" dirty="0"/>
          </a:p>
        </p:txBody>
      </p:sp>
      <p:sp>
        <p:nvSpPr>
          <p:cNvPr id="16" name="Text-128"/>
          <p:cNvSpPr txBox="1"/>
          <p:nvPr/>
        </p:nvSpPr>
        <p:spPr>
          <a:xfrm>
            <a:off x="6583680" y="4343400"/>
            <a:ext cx="24153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1 sn</a:t>
            </a:r>
            <a:endParaRPr lang="en-US" sz="2800" dirty="0"/>
          </a:p>
        </p:txBody>
      </p:sp>
      <p:sp>
        <p:nvSpPr>
          <p:cNvPr id="17" name="Text-129"/>
          <p:cNvSpPr txBox="1"/>
          <p:nvPr/>
        </p:nvSpPr>
        <p:spPr>
          <a:xfrm>
            <a:off x="6583680" y="4800600"/>
            <a:ext cx="24153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 → efekt</a:t>
            </a:r>
            <a:endParaRPr lang="en-US" sz="1200" dirty="0"/>
          </a:p>
        </p:txBody>
      </p:sp>
      <p:sp>
        <p:nvSpPr>
          <p:cNvPr id="18" name="Text-130"/>
          <p:cNvSpPr txBox="1"/>
          <p:nvPr/>
        </p:nvSpPr>
        <p:spPr>
          <a:xfrm>
            <a:off x="9227668" y="4343400"/>
            <a:ext cx="24153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575+</a:t>
            </a:r>
            <a:endParaRPr lang="en-US" sz="2800" dirty="0"/>
          </a:p>
        </p:txBody>
      </p:sp>
      <p:sp>
        <p:nvSpPr>
          <p:cNvPr id="19" name="Text-131"/>
          <p:cNvSpPr txBox="1"/>
          <p:nvPr/>
        </p:nvSpPr>
        <p:spPr>
          <a:xfrm>
            <a:off x="9227668" y="4800600"/>
            <a:ext cx="24153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otomatik test</a:t>
            </a:r>
            <a:endParaRPr lang="en-US" sz="1200" dirty="0"/>
          </a:p>
        </p:txBody>
      </p:sp>
      <p:sp>
        <p:nvSpPr>
          <p:cNvPr id="20" name="Text-132"/>
          <p:cNvSpPr txBox="1"/>
          <p:nvPr/>
        </p:nvSpPr>
        <p:spPr>
          <a:xfrm>
            <a:off x="6583680" y="5257800"/>
            <a:ext cx="5059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2.1’de yeni: TR/DE/EN metin çıkartmaları · güvenli GIF araması (KLIPY/GIPHY, rating g, çocuk koruma filtresi) · hikâye modu · izleyici tetikleyicileri · telefondan kumanda · çevrimdışı · OBS/Streamlabs → TikTok LIVE, Instagram, YouTube, Twitch</a:t>
            </a:r>
            <a:endParaRPr lang="en-US" sz="1200" dirty="0"/>
          </a:p>
        </p:txBody>
      </p:sp>
      <p:sp>
        <p:nvSpPr>
          <p:cNvPr id="21" name="Text-133"/>
          <p:cNvSpPr txBox="1"/>
          <p:nvPr/>
        </p:nvSpPr>
        <p:spPr>
          <a:xfrm>
            <a:off x="548640" y="605332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Kaynak: BUSINESSPLAN.tr.md §3; live-fx/CHANGELOG.md 2.1.0 (31 efektle, 1920×1080 ölçüm) · henüz gelir yok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LIVEFX / VİZYON 2027–2029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 anlat – sahne oluşsun</a:t>
            </a:r>
            <a:endParaRPr lang="en-US" sz="3200" dirty="0"/>
          </a:p>
        </p:txBody>
      </p:sp>
      <p:sp>
        <p:nvSpPr>
          <p:cNvPr id="4" name="Card-134"/>
          <p:cNvSpPr/>
          <p:nvPr/>
        </p:nvSpPr>
        <p:spPr>
          <a:xfrm>
            <a:off x="548640" y="1554480"/>
            <a:ext cx="2602154" cy="3886200"/>
          </a:xfrm>
          <a:prstGeom prst="roundRect">
            <a:avLst>
              <a:gd name="adj" fmla="val 4217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pic>
        <p:nvPicPr>
          <p:cNvPr id="5" name="Image-135" descr="/home/user/Notion/live-fx/business/video/stills/vision-tr-16x9-8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2602154" cy="1463712"/>
          </a:xfrm>
          <a:prstGeom prst="rect">
            <a:avLst/>
          </a:prstGeom>
        </p:spPr>
      </p:pic>
      <p:sp>
        <p:nvSpPr>
          <p:cNvPr id="6" name="Badge-136"/>
          <p:cNvSpPr txBox="1"/>
          <p:nvPr/>
        </p:nvSpPr>
        <p:spPr>
          <a:xfrm>
            <a:off x="731520" y="3219360"/>
            <a:ext cx="457200" cy="45720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-137"/>
          <p:cNvSpPr txBox="1"/>
          <p:nvPr/>
        </p:nvSpPr>
        <p:spPr>
          <a:xfrm>
            <a:off x="1325880" y="3219360"/>
            <a:ext cx="16877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Anlatı Filmi</a:t>
            </a:r>
            <a:endParaRPr lang="en-US" sz="2000" dirty="0"/>
          </a:p>
        </p:txBody>
      </p:sp>
      <p:sp>
        <p:nvSpPr>
          <p:cNvPr id="8" name="Text-138"/>
          <p:cNvSpPr txBox="1"/>
          <p:nvPr/>
        </p:nvSpPr>
        <p:spPr>
          <a:xfrm>
            <a:off x="731520" y="3841152"/>
            <a:ext cx="223639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Scene Engine: Anlatılan cümlelerden canlı ve kesintisiz bir animasyon filmi oluşur.</a:t>
            </a:r>
            <a:endParaRPr lang="en-US" sz="1300" dirty="0"/>
          </a:p>
        </p:txBody>
      </p:sp>
      <p:sp>
        <p:nvSpPr>
          <p:cNvPr id="9" name="Pill-139"/>
          <p:cNvSpPr txBox="1"/>
          <p:nvPr/>
        </p:nvSpPr>
        <p:spPr>
          <a:xfrm>
            <a:off x="731520" y="4983480"/>
            <a:ext cx="2236394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5875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SONRAKI TUR</a:t>
            </a:r>
            <a:endParaRPr lang="en-US" sz="1000" dirty="0"/>
          </a:p>
        </p:txBody>
      </p:sp>
      <p:sp>
        <p:nvSpPr>
          <p:cNvPr id="10" name="Card-140"/>
          <p:cNvSpPr/>
          <p:nvPr/>
        </p:nvSpPr>
        <p:spPr>
          <a:xfrm>
            <a:off x="3379394" y="1554480"/>
            <a:ext cx="2602154" cy="3886200"/>
          </a:xfrm>
          <a:prstGeom prst="roundRect">
            <a:avLst>
              <a:gd name="adj" fmla="val 4217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pic>
        <p:nvPicPr>
          <p:cNvPr id="11" name="Image-141" descr="/home/user/Notion/live-fx/business/video/stills/vision-tr-16x9-15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379394" y="1554480"/>
            <a:ext cx="2602154" cy="1463712"/>
          </a:xfrm>
          <a:prstGeom prst="rect">
            <a:avLst/>
          </a:prstGeom>
        </p:spPr>
      </p:pic>
      <p:sp>
        <p:nvSpPr>
          <p:cNvPr id="12" name="Badge-142"/>
          <p:cNvSpPr txBox="1"/>
          <p:nvPr/>
        </p:nvSpPr>
        <p:spPr>
          <a:xfrm>
            <a:off x="3562274" y="3219360"/>
            <a:ext cx="457200" cy="457200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13" name="Text-143"/>
          <p:cNvSpPr txBox="1"/>
          <p:nvPr/>
        </p:nvSpPr>
        <p:spPr>
          <a:xfrm>
            <a:off x="4156634" y="3219360"/>
            <a:ext cx="16877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Kelime-Resim</a:t>
            </a:r>
            <a:endParaRPr lang="en-US" sz="2000" dirty="0"/>
          </a:p>
        </p:txBody>
      </p:sp>
      <p:sp>
        <p:nvSpPr>
          <p:cNvPr id="14" name="Text-144"/>
          <p:cNvSpPr txBox="1"/>
          <p:nvPr/>
        </p:nvSpPr>
        <p:spPr>
          <a:xfrm>
            <a:off x="3562274" y="3841152"/>
            <a:ext cx="223639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Dil öğrenme: kelime → resim + hedef dil + telaffuz; okuma desteği, tekrar etme.</a:t>
            </a:r>
            <a:endParaRPr lang="en-US" sz="1300" dirty="0"/>
          </a:p>
        </p:txBody>
      </p:sp>
      <p:sp>
        <p:nvSpPr>
          <p:cNvPr id="15" name="Pill-145"/>
          <p:cNvSpPr txBox="1"/>
          <p:nvPr/>
        </p:nvSpPr>
        <p:spPr>
          <a:xfrm>
            <a:off x="3562274" y="4983480"/>
            <a:ext cx="2236394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5875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PRE-SEED → ÜRÜN</a:t>
            </a:r>
            <a:endParaRPr lang="en-US" sz="1000" dirty="0"/>
          </a:p>
        </p:txBody>
      </p:sp>
      <p:sp>
        <p:nvSpPr>
          <p:cNvPr id="16" name="Card-146"/>
          <p:cNvSpPr/>
          <p:nvPr/>
        </p:nvSpPr>
        <p:spPr>
          <a:xfrm>
            <a:off x="6210148" y="1554480"/>
            <a:ext cx="2602154" cy="3886200"/>
          </a:xfrm>
          <a:prstGeom prst="roundRect">
            <a:avLst>
              <a:gd name="adj" fmla="val 4217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pic>
        <p:nvPicPr>
          <p:cNvPr id="17" name="Image-147" descr="/home/user/Notion/live-fx/business/video/stills/vision-tr-16x9-22s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0148" y="1554480"/>
            <a:ext cx="2602154" cy="1463712"/>
          </a:xfrm>
          <a:prstGeom prst="rect">
            <a:avLst/>
          </a:prstGeom>
        </p:spPr>
      </p:pic>
      <p:sp>
        <p:nvSpPr>
          <p:cNvPr id="18" name="Badge-148"/>
          <p:cNvSpPr txBox="1"/>
          <p:nvPr/>
        </p:nvSpPr>
        <p:spPr>
          <a:xfrm>
            <a:off x="6393028" y="3219360"/>
            <a:ext cx="457200" cy="457200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19" name="Text-149"/>
          <p:cNvSpPr txBox="1"/>
          <p:nvPr/>
        </p:nvSpPr>
        <p:spPr>
          <a:xfrm>
            <a:off x="6987388" y="3219360"/>
            <a:ext cx="16877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Mekânlar</a:t>
            </a:r>
            <a:endParaRPr lang="en-US" sz="2000" dirty="0"/>
          </a:p>
        </p:txBody>
      </p:sp>
      <p:sp>
        <p:nvSpPr>
          <p:cNvPr id="20" name="Text-150"/>
          <p:cNvSpPr txBox="1"/>
          <p:nvPr/>
        </p:nvSpPr>
        <p:spPr>
          <a:xfrm>
            <a:off x="6393028" y="3841152"/>
            <a:ext cx="223639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Aynı zaman çizelgesi sahnede, projeksiyonda, telefonda AR’da, VR’da ve gözlükte.</a:t>
            </a:r>
            <a:endParaRPr lang="en-US" sz="1300" dirty="0"/>
          </a:p>
        </p:txBody>
      </p:sp>
      <p:sp>
        <p:nvSpPr>
          <p:cNvPr id="21" name="Pill-151"/>
          <p:cNvSpPr txBox="1"/>
          <p:nvPr/>
        </p:nvSpPr>
        <p:spPr>
          <a:xfrm>
            <a:off x="6393028" y="4983480"/>
            <a:ext cx="2236394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5875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SONRAKI TUR</a:t>
            </a:r>
            <a:endParaRPr lang="en-US" sz="1000" dirty="0"/>
          </a:p>
        </p:txBody>
      </p:sp>
      <p:sp>
        <p:nvSpPr>
          <p:cNvPr id="22" name="Card-152"/>
          <p:cNvSpPr/>
          <p:nvPr/>
        </p:nvSpPr>
        <p:spPr>
          <a:xfrm>
            <a:off x="9040901" y="1554480"/>
            <a:ext cx="2602154" cy="3886200"/>
          </a:xfrm>
          <a:prstGeom prst="roundRect">
            <a:avLst>
              <a:gd name="adj" fmla="val 4217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pic>
        <p:nvPicPr>
          <p:cNvPr id="23" name="Image-153" descr="/home/user/Notion/live-fx/business/video/stills/vision-tr-16x9-29s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040901" y="1554480"/>
            <a:ext cx="2602154" cy="1463712"/>
          </a:xfrm>
          <a:prstGeom prst="rect">
            <a:avLst/>
          </a:prstGeom>
        </p:spPr>
      </p:pic>
      <p:sp>
        <p:nvSpPr>
          <p:cNvPr id="24" name="Badge-154"/>
          <p:cNvSpPr txBox="1"/>
          <p:nvPr/>
        </p:nvSpPr>
        <p:spPr>
          <a:xfrm>
            <a:off x="9223781" y="3219360"/>
            <a:ext cx="457200" cy="4572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200" dirty="0"/>
          </a:p>
        </p:txBody>
      </p:sp>
      <p:sp>
        <p:nvSpPr>
          <p:cNvPr id="25" name="Text-155"/>
          <p:cNvSpPr txBox="1"/>
          <p:nvPr/>
        </p:nvSpPr>
        <p:spPr>
          <a:xfrm>
            <a:off x="9818141" y="3219360"/>
            <a:ext cx="16877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</a:t>
            </a:r>
            <a:endParaRPr lang="en-US" sz="2000" dirty="0"/>
          </a:p>
        </p:txBody>
      </p:sp>
      <p:sp>
        <p:nvSpPr>
          <p:cNvPr id="26" name="Text-156"/>
          <p:cNvSpPr txBox="1"/>
          <p:nvPr/>
        </p:nvSpPr>
        <p:spPr>
          <a:xfrm>
            <a:off x="9223781" y="3841152"/>
            <a:ext cx="223639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Yayından öne çıkan anlar, hazır videoların otomatik kurgusu, yerel dışa aktarım.</a:t>
            </a:r>
            <a:endParaRPr lang="en-US" sz="1300" dirty="0"/>
          </a:p>
        </p:txBody>
      </p:sp>
      <p:sp>
        <p:nvSpPr>
          <p:cNvPr id="27" name="Pill-157"/>
          <p:cNvSpPr txBox="1"/>
          <p:nvPr/>
        </p:nvSpPr>
        <p:spPr>
          <a:xfrm>
            <a:off x="9223781" y="4983480"/>
            <a:ext cx="2236394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5875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SONRAKI TUR</a:t>
            </a:r>
            <a:endParaRPr lang="en-US" sz="1000" dirty="0"/>
          </a:p>
        </p:txBody>
      </p:sp>
      <p:sp>
        <p:nvSpPr>
          <p:cNvPr id="28" name="Text-158"/>
          <p:cNvSpPr txBox="1"/>
          <p:nvPr/>
        </p:nvSpPr>
        <p:spPr>
          <a:xfrm>
            <a:off x="548640" y="55778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Pre-seed Kelime-Resim’i finanse eder (37.500 €); hikâye motoru, otomatik kurgu ve VR sonraki tura kalır.</a:t>
            </a:r>
            <a:endParaRPr lang="en-US" sz="1500" dirty="0"/>
          </a:p>
        </p:txBody>
      </p:sp>
      <p:sp>
        <p:nvSpPr>
          <p:cNvPr id="29" name="Text-159"/>
          <p:cNvSpPr txBox="1"/>
          <p:nvPr/>
        </p:nvSpPr>
        <p:spPr>
          <a:xfrm>
            <a:off x="548640" y="605332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Kaynak: VISION.tr.md §1, BUSINESSPLAN.tr.md §15 · Görseller: vizyon fragmanı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LIVEFX / PROTOTİPLER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İki hat şimdiden tarayıcıda çalışıyor</a:t>
            </a:r>
            <a:endParaRPr lang="en-US" sz="3200" dirty="0"/>
          </a:p>
        </p:txBody>
      </p:sp>
      <p:pic>
        <p:nvPicPr>
          <p:cNvPr id="4" name="Image-160" descr="/home/user/Notion/investor/assets/proto-story-t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3794760" cy="2924567"/>
          </a:xfrm>
          <a:prstGeom prst="rect">
            <a:avLst/>
          </a:prstGeom>
        </p:spPr>
      </p:pic>
      <p:pic>
        <p:nvPicPr>
          <p:cNvPr id="5" name="Image-161" descr="/home/user/Notion/investor/assets/proto-wortbild-tr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17720" y="1554480"/>
            <a:ext cx="3200400" cy="1916906"/>
          </a:xfrm>
          <a:prstGeom prst="rect">
            <a:avLst/>
          </a:prstGeom>
        </p:spPr>
      </p:pic>
      <p:sp>
        <p:nvSpPr>
          <p:cNvPr id="6" name="Text-162"/>
          <p:cNvSpPr txBox="1"/>
          <p:nvPr/>
        </p:nvSpPr>
        <p:spPr>
          <a:xfrm>
            <a:off x="548640" y="4570487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Anlatı Filmi</a:t>
            </a:r>
            <a:endParaRPr lang="en-US" sz="1500" dirty="0"/>
          </a:p>
        </p:txBody>
      </p:sp>
      <p:sp>
        <p:nvSpPr>
          <p:cNvPr id="7" name="Text-163"/>
          <p:cNvSpPr txBox="1"/>
          <p:nvPr/>
        </p:nvSpPr>
        <p:spPr>
          <a:xfrm>
            <a:off x="548640" y="4908815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live-story.html: 22 karakter, 10 mekân, hava, duygu · 60 fps</a:t>
            </a:r>
            <a:endParaRPr lang="en-US" sz="1200" dirty="0"/>
          </a:p>
        </p:txBody>
      </p:sp>
      <p:sp>
        <p:nvSpPr>
          <p:cNvPr id="8" name="Text-164"/>
          <p:cNvSpPr txBox="1"/>
          <p:nvPr/>
        </p:nvSpPr>
        <p:spPr>
          <a:xfrm>
            <a:off x="4617720" y="356282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Kelime-Resim</a:t>
            </a:r>
            <a:endParaRPr lang="en-US" sz="1500" dirty="0"/>
          </a:p>
        </p:txBody>
      </p:sp>
      <p:sp>
        <p:nvSpPr>
          <p:cNvPr id="9" name="Text-165"/>
          <p:cNvSpPr txBox="1"/>
          <p:nvPr/>
        </p:nvSpPr>
        <p:spPr>
          <a:xfrm>
            <a:off x="4617720" y="3901154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sprachlernen.html: 85 kelime DE/TR/EN, hece, telaffuz</a:t>
            </a:r>
            <a:endParaRPr lang="en-US" sz="1200" dirty="0"/>
          </a:p>
        </p:txBody>
      </p:sp>
      <p:sp>
        <p:nvSpPr>
          <p:cNvPr id="10" name="Card-166"/>
          <p:cNvSpPr/>
          <p:nvPr/>
        </p:nvSpPr>
        <p:spPr>
          <a:xfrm>
            <a:off x="8183880" y="1554480"/>
            <a:ext cx="3459175" cy="4343400"/>
          </a:xfrm>
          <a:prstGeom prst="roundRect">
            <a:avLst>
              <a:gd name="adj" fmla="val 3172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1" name="Text-167"/>
          <p:cNvSpPr txBox="1"/>
          <p:nvPr/>
        </p:nvSpPr>
        <p:spPr>
          <a:xfrm>
            <a:off x="8458200" y="1737360"/>
            <a:ext cx="2910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Üretmek yerine çizmek</a:t>
            </a:r>
            <a:endParaRPr lang="en-US" sz="1800" dirty="0"/>
          </a:p>
        </p:txBody>
      </p:sp>
      <p:sp>
        <p:nvSpPr>
          <p:cNvPr id="12" name="Text-168"/>
          <p:cNvSpPr txBox="1"/>
          <p:nvPr/>
        </p:nvSpPr>
        <p:spPr>
          <a:xfrm>
            <a:off x="8458200" y="2331720"/>
            <a:ext cx="29105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YAPAY ZEKÂSI</a:t>
            </a:r>
            <a:endParaRPr lang="en-US" sz="1000" dirty="0"/>
          </a:p>
        </p:txBody>
      </p:sp>
      <p:sp>
        <p:nvSpPr>
          <p:cNvPr id="13" name="Text-169"/>
          <p:cNvSpPr txBox="1"/>
          <p:nvPr/>
        </p:nvSpPr>
        <p:spPr>
          <a:xfrm>
            <a:off x="8458200" y="2587752"/>
            <a:ext cx="2910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180–2.700 USD</a:t>
            </a:r>
            <a:endParaRPr lang="en-US" sz="2600" dirty="0"/>
          </a:p>
        </p:txBody>
      </p:sp>
      <p:sp>
        <p:nvSpPr>
          <p:cNvPr id="14" name="Text-170"/>
          <p:cNvSpPr txBox="1"/>
          <p:nvPr/>
        </p:nvSpPr>
        <p:spPr>
          <a:xfrm>
            <a:off x="8458200" y="3108960"/>
            <a:ext cx="2910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saat başına [Kaynak 24, 25]</a:t>
            </a:r>
            <a:endParaRPr lang="en-US" sz="1100" dirty="0"/>
          </a:p>
        </p:txBody>
      </p:sp>
      <p:sp>
        <p:nvSpPr>
          <p:cNvPr id="15" name="Text-171"/>
          <p:cNvSpPr txBox="1"/>
          <p:nvPr/>
        </p:nvSpPr>
        <p:spPr>
          <a:xfrm>
            <a:off x="8458200" y="3566160"/>
            <a:ext cx="29105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</a:t>
            </a:r>
            <a:endParaRPr lang="en-US" sz="1000" dirty="0"/>
          </a:p>
        </p:txBody>
      </p:sp>
      <p:sp>
        <p:nvSpPr>
          <p:cNvPr id="16" name="Text-172"/>
          <p:cNvSpPr txBox="1"/>
          <p:nvPr/>
        </p:nvSpPr>
        <p:spPr>
          <a:xfrm>
            <a:off x="8458200" y="3822192"/>
            <a:ext cx="2910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0 € – 0,75 USD</a:t>
            </a:r>
            <a:endParaRPr lang="en-US" sz="2600" dirty="0"/>
          </a:p>
        </p:txBody>
      </p:sp>
      <p:sp>
        <p:nvSpPr>
          <p:cNvPr id="17" name="Text-173"/>
          <p:cNvSpPr txBox="1"/>
          <p:nvPr/>
        </p:nvSpPr>
        <p:spPr>
          <a:xfrm>
            <a:off x="8458200" y="4343400"/>
            <a:ext cx="2910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saat başına (proje ölçümü)</a:t>
            </a:r>
            <a:endParaRPr lang="en-US" sz="1100" dirty="0"/>
          </a:p>
        </p:txBody>
      </p:sp>
      <p:sp>
        <p:nvSpPr>
          <p:cNvPr id="18" name="Text-174"/>
          <p:cNvSpPr txBox="1"/>
          <p:nvPr/>
        </p:nvSpPr>
        <p:spPr>
          <a:xfrm>
            <a:off x="8458200" y="4846320"/>
            <a:ext cx="2910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240 ile 10.000 kattan fazla ucuz – ve canlı çalışan tek çözüm.</a:t>
            </a:r>
            <a:endParaRPr lang="en-US" sz="1400" dirty="0"/>
          </a:p>
        </p:txBody>
      </p:sp>
      <p:sp>
        <p:nvSpPr>
          <p:cNvPr id="19" name="Text-175"/>
          <p:cNvSpPr txBox="1"/>
          <p:nvPr/>
        </p:nvSpPr>
        <p:spPr>
          <a:xfrm>
            <a:off x="548640" y="605332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Kaynak: prototypes/README.md, VISION.tr.md §2 · prototiplerin ekran görüntüleri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LIVEFX / PAZAR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bir giriş noktası olan büyüme pazarı</a:t>
            </a:r>
            <a:endParaRPr lang="en-US" sz="3200" dirty="0"/>
          </a:p>
        </p:txBody>
      </p:sp>
      <p:sp>
        <p:nvSpPr>
          <p:cNvPr id="4" name="Ring-176"/>
          <p:cNvSpPr/>
          <p:nvPr/>
        </p:nvSpPr>
        <p:spPr>
          <a:xfrm>
            <a:off x="548640" y="1600200"/>
            <a:ext cx="4206240" cy="4206240"/>
          </a:xfrm>
          <a:prstGeom prst="ellipse">
            <a:avLst/>
          </a:prstGeom>
          <a:solidFill>
            <a:srgbClr val="1A1D24"/>
          </a:solidFill>
          <a:ln w="15875">
            <a:solidFill>
              <a:srgbClr val="2A2E38"/>
            </a:solidFill>
            <a:prstDash val="solid"/>
          </a:ln>
        </p:spPr>
      </p:sp>
      <p:sp>
        <p:nvSpPr>
          <p:cNvPr id="5" name="Ring-177"/>
          <p:cNvSpPr/>
          <p:nvPr/>
        </p:nvSpPr>
        <p:spPr>
          <a:xfrm>
            <a:off x="1234440" y="2971800"/>
            <a:ext cx="2834640" cy="2834640"/>
          </a:xfrm>
          <a:prstGeom prst="ellipse">
            <a:avLst/>
          </a:prstGeom>
          <a:solidFill>
            <a:srgbClr val="2A1622"/>
          </a:solidFill>
          <a:ln w="15875">
            <a:solidFill>
              <a:srgbClr val="FFD166"/>
            </a:solidFill>
            <a:prstDash val="solid"/>
          </a:ln>
        </p:spPr>
      </p:sp>
      <p:sp>
        <p:nvSpPr>
          <p:cNvPr id="6" name="Ring-178"/>
          <p:cNvSpPr/>
          <p:nvPr/>
        </p:nvSpPr>
        <p:spPr>
          <a:xfrm>
            <a:off x="1920240" y="4343400"/>
            <a:ext cx="1463040" cy="1463040"/>
          </a:xfrm>
          <a:prstGeom prst="ellipse">
            <a:avLst/>
          </a:prstGeom>
          <a:solidFill>
            <a:srgbClr val="3A0F22"/>
          </a:solidFill>
          <a:ln w="15875">
            <a:solidFill>
              <a:srgbClr val="FF2D75"/>
            </a:solidFill>
            <a:prstDash val="solid"/>
          </a:ln>
        </p:spPr>
      </p:sp>
      <p:sp>
        <p:nvSpPr>
          <p:cNvPr id="7" name="Text-179"/>
          <p:cNvSpPr txBox="1"/>
          <p:nvPr/>
        </p:nvSpPr>
        <p:spPr>
          <a:xfrm>
            <a:off x="1005840" y="187452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· gelir elde eden canlı yayıncı</a:t>
            </a:r>
            <a:endParaRPr lang="en-US" sz="1000" dirty="0"/>
          </a:p>
        </p:txBody>
      </p:sp>
      <p:sp>
        <p:nvSpPr>
          <p:cNvPr id="8" name="Text-180"/>
          <p:cNvSpPr txBox="1"/>
          <p:nvPr/>
        </p:nvSpPr>
        <p:spPr>
          <a:xfrm>
            <a:off x="1005840" y="212140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10–20 milyon</a:t>
            </a:r>
            <a:endParaRPr lang="en-US" sz="2200" dirty="0"/>
          </a:p>
        </p:txBody>
      </p:sp>
      <p:sp>
        <p:nvSpPr>
          <p:cNvPr id="9" name="Text-181"/>
          <p:cNvSpPr txBox="1"/>
          <p:nvPr/>
        </p:nvSpPr>
        <p:spPr>
          <a:xfrm>
            <a:off x="1554480" y="32004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 · TR/DE/EN</a:t>
            </a:r>
            <a:endParaRPr lang="en-US" sz="1000" dirty="0"/>
          </a:p>
        </p:txBody>
      </p:sp>
      <p:sp>
        <p:nvSpPr>
          <p:cNvPr id="10" name="Text-182"/>
          <p:cNvSpPr txBox="1"/>
          <p:nvPr/>
        </p:nvSpPr>
        <p:spPr>
          <a:xfrm>
            <a:off x="1554480" y="344728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1–3 milyon</a:t>
            </a:r>
            <a:endParaRPr lang="en-US" sz="2200" dirty="0"/>
          </a:p>
        </p:txBody>
      </p:sp>
      <p:sp>
        <p:nvSpPr>
          <p:cNvPr id="11" name="Text-183"/>
          <p:cNvSpPr txBox="1"/>
          <p:nvPr/>
        </p:nvSpPr>
        <p:spPr>
          <a:xfrm>
            <a:off x="2011680" y="46177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 · 3. yıl ücretli</a:t>
            </a:r>
            <a:endParaRPr lang="en-US" sz="900" dirty="0"/>
          </a:p>
        </p:txBody>
      </p:sp>
      <p:sp>
        <p:nvSpPr>
          <p:cNvPr id="12" name="Text-184"/>
          <p:cNvSpPr txBox="1"/>
          <p:nvPr/>
        </p:nvSpPr>
        <p:spPr>
          <a:xfrm>
            <a:off x="2011680" y="49377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5–15 bin</a:t>
            </a:r>
            <a:endParaRPr lang="en-US" sz="1800" dirty="0"/>
          </a:p>
        </p:txBody>
      </p:sp>
      <p:sp>
        <p:nvSpPr>
          <p:cNvPr id="13" name="Text-185"/>
          <p:cNvSpPr txBox="1"/>
          <p:nvPr/>
        </p:nvSpPr>
        <p:spPr>
          <a:xfrm>
            <a:off x="548640" y="5852160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Aşağıdan yukarı, tahmin (BUSINESSPLAN.tr.md §6)</a:t>
            </a:r>
            <a:endParaRPr lang="en-US" sz="900" dirty="0"/>
          </a:p>
        </p:txBody>
      </p:sp>
      <p:sp>
        <p:nvSpPr>
          <p:cNvPr id="14" name="Text-186"/>
          <p:cNvSpPr txBox="1"/>
          <p:nvPr/>
        </p:nvSpPr>
        <p:spPr>
          <a:xfrm>
            <a:off x="5257800" y="1554480"/>
            <a:ext cx="3090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 pazar: canlı yayın</a:t>
            </a:r>
            <a:endParaRPr lang="en-US" sz="1600" dirty="0"/>
          </a:p>
        </p:txBody>
      </p:sp>
      <p:sp>
        <p:nvSpPr>
          <p:cNvPr id="15" name="Text-187"/>
          <p:cNvSpPr txBox="1"/>
          <p:nvPr/>
        </p:nvSpPr>
        <p:spPr>
          <a:xfrm>
            <a:off x="5257800" y="2011680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97–157 milyar USD</a:t>
            </a:r>
            <a:endParaRPr lang="en-US" sz="2400" dirty="0"/>
          </a:p>
        </p:txBody>
      </p:sp>
      <p:sp>
        <p:nvSpPr>
          <p:cNvPr id="16" name="Text-188"/>
          <p:cNvSpPr txBox="1"/>
          <p:nvPr/>
        </p:nvSpPr>
        <p:spPr>
          <a:xfrm>
            <a:off x="5257800" y="2487168"/>
            <a:ext cx="3090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Canlı yayın 2026 [K 1, 2]</a:t>
            </a:r>
            <a:endParaRPr lang="en-US" sz="1200" dirty="0"/>
          </a:p>
        </p:txBody>
      </p:sp>
      <p:sp>
        <p:nvSpPr>
          <p:cNvPr id="17" name="Text-189"/>
          <p:cNvSpPr txBox="1"/>
          <p:nvPr/>
        </p:nvSpPr>
        <p:spPr>
          <a:xfrm>
            <a:off x="5257800" y="3200400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216–260 milyar USD</a:t>
            </a:r>
            <a:endParaRPr lang="en-US" sz="2400" dirty="0"/>
          </a:p>
        </p:txBody>
      </p:sp>
      <p:sp>
        <p:nvSpPr>
          <p:cNvPr id="18" name="Text-190"/>
          <p:cNvSpPr txBox="1"/>
          <p:nvPr/>
        </p:nvSpPr>
        <p:spPr>
          <a:xfrm>
            <a:off x="5257800" y="3675888"/>
            <a:ext cx="3090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İçerik üreticisi ekonomisi 2026 [K 3, 4]</a:t>
            </a:r>
            <a:endParaRPr lang="en-US" sz="1200" dirty="0"/>
          </a:p>
        </p:txBody>
      </p:sp>
      <p:sp>
        <p:nvSpPr>
          <p:cNvPr id="19" name="Text-191"/>
          <p:cNvSpPr txBox="1"/>
          <p:nvPr/>
        </p:nvSpPr>
        <p:spPr>
          <a:xfrm>
            <a:off x="5257800" y="4389120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~%14</a:t>
            </a:r>
            <a:endParaRPr lang="en-US" sz="2400" dirty="0"/>
          </a:p>
        </p:txBody>
      </p:sp>
      <p:sp>
        <p:nvSpPr>
          <p:cNvPr id="20" name="Text-192"/>
          <p:cNvSpPr txBox="1"/>
          <p:nvPr/>
        </p:nvSpPr>
        <p:spPr>
          <a:xfrm>
            <a:off x="5257800" y="4864608"/>
            <a:ext cx="3090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Canlı yayın payı ≈ 36 milyar USD [K 3]</a:t>
            </a:r>
            <a:endParaRPr lang="en-US" sz="1200" dirty="0"/>
          </a:p>
        </p:txBody>
      </p:sp>
      <p:sp>
        <p:nvSpPr>
          <p:cNvPr id="21" name="Text-193"/>
          <p:cNvSpPr txBox="1"/>
          <p:nvPr/>
        </p:nvSpPr>
        <p:spPr>
          <a:xfrm>
            <a:off x="8549640" y="1554480"/>
            <a:ext cx="3090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Komşu pazarlar (vizyon)</a:t>
            </a:r>
            <a:endParaRPr lang="en-US" sz="1600" dirty="0"/>
          </a:p>
        </p:txBody>
      </p:sp>
      <p:sp>
        <p:nvSpPr>
          <p:cNvPr id="22" name="Text-194"/>
          <p:cNvSpPr txBox="1"/>
          <p:nvPr/>
        </p:nvSpPr>
        <p:spPr>
          <a:xfrm>
            <a:off x="8549640" y="2011680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3,67 milyar USD</a:t>
            </a:r>
            <a:endParaRPr lang="en-US" sz="1800" dirty="0"/>
          </a:p>
        </p:txBody>
      </p:sp>
      <p:sp>
        <p:nvSpPr>
          <p:cNvPr id="23" name="Text-195"/>
          <p:cNvSpPr txBox="1"/>
          <p:nvPr/>
        </p:nvSpPr>
        <p:spPr>
          <a:xfrm>
            <a:off x="8549640" y="2377440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Yapay zekâ ile video 2026 [K 23]</a:t>
            </a:r>
            <a:endParaRPr lang="en-US" sz="1100" dirty="0"/>
          </a:p>
        </p:txBody>
      </p:sp>
      <p:sp>
        <p:nvSpPr>
          <p:cNvPr id="24" name="Text-196"/>
          <p:cNvSpPr txBox="1"/>
          <p:nvPr/>
        </p:nvSpPr>
        <p:spPr>
          <a:xfrm>
            <a:off x="8549640" y="2761488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2,68 milyar USD</a:t>
            </a:r>
            <a:endParaRPr lang="en-US" sz="1800" dirty="0"/>
          </a:p>
        </p:txBody>
      </p:sp>
      <p:sp>
        <p:nvSpPr>
          <p:cNvPr id="25" name="Text-197"/>
          <p:cNvSpPr txBox="1"/>
          <p:nvPr/>
        </p:nvSpPr>
        <p:spPr>
          <a:xfrm>
            <a:off x="8549640" y="312724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kurgu 2026 [K 51]</a:t>
            </a:r>
            <a:endParaRPr lang="en-US" sz="1100" dirty="0"/>
          </a:p>
        </p:txBody>
      </p:sp>
      <p:sp>
        <p:nvSpPr>
          <p:cNvPr id="26" name="Text-198"/>
          <p:cNvSpPr txBox="1"/>
          <p:nvPr/>
        </p:nvSpPr>
        <p:spPr>
          <a:xfrm>
            <a:off x="8549640" y="3511296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1,54 milyar USD</a:t>
            </a:r>
            <a:endParaRPr lang="en-US" sz="1800" dirty="0"/>
          </a:p>
        </p:txBody>
      </p:sp>
      <p:sp>
        <p:nvSpPr>
          <p:cNvPr id="27" name="Text-199"/>
          <p:cNvSpPr txBox="1"/>
          <p:nvPr/>
        </p:nvSpPr>
        <p:spPr>
          <a:xfrm>
            <a:off x="8549640" y="3877056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Dil öğrenme uygulamaları 2025 [K 33]</a:t>
            </a:r>
            <a:endParaRPr lang="en-US" sz="1100" dirty="0"/>
          </a:p>
        </p:txBody>
      </p:sp>
      <p:sp>
        <p:nvSpPr>
          <p:cNvPr id="28" name="Text-200"/>
          <p:cNvSpPr txBox="1"/>
          <p:nvPr/>
        </p:nvSpPr>
        <p:spPr>
          <a:xfrm>
            <a:off x="8549640" y="4261104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374 milyon €</a:t>
            </a:r>
            <a:endParaRPr lang="en-US" sz="1800" dirty="0"/>
          </a:p>
        </p:txBody>
      </p:sp>
      <p:sp>
        <p:nvSpPr>
          <p:cNvPr id="29" name="Text-201"/>
          <p:cNvSpPr txBox="1"/>
          <p:nvPr/>
        </p:nvSpPr>
        <p:spPr>
          <a:xfrm>
            <a:off x="8549640" y="4626864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Almanya sesli kitap 2025 [K 19]</a:t>
            </a:r>
            <a:endParaRPr lang="en-US" sz="1100" dirty="0"/>
          </a:p>
        </p:txBody>
      </p:sp>
      <p:sp>
        <p:nvSpPr>
          <p:cNvPr id="30" name="Text-202"/>
          <p:cNvSpPr txBox="1"/>
          <p:nvPr/>
        </p:nvSpPr>
        <p:spPr>
          <a:xfrm>
            <a:off x="8549640" y="5010912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5,1 milyar USD</a:t>
            </a:r>
            <a:endParaRPr lang="en-US" sz="1800" dirty="0"/>
          </a:p>
        </p:txBody>
      </p:sp>
      <p:sp>
        <p:nvSpPr>
          <p:cNvPr id="31" name="Text-203"/>
          <p:cNvSpPr txBox="1"/>
          <p:nvPr/>
        </p:nvSpPr>
        <p:spPr>
          <a:xfrm>
            <a:off x="8549640" y="5376672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Akıllı gözlük 2026 [K 45]</a:t>
            </a:r>
            <a:endParaRPr lang="en-US" sz="1100" dirty="0"/>
          </a:p>
        </p:txBody>
      </p:sp>
      <p:sp>
        <p:nvSpPr>
          <p:cNvPr id="32" name="Text-204"/>
          <p:cNvSpPr txBox="1"/>
          <p:nvPr/>
        </p:nvSpPr>
        <p:spPr>
          <a:xfrm>
            <a:off x="548640" y="605332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[K n] = QUELLEN.tr.md’deki [Kaynak n] · komşu pazarlar SOM’a dahil değil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LIVEFX / İŞ MODELİ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Yayıncılar için freemium, kurumlar için lisans</a:t>
            </a:r>
            <a:endParaRPr lang="en-US" sz="3200" dirty="0"/>
          </a:p>
        </p:txBody>
      </p:sp>
      <p:sp>
        <p:nvSpPr>
          <p:cNvPr id="4" name="Card-205"/>
          <p:cNvSpPr/>
          <p:nvPr/>
        </p:nvSpPr>
        <p:spPr>
          <a:xfrm>
            <a:off x="548640" y="1554480"/>
            <a:ext cx="2426208" cy="201168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5" name="Text-206"/>
          <p:cNvSpPr txBox="1"/>
          <p:nvPr/>
        </p:nvSpPr>
        <p:spPr>
          <a:xfrm>
            <a:off x="749808" y="1737360"/>
            <a:ext cx="2023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</a:t>
            </a:r>
            <a:endParaRPr lang="en-US" sz="1000" dirty="0"/>
          </a:p>
        </p:txBody>
      </p:sp>
      <p:sp>
        <p:nvSpPr>
          <p:cNvPr id="6" name="Text-207"/>
          <p:cNvSpPr txBox="1"/>
          <p:nvPr/>
        </p:nvSpPr>
        <p:spPr>
          <a:xfrm>
            <a:off x="749808" y="2029968"/>
            <a:ext cx="2023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0 €</a:t>
            </a:r>
            <a:endParaRPr lang="en-US" sz="2100" dirty="0"/>
          </a:p>
        </p:txBody>
      </p:sp>
      <p:sp>
        <p:nvSpPr>
          <p:cNvPr id="7" name="Text-208"/>
          <p:cNvSpPr txBox="1"/>
          <p:nvPr/>
        </p:nvSpPr>
        <p:spPr>
          <a:xfrm>
            <a:off x="749808" y="2606040"/>
            <a:ext cx="20238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Temel işlev, standart paketler, telefondan kumanda</a:t>
            </a:r>
            <a:endParaRPr lang="en-US" sz="1200" dirty="0"/>
          </a:p>
        </p:txBody>
      </p:sp>
      <p:sp>
        <p:nvSpPr>
          <p:cNvPr id="8" name="Card-209"/>
          <p:cNvSpPr/>
          <p:nvPr/>
        </p:nvSpPr>
        <p:spPr>
          <a:xfrm>
            <a:off x="3176016" y="1554480"/>
            <a:ext cx="2426208" cy="2011680"/>
          </a:xfrm>
          <a:prstGeom prst="roundRect">
            <a:avLst>
              <a:gd name="adj" fmla="val 5455"/>
            </a:avLst>
          </a:prstGeom>
          <a:solidFill>
            <a:schemeClr val="accent6"/>
          </a:solidFill>
          <a:ln w="19050">
            <a:solidFill>
              <a:srgbClr val="FF2D75"/>
            </a:solidFill>
            <a:prstDash val="solid"/>
          </a:ln>
        </p:spPr>
      </p:sp>
      <p:sp>
        <p:nvSpPr>
          <p:cNvPr id="9" name="Text-210"/>
          <p:cNvSpPr txBox="1"/>
          <p:nvPr/>
        </p:nvSpPr>
        <p:spPr>
          <a:xfrm>
            <a:off x="3377184" y="1737360"/>
            <a:ext cx="2023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000" dirty="0"/>
          </a:p>
        </p:txBody>
      </p:sp>
      <p:sp>
        <p:nvSpPr>
          <p:cNvPr id="10" name="Text-211"/>
          <p:cNvSpPr txBox="1"/>
          <p:nvPr/>
        </p:nvSpPr>
        <p:spPr>
          <a:xfrm>
            <a:off x="3377184" y="2029968"/>
            <a:ext cx="2023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Aylık 9,99 €</a:t>
            </a:r>
            <a:endParaRPr lang="en-US" sz="2100" dirty="0"/>
          </a:p>
        </p:txBody>
      </p:sp>
      <p:sp>
        <p:nvSpPr>
          <p:cNvPr id="11" name="Text-212"/>
          <p:cNvSpPr txBox="1"/>
          <p:nvPr/>
        </p:nvSpPr>
        <p:spPr>
          <a:xfrm>
            <a:off x="3377184" y="2606040"/>
            <a:ext cx="20238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Yapay zekâ ile anlama, tüm sahneler, izleyici tetikleyicileri; yıllık 79 €</a:t>
            </a:r>
            <a:endParaRPr lang="en-US" sz="1200" dirty="0"/>
          </a:p>
        </p:txBody>
      </p:sp>
      <p:sp>
        <p:nvSpPr>
          <p:cNvPr id="12" name="Card-213"/>
          <p:cNvSpPr/>
          <p:nvPr/>
        </p:nvSpPr>
        <p:spPr>
          <a:xfrm>
            <a:off x="5803392" y="1554480"/>
            <a:ext cx="2426208" cy="201168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3" name="Text-214"/>
          <p:cNvSpPr txBox="1"/>
          <p:nvPr/>
        </p:nvSpPr>
        <p:spPr>
          <a:xfrm>
            <a:off x="6004560" y="1737360"/>
            <a:ext cx="2023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PRO+ (VIZYON)</a:t>
            </a:r>
            <a:endParaRPr lang="en-US" sz="1000" dirty="0"/>
          </a:p>
        </p:txBody>
      </p:sp>
      <p:sp>
        <p:nvSpPr>
          <p:cNvPr id="14" name="Text-215"/>
          <p:cNvSpPr txBox="1"/>
          <p:nvPr/>
        </p:nvSpPr>
        <p:spPr>
          <a:xfrm>
            <a:off x="6004560" y="2029968"/>
            <a:ext cx="2023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Aylık 14,99 €</a:t>
            </a:r>
            <a:endParaRPr lang="en-US" sz="2100" dirty="0"/>
          </a:p>
        </p:txBody>
      </p:sp>
      <p:sp>
        <p:nvSpPr>
          <p:cNvPr id="15" name="Text-216"/>
          <p:cNvSpPr txBox="1"/>
          <p:nvPr/>
        </p:nvSpPr>
        <p:spPr>
          <a:xfrm>
            <a:off x="6004560" y="2606040"/>
            <a:ext cx="20238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Yapay zekâ sahneleri, otomatik kurgu, MP4</a:t>
            </a:r>
            <a:endParaRPr lang="en-US" sz="1200" dirty="0"/>
          </a:p>
        </p:txBody>
      </p:sp>
      <p:sp>
        <p:nvSpPr>
          <p:cNvPr id="16" name="Card-217"/>
          <p:cNvSpPr/>
          <p:nvPr/>
        </p:nvSpPr>
        <p:spPr>
          <a:xfrm>
            <a:off x="548640" y="3767328"/>
            <a:ext cx="2426208" cy="201168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7" name="Text-218"/>
          <p:cNvSpPr txBox="1"/>
          <p:nvPr/>
        </p:nvSpPr>
        <p:spPr>
          <a:xfrm>
            <a:off x="749808" y="3950208"/>
            <a:ext cx="2023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KELIME-RESIM AILE</a:t>
            </a:r>
            <a:endParaRPr lang="en-US" sz="1000" dirty="0"/>
          </a:p>
        </p:txBody>
      </p:sp>
      <p:sp>
        <p:nvSpPr>
          <p:cNvPr id="18" name="Text-219"/>
          <p:cNvSpPr txBox="1"/>
          <p:nvPr/>
        </p:nvSpPr>
        <p:spPr>
          <a:xfrm>
            <a:off x="749808" y="4242816"/>
            <a:ext cx="2023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Aylık 4,99 €</a:t>
            </a:r>
            <a:endParaRPr lang="en-US" sz="2100" dirty="0"/>
          </a:p>
        </p:txBody>
      </p:sp>
      <p:sp>
        <p:nvSpPr>
          <p:cNvPr id="19" name="Text-220"/>
          <p:cNvSpPr txBox="1"/>
          <p:nvPr/>
        </p:nvSpPr>
        <p:spPr>
          <a:xfrm>
            <a:off x="749808" y="4818888"/>
            <a:ext cx="20238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Dil öğrenme ve okuma desteği</a:t>
            </a:r>
            <a:endParaRPr lang="en-US" sz="1200" dirty="0"/>
          </a:p>
        </p:txBody>
      </p:sp>
      <p:sp>
        <p:nvSpPr>
          <p:cNvPr id="20" name="Card-221"/>
          <p:cNvSpPr/>
          <p:nvPr/>
        </p:nvSpPr>
        <p:spPr>
          <a:xfrm>
            <a:off x="3176016" y="3767328"/>
            <a:ext cx="2426208" cy="201168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1" name="Text-222"/>
          <p:cNvSpPr txBox="1"/>
          <p:nvPr/>
        </p:nvSpPr>
        <p:spPr>
          <a:xfrm>
            <a:off x="3377184" y="3950208"/>
            <a:ext cx="2023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PAKETLER</a:t>
            </a:r>
            <a:endParaRPr lang="en-US" sz="1000" dirty="0"/>
          </a:p>
        </p:txBody>
      </p:sp>
      <p:sp>
        <p:nvSpPr>
          <p:cNvPr id="22" name="Text-223"/>
          <p:cNvSpPr txBox="1"/>
          <p:nvPr/>
        </p:nvSpPr>
        <p:spPr>
          <a:xfrm>
            <a:off x="3377184" y="4242816"/>
            <a:ext cx="2023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2,99–4,99 €</a:t>
            </a:r>
            <a:endParaRPr lang="en-US" sz="2100" dirty="0"/>
          </a:p>
        </p:txBody>
      </p:sp>
      <p:sp>
        <p:nvSpPr>
          <p:cNvPr id="23" name="Text-224"/>
          <p:cNvSpPr txBox="1"/>
          <p:nvPr/>
        </p:nvSpPr>
        <p:spPr>
          <a:xfrm>
            <a:off x="3377184" y="4818888"/>
            <a:ext cx="20238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Meme, hikâye, dünya, kelime paketleri; pazar yeri %70/%30</a:t>
            </a:r>
            <a:endParaRPr lang="en-US" sz="1200" dirty="0"/>
          </a:p>
        </p:txBody>
      </p:sp>
      <p:sp>
        <p:nvSpPr>
          <p:cNvPr id="24" name="Card-225"/>
          <p:cNvSpPr/>
          <p:nvPr/>
        </p:nvSpPr>
        <p:spPr>
          <a:xfrm>
            <a:off x="5803392" y="3767328"/>
            <a:ext cx="2426208" cy="201168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5" name="Text-226"/>
          <p:cNvSpPr txBox="1"/>
          <p:nvPr/>
        </p:nvSpPr>
        <p:spPr>
          <a:xfrm>
            <a:off x="6004560" y="3950208"/>
            <a:ext cx="2023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OKUL LISANSI</a:t>
            </a:r>
            <a:endParaRPr lang="en-US" sz="1000" dirty="0"/>
          </a:p>
        </p:txBody>
      </p:sp>
      <p:sp>
        <p:nvSpPr>
          <p:cNvPr id="26" name="Text-227"/>
          <p:cNvSpPr txBox="1"/>
          <p:nvPr/>
        </p:nvSpPr>
        <p:spPr>
          <a:xfrm>
            <a:off x="6004560" y="4242816"/>
            <a:ext cx="2023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Yılda 300–800 €</a:t>
            </a:r>
            <a:endParaRPr lang="en-US" sz="1700" dirty="0"/>
          </a:p>
        </p:txBody>
      </p:sp>
      <p:sp>
        <p:nvSpPr>
          <p:cNvPr id="27" name="Text-228"/>
          <p:cNvSpPr txBox="1"/>
          <p:nvPr/>
        </p:nvSpPr>
        <p:spPr>
          <a:xfrm>
            <a:off x="6004560" y="4818888"/>
            <a:ext cx="20238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Kurs 49 €/öğretmen · etkinlik · yayınevi · ajans · B2B/SDK</a:t>
            </a:r>
            <a:endParaRPr lang="en-US" sz="1200" dirty="0"/>
          </a:p>
        </p:txBody>
      </p:sp>
      <p:sp>
        <p:nvSpPr>
          <p:cNvPr id="28" name="Card-229"/>
          <p:cNvSpPr/>
          <p:nvPr/>
        </p:nvSpPr>
        <p:spPr>
          <a:xfrm>
            <a:off x="8503920" y="1554480"/>
            <a:ext cx="3139135" cy="4224528"/>
          </a:xfrm>
          <a:prstGeom prst="roundRect">
            <a:avLst>
              <a:gd name="adj" fmla="val 3495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9" name="Text-230"/>
          <p:cNvSpPr txBox="1"/>
          <p:nvPr/>
        </p:nvSpPr>
        <p:spPr>
          <a:xfrm>
            <a:off x="8732520" y="1719072"/>
            <a:ext cx="26819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Fiyat çıpaları</a:t>
            </a:r>
            <a:endParaRPr lang="en-US" sz="1600" dirty="0"/>
          </a:p>
        </p:txBody>
      </p:sp>
      <p:sp>
        <p:nvSpPr>
          <p:cNvPr id="30" name="Text-231"/>
          <p:cNvSpPr txBox="1"/>
          <p:nvPr/>
        </p:nvSpPr>
        <p:spPr>
          <a:xfrm>
            <a:off x="8732520" y="2148840"/>
            <a:ext cx="268193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Streamlabs Ultra aylık 27 USD [K 11, 12]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StreamYard ~35 · Restream ~16 USD [K 12]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Voicemod aylık ~10 USD [K 13]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ANTON okul lisansı yılda 250–700 € [K 41]</a:t>
            </a:r>
            <a:endParaRPr lang="en-US" sz="1200" dirty="0"/>
          </a:p>
        </p:txBody>
      </p:sp>
      <p:sp>
        <p:nvSpPr>
          <p:cNvPr id="31" name="Text-232"/>
          <p:cNvSpPr txBox="1"/>
          <p:nvPr/>
        </p:nvSpPr>
        <p:spPr>
          <a:xfrm>
            <a:off x="8732520" y="4343400"/>
            <a:ext cx="26819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Yerel yazılım: marjinal maliyet sıfıra yakın. Yapay zekâ yalnızca Pro’da: yayın saati başına 0,25–0,75 USD.</a:t>
            </a:r>
            <a:endParaRPr lang="en-US" sz="1300" dirty="0"/>
          </a:p>
        </p:txBody>
      </p:sp>
      <p:sp>
        <p:nvSpPr>
          <p:cNvPr id="32" name="Text-233"/>
          <p:cNvSpPr txBox="1"/>
          <p:nvPr/>
        </p:nvSpPr>
        <p:spPr>
          <a:xfrm>
            <a:off x="548640" y="605332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Kaynak: BUSINESSPLAN.tr.md §9, §15.6 · vizyon ve lisans fiyatları tahmindir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LIVEFX / FARKLILAŞMA VE RİSKLER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 zaman orada olan tek tetikleyici: ses</a:t>
            </a:r>
            <a:endParaRPr lang="en-US" sz="3200" dirty="0"/>
          </a:p>
        </p:txBody>
      </p:sp>
      <p:sp>
        <p:nvSpPr>
          <p:cNvPr id="4" name="Matrix-highlight"/>
          <p:cNvSpPr/>
          <p:nvPr/>
        </p:nvSpPr>
        <p:spPr>
          <a:xfrm>
            <a:off x="2880360" y="1554480"/>
            <a:ext cx="868680" cy="3584448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5" name="Text-234"/>
          <p:cNvSpPr txBox="1"/>
          <p:nvPr/>
        </p:nvSpPr>
        <p:spPr>
          <a:xfrm>
            <a:off x="2880360" y="1554480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</a:t>
            </a:r>
            <a:endParaRPr lang="en-US" sz="1100" dirty="0"/>
          </a:p>
        </p:txBody>
      </p:sp>
      <p:sp>
        <p:nvSpPr>
          <p:cNvPr id="6" name="Text-235"/>
          <p:cNvSpPr txBox="1"/>
          <p:nvPr/>
        </p:nvSpPr>
        <p:spPr>
          <a:xfrm>
            <a:off x="3749040" y="1554480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Uyarılar</a:t>
            </a:r>
            <a:endParaRPr lang="en-US" sz="1100" dirty="0"/>
          </a:p>
        </p:txBody>
      </p:sp>
      <p:sp>
        <p:nvSpPr>
          <p:cNvPr id="7" name="Text-236"/>
          <p:cNvSpPr txBox="1"/>
          <p:nvPr/>
        </p:nvSpPr>
        <p:spPr>
          <a:xfrm>
            <a:off x="4617720" y="1554480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Voicemod</a:t>
            </a:r>
            <a:endParaRPr lang="en-US" sz="1100" dirty="0"/>
          </a:p>
        </p:txBody>
      </p:sp>
      <p:sp>
        <p:nvSpPr>
          <p:cNvPr id="8" name="Text-237"/>
          <p:cNvSpPr txBox="1"/>
          <p:nvPr/>
        </p:nvSpPr>
        <p:spPr>
          <a:xfrm>
            <a:off x="5486400" y="1554480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</a:t>
            </a:r>
            <a:endParaRPr lang="en-US" sz="1100" dirty="0"/>
          </a:p>
        </p:txBody>
      </p:sp>
      <p:sp>
        <p:nvSpPr>
          <p:cNvPr id="9" name="Text-238"/>
          <p:cNvSpPr txBox="1"/>
          <p:nvPr/>
        </p:nvSpPr>
        <p:spPr>
          <a:xfrm>
            <a:off x="6355080" y="1554480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Kurgu</a:t>
            </a:r>
            <a:endParaRPr lang="en-US" sz="1100" dirty="0"/>
          </a:p>
        </p:txBody>
      </p:sp>
      <p:sp>
        <p:nvSpPr>
          <p:cNvPr id="10" name="Rule-239"/>
          <p:cNvSpPr/>
          <p:nvPr/>
        </p:nvSpPr>
        <p:spPr>
          <a:xfrm>
            <a:off x="548640" y="2066544"/>
            <a:ext cx="6675120" cy="0"/>
          </a:xfrm>
          <a:prstGeom prst="line">
            <a:avLst/>
          </a:prstGeom>
          <a:noFill/>
          <a:ln w="9525">
            <a:solidFill>
              <a:srgbClr val="2A2E38"/>
            </a:solidFill>
            <a:prstDash val="solid"/>
          </a:ln>
        </p:spPr>
      </p:sp>
      <p:sp>
        <p:nvSpPr>
          <p:cNvPr id="11" name="Text-240"/>
          <p:cNvSpPr txBox="1"/>
          <p:nvPr/>
        </p:nvSpPr>
        <p:spPr>
          <a:xfrm>
            <a:off x="548640" y="2066544"/>
            <a:ext cx="2240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Sesle kontrol</a:t>
            </a:r>
            <a:endParaRPr lang="en-US" sz="1300" dirty="0"/>
          </a:p>
        </p:txBody>
      </p:sp>
      <p:sp>
        <p:nvSpPr>
          <p:cNvPr id="12" name="Mark-241"/>
          <p:cNvSpPr/>
          <p:nvPr/>
        </p:nvSpPr>
        <p:spPr>
          <a:xfrm>
            <a:off x="3204972" y="2212848"/>
            <a:ext cx="219456" cy="219456"/>
          </a:xfrm>
          <a:prstGeom prst="ellipse">
            <a:avLst/>
          </a:prstGeom>
          <a:solidFill>
            <a:srgbClr val="FF2D75"/>
          </a:solidFill>
          <a:ln w="15875">
            <a:solidFill>
              <a:srgbClr val="FF2D75"/>
            </a:solidFill>
            <a:prstDash val="solid"/>
          </a:ln>
        </p:spPr>
      </p:sp>
      <p:sp>
        <p:nvSpPr>
          <p:cNvPr id="13" name="Mark-242"/>
          <p:cNvSpPr/>
          <p:nvPr/>
        </p:nvSpPr>
        <p:spPr>
          <a:xfrm>
            <a:off x="4073652" y="2212848"/>
            <a:ext cx="219456" cy="219456"/>
          </a:xfrm>
          <a:prstGeom prst="ellipse">
            <a:avLst/>
          </a:prstGeom>
          <a:ln w="15875">
            <a:solidFill>
              <a:srgbClr val="A9B0BD"/>
            </a:solidFill>
            <a:prstDash val="solid"/>
          </a:ln>
        </p:spPr>
      </p:sp>
      <p:sp>
        <p:nvSpPr>
          <p:cNvPr id="14" name="Mark-243"/>
          <p:cNvSpPr/>
          <p:nvPr/>
        </p:nvSpPr>
        <p:spPr>
          <a:xfrm>
            <a:off x="4942332" y="2212848"/>
            <a:ext cx="219456" cy="219456"/>
          </a:xfrm>
          <a:prstGeom prst="ellipse">
            <a:avLst/>
          </a:prstGeom>
          <a:ln w="15875">
            <a:solidFill>
              <a:srgbClr val="A9B0BD"/>
            </a:solidFill>
            <a:prstDash val="solid"/>
          </a:ln>
        </p:spPr>
      </p:sp>
      <p:sp>
        <p:nvSpPr>
          <p:cNvPr id="15" name="Mark-244"/>
          <p:cNvSpPr/>
          <p:nvPr/>
        </p:nvSpPr>
        <p:spPr>
          <a:xfrm>
            <a:off x="5811012" y="2212848"/>
            <a:ext cx="219456" cy="219456"/>
          </a:xfrm>
          <a:prstGeom prst="ellipse">
            <a:avLst/>
          </a:prstGeom>
          <a:ln w="15875">
            <a:solidFill>
              <a:srgbClr val="A9B0BD"/>
            </a:solidFill>
            <a:prstDash val="solid"/>
          </a:ln>
        </p:spPr>
      </p:sp>
      <p:sp>
        <p:nvSpPr>
          <p:cNvPr id="16" name="Mark-245"/>
          <p:cNvSpPr/>
          <p:nvPr/>
        </p:nvSpPr>
        <p:spPr>
          <a:xfrm>
            <a:off x="6679692" y="2212848"/>
            <a:ext cx="219456" cy="219456"/>
          </a:xfrm>
          <a:prstGeom prst="ellipse">
            <a:avLst/>
          </a:prstGeom>
          <a:ln w="15875">
            <a:solidFill>
              <a:srgbClr val="A9B0BD"/>
            </a:solidFill>
            <a:prstDash val="solid"/>
          </a:ln>
        </p:spPr>
      </p:sp>
      <p:sp>
        <p:nvSpPr>
          <p:cNvPr id="17" name="Rule-246"/>
          <p:cNvSpPr/>
          <p:nvPr/>
        </p:nvSpPr>
        <p:spPr>
          <a:xfrm>
            <a:off x="548640" y="2578608"/>
            <a:ext cx="6675120" cy="0"/>
          </a:xfrm>
          <a:prstGeom prst="line">
            <a:avLst/>
          </a:prstGeom>
          <a:noFill/>
          <a:ln w="9525">
            <a:solidFill>
              <a:srgbClr val="2A2E38"/>
            </a:solidFill>
            <a:prstDash val="solid"/>
          </a:ln>
        </p:spPr>
      </p:sp>
      <p:sp>
        <p:nvSpPr>
          <p:cNvPr id="18" name="Text-247"/>
          <p:cNvSpPr txBox="1"/>
          <p:nvPr/>
        </p:nvSpPr>
        <p:spPr>
          <a:xfrm>
            <a:off x="548640" y="2578608"/>
            <a:ext cx="2240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Türkçe / 3 dil</a:t>
            </a:r>
            <a:endParaRPr lang="en-US" sz="1300" dirty="0"/>
          </a:p>
        </p:txBody>
      </p:sp>
      <p:sp>
        <p:nvSpPr>
          <p:cNvPr id="19" name="Mark-248"/>
          <p:cNvSpPr/>
          <p:nvPr/>
        </p:nvSpPr>
        <p:spPr>
          <a:xfrm>
            <a:off x="3204972" y="2724912"/>
            <a:ext cx="219456" cy="219456"/>
          </a:xfrm>
          <a:prstGeom prst="ellipse">
            <a:avLst/>
          </a:prstGeom>
          <a:solidFill>
            <a:srgbClr val="FF2D75"/>
          </a:solidFill>
          <a:ln w="15875">
            <a:solidFill>
              <a:srgbClr val="FF2D75"/>
            </a:solidFill>
            <a:prstDash val="solid"/>
          </a:ln>
        </p:spPr>
      </p:sp>
      <p:sp>
        <p:nvSpPr>
          <p:cNvPr id="20" name="Mark-249"/>
          <p:cNvSpPr/>
          <p:nvPr/>
        </p:nvSpPr>
        <p:spPr>
          <a:xfrm>
            <a:off x="4073652" y="2724912"/>
            <a:ext cx="219456" cy="219456"/>
          </a:xfrm>
          <a:prstGeom prst="ellipse">
            <a:avLst/>
          </a:prstGeom>
          <a:ln w="15875">
            <a:solidFill>
              <a:srgbClr val="A9B0BD"/>
            </a:solidFill>
            <a:prstDash val="solid"/>
          </a:ln>
        </p:spPr>
      </p:sp>
      <p:sp>
        <p:nvSpPr>
          <p:cNvPr id="21" name="Mark-250"/>
          <p:cNvSpPr/>
          <p:nvPr/>
        </p:nvSpPr>
        <p:spPr>
          <a:xfrm>
            <a:off x="4942332" y="2724912"/>
            <a:ext cx="219456" cy="219456"/>
          </a:xfrm>
          <a:prstGeom prst="ellipse">
            <a:avLst/>
          </a:prstGeom>
          <a:ln w="15875">
            <a:solidFill>
              <a:srgbClr val="A9B0BD"/>
            </a:solidFill>
            <a:prstDash val="solid"/>
          </a:ln>
        </p:spPr>
      </p:sp>
      <p:sp>
        <p:nvSpPr>
          <p:cNvPr id="22" name="Mark-251"/>
          <p:cNvSpPr/>
          <p:nvPr/>
        </p:nvSpPr>
        <p:spPr>
          <a:xfrm>
            <a:off x="5811012" y="2724912"/>
            <a:ext cx="219456" cy="219456"/>
          </a:xfrm>
          <a:prstGeom prst="ellipse">
            <a:avLst/>
          </a:prstGeom>
          <a:solidFill>
            <a:srgbClr val="FFD166">
              <a:alpha val="65000"/>
            </a:srgbClr>
          </a:solidFill>
          <a:ln w="15875">
            <a:solidFill>
              <a:srgbClr val="FFD166"/>
            </a:solidFill>
            <a:prstDash val="solid"/>
          </a:ln>
        </p:spPr>
      </p:sp>
      <p:sp>
        <p:nvSpPr>
          <p:cNvPr id="23" name="Mark-252"/>
          <p:cNvSpPr/>
          <p:nvPr/>
        </p:nvSpPr>
        <p:spPr>
          <a:xfrm>
            <a:off x="6679692" y="2724912"/>
            <a:ext cx="219456" cy="21945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4" name="Rule-253"/>
          <p:cNvSpPr/>
          <p:nvPr/>
        </p:nvSpPr>
        <p:spPr>
          <a:xfrm>
            <a:off x="548640" y="3090672"/>
            <a:ext cx="6675120" cy="0"/>
          </a:xfrm>
          <a:prstGeom prst="line">
            <a:avLst/>
          </a:prstGeom>
          <a:noFill/>
          <a:ln w="9525">
            <a:solidFill>
              <a:srgbClr val="2A2E38"/>
            </a:solidFill>
            <a:prstDash val="solid"/>
          </a:ln>
        </p:spPr>
      </p:sp>
      <p:sp>
        <p:nvSpPr>
          <p:cNvPr id="25" name="Text-254"/>
          <p:cNvSpPr txBox="1"/>
          <p:nvPr/>
        </p:nvSpPr>
        <p:spPr>
          <a:xfrm>
            <a:off x="548640" y="3090672"/>
            <a:ext cx="2240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Hikâye/sahne modu</a:t>
            </a:r>
            <a:endParaRPr lang="en-US" sz="1300" dirty="0"/>
          </a:p>
        </p:txBody>
      </p:sp>
      <p:sp>
        <p:nvSpPr>
          <p:cNvPr id="26" name="Mark-255"/>
          <p:cNvSpPr/>
          <p:nvPr/>
        </p:nvSpPr>
        <p:spPr>
          <a:xfrm>
            <a:off x="3204972" y="3236976"/>
            <a:ext cx="219456" cy="219456"/>
          </a:xfrm>
          <a:prstGeom prst="ellipse">
            <a:avLst/>
          </a:prstGeom>
          <a:solidFill>
            <a:srgbClr val="FF2D75"/>
          </a:solidFill>
          <a:ln w="15875">
            <a:solidFill>
              <a:srgbClr val="FF2D75"/>
            </a:solidFill>
            <a:prstDash val="solid"/>
          </a:ln>
        </p:spPr>
      </p:sp>
      <p:sp>
        <p:nvSpPr>
          <p:cNvPr id="27" name="Mark-256"/>
          <p:cNvSpPr/>
          <p:nvPr/>
        </p:nvSpPr>
        <p:spPr>
          <a:xfrm>
            <a:off x="4073652" y="3236976"/>
            <a:ext cx="219456" cy="219456"/>
          </a:xfrm>
          <a:prstGeom prst="ellipse">
            <a:avLst/>
          </a:prstGeom>
          <a:ln w="15875">
            <a:solidFill>
              <a:srgbClr val="A9B0BD"/>
            </a:solidFill>
            <a:prstDash val="solid"/>
          </a:ln>
        </p:spPr>
      </p:sp>
      <p:sp>
        <p:nvSpPr>
          <p:cNvPr id="28" name="Mark-257"/>
          <p:cNvSpPr/>
          <p:nvPr/>
        </p:nvSpPr>
        <p:spPr>
          <a:xfrm>
            <a:off x="4942332" y="3236976"/>
            <a:ext cx="219456" cy="219456"/>
          </a:xfrm>
          <a:prstGeom prst="ellipse">
            <a:avLst/>
          </a:prstGeom>
          <a:ln w="15875">
            <a:solidFill>
              <a:srgbClr val="A9B0BD"/>
            </a:solidFill>
            <a:prstDash val="solid"/>
          </a:ln>
        </p:spPr>
      </p:sp>
      <p:sp>
        <p:nvSpPr>
          <p:cNvPr id="29" name="Mark-258"/>
          <p:cNvSpPr/>
          <p:nvPr/>
        </p:nvSpPr>
        <p:spPr>
          <a:xfrm>
            <a:off x="5811012" y="3236976"/>
            <a:ext cx="219456" cy="219456"/>
          </a:xfrm>
          <a:prstGeom prst="ellipse">
            <a:avLst/>
          </a:prstGeom>
          <a:ln w="15875">
            <a:solidFill>
              <a:srgbClr val="A9B0BD"/>
            </a:solidFill>
            <a:prstDash val="solid"/>
          </a:ln>
        </p:spPr>
      </p:sp>
      <p:sp>
        <p:nvSpPr>
          <p:cNvPr id="30" name="Mark-259"/>
          <p:cNvSpPr/>
          <p:nvPr/>
        </p:nvSpPr>
        <p:spPr>
          <a:xfrm>
            <a:off x="6679692" y="3236976"/>
            <a:ext cx="219456" cy="219456"/>
          </a:xfrm>
          <a:prstGeom prst="ellipse">
            <a:avLst/>
          </a:prstGeom>
          <a:ln w="15875">
            <a:solidFill>
              <a:srgbClr val="A9B0BD"/>
            </a:solidFill>
            <a:prstDash val="solid"/>
          </a:ln>
        </p:spPr>
      </p:sp>
      <p:sp>
        <p:nvSpPr>
          <p:cNvPr id="31" name="Rule-260"/>
          <p:cNvSpPr/>
          <p:nvPr/>
        </p:nvSpPr>
        <p:spPr>
          <a:xfrm>
            <a:off x="548640" y="3602736"/>
            <a:ext cx="6675120" cy="0"/>
          </a:xfrm>
          <a:prstGeom prst="line">
            <a:avLst/>
          </a:prstGeom>
          <a:noFill/>
          <a:ln w="9525">
            <a:solidFill>
              <a:srgbClr val="2A2E38"/>
            </a:solidFill>
            <a:prstDash val="solid"/>
          </a:ln>
        </p:spPr>
      </p:sp>
      <p:sp>
        <p:nvSpPr>
          <p:cNvPr id="32" name="Text-261"/>
          <p:cNvSpPr txBox="1"/>
          <p:nvPr/>
        </p:nvSpPr>
        <p:spPr>
          <a:xfrm>
            <a:off x="548640" y="3602736"/>
            <a:ext cx="2240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Yerel / çevrimdışı</a:t>
            </a:r>
            <a:endParaRPr lang="en-US" sz="1300" dirty="0"/>
          </a:p>
        </p:txBody>
      </p:sp>
      <p:sp>
        <p:nvSpPr>
          <p:cNvPr id="33" name="Mark-262"/>
          <p:cNvSpPr/>
          <p:nvPr/>
        </p:nvSpPr>
        <p:spPr>
          <a:xfrm>
            <a:off x="3204972" y="3749040"/>
            <a:ext cx="219456" cy="219456"/>
          </a:xfrm>
          <a:prstGeom prst="ellipse">
            <a:avLst/>
          </a:prstGeom>
          <a:solidFill>
            <a:srgbClr val="FF2D75"/>
          </a:solidFill>
          <a:ln w="15875">
            <a:solidFill>
              <a:srgbClr val="FF2D75"/>
            </a:solidFill>
            <a:prstDash val="solid"/>
          </a:ln>
        </p:spPr>
      </p:sp>
      <p:sp>
        <p:nvSpPr>
          <p:cNvPr id="34" name="Mark-263"/>
          <p:cNvSpPr/>
          <p:nvPr/>
        </p:nvSpPr>
        <p:spPr>
          <a:xfrm>
            <a:off x="4073652" y="3749040"/>
            <a:ext cx="219456" cy="219456"/>
          </a:xfrm>
          <a:prstGeom prst="ellipse">
            <a:avLst/>
          </a:prstGeom>
          <a:ln w="15875">
            <a:solidFill>
              <a:srgbClr val="A9B0BD"/>
            </a:solidFill>
            <a:prstDash val="solid"/>
          </a:ln>
        </p:spPr>
      </p:sp>
      <p:sp>
        <p:nvSpPr>
          <p:cNvPr id="35" name="Mark-264"/>
          <p:cNvSpPr/>
          <p:nvPr/>
        </p:nvSpPr>
        <p:spPr>
          <a:xfrm>
            <a:off x="4942332" y="3749040"/>
            <a:ext cx="219456" cy="21945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6" name="Mark-265"/>
          <p:cNvSpPr/>
          <p:nvPr/>
        </p:nvSpPr>
        <p:spPr>
          <a:xfrm>
            <a:off x="5811012" y="3749040"/>
            <a:ext cx="219456" cy="219456"/>
          </a:xfrm>
          <a:prstGeom prst="ellipse">
            <a:avLst/>
          </a:prstGeom>
          <a:solidFill>
            <a:srgbClr val="FFD166">
              <a:alpha val="65000"/>
            </a:srgbClr>
          </a:solidFill>
          <a:ln w="15875">
            <a:solidFill>
              <a:srgbClr val="FFD166"/>
            </a:solidFill>
            <a:prstDash val="solid"/>
          </a:ln>
        </p:spPr>
      </p:sp>
      <p:sp>
        <p:nvSpPr>
          <p:cNvPr id="37" name="Mark-266"/>
          <p:cNvSpPr/>
          <p:nvPr/>
        </p:nvSpPr>
        <p:spPr>
          <a:xfrm>
            <a:off x="6679692" y="3749040"/>
            <a:ext cx="219456" cy="219456"/>
          </a:xfrm>
          <a:prstGeom prst="ellipse">
            <a:avLst/>
          </a:prstGeom>
          <a:solidFill>
            <a:srgbClr val="FFD166">
              <a:alpha val="65000"/>
            </a:srgbClr>
          </a:solidFill>
          <a:ln w="15875">
            <a:solidFill>
              <a:srgbClr val="FFD166"/>
            </a:solidFill>
            <a:prstDash val="solid"/>
          </a:ln>
        </p:spPr>
      </p:sp>
      <p:sp>
        <p:nvSpPr>
          <p:cNvPr id="38" name="Rule-267"/>
          <p:cNvSpPr/>
          <p:nvPr/>
        </p:nvSpPr>
        <p:spPr>
          <a:xfrm>
            <a:off x="548640" y="4114800"/>
            <a:ext cx="6675120" cy="0"/>
          </a:xfrm>
          <a:prstGeom prst="line">
            <a:avLst/>
          </a:prstGeom>
          <a:noFill/>
          <a:ln w="9525">
            <a:solidFill>
              <a:srgbClr val="2A2E38"/>
            </a:solidFill>
            <a:prstDash val="solid"/>
          </a:ln>
        </p:spPr>
      </p:sp>
      <p:sp>
        <p:nvSpPr>
          <p:cNvPr id="39" name="Text-268"/>
          <p:cNvSpPr txBox="1"/>
          <p:nvPr/>
        </p:nvSpPr>
        <p:spPr>
          <a:xfrm>
            <a:off x="548640" y="4114800"/>
            <a:ext cx="2240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Açık API</a:t>
            </a:r>
            <a:endParaRPr lang="en-US" sz="1300" dirty="0"/>
          </a:p>
        </p:txBody>
      </p:sp>
      <p:sp>
        <p:nvSpPr>
          <p:cNvPr id="40" name="Mark-269"/>
          <p:cNvSpPr/>
          <p:nvPr/>
        </p:nvSpPr>
        <p:spPr>
          <a:xfrm>
            <a:off x="3204972" y="4261104"/>
            <a:ext cx="219456" cy="219456"/>
          </a:xfrm>
          <a:prstGeom prst="ellipse">
            <a:avLst/>
          </a:prstGeom>
          <a:solidFill>
            <a:srgbClr val="FF2D75"/>
          </a:solidFill>
          <a:ln w="15875">
            <a:solidFill>
              <a:srgbClr val="FF2D75"/>
            </a:solidFill>
            <a:prstDash val="solid"/>
          </a:ln>
        </p:spPr>
      </p:sp>
      <p:sp>
        <p:nvSpPr>
          <p:cNvPr id="41" name="Mark-270"/>
          <p:cNvSpPr/>
          <p:nvPr/>
        </p:nvSpPr>
        <p:spPr>
          <a:xfrm>
            <a:off x="4073652" y="4261104"/>
            <a:ext cx="219456" cy="219456"/>
          </a:xfrm>
          <a:prstGeom prst="ellipse">
            <a:avLst/>
          </a:prstGeom>
          <a:solidFill>
            <a:srgbClr val="FFD166">
              <a:alpha val="65000"/>
            </a:srgbClr>
          </a:solidFill>
          <a:ln w="15875">
            <a:solidFill>
              <a:srgbClr val="FFD166"/>
            </a:solidFill>
            <a:prstDash val="solid"/>
          </a:ln>
        </p:spPr>
      </p:sp>
      <p:sp>
        <p:nvSpPr>
          <p:cNvPr id="42" name="Mark-271"/>
          <p:cNvSpPr/>
          <p:nvPr/>
        </p:nvSpPr>
        <p:spPr>
          <a:xfrm>
            <a:off x="4942332" y="4261104"/>
            <a:ext cx="219456" cy="219456"/>
          </a:xfrm>
          <a:prstGeom prst="ellipse">
            <a:avLst/>
          </a:prstGeom>
          <a:ln w="15875">
            <a:solidFill>
              <a:srgbClr val="A9B0BD"/>
            </a:solidFill>
            <a:prstDash val="solid"/>
          </a:ln>
        </p:spPr>
      </p:sp>
      <p:sp>
        <p:nvSpPr>
          <p:cNvPr id="43" name="Mark-272"/>
          <p:cNvSpPr/>
          <p:nvPr/>
        </p:nvSpPr>
        <p:spPr>
          <a:xfrm>
            <a:off x="5811012" y="4261104"/>
            <a:ext cx="219456" cy="219456"/>
          </a:xfrm>
          <a:prstGeom prst="ellipse">
            <a:avLst/>
          </a:prstGeom>
          <a:ln w="15875">
            <a:solidFill>
              <a:srgbClr val="A9B0BD"/>
            </a:solidFill>
            <a:prstDash val="solid"/>
          </a:ln>
        </p:spPr>
      </p:sp>
      <p:sp>
        <p:nvSpPr>
          <p:cNvPr id="44" name="Mark-273"/>
          <p:cNvSpPr/>
          <p:nvPr/>
        </p:nvSpPr>
        <p:spPr>
          <a:xfrm>
            <a:off x="6679692" y="4261104"/>
            <a:ext cx="219456" cy="219456"/>
          </a:xfrm>
          <a:prstGeom prst="ellipse">
            <a:avLst/>
          </a:prstGeom>
          <a:ln w="15875">
            <a:solidFill>
              <a:srgbClr val="A9B0BD"/>
            </a:solidFill>
            <a:prstDash val="solid"/>
          </a:ln>
        </p:spPr>
      </p:sp>
      <p:sp>
        <p:nvSpPr>
          <p:cNvPr id="45" name="Rule-274"/>
          <p:cNvSpPr/>
          <p:nvPr/>
        </p:nvSpPr>
        <p:spPr>
          <a:xfrm>
            <a:off x="548640" y="4626864"/>
            <a:ext cx="6675120" cy="0"/>
          </a:xfrm>
          <a:prstGeom prst="line">
            <a:avLst/>
          </a:prstGeom>
          <a:noFill/>
          <a:ln w="9525">
            <a:solidFill>
              <a:srgbClr val="2A2E38"/>
            </a:solidFill>
            <a:prstDash val="solid"/>
          </a:ln>
        </p:spPr>
      </p:sp>
      <p:sp>
        <p:nvSpPr>
          <p:cNvPr id="46" name="Text-275"/>
          <p:cNvSpPr txBox="1"/>
          <p:nvPr/>
        </p:nvSpPr>
        <p:spPr>
          <a:xfrm>
            <a:off x="548640" y="4626864"/>
            <a:ext cx="2240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Canlı (sonradan değil)</a:t>
            </a:r>
            <a:endParaRPr lang="en-US" sz="1300" dirty="0"/>
          </a:p>
        </p:txBody>
      </p:sp>
      <p:sp>
        <p:nvSpPr>
          <p:cNvPr id="47" name="Mark-276"/>
          <p:cNvSpPr/>
          <p:nvPr/>
        </p:nvSpPr>
        <p:spPr>
          <a:xfrm>
            <a:off x="3204972" y="4773168"/>
            <a:ext cx="219456" cy="219456"/>
          </a:xfrm>
          <a:prstGeom prst="ellipse">
            <a:avLst/>
          </a:prstGeom>
          <a:solidFill>
            <a:srgbClr val="FF2D75"/>
          </a:solidFill>
          <a:ln w="15875">
            <a:solidFill>
              <a:srgbClr val="FF2D75"/>
            </a:solidFill>
            <a:prstDash val="solid"/>
          </a:ln>
        </p:spPr>
      </p:sp>
      <p:sp>
        <p:nvSpPr>
          <p:cNvPr id="48" name="Mark-277"/>
          <p:cNvSpPr/>
          <p:nvPr/>
        </p:nvSpPr>
        <p:spPr>
          <a:xfrm>
            <a:off x="4073652" y="4773168"/>
            <a:ext cx="219456" cy="21945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9" name="Mark-278"/>
          <p:cNvSpPr/>
          <p:nvPr/>
        </p:nvSpPr>
        <p:spPr>
          <a:xfrm>
            <a:off x="4942332" y="4773168"/>
            <a:ext cx="219456" cy="21945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0" name="Mark-279"/>
          <p:cNvSpPr/>
          <p:nvPr/>
        </p:nvSpPr>
        <p:spPr>
          <a:xfrm>
            <a:off x="5811012" y="4773168"/>
            <a:ext cx="219456" cy="21945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1" name="Mark-280"/>
          <p:cNvSpPr/>
          <p:nvPr/>
        </p:nvSpPr>
        <p:spPr>
          <a:xfrm>
            <a:off x="6679692" y="4773168"/>
            <a:ext cx="219456" cy="219456"/>
          </a:xfrm>
          <a:prstGeom prst="ellipse">
            <a:avLst/>
          </a:prstGeom>
          <a:ln w="15875">
            <a:solidFill>
              <a:srgbClr val="A9B0BD"/>
            </a:solidFill>
            <a:prstDash val="solid"/>
          </a:ln>
        </p:spPr>
      </p:sp>
      <p:sp>
        <p:nvSpPr>
          <p:cNvPr id="52" name="Mark-281"/>
          <p:cNvSpPr/>
          <p:nvPr/>
        </p:nvSpPr>
        <p:spPr>
          <a:xfrm>
            <a:off x="548640" y="5285232"/>
            <a:ext cx="219456" cy="21945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3" name="Text-282"/>
          <p:cNvSpPr txBox="1"/>
          <p:nvPr/>
        </p:nvSpPr>
        <p:spPr>
          <a:xfrm>
            <a:off x="868680" y="5257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evet</a:t>
            </a:r>
            <a:endParaRPr lang="en-US" sz="1100" dirty="0"/>
          </a:p>
        </p:txBody>
      </p:sp>
      <p:sp>
        <p:nvSpPr>
          <p:cNvPr id="54" name="Mark-283"/>
          <p:cNvSpPr/>
          <p:nvPr/>
        </p:nvSpPr>
        <p:spPr>
          <a:xfrm>
            <a:off x="2286000" y="5285232"/>
            <a:ext cx="219456" cy="219456"/>
          </a:xfrm>
          <a:prstGeom prst="ellipse">
            <a:avLst/>
          </a:prstGeom>
          <a:solidFill>
            <a:srgbClr val="FFD166">
              <a:alpha val="65000"/>
            </a:srgbClr>
          </a:solidFill>
          <a:ln w="15875">
            <a:solidFill>
              <a:srgbClr val="FFD166"/>
            </a:solidFill>
            <a:prstDash val="solid"/>
          </a:ln>
        </p:spPr>
      </p:sp>
      <p:sp>
        <p:nvSpPr>
          <p:cNvPr id="55" name="Text-284"/>
          <p:cNvSpPr txBox="1"/>
          <p:nvPr/>
        </p:nvSpPr>
        <p:spPr>
          <a:xfrm>
            <a:off x="2606040" y="5257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kısmen</a:t>
            </a:r>
            <a:endParaRPr lang="en-US" sz="1100" dirty="0"/>
          </a:p>
        </p:txBody>
      </p:sp>
      <p:sp>
        <p:nvSpPr>
          <p:cNvPr id="56" name="Mark-285"/>
          <p:cNvSpPr/>
          <p:nvPr/>
        </p:nvSpPr>
        <p:spPr>
          <a:xfrm>
            <a:off x="4023360" y="5285232"/>
            <a:ext cx="219456" cy="219456"/>
          </a:xfrm>
          <a:prstGeom prst="ellipse">
            <a:avLst/>
          </a:prstGeom>
          <a:ln w="15875">
            <a:solidFill>
              <a:srgbClr val="A9B0BD"/>
            </a:solidFill>
            <a:prstDash val="solid"/>
          </a:ln>
        </p:spPr>
      </p:sp>
      <p:sp>
        <p:nvSpPr>
          <p:cNvPr id="57" name="Text-286"/>
          <p:cNvSpPr txBox="1"/>
          <p:nvPr/>
        </p:nvSpPr>
        <p:spPr>
          <a:xfrm>
            <a:off x="4343400" y="5257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hayır</a:t>
            </a:r>
            <a:endParaRPr lang="en-US" sz="1100" dirty="0"/>
          </a:p>
        </p:txBody>
      </p:sp>
      <p:sp>
        <p:nvSpPr>
          <p:cNvPr id="58" name="Text-287"/>
          <p:cNvSpPr txBox="1"/>
          <p:nvPr/>
        </p:nvSpPr>
        <p:spPr>
          <a:xfrm>
            <a:off x="7589520" y="1554480"/>
            <a:ext cx="4053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Riskler – açıkça</a:t>
            </a:r>
            <a:endParaRPr lang="en-US" sz="1600" dirty="0"/>
          </a:p>
        </p:txBody>
      </p:sp>
      <p:sp>
        <p:nvSpPr>
          <p:cNvPr id="59" name="Badge-288"/>
          <p:cNvSpPr txBox="1"/>
          <p:nvPr/>
        </p:nvSpPr>
        <p:spPr>
          <a:xfrm>
            <a:off x="7589520" y="2057400"/>
            <a:ext cx="292608" cy="292608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000" dirty="0"/>
          </a:p>
        </p:txBody>
      </p:sp>
      <p:sp>
        <p:nvSpPr>
          <p:cNvPr id="60" name="Text-289"/>
          <p:cNvSpPr txBox="1"/>
          <p:nvPr/>
        </p:nvSpPr>
        <p:spPr>
          <a:xfrm>
            <a:off x="8001000" y="2011680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Talep kanıtlanmadı</a:t>
            </a:r>
            <a:endParaRPr lang="en-US" sz="1300" dirty="0"/>
          </a:p>
        </p:txBody>
      </p:sp>
      <p:sp>
        <p:nvSpPr>
          <p:cNvPr id="61" name="Text-290"/>
          <p:cNvSpPr txBox="1"/>
          <p:nvPr/>
        </p:nvSpPr>
        <p:spPr>
          <a:xfrm>
            <a:off x="8001000" y="2304288"/>
            <a:ext cx="36420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Kohortlu kapılar, bütçe onaydan sonra</a:t>
            </a:r>
            <a:endParaRPr lang="en-US" sz="1100" dirty="0"/>
          </a:p>
        </p:txBody>
      </p:sp>
      <p:sp>
        <p:nvSpPr>
          <p:cNvPr id="62" name="Badge-291"/>
          <p:cNvSpPr txBox="1"/>
          <p:nvPr/>
        </p:nvSpPr>
        <p:spPr>
          <a:xfrm>
            <a:off x="7589520" y="2834640"/>
            <a:ext cx="292608" cy="292608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000" dirty="0"/>
          </a:p>
        </p:txBody>
      </p:sp>
      <p:sp>
        <p:nvSpPr>
          <p:cNvPr id="63" name="Text-292"/>
          <p:cNvSpPr txBox="1"/>
          <p:nvPr/>
        </p:nvSpPr>
        <p:spPr>
          <a:xfrm>
            <a:off x="8001000" y="2788920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kopyalar</a:t>
            </a:r>
            <a:endParaRPr lang="en-US" sz="1300" dirty="0"/>
          </a:p>
        </p:txBody>
      </p:sp>
      <p:sp>
        <p:nvSpPr>
          <p:cNvPr id="64" name="Text-293"/>
          <p:cNvSpPr txBox="1"/>
          <p:nvPr/>
        </p:nvSpPr>
        <p:spPr>
          <a:xfrm>
            <a:off x="8001000" y="3081528"/>
            <a:ext cx="36420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Erken pilot, dil paketleri hendek olarak</a:t>
            </a:r>
            <a:endParaRPr lang="en-US" sz="1100" dirty="0"/>
          </a:p>
        </p:txBody>
      </p:sp>
      <p:sp>
        <p:nvSpPr>
          <p:cNvPr id="65" name="Badge-294"/>
          <p:cNvSpPr txBox="1"/>
          <p:nvPr/>
        </p:nvSpPr>
        <p:spPr>
          <a:xfrm>
            <a:off x="7589520" y="3611880"/>
            <a:ext cx="292608" cy="292608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000" dirty="0"/>
          </a:p>
        </p:txBody>
      </p:sp>
      <p:sp>
        <p:nvSpPr>
          <p:cNvPr id="66" name="Text-295"/>
          <p:cNvSpPr txBox="1"/>
          <p:nvPr/>
        </p:nvSpPr>
        <p:spPr>
          <a:xfrm>
            <a:off x="8001000" y="3566160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OBS’siz telefon yayıncıları</a:t>
            </a:r>
            <a:endParaRPr lang="en-US" sz="1300" dirty="0"/>
          </a:p>
        </p:txBody>
      </p:sp>
      <p:sp>
        <p:nvSpPr>
          <p:cNvPr id="67" name="Text-296"/>
          <p:cNvSpPr txBox="1"/>
          <p:nvPr/>
        </p:nvSpPr>
        <p:spPr>
          <a:xfrm>
            <a:off x="8001000" y="3858768"/>
            <a:ext cx="36420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Önce mobil geliştirici</a:t>
            </a:r>
            <a:endParaRPr lang="en-US" sz="1100" dirty="0"/>
          </a:p>
        </p:txBody>
      </p:sp>
      <p:sp>
        <p:nvSpPr>
          <p:cNvPr id="68" name="Badge-297"/>
          <p:cNvSpPr txBox="1"/>
          <p:nvPr/>
        </p:nvSpPr>
        <p:spPr>
          <a:xfrm>
            <a:off x="7589520" y="4389120"/>
            <a:ext cx="292608" cy="292608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000" dirty="0"/>
          </a:p>
        </p:txBody>
      </p:sp>
      <p:sp>
        <p:nvSpPr>
          <p:cNvPr id="69" name="Text-298"/>
          <p:cNvSpPr txBox="1"/>
          <p:nvPr/>
        </p:nvSpPr>
        <p:spPr>
          <a:xfrm>
            <a:off x="8001000" y="4343400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Okul/aile veri koruması</a:t>
            </a:r>
            <a:endParaRPr lang="en-US" sz="1300" dirty="0"/>
          </a:p>
        </p:txBody>
      </p:sp>
      <p:sp>
        <p:nvSpPr>
          <p:cNvPr id="70" name="Text-299"/>
          <p:cNvSpPr txBox="1"/>
          <p:nvPr/>
        </p:nvSpPr>
        <p:spPr>
          <a:xfrm>
            <a:off x="8001000" y="4636008"/>
            <a:ext cx="36420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Yerel, hesapsız, cihazda tanıma</a:t>
            </a:r>
            <a:endParaRPr lang="en-US" sz="1100" dirty="0"/>
          </a:p>
        </p:txBody>
      </p:sp>
      <p:sp>
        <p:nvSpPr>
          <p:cNvPr id="71" name="Badge-300"/>
          <p:cNvSpPr txBox="1"/>
          <p:nvPr/>
        </p:nvSpPr>
        <p:spPr>
          <a:xfrm>
            <a:off x="7589520" y="5166360"/>
            <a:ext cx="292608" cy="292608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000" dirty="0"/>
          </a:p>
        </p:txBody>
      </p:sp>
      <p:sp>
        <p:nvSpPr>
          <p:cNvPr id="72" name="Text-301"/>
          <p:cNvSpPr txBox="1"/>
          <p:nvPr/>
        </p:nvSpPr>
        <p:spPr>
          <a:xfrm>
            <a:off x="8001000" y="5120640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Vizyon dağıtır</a:t>
            </a:r>
            <a:endParaRPr lang="en-US" sz="1300" dirty="0"/>
          </a:p>
        </p:txBody>
      </p:sp>
      <p:sp>
        <p:nvSpPr>
          <p:cNvPr id="73" name="Text-302"/>
          <p:cNvSpPr txBox="1"/>
          <p:nvPr/>
        </p:nvSpPr>
        <p:spPr>
          <a:xfrm>
            <a:off x="8001000" y="5413248"/>
            <a:ext cx="36420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Pre-seed’de yalnızca Kelime-Resim; gerisi seed’de</a:t>
            </a:r>
            <a:endParaRPr lang="en-US" sz="1100" dirty="0"/>
          </a:p>
        </p:txBody>
      </p:sp>
      <p:sp>
        <p:nvSpPr>
          <p:cNvPr id="74" name="Text-303"/>
          <p:cNvSpPr txBox="1"/>
          <p:nvPr/>
        </p:nvSpPr>
        <p:spPr>
          <a:xfrm>
            <a:off x="548640" y="605332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Kaynak: BUSINESSPLAN.tr.md §7, §13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LIVEFX / YOL HARİTASI VE PAZARA GİRİŞ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Başlat. Ücretlendir. Genişlet</a:t>
            </a:r>
            <a:endParaRPr lang="en-US" sz="3200" dirty="0"/>
          </a:p>
        </p:txBody>
      </p:sp>
      <p:sp>
        <p:nvSpPr>
          <p:cNvPr id="4" name="Timeline"/>
          <p:cNvSpPr/>
          <p:nvPr/>
        </p:nvSpPr>
        <p:spPr>
          <a:xfrm>
            <a:off x="1341098" y="2148840"/>
            <a:ext cx="9509499" cy="0"/>
          </a:xfrm>
          <a:prstGeom prst="line">
            <a:avLst/>
          </a:prstGeom>
          <a:noFill/>
          <a:ln w="25400">
            <a:solidFill>
              <a:srgbClr val="2A2E38"/>
            </a:solidFill>
            <a:prstDash val="solid"/>
          </a:ln>
        </p:spPr>
      </p:sp>
      <p:sp>
        <p:nvSpPr>
          <p:cNvPr id="5" name="Text-304"/>
          <p:cNvSpPr txBox="1"/>
          <p:nvPr/>
        </p:nvSpPr>
        <p:spPr>
          <a:xfrm>
            <a:off x="548640" y="1554480"/>
            <a:ext cx="15849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4Ç 2026</a:t>
            </a:r>
            <a:endParaRPr lang="en-US" sz="1200" dirty="0"/>
          </a:p>
        </p:txBody>
      </p:sp>
      <p:sp>
        <p:nvSpPr>
          <p:cNvPr id="6" name="Badge-305"/>
          <p:cNvSpPr txBox="1"/>
          <p:nvPr/>
        </p:nvSpPr>
        <p:spPr>
          <a:xfrm>
            <a:off x="1194794" y="2002536"/>
            <a:ext cx="292608" cy="29260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-306"/>
          <p:cNvSpPr txBox="1"/>
          <p:nvPr/>
        </p:nvSpPr>
        <p:spPr>
          <a:xfrm>
            <a:off x="594360" y="2468880"/>
            <a:ext cx="14934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v2.1 + TR lansmanı</a:t>
            </a:r>
            <a:endParaRPr lang="en-US" sz="1500" dirty="0"/>
          </a:p>
        </p:txBody>
      </p:sp>
      <p:sp>
        <p:nvSpPr>
          <p:cNvPr id="8" name="Text-307"/>
          <p:cNvSpPr txBox="1"/>
          <p:nvPr/>
        </p:nvSpPr>
        <p:spPr>
          <a:xfrm>
            <a:off x="621792" y="3108960"/>
            <a:ext cx="14386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Performans modu, 143 çıkartma, güvenli GIF</a:t>
            </a:r>
            <a:endParaRPr lang="en-US" sz="1100" dirty="0"/>
          </a:p>
        </p:txBody>
      </p:sp>
      <p:sp>
        <p:nvSpPr>
          <p:cNvPr id="9" name="Text-308"/>
          <p:cNvSpPr txBox="1"/>
          <p:nvPr/>
        </p:nvSpPr>
        <p:spPr>
          <a:xfrm>
            <a:off x="2133556" y="1554480"/>
            <a:ext cx="15849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ay · Ocak 2027</a:t>
            </a:r>
            <a:endParaRPr lang="en-US" sz="1200" dirty="0"/>
          </a:p>
        </p:txBody>
      </p:sp>
      <p:sp>
        <p:nvSpPr>
          <p:cNvPr id="10" name="Badge-309"/>
          <p:cNvSpPr txBox="1"/>
          <p:nvPr/>
        </p:nvSpPr>
        <p:spPr>
          <a:xfrm>
            <a:off x="2779711" y="2002536"/>
            <a:ext cx="292608" cy="292608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-310"/>
          <p:cNvSpPr txBox="1"/>
          <p:nvPr/>
        </p:nvSpPr>
        <p:spPr>
          <a:xfrm>
            <a:off x="2179276" y="2468880"/>
            <a:ext cx="14934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Kapanış 250 bin €</a:t>
            </a:r>
            <a:endParaRPr lang="en-US" sz="1500" dirty="0"/>
          </a:p>
        </p:txBody>
      </p:sp>
      <p:sp>
        <p:nvSpPr>
          <p:cNvPr id="12" name="Text-311"/>
          <p:cNvSpPr txBox="1"/>
          <p:nvPr/>
        </p:nvSpPr>
        <p:spPr>
          <a:xfrm>
            <a:off x="2206708" y="3108960"/>
            <a:ext cx="14386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Pazarlama 1. aşama, marka</a:t>
            </a:r>
            <a:endParaRPr lang="en-US" sz="1100" dirty="0"/>
          </a:p>
        </p:txBody>
      </p:sp>
      <p:sp>
        <p:nvSpPr>
          <p:cNvPr id="13" name="Text-312"/>
          <p:cNvSpPr txBox="1"/>
          <p:nvPr/>
        </p:nvSpPr>
        <p:spPr>
          <a:xfrm>
            <a:off x="3718473" y="1554480"/>
            <a:ext cx="15849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ay</a:t>
            </a:r>
            <a:endParaRPr lang="en-US" sz="1200" dirty="0"/>
          </a:p>
        </p:txBody>
      </p:sp>
      <p:sp>
        <p:nvSpPr>
          <p:cNvPr id="14" name="Badge-313"/>
          <p:cNvSpPr txBox="1"/>
          <p:nvPr/>
        </p:nvSpPr>
        <p:spPr>
          <a:xfrm>
            <a:off x="4364627" y="2002536"/>
            <a:ext cx="292608" cy="292608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-314"/>
          <p:cNvSpPr txBox="1"/>
          <p:nvPr/>
        </p:nvSpPr>
        <p:spPr>
          <a:xfrm>
            <a:off x="3764193" y="2468880"/>
            <a:ext cx="14934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Kapı 0</a:t>
            </a:r>
            <a:endParaRPr lang="en-US" sz="1500" dirty="0"/>
          </a:p>
        </p:txBody>
      </p:sp>
      <p:sp>
        <p:nvSpPr>
          <p:cNvPr id="16" name="Text-315"/>
          <p:cNvSpPr txBox="1"/>
          <p:nvPr/>
        </p:nvSpPr>
        <p:spPr>
          <a:xfrm>
            <a:off x="3791625" y="3108960"/>
            <a:ext cx="14386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canlı, geliştirici ekipte</a:t>
            </a:r>
            <a:endParaRPr lang="en-US" sz="1100" dirty="0"/>
          </a:p>
        </p:txBody>
      </p:sp>
      <p:sp>
        <p:nvSpPr>
          <p:cNvPr id="17" name="Text-316"/>
          <p:cNvSpPr txBox="1"/>
          <p:nvPr/>
        </p:nvSpPr>
        <p:spPr>
          <a:xfrm>
            <a:off x="5303389" y="1554480"/>
            <a:ext cx="15849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ay</a:t>
            </a:r>
            <a:endParaRPr lang="en-US" sz="1200" dirty="0"/>
          </a:p>
        </p:txBody>
      </p:sp>
      <p:sp>
        <p:nvSpPr>
          <p:cNvPr id="18" name="Badge-317"/>
          <p:cNvSpPr txBox="1"/>
          <p:nvPr/>
        </p:nvSpPr>
        <p:spPr>
          <a:xfrm>
            <a:off x="5949544" y="2002536"/>
            <a:ext cx="292608" cy="292608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-318"/>
          <p:cNvSpPr txBox="1"/>
          <p:nvPr/>
        </p:nvSpPr>
        <p:spPr>
          <a:xfrm>
            <a:off x="5349109" y="2468880"/>
            <a:ext cx="14934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Kapı 1</a:t>
            </a:r>
            <a:endParaRPr lang="en-US" sz="1500" dirty="0"/>
          </a:p>
        </p:txBody>
      </p:sp>
      <p:sp>
        <p:nvSpPr>
          <p:cNvPr id="20" name="Text-319"/>
          <p:cNvSpPr txBox="1"/>
          <p:nvPr/>
        </p:nvSpPr>
        <p:spPr>
          <a:xfrm>
            <a:off x="5376541" y="3108960"/>
            <a:ext cx="14386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 uygulama/PWA; Kelime-Resim 300 kelime</a:t>
            </a:r>
            <a:endParaRPr lang="en-US" sz="1100" dirty="0"/>
          </a:p>
        </p:txBody>
      </p:sp>
      <p:sp>
        <p:nvSpPr>
          <p:cNvPr id="21" name="Text-320"/>
          <p:cNvSpPr txBox="1"/>
          <p:nvPr/>
        </p:nvSpPr>
        <p:spPr>
          <a:xfrm>
            <a:off x="6888306" y="1554480"/>
            <a:ext cx="15849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7–9. ay</a:t>
            </a:r>
            <a:endParaRPr lang="en-US" sz="1200" dirty="0"/>
          </a:p>
        </p:txBody>
      </p:sp>
      <p:sp>
        <p:nvSpPr>
          <p:cNvPr id="22" name="Badge-321"/>
          <p:cNvSpPr txBox="1"/>
          <p:nvPr/>
        </p:nvSpPr>
        <p:spPr>
          <a:xfrm>
            <a:off x="7534460" y="2002536"/>
            <a:ext cx="292608" cy="29260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23" name="Text-322"/>
          <p:cNvSpPr txBox="1"/>
          <p:nvPr/>
        </p:nvSpPr>
        <p:spPr>
          <a:xfrm>
            <a:off x="6934026" y="2468880"/>
            <a:ext cx="14934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DE/EN + pilot</a:t>
            </a:r>
            <a:endParaRPr lang="en-US" sz="1500" dirty="0"/>
          </a:p>
        </p:txBody>
      </p:sp>
      <p:sp>
        <p:nvSpPr>
          <p:cNvPr id="24" name="Text-323"/>
          <p:cNvSpPr txBox="1"/>
          <p:nvPr/>
        </p:nvSpPr>
        <p:spPr>
          <a:xfrm>
            <a:off x="6961458" y="3108960"/>
            <a:ext cx="14386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veya eğitim pilotu</a:t>
            </a:r>
            <a:endParaRPr lang="en-US" sz="1100" dirty="0"/>
          </a:p>
        </p:txBody>
      </p:sp>
      <p:sp>
        <p:nvSpPr>
          <p:cNvPr id="25" name="Text-324"/>
          <p:cNvSpPr txBox="1"/>
          <p:nvPr/>
        </p:nvSpPr>
        <p:spPr>
          <a:xfrm>
            <a:off x="8473222" y="1554480"/>
            <a:ext cx="15849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ay</a:t>
            </a:r>
            <a:endParaRPr lang="en-US" sz="1200" dirty="0"/>
          </a:p>
        </p:txBody>
      </p:sp>
      <p:sp>
        <p:nvSpPr>
          <p:cNvPr id="26" name="Badge-325"/>
          <p:cNvSpPr txBox="1"/>
          <p:nvPr/>
        </p:nvSpPr>
        <p:spPr>
          <a:xfrm>
            <a:off x="9119377" y="2002536"/>
            <a:ext cx="292608" cy="292608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27" name="Text-326"/>
          <p:cNvSpPr txBox="1"/>
          <p:nvPr/>
        </p:nvSpPr>
        <p:spPr>
          <a:xfrm>
            <a:off x="8518942" y="2468880"/>
            <a:ext cx="14934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Kapı 2a</a:t>
            </a:r>
            <a:endParaRPr lang="en-US" sz="1500" dirty="0"/>
          </a:p>
        </p:txBody>
      </p:sp>
      <p:sp>
        <p:nvSpPr>
          <p:cNvPr id="28" name="Text-327"/>
          <p:cNvSpPr txBox="1"/>
          <p:nvPr/>
        </p:nvSpPr>
        <p:spPr>
          <a:xfrm>
            <a:off x="8546374" y="3108960"/>
            <a:ext cx="14386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Çekiş; seed görüşmeleri</a:t>
            </a:r>
            <a:endParaRPr lang="en-US" sz="1100" dirty="0"/>
          </a:p>
        </p:txBody>
      </p:sp>
      <p:sp>
        <p:nvSpPr>
          <p:cNvPr id="29" name="Text-328"/>
          <p:cNvSpPr txBox="1"/>
          <p:nvPr/>
        </p:nvSpPr>
        <p:spPr>
          <a:xfrm>
            <a:off x="10058139" y="1554480"/>
            <a:ext cx="15849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 ay</a:t>
            </a:r>
            <a:endParaRPr lang="en-US" sz="1200" dirty="0"/>
          </a:p>
        </p:txBody>
      </p:sp>
      <p:sp>
        <p:nvSpPr>
          <p:cNvPr id="30" name="Badge-329"/>
          <p:cNvSpPr txBox="1"/>
          <p:nvPr/>
        </p:nvSpPr>
        <p:spPr>
          <a:xfrm>
            <a:off x="10704293" y="2002536"/>
            <a:ext cx="292608" cy="292608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31" name="Text-330"/>
          <p:cNvSpPr txBox="1"/>
          <p:nvPr/>
        </p:nvSpPr>
        <p:spPr>
          <a:xfrm>
            <a:off x="10103859" y="2468880"/>
            <a:ext cx="14934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Kapı 2 → seed</a:t>
            </a:r>
            <a:endParaRPr lang="en-US" sz="1500" dirty="0"/>
          </a:p>
        </p:txBody>
      </p:sp>
      <p:sp>
        <p:nvSpPr>
          <p:cNvPr id="32" name="Text-331"/>
          <p:cNvSpPr txBox="1"/>
          <p:nvPr/>
        </p:nvSpPr>
        <p:spPr>
          <a:xfrm>
            <a:off x="10131291" y="3108960"/>
            <a:ext cx="14386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350 bin €; hikâye motoru, Studio, VR</a:t>
            </a:r>
            <a:endParaRPr lang="en-US" sz="1100" dirty="0"/>
          </a:p>
        </p:txBody>
      </p:sp>
      <p:sp>
        <p:nvSpPr>
          <p:cNvPr id="33" name="Card-332"/>
          <p:cNvSpPr/>
          <p:nvPr/>
        </p:nvSpPr>
        <p:spPr>
          <a:xfrm>
            <a:off x="548640" y="4297680"/>
            <a:ext cx="2622728" cy="1417320"/>
          </a:xfrm>
          <a:prstGeom prst="roundRect">
            <a:avLst>
              <a:gd name="adj" fmla="val 7742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34" name="Text-333"/>
          <p:cNvSpPr txBox="1"/>
          <p:nvPr/>
        </p:nvSpPr>
        <p:spPr>
          <a:xfrm>
            <a:off x="749808" y="4480560"/>
            <a:ext cx="222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TR topluluğu</a:t>
            </a:r>
            <a:endParaRPr lang="en-US" sz="1500" dirty="0"/>
          </a:p>
        </p:txBody>
      </p:sp>
      <p:sp>
        <p:nvSpPr>
          <p:cNvPr id="35" name="Text-334"/>
          <p:cNvSpPr txBox="1"/>
          <p:nvPr/>
        </p:nvSpPr>
        <p:spPr>
          <a:xfrm>
            <a:off x="749808" y="4919472"/>
            <a:ext cx="2220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1–6. ay: kendi yayınlar, paket ve çıkartma yayınları</a:t>
            </a:r>
            <a:endParaRPr lang="en-US" sz="1200" dirty="0"/>
          </a:p>
        </p:txBody>
      </p:sp>
      <p:sp>
        <p:nvSpPr>
          <p:cNvPr id="36" name="Card-335"/>
          <p:cNvSpPr/>
          <p:nvPr/>
        </p:nvSpPr>
        <p:spPr>
          <a:xfrm>
            <a:off x="3372536" y="4297680"/>
            <a:ext cx="2622728" cy="1417320"/>
          </a:xfrm>
          <a:prstGeom prst="roundRect">
            <a:avLst>
              <a:gd name="adj" fmla="val 7742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37" name="Text-336"/>
          <p:cNvSpPr txBox="1"/>
          <p:nvPr/>
        </p:nvSpPr>
        <p:spPr>
          <a:xfrm>
            <a:off x="3573704" y="4480560"/>
            <a:ext cx="222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DE/EN</a:t>
            </a:r>
            <a:endParaRPr lang="en-US" sz="1500" dirty="0"/>
          </a:p>
        </p:txBody>
      </p:sp>
      <p:sp>
        <p:nvSpPr>
          <p:cNvPr id="38" name="Text-337"/>
          <p:cNvSpPr txBox="1"/>
          <p:nvPr/>
        </p:nvSpPr>
        <p:spPr>
          <a:xfrm>
            <a:off x="3573704" y="4919472"/>
            <a:ext cx="2220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7–18. ay: okuma ve eğitim yayınları</a:t>
            </a:r>
            <a:endParaRPr lang="en-US" sz="1200" dirty="0"/>
          </a:p>
        </p:txBody>
      </p:sp>
      <p:sp>
        <p:nvSpPr>
          <p:cNvPr id="39" name="Card-338"/>
          <p:cNvSpPr/>
          <p:nvPr/>
        </p:nvSpPr>
        <p:spPr>
          <a:xfrm>
            <a:off x="6196432" y="4297680"/>
            <a:ext cx="2622728" cy="1417320"/>
          </a:xfrm>
          <a:prstGeom prst="roundRect">
            <a:avLst>
              <a:gd name="adj" fmla="val 7742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40" name="Text-339"/>
          <p:cNvSpPr txBox="1"/>
          <p:nvPr/>
        </p:nvSpPr>
        <p:spPr>
          <a:xfrm>
            <a:off x="6397600" y="4480560"/>
            <a:ext cx="222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Pilot</a:t>
            </a:r>
            <a:endParaRPr lang="en-US" sz="1500" dirty="0"/>
          </a:p>
        </p:txBody>
      </p:sp>
      <p:sp>
        <p:nvSpPr>
          <p:cNvPr id="41" name="Text-340"/>
          <p:cNvSpPr txBox="1"/>
          <p:nvPr/>
        </p:nvSpPr>
        <p:spPr>
          <a:xfrm>
            <a:off x="6397600" y="4919472"/>
            <a:ext cx="2220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aydan: platform (8 hafta, 20 yayıncı) veya kurslar</a:t>
            </a:r>
            <a:endParaRPr lang="en-US" sz="1200" dirty="0"/>
          </a:p>
        </p:txBody>
      </p:sp>
      <p:sp>
        <p:nvSpPr>
          <p:cNvPr id="42" name="Card-341"/>
          <p:cNvSpPr/>
          <p:nvPr/>
        </p:nvSpPr>
        <p:spPr>
          <a:xfrm>
            <a:off x="9020327" y="4297680"/>
            <a:ext cx="2622728" cy="1417320"/>
          </a:xfrm>
          <a:prstGeom prst="roundRect">
            <a:avLst>
              <a:gd name="adj" fmla="val 7742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43" name="Text-342"/>
          <p:cNvSpPr txBox="1"/>
          <p:nvPr/>
        </p:nvSpPr>
        <p:spPr>
          <a:xfrm>
            <a:off x="9221495" y="4480560"/>
            <a:ext cx="222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Sonraki tur</a:t>
            </a:r>
            <a:endParaRPr lang="en-US" sz="1500" dirty="0"/>
          </a:p>
        </p:txBody>
      </p:sp>
      <p:sp>
        <p:nvSpPr>
          <p:cNvPr id="44" name="Text-343"/>
          <p:cNvSpPr txBox="1"/>
          <p:nvPr/>
        </p:nvSpPr>
        <p:spPr>
          <a:xfrm>
            <a:off x="9221495" y="4919472"/>
            <a:ext cx="2220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 aydan: ekip, hikâye motoru, Studio, VR</a:t>
            </a:r>
            <a:endParaRPr lang="en-US" sz="1200" dirty="0"/>
          </a:p>
        </p:txBody>
      </p:sp>
      <p:sp>
        <p:nvSpPr>
          <p:cNvPr id="45" name="Text-344"/>
          <p:cNvSpPr txBox="1"/>
          <p:nvPr/>
        </p:nvSpPr>
        <p:spPr>
          <a:xfrm>
            <a:off x="548640" y="605332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Kaynak: BUSINESSPLAN.tr.md §10, §14.1 · LiveFX_Finanzmodell.xlsx (zaman çizelgesi: Ocak 2027 kapanış = 1. ay)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LIVEFX / FON KULLANIMI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ayda 250.000 €: önce uygulama</a:t>
            </a:r>
            <a:endParaRPr lang="en-US" sz="3200" dirty="0"/>
          </a:p>
        </p:txBody>
      </p:sp>
      <p:graphicFrame>
        <p:nvGraphicFramePr>
          <p:cNvPr id="4" name="Use-of-funds-donut" descr=""/>
          <p:cNvGraphicFramePr/>
          <p:nvPr/>
        </p:nvGraphicFramePr>
        <p:xfrm>
          <a:off x="548640" y="1463040"/>
          <a:ext cx="44805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-345"/>
          <p:cNvSpPr txBox="1"/>
          <p:nvPr/>
        </p:nvSpPr>
        <p:spPr>
          <a:xfrm>
            <a:off x="1645920" y="32918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 bin €</a:t>
            </a:r>
            <a:endParaRPr lang="en-US" sz="3200" dirty="0"/>
          </a:p>
        </p:txBody>
      </p:sp>
      <p:sp>
        <p:nvSpPr>
          <p:cNvPr id="6" name="Text-346"/>
          <p:cNvSpPr txBox="1"/>
          <p:nvPr/>
        </p:nvSpPr>
        <p:spPr>
          <a:xfrm>
            <a:off x="1645920" y="3840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AY</a:t>
            </a:r>
            <a:endParaRPr lang="en-US" sz="1000" dirty="0"/>
          </a:p>
        </p:txBody>
      </p:sp>
      <p:sp>
        <p:nvSpPr>
          <p:cNvPr id="7" name="Pill-347"/>
          <p:cNvSpPr txBox="1"/>
          <p:nvPr/>
        </p:nvSpPr>
        <p:spPr>
          <a:xfrm>
            <a:off x="5486400" y="1508760"/>
            <a:ext cx="4572000" cy="29260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5875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ÖNERI – VERGI/HUKUK DANIŞMANIYLA KONTROL EDIN</a:t>
            </a:r>
            <a:endParaRPr lang="en-US" sz="1000" dirty="0"/>
          </a:p>
        </p:txBody>
      </p:sp>
      <p:sp>
        <p:nvSpPr>
          <p:cNvPr id="8" name="Key-348"/>
          <p:cNvSpPr/>
          <p:nvPr/>
        </p:nvSpPr>
        <p:spPr>
          <a:xfrm>
            <a:off x="5486400" y="2121408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2D75"/>
          </a:solidFill>
          <a:ln/>
        </p:spPr>
      </p:sp>
      <p:sp>
        <p:nvSpPr>
          <p:cNvPr id="9" name="Text-349"/>
          <p:cNvSpPr txBox="1"/>
          <p:nvPr/>
        </p:nvSpPr>
        <p:spPr>
          <a:xfrm>
            <a:off x="5852160" y="196596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%50</a:t>
            </a:r>
            <a:endParaRPr lang="en-US" sz="2400" dirty="0"/>
          </a:p>
        </p:txBody>
      </p:sp>
      <p:sp>
        <p:nvSpPr>
          <p:cNvPr id="10" name="Text-350"/>
          <p:cNvSpPr txBox="1"/>
          <p:nvPr/>
        </p:nvSpPr>
        <p:spPr>
          <a:xfrm>
            <a:off x="6858000" y="19842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Ekip/ürün</a:t>
            </a:r>
            <a:endParaRPr lang="en-US" sz="1400" dirty="0"/>
          </a:p>
        </p:txBody>
      </p:sp>
      <p:sp>
        <p:nvSpPr>
          <p:cNvPr id="11" name="Text-351"/>
          <p:cNvSpPr txBox="1"/>
          <p:nvPr/>
        </p:nvSpPr>
        <p:spPr>
          <a:xfrm>
            <a:off x="6858000" y="22677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aydan geliştirici, kurucu payı, cihazlar</a:t>
            </a:r>
            <a:endParaRPr lang="en-US" sz="1100" dirty="0"/>
          </a:p>
        </p:txBody>
      </p:sp>
      <p:sp>
        <p:nvSpPr>
          <p:cNvPr id="12" name="Text-352"/>
          <p:cNvSpPr txBox="1"/>
          <p:nvPr/>
        </p:nvSpPr>
        <p:spPr>
          <a:xfrm>
            <a:off x="9905695" y="19659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125.000 €</a:t>
            </a:r>
            <a:endParaRPr lang="en-US" sz="1800" dirty="0"/>
          </a:p>
        </p:txBody>
      </p:sp>
      <p:sp>
        <p:nvSpPr>
          <p:cNvPr id="13" name="Rule-353"/>
          <p:cNvSpPr/>
          <p:nvPr/>
        </p:nvSpPr>
        <p:spPr>
          <a:xfrm>
            <a:off x="5486400" y="2642616"/>
            <a:ext cx="6156655" cy="0"/>
          </a:xfrm>
          <a:prstGeom prst="line">
            <a:avLst/>
          </a:prstGeom>
          <a:noFill/>
          <a:ln w="9525">
            <a:solidFill>
              <a:srgbClr val="2A2E38"/>
            </a:solidFill>
            <a:prstDash val="solid"/>
          </a:ln>
        </p:spPr>
      </p:sp>
      <p:sp>
        <p:nvSpPr>
          <p:cNvPr id="14" name="Key-354"/>
          <p:cNvSpPr/>
          <p:nvPr/>
        </p:nvSpPr>
        <p:spPr>
          <a:xfrm>
            <a:off x="5486400" y="2889504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2DFFB5"/>
          </a:solidFill>
          <a:ln/>
        </p:spPr>
      </p:sp>
      <p:sp>
        <p:nvSpPr>
          <p:cNvPr id="15" name="Text-355"/>
          <p:cNvSpPr txBox="1"/>
          <p:nvPr/>
        </p:nvSpPr>
        <p:spPr>
          <a:xfrm>
            <a:off x="5852160" y="2734056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%20</a:t>
            </a:r>
            <a:endParaRPr lang="en-US" sz="2400" dirty="0"/>
          </a:p>
        </p:txBody>
      </p:sp>
      <p:sp>
        <p:nvSpPr>
          <p:cNvPr id="16" name="Text-356"/>
          <p:cNvSpPr txBox="1"/>
          <p:nvPr/>
        </p:nvSpPr>
        <p:spPr>
          <a:xfrm>
            <a:off x="6858000" y="275234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Pazara giriş</a:t>
            </a:r>
            <a:endParaRPr lang="en-US" sz="1400" dirty="0"/>
          </a:p>
        </p:txBody>
      </p:sp>
      <p:sp>
        <p:nvSpPr>
          <p:cNvPr id="17" name="Text-357"/>
          <p:cNvSpPr txBox="1"/>
          <p:nvPr/>
        </p:nvSpPr>
        <p:spPr>
          <a:xfrm>
            <a:off x="6858000" y="30358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TR, sonra DE/EN lansmanı, elçiler, 1 pilot</a:t>
            </a:r>
            <a:endParaRPr lang="en-US" sz="1100" dirty="0"/>
          </a:p>
        </p:txBody>
      </p:sp>
      <p:sp>
        <p:nvSpPr>
          <p:cNvPr id="18" name="Text-358"/>
          <p:cNvSpPr txBox="1"/>
          <p:nvPr/>
        </p:nvSpPr>
        <p:spPr>
          <a:xfrm>
            <a:off x="9905695" y="273405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50.000 €</a:t>
            </a:r>
            <a:endParaRPr lang="en-US" sz="1800" dirty="0"/>
          </a:p>
        </p:txBody>
      </p:sp>
      <p:sp>
        <p:nvSpPr>
          <p:cNvPr id="19" name="Rule-359"/>
          <p:cNvSpPr/>
          <p:nvPr/>
        </p:nvSpPr>
        <p:spPr>
          <a:xfrm>
            <a:off x="5486400" y="3410712"/>
            <a:ext cx="6156655" cy="0"/>
          </a:xfrm>
          <a:prstGeom prst="line">
            <a:avLst/>
          </a:prstGeom>
          <a:noFill/>
          <a:ln w="9525">
            <a:solidFill>
              <a:srgbClr val="2A2E38"/>
            </a:solidFill>
            <a:prstDash val="solid"/>
          </a:ln>
        </p:spPr>
      </p:sp>
      <p:sp>
        <p:nvSpPr>
          <p:cNvPr id="20" name="Key-360"/>
          <p:cNvSpPr/>
          <p:nvPr/>
        </p:nvSpPr>
        <p:spPr>
          <a:xfrm>
            <a:off x="5486400" y="3657600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D166"/>
          </a:solidFill>
          <a:ln/>
        </p:spPr>
      </p:sp>
      <p:sp>
        <p:nvSpPr>
          <p:cNvPr id="21" name="Text-361"/>
          <p:cNvSpPr txBox="1"/>
          <p:nvPr/>
        </p:nvSpPr>
        <p:spPr>
          <a:xfrm>
            <a:off x="5852160" y="3502152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%15</a:t>
            </a:r>
            <a:endParaRPr lang="en-US" sz="2400" dirty="0"/>
          </a:p>
        </p:txBody>
      </p:sp>
      <p:sp>
        <p:nvSpPr>
          <p:cNvPr id="22" name="Text-362"/>
          <p:cNvSpPr txBox="1"/>
          <p:nvPr/>
        </p:nvSpPr>
        <p:spPr>
          <a:xfrm>
            <a:off x="6858000" y="3520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Kelime-Resim (vizyon B)</a:t>
            </a:r>
            <a:endParaRPr lang="en-US" sz="1400" dirty="0"/>
          </a:p>
        </p:txBody>
      </p:sp>
      <p:sp>
        <p:nvSpPr>
          <p:cNvPr id="23" name="Text-363"/>
          <p:cNvSpPr txBox="1"/>
          <p:nvPr/>
        </p:nvSpPr>
        <p:spPr>
          <a:xfrm>
            <a:off x="6858000" y="380390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 kelime, DE/TR/EN ses, kurs pilotu</a:t>
            </a:r>
            <a:endParaRPr lang="en-US" sz="1100" dirty="0"/>
          </a:p>
        </p:txBody>
      </p:sp>
      <p:sp>
        <p:nvSpPr>
          <p:cNvPr id="24" name="Text-364"/>
          <p:cNvSpPr txBox="1"/>
          <p:nvPr/>
        </p:nvSpPr>
        <p:spPr>
          <a:xfrm>
            <a:off x="9905695" y="350215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37.500 €</a:t>
            </a:r>
            <a:endParaRPr lang="en-US" sz="1800" dirty="0"/>
          </a:p>
        </p:txBody>
      </p:sp>
      <p:sp>
        <p:nvSpPr>
          <p:cNvPr id="25" name="Rule-365"/>
          <p:cNvSpPr/>
          <p:nvPr/>
        </p:nvSpPr>
        <p:spPr>
          <a:xfrm>
            <a:off x="5486400" y="4178808"/>
            <a:ext cx="6156655" cy="0"/>
          </a:xfrm>
          <a:prstGeom prst="line">
            <a:avLst/>
          </a:prstGeom>
          <a:noFill/>
          <a:ln w="9525">
            <a:solidFill>
              <a:srgbClr val="2A2E38"/>
            </a:solidFill>
            <a:prstDash val="solid"/>
          </a:ln>
        </p:spPr>
      </p:sp>
      <p:sp>
        <p:nvSpPr>
          <p:cNvPr id="26" name="Key-366"/>
          <p:cNvSpPr/>
          <p:nvPr/>
        </p:nvSpPr>
        <p:spPr>
          <a:xfrm>
            <a:off x="5486400" y="4425696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6CC4FF"/>
          </a:solidFill>
          <a:ln/>
        </p:spPr>
      </p:sp>
      <p:sp>
        <p:nvSpPr>
          <p:cNvPr id="27" name="Text-367"/>
          <p:cNvSpPr txBox="1"/>
          <p:nvPr/>
        </p:nvSpPr>
        <p:spPr>
          <a:xfrm>
            <a:off x="5852160" y="4270248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%10</a:t>
            </a:r>
            <a:endParaRPr lang="en-US" sz="2400" dirty="0"/>
          </a:p>
        </p:txBody>
      </p:sp>
      <p:sp>
        <p:nvSpPr>
          <p:cNvPr id="28" name="Text-368"/>
          <p:cNvSpPr txBox="1"/>
          <p:nvPr/>
        </p:nvSpPr>
        <p:spPr>
          <a:xfrm>
            <a:off x="6858000" y="428853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Hukuk, marka, veri koruma</a:t>
            </a:r>
            <a:endParaRPr lang="en-US" sz="1400" dirty="0"/>
          </a:p>
        </p:txBody>
      </p:sp>
      <p:sp>
        <p:nvSpPr>
          <p:cNvPr id="29" name="Text-369"/>
          <p:cNvSpPr txBox="1"/>
          <p:nvPr/>
        </p:nvSpPr>
        <p:spPr>
          <a:xfrm>
            <a:off x="6858000" y="4572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Marka DE/AB/TR, KVKK/GDPR, sözleşmeler</a:t>
            </a:r>
            <a:endParaRPr lang="en-US" sz="1100" dirty="0"/>
          </a:p>
        </p:txBody>
      </p:sp>
      <p:sp>
        <p:nvSpPr>
          <p:cNvPr id="30" name="Text-370"/>
          <p:cNvSpPr txBox="1"/>
          <p:nvPr/>
        </p:nvSpPr>
        <p:spPr>
          <a:xfrm>
            <a:off x="9905695" y="427024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25.000 €</a:t>
            </a:r>
            <a:endParaRPr lang="en-US" sz="1800" dirty="0"/>
          </a:p>
        </p:txBody>
      </p:sp>
      <p:sp>
        <p:nvSpPr>
          <p:cNvPr id="31" name="Rule-371"/>
          <p:cNvSpPr/>
          <p:nvPr/>
        </p:nvSpPr>
        <p:spPr>
          <a:xfrm>
            <a:off x="5486400" y="4946904"/>
            <a:ext cx="6156655" cy="0"/>
          </a:xfrm>
          <a:prstGeom prst="line">
            <a:avLst/>
          </a:prstGeom>
          <a:noFill/>
          <a:ln w="9525">
            <a:solidFill>
              <a:srgbClr val="2A2E38"/>
            </a:solidFill>
            <a:prstDash val="solid"/>
          </a:ln>
        </p:spPr>
      </p:sp>
      <p:sp>
        <p:nvSpPr>
          <p:cNvPr id="32" name="Key-372"/>
          <p:cNvSpPr/>
          <p:nvPr/>
        </p:nvSpPr>
        <p:spPr>
          <a:xfrm>
            <a:off x="5486400" y="5193792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5A6070"/>
          </a:solidFill>
          <a:ln/>
        </p:spPr>
      </p:sp>
      <p:sp>
        <p:nvSpPr>
          <p:cNvPr id="33" name="Text-373"/>
          <p:cNvSpPr txBox="1"/>
          <p:nvPr/>
        </p:nvSpPr>
        <p:spPr>
          <a:xfrm>
            <a:off x="5852160" y="5038344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%5</a:t>
            </a:r>
            <a:endParaRPr lang="en-US" sz="2400" dirty="0"/>
          </a:p>
        </p:txBody>
      </p:sp>
      <p:sp>
        <p:nvSpPr>
          <p:cNvPr id="34" name="Text-374"/>
          <p:cNvSpPr txBox="1"/>
          <p:nvPr/>
        </p:nvSpPr>
        <p:spPr>
          <a:xfrm>
            <a:off x="6858000" y="50566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Yedek</a:t>
            </a:r>
            <a:endParaRPr lang="en-US" sz="1400" dirty="0"/>
          </a:p>
        </p:txBody>
      </p:sp>
      <p:sp>
        <p:nvSpPr>
          <p:cNvPr id="35" name="Text-375"/>
          <p:cNvSpPr txBox="1"/>
          <p:nvPr/>
        </p:nvSpPr>
        <p:spPr>
          <a:xfrm>
            <a:off x="6858000" y="534009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planlanmamış</a:t>
            </a:r>
            <a:endParaRPr lang="en-US" sz="1100" dirty="0"/>
          </a:p>
        </p:txBody>
      </p:sp>
      <p:sp>
        <p:nvSpPr>
          <p:cNvPr id="36" name="Text-376"/>
          <p:cNvSpPr txBox="1"/>
          <p:nvPr/>
        </p:nvSpPr>
        <p:spPr>
          <a:xfrm>
            <a:off x="9905695" y="503834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12.500 €</a:t>
            </a:r>
            <a:endParaRPr lang="en-US" sz="1800" dirty="0"/>
          </a:p>
        </p:txBody>
      </p:sp>
      <p:sp>
        <p:nvSpPr>
          <p:cNvPr id="37" name="Text-377"/>
          <p:cNvSpPr txBox="1"/>
          <p:nvPr/>
        </p:nvSpPr>
        <p:spPr>
          <a:xfrm>
            <a:off x="5486400" y="5852160"/>
            <a:ext cx="6156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Kaynak: LiveFX_Finanzmodell.xlsx, Mittelverwendung sayfası. Hikâye motoru, otomatik kurgu ve VR sonraki tura kalır.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LIVEFX / FİNANSALLAR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Baz: 2. yılda FAVÖK pozitif, 5. yılda 3,2 milyon € gelir</a:t>
            </a:r>
            <a:endParaRPr lang="en-US" sz="3200" dirty="0"/>
          </a:p>
        </p:txBody>
      </p:sp>
      <p:graphicFrame>
        <p:nvGraphicFramePr>
          <p:cNvPr id="4" name="PnL-chart" descr=""/>
          <p:cNvGraphicFramePr/>
          <p:nvPr/>
        </p:nvGraphicFramePr>
        <p:xfrm>
          <a:off x="548640" y="1463040"/>
          <a:ext cx="64008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-378"/>
          <p:cNvSpPr txBox="1"/>
          <p:nvPr/>
        </p:nvSpPr>
        <p:spPr>
          <a:xfrm>
            <a:off x="548640" y="5230368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Baz FAVÖK</a:t>
            </a:r>
            <a:endParaRPr lang="en-US" sz="1100" dirty="0"/>
          </a:p>
        </p:txBody>
      </p:sp>
      <p:sp>
        <p:nvSpPr>
          <p:cNvPr id="6" name="Text-379"/>
          <p:cNvSpPr txBox="1"/>
          <p:nvPr/>
        </p:nvSpPr>
        <p:spPr>
          <a:xfrm>
            <a:off x="2423160" y="5230368"/>
            <a:ext cx="4572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−116 / +41 / +328 / +919 / +1.661 bin €</a:t>
            </a:r>
            <a:endParaRPr lang="en-US" sz="1100" dirty="0"/>
          </a:p>
        </p:txBody>
      </p:sp>
      <p:sp>
        <p:nvSpPr>
          <p:cNvPr id="7" name="Text-380"/>
          <p:cNvSpPr txBox="1"/>
          <p:nvPr/>
        </p:nvSpPr>
        <p:spPr>
          <a:xfrm>
            <a:off x="548640" y="5495544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Temkinli</a:t>
            </a:r>
            <a:endParaRPr lang="en-US" sz="1100" dirty="0"/>
          </a:p>
        </p:txBody>
      </p:sp>
      <p:sp>
        <p:nvSpPr>
          <p:cNvPr id="8" name="Text-381"/>
          <p:cNvSpPr txBox="1"/>
          <p:nvPr/>
        </p:nvSpPr>
        <p:spPr>
          <a:xfrm>
            <a:off x="2423160" y="5495544"/>
            <a:ext cx="4572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−148 / −114 / −59 / +36 / +147 bin €</a:t>
            </a:r>
            <a:endParaRPr lang="en-US" sz="1100" dirty="0"/>
          </a:p>
        </p:txBody>
      </p:sp>
      <p:sp>
        <p:nvSpPr>
          <p:cNvPr id="9" name="Text-382"/>
          <p:cNvSpPr txBox="1"/>
          <p:nvPr/>
        </p:nvSpPr>
        <p:spPr>
          <a:xfrm>
            <a:off x="548640" y="5760720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İyimser</a:t>
            </a:r>
            <a:endParaRPr lang="en-US" sz="1100" dirty="0"/>
          </a:p>
        </p:txBody>
      </p:sp>
      <p:sp>
        <p:nvSpPr>
          <p:cNvPr id="10" name="Text-383"/>
          <p:cNvSpPr txBox="1"/>
          <p:nvPr/>
        </p:nvSpPr>
        <p:spPr>
          <a:xfrm>
            <a:off x="2423160" y="5760720"/>
            <a:ext cx="4572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−48 / +496 / +1.499 / +3.178 / +5.134 bin €</a:t>
            </a:r>
            <a:endParaRPr lang="en-US" sz="1100" dirty="0"/>
          </a:p>
        </p:txBody>
      </p:sp>
      <p:sp>
        <p:nvSpPr>
          <p:cNvPr id="11" name="Card-384"/>
          <p:cNvSpPr/>
          <p:nvPr/>
        </p:nvSpPr>
        <p:spPr>
          <a:xfrm>
            <a:off x="7223760" y="1463040"/>
            <a:ext cx="4419295" cy="4526280"/>
          </a:xfrm>
          <a:prstGeom prst="roundRect">
            <a:avLst>
              <a:gd name="adj" fmla="val 2483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2" name="Text-385"/>
          <p:cNvSpPr txBox="1"/>
          <p:nvPr/>
        </p:nvSpPr>
        <p:spPr>
          <a:xfrm>
            <a:off x="7452360" y="1600200"/>
            <a:ext cx="3962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Senaryoya göre nakit (bin €)</a:t>
            </a:r>
            <a:endParaRPr lang="en-US" sz="1500" dirty="0"/>
          </a:p>
        </p:txBody>
      </p:sp>
      <p:sp>
        <p:nvSpPr>
          <p:cNvPr id="13" name="Text-386"/>
          <p:cNvSpPr txBox="1"/>
          <p:nvPr/>
        </p:nvSpPr>
        <p:spPr>
          <a:xfrm>
            <a:off x="8778240" y="2011680"/>
            <a:ext cx="6590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ay</a:t>
            </a:r>
            <a:endParaRPr lang="en-US" sz="1000" dirty="0"/>
          </a:p>
        </p:txBody>
      </p:sp>
      <p:sp>
        <p:nvSpPr>
          <p:cNvPr id="14" name="Text-387"/>
          <p:cNvSpPr txBox="1"/>
          <p:nvPr/>
        </p:nvSpPr>
        <p:spPr>
          <a:xfrm>
            <a:off x="9437294" y="2011680"/>
            <a:ext cx="6590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ay</a:t>
            </a:r>
            <a:endParaRPr lang="en-US" sz="1000" dirty="0"/>
          </a:p>
        </p:txBody>
      </p:sp>
      <p:sp>
        <p:nvSpPr>
          <p:cNvPr id="15" name="Text-388"/>
          <p:cNvSpPr txBox="1"/>
          <p:nvPr/>
        </p:nvSpPr>
        <p:spPr>
          <a:xfrm>
            <a:off x="10096348" y="2011680"/>
            <a:ext cx="6590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 ay</a:t>
            </a:r>
            <a:endParaRPr lang="en-US" sz="1000" dirty="0"/>
          </a:p>
        </p:txBody>
      </p:sp>
      <p:sp>
        <p:nvSpPr>
          <p:cNvPr id="16" name="Text-389"/>
          <p:cNvSpPr txBox="1"/>
          <p:nvPr/>
        </p:nvSpPr>
        <p:spPr>
          <a:xfrm>
            <a:off x="10755401" y="2011680"/>
            <a:ext cx="6590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 ay</a:t>
            </a:r>
            <a:endParaRPr lang="en-US" sz="1000" dirty="0"/>
          </a:p>
        </p:txBody>
      </p:sp>
      <p:sp>
        <p:nvSpPr>
          <p:cNvPr id="17" name="Rule-390"/>
          <p:cNvSpPr/>
          <p:nvPr/>
        </p:nvSpPr>
        <p:spPr>
          <a:xfrm>
            <a:off x="7452360" y="2340864"/>
            <a:ext cx="3962095" cy="0"/>
          </a:xfrm>
          <a:prstGeom prst="line">
            <a:avLst/>
          </a:prstGeom>
          <a:noFill/>
          <a:ln w="9525">
            <a:solidFill>
              <a:srgbClr val="2A2E38"/>
            </a:solidFill>
            <a:prstDash val="solid"/>
          </a:ln>
        </p:spPr>
      </p:sp>
      <p:sp>
        <p:nvSpPr>
          <p:cNvPr id="18" name="Text-391"/>
          <p:cNvSpPr txBox="1"/>
          <p:nvPr/>
        </p:nvSpPr>
        <p:spPr>
          <a:xfrm>
            <a:off x="7452360" y="234086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Gelirsiz</a:t>
            </a:r>
            <a:endParaRPr lang="en-US" sz="1100" dirty="0"/>
          </a:p>
        </p:txBody>
      </p:sp>
      <p:sp>
        <p:nvSpPr>
          <p:cNvPr id="19" name="Text-392"/>
          <p:cNvSpPr txBox="1"/>
          <p:nvPr/>
        </p:nvSpPr>
        <p:spPr>
          <a:xfrm>
            <a:off x="8778240" y="2340864"/>
            <a:ext cx="6590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179</a:t>
            </a:r>
            <a:endParaRPr lang="en-US" sz="1100" dirty="0"/>
          </a:p>
        </p:txBody>
      </p:sp>
      <p:sp>
        <p:nvSpPr>
          <p:cNvPr id="20" name="Text-393"/>
          <p:cNvSpPr txBox="1"/>
          <p:nvPr/>
        </p:nvSpPr>
        <p:spPr>
          <a:xfrm>
            <a:off x="9437294" y="2340864"/>
            <a:ext cx="6590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</a:t>
            </a:r>
            <a:endParaRPr lang="en-US" sz="1100" dirty="0"/>
          </a:p>
        </p:txBody>
      </p:sp>
      <p:sp>
        <p:nvSpPr>
          <p:cNvPr id="21" name="Text-394"/>
          <p:cNvSpPr txBox="1"/>
          <p:nvPr/>
        </p:nvSpPr>
        <p:spPr>
          <a:xfrm>
            <a:off x="10096348" y="2340864"/>
            <a:ext cx="6590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22" name="Text-395"/>
          <p:cNvSpPr txBox="1"/>
          <p:nvPr/>
        </p:nvSpPr>
        <p:spPr>
          <a:xfrm>
            <a:off x="10755401" y="2340864"/>
            <a:ext cx="6590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−63</a:t>
            </a:r>
            <a:endParaRPr lang="en-US" sz="1100" dirty="0"/>
          </a:p>
        </p:txBody>
      </p:sp>
      <p:sp>
        <p:nvSpPr>
          <p:cNvPr id="23" name="Rule-396"/>
          <p:cNvSpPr/>
          <p:nvPr/>
        </p:nvSpPr>
        <p:spPr>
          <a:xfrm>
            <a:off x="7452360" y="2670048"/>
            <a:ext cx="3962095" cy="0"/>
          </a:xfrm>
          <a:prstGeom prst="line">
            <a:avLst/>
          </a:prstGeom>
          <a:noFill/>
          <a:ln w="9525">
            <a:solidFill>
              <a:srgbClr val="2A2E38"/>
            </a:solidFill>
            <a:prstDash val="solid"/>
          </a:ln>
        </p:spPr>
      </p:sp>
      <p:sp>
        <p:nvSpPr>
          <p:cNvPr id="24" name="Text-397"/>
          <p:cNvSpPr txBox="1"/>
          <p:nvPr/>
        </p:nvSpPr>
        <p:spPr>
          <a:xfrm>
            <a:off x="7452360" y="2670048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Temkinli</a:t>
            </a:r>
            <a:endParaRPr lang="en-US" sz="1100" dirty="0"/>
          </a:p>
        </p:txBody>
      </p:sp>
      <p:sp>
        <p:nvSpPr>
          <p:cNvPr id="25" name="Text-398"/>
          <p:cNvSpPr txBox="1"/>
          <p:nvPr/>
        </p:nvSpPr>
        <p:spPr>
          <a:xfrm>
            <a:off x="8778240" y="2670048"/>
            <a:ext cx="6590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183</a:t>
            </a:r>
            <a:endParaRPr lang="en-US" sz="1100" dirty="0"/>
          </a:p>
        </p:txBody>
      </p:sp>
      <p:sp>
        <p:nvSpPr>
          <p:cNvPr id="26" name="Text-399"/>
          <p:cNvSpPr txBox="1"/>
          <p:nvPr/>
        </p:nvSpPr>
        <p:spPr>
          <a:xfrm>
            <a:off x="9437294" y="2670048"/>
            <a:ext cx="6590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</a:t>
            </a:r>
            <a:endParaRPr lang="en-US" sz="1100" dirty="0"/>
          </a:p>
        </p:txBody>
      </p:sp>
      <p:sp>
        <p:nvSpPr>
          <p:cNvPr id="27" name="Text-400"/>
          <p:cNvSpPr txBox="1"/>
          <p:nvPr/>
        </p:nvSpPr>
        <p:spPr>
          <a:xfrm>
            <a:off x="10096348" y="2670048"/>
            <a:ext cx="6590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1100" dirty="0"/>
          </a:p>
        </p:txBody>
      </p:sp>
      <p:sp>
        <p:nvSpPr>
          <p:cNvPr id="28" name="Text-401"/>
          <p:cNvSpPr txBox="1"/>
          <p:nvPr/>
        </p:nvSpPr>
        <p:spPr>
          <a:xfrm>
            <a:off x="10755401" y="2670048"/>
            <a:ext cx="6590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−11</a:t>
            </a:r>
            <a:endParaRPr lang="en-US" sz="1100" dirty="0"/>
          </a:p>
        </p:txBody>
      </p:sp>
      <p:sp>
        <p:nvSpPr>
          <p:cNvPr id="29" name="Rule-402"/>
          <p:cNvSpPr/>
          <p:nvPr/>
        </p:nvSpPr>
        <p:spPr>
          <a:xfrm>
            <a:off x="7452360" y="2999232"/>
            <a:ext cx="3962095" cy="0"/>
          </a:xfrm>
          <a:prstGeom prst="line">
            <a:avLst/>
          </a:prstGeom>
          <a:noFill/>
          <a:ln w="9525">
            <a:solidFill>
              <a:srgbClr val="2A2E38"/>
            </a:solidFill>
            <a:prstDash val="solid"/>
          </a:ln>
        </p:spPr>
      </p:sp>
      <p:sp>
        <p:nvSpPr>
          <p:cNvPr id="30" name="Text-403"/>
          <p:cNvSpPr txBox="1"/>
          <p:nvPr/>
        </p:nvSpPr>
        <p:spPr>
          <a:xfrm>
            <a:off x="7452360" y="2999232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Baz</a:t>
            </a:r>
            <a:endParaRPr lang="en-US" sz="1100" dirty="0"/>
          </a:p>
        </p:txBody>
      </p:sp>
      <p:sp>
        <p:nvSpPr>
          <p:cNvPr id="31" name="Text-404"/>
          <p:cNvSpPr txBox="1"/>
          <p:nvPr/>
        </p:nvSpPr>
        <p:spPr>
          <a:xfrm>
            <a:off x="8778240" y="2999232"/>
            <a:ext cx="6590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191</a:t>
            </a:r>
            <a:endParaRPr lang="en-US" sz="1100" dirty="0"/>
          </a:p>
        </p:txBody>
      </p:sp>
      <p:sp>
        <p:nvSpPr>
          <p:cNvPr id="32" name="Text-405"/>
          <p:cNvSpPr txBox="1"/>
          <p:nvPr/>
        </p:nvSpPr>
        <p:spPr>
          <a:xfrm>
            <a:off x="9437294" y="2999232"/>
            <a:ext cx="6590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134</a:t>
            </a:r>
            <a:endParaRPr lang="en-US" sz="1100" dirty="0"/>
          </a:p>
        </p:txBody>
      </p:sp>
      <p:sp>
        <p:nvSpPr>
          <p:cNvPr id="33" name="Text-406"/>
          <p:cNvSpPr txBox="1"/>
          <p:nvPr/>
        </p:nvSpPr>
        <p:spPr>
          <a:xfrm>
            <a:off x="10096348" y="2999232"/>
            <a:ext cx="6590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146</a:t>
            </a:r>
            <a:endParaRPr lang="en-US" sz="1100" dirty="0"/>
          </a:p>
        </p:txBody>
      </p:sp>
      <p:sp>
        <p:nvSpPr>
          <p:cNvPr id="34" name="Text-407"/>
          <p:cNvSpPr txBox="1"/>
          <p:nvPr/>
        </p:nvSpPr>
        <p:spPr>
          <a:xfrm>
            <a:off x="10755401" y="2999232"/>
            <a:ext cx="6590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175</a:t>
            </a:r>
            <a:endParaRPr lang="en-US" sz="1100" dirty="0"/>
          </a:p>
        </p:txBody>
      </p:sp>
      <p:sp>
        <p:nvSpPr>
          <p:cNvPr id="35" name="Rule-408"/>
          <p:cNvSpPr/>
          <p:nvPr/>
        </p:nvSpPr>
        <p:spPr>
          <a:xfrm>
            <a:off x="7452360" y="3328416"/>
            <a:ext cx="3962095" cy="0"/>
          </a:xfrm>
          <a:prstGeom prst="line">
            <a:avLst/>
          </a:prstGeom>
          <a:noFill/>
          <a:ln w="9525">
            <a:solidFill>
              <a:srgbClr val="2A2E38"/>
            </a:solidFill>
            <a:prstDash val="solid"/>
          </a:ln>
        </p:spPr>
      </p:sp>
      <p:sp>
        <p:nvSpPr>
          <p:cNvPr id="36" name="Text-409"/>
          <p:cNvSpPr txBox="1"/>
          <p:nvPr/>
        </p:nvSpPr>
        <p:spPr>
          <a:xfrm>
            <a:off x="7452360" y="3328416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İyimser</a:t>
            </a:r>
            <a:endParaRPr lang="en-US" sz="1100" dirty="0"/>
          </a:p>
        </p:txBody>
      </p:sp>
      <p:sp>
        <p:nvSpPr>
          <p:cNvPr id="37" name="Text-410"/>
          <p:cNvSpPr txBox="1"/>
          <p:nvPr/>
        </p:nvSpPr>
        <p:spPr>
          <a:xfrm>
            <a:off x="8778240" y="3328416"/>
            <a:ext cx="6590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208</a:t>
            </a:r>
            <a:endParaRPr lang="en-US" sz="1100" dirty="0"/>
          </a:p>
        </p:txBody>
      </p:sp>
      <p:sp>
        <p:nvSpPr>
          <p:cNvPr id="38" name="Text-411"/>
          <p:cNvSpPr txBox="1"/>
          <p:nvPr/>
        </p:nvSpPr>
        <p:spPr>
          <a:xfrm>
            <a:off x="9437294" y="3328416"/>
            <a:ext cx="6590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</a:t>
            </a:r>
            <a:endParaRPr lang="en-US" sz="1100" dirty="0"/>
          </a:p>
        </p:txBody>
      </p:sp>
      <p:sp>
        <p:nvSpPr>
          <p:cNvPr id="39" name="Text-412"/>
          <p:cNvSpPr txBox="1"/>
          <p:nvPr/>
        </p:nvSpPr>
        <p:spPr>
          <a:xfrm>
            <a:off x="10096348" y="3328416"/>
            <a:ext cx="6590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369</a:t>
            </a:r>
            <a:endParaRPr lang="en-US" sz="1100" dirty="0"/>
          </a:p>
        </p:txBody>
      </p:sp>
      <p:sp>
        <p:nvSpPr>
          <p:cNvPr id="40" name="Text-413"/>
          <p:cNvSpPr txBox="1"/>
          <p:nvPr/>
        </p:nvSpPr>
        <p:spPr>
          <a:xfrm>
            <a:off x="10755401" y="3328416"/>
            <a:ext cx="6590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698</a:t>
            </a:r>
            <a:endParaRPr lang="en-US" sz="1100" dirty="0"/>
          </a:p>
        </p:txBody>
      </p:sp>
      <p:sp>
        <p:nvSpPr>
          <p:cNvPr id="41" name="Text-414"/>
          <p:cNvSpPr txBox="1"/>
          <p:nvPr/>
        </p:nvSpPr>
        <p:spPr>
          <a:xfrm>
            <a:off x="7452360" y="3703320"/>
            <a:ext cx="3962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Sonraki tur hariç. Başabaş: baz 22. ay, iyimser 10. ay.</a:t>
            </a:r>
            <a:endParaRPr lang="en-US" sz="900" dirty="0"/>
          </a:p>
        </p:txBody>
      </p:sp>
      <p:sp>
        <p:nvSpPr>
          <p:cNvPr id="42" name="Text-415"/>
          <p:cNvSpPr txBox="1"/>
          <p:nvPr/>
        </p:nvSpPr>
        <p:spPr>
          <a:xfrm>
            <a:off x="7452360" y="4069080"/>
            <a:ext cx="39620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ay</a:t>
            </a:r>
            <a:endParaRPr lang="en-US" sz="2400" dirty="0"/>
          </a:p>
        </p:txBody>
      </p:sp>
      <p:sp>
        <p:nvSpPr>
          <p:cNvPr id="43" name="Text-416"/>
          <p:cNvSpPr txBox="1"/>
          <p:nvPr/>
        </p:nvSpPr>
        <p:spPr>
          <a:xfrm>
            <a:off x="7452360" y="4489704"/>
            <a:ext cx="39620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hiç gelir olmasa bile nakit ömrü (temkinli: 22)</a:t>
            </a:r>
            <a:endParaRPr lang="en-US" sz="1100" dirty="0"/>
          </a:p>
        </p:txBody>
      </p:sp>
      <p:sp>
        <p:nvSpPr>
          <p:cNvPr id="44" name="Text-417"/>
          <p:cNvSpPr txBox="1"/>
          <p:nvPr/>
        </p:nvSpPr>
        <p:spPr>
          <a:xfrm>
            <a:off x="7452360" y="4983480"/>
            <a:ext cx="39620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350 bin € seed</a:t>
            </a:r>
            <a:endParaRPr lang="en-US" sz="2400" dirty="0"/>
          </a:p>
        </p:txBody>
      </p:sp>
      <p:sp>
        <p:nvSpPr>
          <p:cNvPr id="45" name="Text-418"/>
          <p:cNvSpPr txBox="1"/>
          <p:nvPr/>
        </p:nvSpPr>
        <p:spPr>
          <a:xfrm>
            <a:off x="7452360" y="5404104"/>
            <a:ext cx="39620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planlama büyüklüğü, 2. kapıdan sonra 18. aya kadar</a:t>
            </a:r>
            <a:endParaRPr lang="en-US" sz="1100" dirty="0"/>
          </a:p>
        </p:txBody>
      </p:sp>
      <p:sp>
        <p:nvSpPr>
          <p:cNvPr id="46" name="Text-419"/>
          <p:cNvSpPr txBox="1"/>
          <p:nvPr/>
        </p:nvSpPr>
        <p:spPr>
          <a:xfrm>
            <a:off x="548640" y="605332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Kaynak: LiveFX_Finanzmodell.xlsx (5 yıllık gelir tablosu, nakit akışı, sonraki tur) · 1.–3. yıl gelir BUSINESSPLAN.tr.md §11.1 · senaryolar öngörü değildir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LIVEFX / DEĞERLEME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Kurucu teklifi: 2,25 milyon € değerleme, 250 bin €’ya %10</a:t>
            </a:r>
            <a:endParaRPr lang="en-US" sz="3200" dirty="0"/>
          </a:p>
        </p:txBody>
      </p:sp>
      <p:sp>
        <p:nvSpPr>
          <p:cNvPr id="4" name="Pill-420"/>
          <p:cNvSpPr txBox="1"/>
          <p:nvPr/>
        </p:nvSpPr>
        <p:spPr>
          <a:xfrm>
            <a:off x="6522415" y="347472"/>
            <a:ext cx="5120640" cy="29260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5875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PAZARLIK ARALIĞI – VERGI/HUKUK DANIŞMANIYLA KONTROL EDIN</a:t>
            </a:r>
            <a:endParaRPr lang="en-US" sz="850" dirty="0"/>
          </a:p>
        </p:txBody>
      </p:sp>
      <p:sp>
        <p:nvSpPr>
          <p:cNvPr id="5" name="Text-421"/>
          <p:cNvSpPr txBox="1"/>
          <p:nvPr/>
        </p:nvSpPr>
        <p:spPr>
          <a:xfrm>
            <a:off x="548640" y="146304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REFERANS YÖNTEMLER (YATIRIMCI GÖRÜŞÜ) · YATIRIM ÖNCESİ</a:t>
            </a:r>
            <a:endParaRPr lang="en-US" sz="1100" dirty="0"/>
          </a:p>
        </p:txBody>
      </p:sp>
      <p:sp>
        <p:nvSpPr>
          <p:cNvPr id="6" name="Text-422"/>
          <p:cNvSpPr txBox="1"/>
          <p:nvPr/>
        </p:nvSpPr>
        <p:spPr>
          <a:xfrm>
            <a:off x="548640" y="181051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Berkus (2× varyantı)</a:t>
            </a:r>
            <a:endParaRPr lang="en-US" sz="1300" dirty="0"/>
          </a:p>
        </p:txBody>
      </p:sp>
      <p:sp>
        <p:nvSpPr>
          <p:cNvPr id="7" name="Track-423"/>
          <p:cNvSpPr/>
          <p:nvPr/>
        </p:nvSpPr>
        <p:spPr>
          <a:xfrm>
            <a:off x="2514600" y="1847088"/>
            <a:ext cx="3154680" cy="256032"/>
          </a:xfrm>
          <a:prstGeom prst="roundRect">
            <a:avLst>
              <a:gd name="adj" fmla="val 17857"/>
            </a:avLst>
          </a:prstGeom>
          <a:solidFill>
            <a:schemeClr val="tx2"/>
          </a:solidFill>
          <a:ln/>
        </p:spPr>
      </p:sp>
      <p:sp>
        <p:nvSpPr>
          <p:cNvPr id="8" name="Bar-424"/>
          <p:cNvSpPr/>
          <p:nvPr/>
        </p:nvSpPr>
        <p:spPr>
          <a:xfrm>
            <a:off x="2514600" y="1847088"/>
            <a:ext cx="2471166" cy="256032"/>
          </a:xfrm>
          <a:prstGeom prst="roundRect">
            <a:avLst>
              <a:gd name="adj" fmla="val 17857"/>
            </a:avLst>
          </a:prstGeom>
          <a:solidFill>
            <a:srgbClr val="2DFFB5"/>
          </a:solidFill>
          <a:ln/>
        </p:spPr>
      </p:sp>
      <p:sp>
        <p:nvSpPr>
          <p:cNvPr id="9" name="Text-425"/>
          <p:cNvSpPr txBox="1"/>
          <p:nvPr/>
        </p:nvSpPr>
        <p:spPr>
          <a:xfrm>
            <a:off x="5760720" y="181051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2,35 milyon €</a:t>
            </a:r>
            <a:endParaRPr lang="en-US" sz="1300" dirty="0"/>
          </a:p>
        </p:txBody>
      </p:sp>
      <p:sp>
        <p:nvSpPr>
          <p:cNvPr id="10" name="Text-426"/>
          <p:cNvSpPr txBox="1"/>
          <p:nvPr/>
        </p:nvSpPr>
        <p:spPr>
          <a:xfrm>
            <a:off x="548640" y="214884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 biri en fazla 1 milyon € 5 faktör: ürün 0,8, fikir 0,7, ekip 0,5, ilişkiler 0,25, gelir 0,1</a:t>
            </a:r>
            <a:endParaRPr lang="en-US" sz="900" dirty="0"/>
          </a:p>
        </p:txBody>
      </p:sp>
      <p:sp>
        <p:nvSpPr>
          <p:cNvPr id="11" name="Text-427"/>
          <p:cNvSpPr txBox="1"/>
          <p:nvPr/>
        </p:nvSpPr>
        <p:spPr>
          <a:xfrm>
            <a:off x="548640" y="252374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Scorecard</a:t>
            </a:r>
            <a:endParaRPr lang="en-US" sz="1300" dirty="0"/>
          </a:p>
        </p:txBody>
      </p:sp>
      <p:sp>
        <p:nvSpPr>
          <p:cNvPr id="12" name="Track-428"/>
          <p:cNvSpPr/>
          <p:nvPr/>
        </p:nvSpPr>
        <p:spPr>
          <a:xfrm>
            <a:off x="2514600" y="2560320"/>
            <a:ext cx="3154680" cy="256032"/>
          </a:xfrm>
          <a:prstGeom prst="roundRect">
            <a:avLst>
              <a:gd name="adj" fmla="val 17857"/>
            </a:avLst>
          </a:prstGeom>
          <a:solidFill>
            <a:schemeClr val="tx2"/>
          </a:solidFill>
          <a:ln/>
        </p:spPr>
      </p:sp>
      <p:sp>
        <p:nvSpPr>
          <p:cNvPr id="13" name="Bar-429"/>
          <p:cNvSpPr/>
          <p:nvPr/>
        </p:nvSpPr>
        <p:spPr>
          <a:xfrm>
            <a:off x="2514600" y="2560320"/>
            <a:ext cx="3102102" cy="256032"/>
          </a:xfrm>
          <a:prstGeom prst="roundRect">
            <a:avLst>
              <a:gd name="adj" fmla="val 17857"/>
            </a:avLst>
          </a:prstGeom>
          <a:solidFill>
            <a:srgbClr val="FFD166"/>
          </a:solidFill>
          <a:ln/>
        </p:spPr>
      </p:sp>
      <p:sp>
        <p:nvSpPr>
          <p:cNvPr id="14" name="Text-430"/>
          <p:cNvSpPr txBox="1"/>
          <p:nvPr/>
        </p:nvSpPr>
        <p:spPr>
          <a:xfrm>
            <a:off x="5760720" y="252374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2,95 milyon €</a:t>
            </a:r>
            <a:endParaRPr lang="en-US" sz="1300" dirty="0"/>
          </a:p>
        </p:txBody>
      </p:sp>
      <p:sp>
        <p:nvSpPr>
          <p:cNvPr id="15" name="Text-431"/>
          <p:cNvSpPr txBox="1"/>
          <p:nvPr/>
        </p:nvSpPr>
        <p:spPr>
          <a:xfrm>
            <a:off x="548640" y="286207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referans 2,5 milyon € (DACH aralığı 1,5–5 milyon €’nun alt kısmı, AB medyanı ~4,2 milyon €’nun altında) × 1,18</a:t>
            </a:r>
            <a:endParaRPr lang="en-US" sz="900" dirty="0"/>
          </a:p>
        </p:txBody>
      </p:sp>
      <p:sp>
        <p:nvSpPr>
          <p:cNvPr id="16" name="Text-432"/>
          <p:cNvSpPr txBox="1"/>
          <p:nvPr/>
        </p:nvSpPr>
        <p:spPr>
          <a:xfrm>
            <a:off x="548640" y="323697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VC yöntemi (iyimser)</a:t>
            </a:r>
            <a:endParaRPr lang="en-US" sz="1300" dirty="0"/>
          </a:p>
        </p:txBody>
      </p:sp>
      <p:sp>
        <p:nvSpPr>
          <p:cNvPr id="17" name="Track-433"/>
          <p:cNvSpPr/>
          <p:nvPr/>
        </p:nvSpPr>
        <p:spPr>
          <a:xfrm>
            <a:off x="2514600" y="3273552"/>
            <a:ext cx="3154680" cy="256032"/>
          </a:xfrm>
          <a:prstGeom prst="roundRect">
            <a:avLst>
              <a:gd name="adj" fmla="val 17857"/>
            </a:avLst>
          </a:prstGeom>
          <a:solidFill>
            <a:schemeClr val="tx2"/>
          </a:solidFill>
          <a:ln/>
        </p:spPr>
      </p:sp>
      <p:sp>
        <p:nvSpPr>
          <p:cNvPr id="18" name="Bar-434"/>
          <p:cNvSpPr/>
          <p:nvPr/>
        </p:nvSpPr>
        <p:spPr>
          <a:xfrm>
            <a:off x="2514600" y="3273552"/>
            <a:ext cx="2555291" cy="256032"/>
          </a:xfrm>
          <a:prstGeom prst="roundRect">
            <a:avLst>
              <a:gd name="adj" fmla="val 17857"/>
            </a:avLst>
          </a:prstGeom>
          <a:solidFill>
            <a:srgbClr val="6CC4FF"/>
          </a:solidFill>
          <a:ln/>
        </p:spPr>
      </p:sp>
      <p:sp>
        <p:nvSpPr>
          <p:cNvPr id="19" name="Text-435"/>
          <p:cNvSpPr txBox="1"/>
          <p:nvPr/>
        </p:nvSpPr>
        <p:spPr>
          <a:xfrm>
            <a:off x="5760720" y="3236976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2,43 milyon €</a:t>
            </a:r>
            <a:endParaRPr lang="en-US" sz="1300" dirty="0"/>
          </a:p>
        </p:txBody>
      </p:sp>
      <p:sp>
        <p:nvSpPr>
          <p:cNvPr id="20" name="Text-436"/>
          <p:cNvSpPr txBox="1"/>
          <p:nvPr/>
        </p:nvSpPr>
        <p:spPr>
          <a:xfrm>
            <a:off x="548640" y="3575304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yıl gelir 7,44 milyon € (iyimser) × 6 = 44,7 milyon € çıkış; 10× getiri, %40 sulandırma</a:t>
            </a:r>
            <a:endParaRPr lang="en-US" sz="900" dirty="0"/>
          </a:p>
        </p:txBody>
      </p:sp>
      <p:sp>
        <p:nvSpPr>
          <p:cNvPr id="21" name="Text-437"/>
          <p:cNvSpPr txBox="1"/>
          <p:nvPr/>
        </p:nvSpPr>
        <p:spPr>
          <a:xfrm>
            <a:off x="548640" y="395020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faktörü toplamı</a:t>
            </a:r>
            <a:endParaRPr lang="en-US" sz="1300" dirty="0"/>
          </a:p>
        </p:txBody>
      </p:sp>
      <p:sp>
        <p:nvSpPr>
          <p:cNvPr id="22" name="Track-438"/>
          <p:cNvSpPr/>
          <p:nvPr/>
        </p:nvSpPr>
        <p:spPr>
          <a:xfrm>
            <a:off x="2514600" y="3986784"/>
            <a:ext cx="3154680" cy="256032"/>
          </a:xfrm>
          <a:prstGeom prst="roundRect">
            <a:avLst>
              <a:gd name="adj" fmla="val 17857"/>
            </a:avLst>
          </a:prstGeom>
          <a:solidFill>
            <a:schemeClr val="tx2"/>
          </a:solidFill>
          <a:ln/>
        </p:spPr>
      </p:sp>
      <p:sp>
        <p:nvSpPr>
          <p:cNvPr id="23" name="Bar-439"/>
          <p:cNvSpPr/>
          <p:nvPr/>
        </p:nvSpPr>
        <p:spPr>
          <a:xfrm>
            <a:off x="2514600" y="3986784"/>
            <a:ext cx="3154680" cy="256032"/>
          </a:xfrm>
          <a:prstGeom prst="roundRect">
            <a:avLst>
              <a:gd name="adj" fmla="val 17857"/>
            </a:avLst>
          </a:prstGeom>
          <a:solidFill>
            <a:srgbClr val="FF2D75"/>
          </a:solidFill>
          <a:ln/>
        </p:spPr>
      </p:sp>
      <p:sp>
        <p:nvSpPr>
          <p:cNvPr id="24" name="Text-440"/>
          <p:cNvSpPr txBox="1"/>
          <p:nvPr/>
        </p:nvSpPr>
        <p:spPr>
          <a:xfrm>
            <a:off x="5760720" y="395020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 milyon €</a:t>
            </a:r>
            <a:endParaRPr lang="en-US" sz="1300" dirty="0"/>
          </a:p>
        </p:txBody>
      </p:sp>
      <p:sp>
        <p:nvSpPr>
          <p:cNvPr id="25" name="Text-441"/>
          <p:cNvSpPr txBox="1"/>
          <p:nvPr/>
        </p:nvSpPr>
        <p:spPr>
          <a:xfrm>
            <a:off x="548640" y="4288536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baz 2,5 milyon € + puanlanan 12 riskten 2 × 250 bin €</a:t>
            </a:r>
            <a:endParaRPr lang="en-US" sz="900" dirty="0"/>
          </a:p>
        </p:txBody>
      </p:sp>
      <p:sp>
        <p:nvSpPr>
          <p:cNvPr id="26" name="Offer-line"/>
          <p:cNvSpPr/>
          <p:nvPr/>
        </p:nvSpPr>
        <p:spPr>
          <a:xfrm>
            <a:off x="4880610" y="1737360"/>
            <a:ext cx="0" cy="2834640"/>
          </a:xfrm>
          <a:prstGeom prst="line">
            <a:avLst/>
          </a:prstGeom>
          <a:noFill/>
          <a:ln w="19050">
            <a:solidFill>
              <a:srgbClr val="FFFFFF"/>
            </a:solidFill>
            <a:prstDash val="dash"/>
          </a:ln>
        </p:spPr>
      </p:sp>
      <p:sp>
        <p:nvSpPr>
          <p:cNvPr id="27" name="Text-442"/>
          <p:cNvSpPr txBox="1"/>
          <p:nvPr/>
        </p:nvSpPr>
        <p:spPr>
          <a:xfrm>
            <a:off x="3417570" y="455371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Teklif 2,25 milyon € – her yöntemin altında</a:t>
            </a:r>
            <a:endParaRPr lang="en-US" sz="1000" dirty="0"/>
          </a:p>
        </p:txBody>
      </p:sp>
      <p:sp>
        <p:nvSpPr>
          <p:cNvPr id="28" name="Text-443"/>
          <p:cNvSpPr txBox="1"/>
          <p:nvPr/>
        </p:nvSpPr>
        <p:spPr>
          <a:xfrm>
            <a:off x="548640" y="484632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Neden 2,25 milyon €</a:t>
            </a:r>
            <a:endParaRPr lang="en-US" sz="1200" dirty="0"/>
          </a:p>
        </p:txBody>
      </p:sp>
      <p:sp>
        <p:nvSpPr>
          <p:cNvPr id="29" name="Text-444"/>
          <p:cNvSpPr txBox="1"/>
          <p:nvPr/>
        </p:nvSpPr>
        <p:spPr>
          <a:xfrm>
            <a:off x="548640" y="5138928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Çalışan ürün v2.1, 575+ otomatik test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Kendi IP: 238 tetikleyici, 143 çıkartma, eşleştirici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Türkçe niş dahil DE/TR/EN</a:t>
            </a:r>
            <a:endParaRPr lang="en-US" sz="1000" dirty="0"/>
          </a:p>
        </p:txBody>
      </p:sp>
      <p:sp>
        <p:nvSpPr>
          <p:cNvPr id="30" name="Text-445"/>
          <p:cNvSpPr txBox="1"/>
          <p:nvPr/>
        </p:nvSpPr>
        <p:spPr>
          <a:xfrm>
            <a:off x="3886200" y="5138928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Tek motorda A–D vizyon seçenekleri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Pazar 97–157 milyar USD; SAM 1–3 milyon yayıncı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v2.1’e kadar dış sermayesiz geliştirildi</a:t>
            </a:r>
            <a:endParaRPr lang="en-US" sz="1000" dirty="0"/>
          </a:p>
        </p:txBody>
      </p:sp>
      <p:sp>
        <p:nvSpPr>
          <p:cNvPr id="31" name="Card-446"/>
          <p:cNvSpPr/>
          <p:nvPr/>
        </p:nvSpPr>
        <p:spPr>
          <a:xfrm>
            <a:off x="7452360" y="1463040"/>
            <a:ext cx="4190695" cy="2743200"/>
          </a:xfrm>
          <a:prstGeom prst="roundRect">
            <a:avLst>
              <a:gd name="adj" fmla="val 4000"/>
            </a:avLst>
          </a:prstGeom>
          <a:solidFill>
            <a:schemeClr val="accent6"/>
          </a:solidFill>
          <a:ln w="15875">
            <a:solidFill>
              <a:srgbClr val="FF2D75"/>
            </a:solidFill>
            <a:prstDash val="solid"/>
          </a:ln>
        </p:spPr>
      </p:sp>
      <p:sp>
        <p:nvSpPr>
          <p:cNvPr id="32" name="Text-447"/>
          <p:cNvSpPr txBox="1"/>
          <p:nvPr/>
        </p:nvSpPr>
        <p:spPr>
          <a:xfrm>
            <a:off x="7680960" y="1600200"/>
            <a:ext cx="3733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KURUCU TEKLİFİ (ÖZSERMAYE TURU)</a:t>
            </a:r>
            <a:endParaRPr lang="en-US" sz="1200" dirty="0"/>
          </a:p>
        </p:txBody>
      </p:sp>
      <p:sp>
        <p:nvSpPr>
          <p:cNvPr id="33" name="Text-448"/>
          <p:cNvSpPr txBox="1"/>
          <p:nvPr/>
        </p:nvSpPr>
        <p:spPr>
          <a:xfrm>
            <a:off x="7680960" y="193852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2,25 milyon €</a:t>
            </a:r>
            <a:endParaRPr lang="en-US" sz="2200" dirty="0"/>
          </a:p>
        </p:txBody>
      </p:sp>
      <p:sp>
        <p:nvSpPr>
          <p:cNvPr id="34" name="Text-449"/>
          <p:cNvSpPr txBox="1"/>
          <p:nvPr/>
        </p:nvSpPr>
        <p:spPr>
          <a:xfrm>
            <a:off x="10058400" y="1938528"/>
            <a:ext cx="13560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yatırım öncesi</a:t>
            </a:r>
            <a:endParaRPr lang="en-US" sz="1200" dirty="0"/>
          </a:p>
        </p:txBody>
      </p:sp>
      <p:sp>
        <p:nvSpPr>
          <p:cNvPr id="35" name="Text-450"/>
          <p:cNvSpPr txBox="1"/>
          <p:nvPr/>
        </p:nvSpPr>
        <p:spPr>
          <a:xfrm>
            <a:off x="7680960" y="265176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2,5 milyon €</a:t>
            </a:r>
            <a:endParaRPr lang="en-US" sz="2200" dirty="0"/>
          </a:p>
        </p:txBody>
      </p:sp>
      <p:sp>
        <p:nvSpPr>
          <p:cNvPr id="36" name="Text-451"/>
          <p:cNvSpPr txBox="1"/>
          <p:nvPr/>
        </p:nvSpPr>
        <p:spPr>
          <a:xfrm>
            <a:off x="10058400" y="2651760"/>
            <a:ext cx="13560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yatırım sonrası</a:t>
            </a:r>
            <a:endParaRPr lang="en-US" sz="1200" dirty="0"/>
          </a:p>
        </p:txBody>
      </p:sp>
      <p:sp>
        <p:nvSpPr>
          <p:cNvPr id="37" name="Text-452"/>
          <p:cNvSpPr txBox="1"/>
          <p:nvPr/>
        </p:nvSpPr>
        <p:spPr>
          <a:xfrm>
            <a:off x="7680960" y="336499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%10</a:t>
            </a:r>
            <a:endParaRPr lang="en-US" sz="3000" dirty="0"/>
          </a:p>
        </p:txBody>
      </p:sp>
      <p:sp>
        <p:nvSpPr>
          <p:cNvPr id="38" name="Text-453"/>
          <p:cNvSpPr txBox="1"/>
          <p:nvPr/>
        </p:nvSpPr>
        <p:spPr>
          <a:xfrm>
            <a:off x="10058400" y="3364992"/>
            <a:ext cx="13560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yatırımcılara · kurucu %90</a:t>
            </a:r>
            <a:endParaRPr lang="en-US" sz="1200" dirty="0"/>
          </a:p>
        </p:txBody>
      </p:sp>
      <p:sp>
        <p:nvSpPr>
          <p:cNvPr id="39" name="Card-454"/>
          <p:cNvSpPr/>
          <p:nvPr/>
        </p:nvSpPr>
        <p:spPr>
          <a:xfrm>
            <a:off x="7452360" y="4343400"/>
            <a:ext cx="4190695" cy="164592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40" name="Text-455"/>
          <p:cNvSpPr txBox="1"/>
          <p:nvPr/>
        </p:nvSpPr>
        <p:spPr>
          <a:xfrm>
            <a:off x="7680960" y="4462272"/>
            <a:ext cx="3733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Alternatif: SAFE / dönüştürülebilir kredi</a:t>
            </a:r>
            <a:endParaRPr lang="en-US" sz="1300" dirty="0"/>
          </a:p>
        </p:txBody>
      </p:sp>
      <p:sp>
        <p:nvSpPr>
          <p:cNvPr id="41" name="Text-456"/>
          <p:cNvSpPr txBox="1"/>
          <p:nvPr/>
        </p:nvSpPr>
        <p:spPr>
          <a:xfrm>
            <a:off x="7680960" y="4791456"/>
            <a:ext cx="37334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Değerleme tavanı 2,25 milyon € (= teklif)</a:t>
            </a:r>
            <a:endParaRPr lang="en-US" sz="11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İskonto %20 (pazarlığa açık %15–20)</a:t>
            </a:r>
            <a:endParaRPr lang="en-US" sz="11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Faizsiz; seed turunda dönüşür</a:t>
            </a:r>
            <a:endParaRPr lang="en-US" sz="11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Tavanda azami pay: %10</a:t>
            </a:r>
            <a:endParaRPr lang="en-US" sz="1100" dirty="0"/>
          </a:p>
        </p:txBody>
      </p:sp>
      <p:sp>
        <p:nvSpPr>
          <p:cNvPr id="42" name="Text-457"/>
          <p:cNvSpPr txBox="1"/>
          <p:nvPr/>
        </p:nvSpPr>
        <p:spPr>
          <a:xfrm>
            <a:off x="548640" y="605332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Kaynak: LiveFX_Finanzmodell.xlsx, Bewertung sayfası (kurucu görüşü; valu.vc, upxcale, Capvisory, Equidam, SaaS Capital, Carta, Lexr, Vektora) · yatırım tavsiyesi değildir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LIVEFX / KİLOMETRE TAŞI KAPILARI – 18 AY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Kanıt kapıdan geçmeden ölçeklendirme yok</a:t>
            </a:r>
            <a:endParaRPr lang="en-US" sz="3200" dirty="0"/>
          </a:p>
        </p:txBody>
      </p:sp>
      <p:sp>
        <p:nvSpPr>
          <p:cNvPr id="4" name="Card-458"/>
          <p:cNvSpPr/>
          <p:nvPr/>
        </p:nvSpPr>
        <p:spPr>
          <a:xfrm>
            <a:off x="548640" y="2697480"/>
            <a:ext cx="2636444" cy="2971800"/>
          </a:xfrm>
          <a:prstGeom prst="roundRect">
            <a:avLst>
              <a:gd name="adj" fmla="val 4162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5" name="Text-459"/>
          <p:cNvSpPr txBox="1"/>
          <p:nvPr/>
        </p:nvSpPr>
        <p:spPr>
          <a:xfrm>
            <a:off x="731520" y="286207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G0</a:t>
            </a:r>
            <a:endParaRPr lang="en-US" sz="2400" dirty="0"/>
          </a:p>
        </p:txBody>
      </p:sp>
      <p:sp>
        <p:nvSpPr>
          <p:cNvPr id="6" name="Text-460"/>
          <p:cNvSpPr txBox="1"/>
          <p:nvPr/>
        </p:nvSpPr>
        <p:spPr>
          <a:xfrm>
            <a:off x="731520" y="3300984"/>
            <a:ext cx="22706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AY</a:t>
            </a:r>
            <a:endParaRPr lang="en-US" sz="1000" dirty="0"/>
          </a:p>
        </p:txBody>
      </p:sp>
      <p:sp>
        <p:nvSpPr>
          <p:cNvPr id="7" name="Text-461"/>
          <p:cNvSpPr txBox="1"/>
          <p:nvPr/>
        </p:nvSpPr>
        <p:spPr>
          <a:xfrm>
            <a:off x="731520" y="3566160"/>
            <a:ext cx="22706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Başlangıç</a:t>
            </a:r>
            <a:endParaRPr lang="en-US" sz="1900" dirty="0"/>
          </a:p>
        </p:txBody>
      </p:sp>
      <p:sp>
        <p:nvSpPr>
          <p:cNvPr id="8" name="Text-462"/>
          <p:cNvSpPr txBox="1"/>
          <p:nvPr/>
        </p:nvSpPr>
        <p:spPr>
          <a:xfrm>
            <a:off x="731520" y="4023360"/>
            <a:ext cx="227068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abonelik canlı (ödeme)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Mobil/web geliştirici ekipte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Pazara giriş 2. aşamayı açar</a:t>
            </a:r>
            <a:endParaRPr lang="en-US" sz="1200" dirty="0"/>
          </a:p>
        </p:txBody>
      </p:sp>
      <p:sp>
        <p:nvSpPr>
          <p:cNvPr id="9" name="Card-463"/>
          <p:cNvSpPr/>
          <p:nvPr/>
        </p:nvSpPr>
        <p:spPr>
          <a:xfrm>
            <a:off x="3367964" y="2404872"/>
            <a:ext cx="2636444" cy="3264408"/>
          </a:xfrm>
          <a:prstGeom prst="roundRect">
            <a:avLst>
              <a:gd name="adj" fmla="val 4162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0" name="Text-464"/>
          <p:cNvSpPr txBox="1"/>
          <p:nvPr/>
        </p:nvSpPr>
        <p:spPr>
          <a:xfrm>
            <a:off x="3550844" y="2569464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G1</a:t>
            </a:r>
            <a:endParaRPr lang="en-US" sz="2400" dirty="0"/>
          </a:p>
        </p:txBody>
      </p:sp>
      <p:sp>
        <p:nvSpPr>
          <p:cNvPr id="11" name="Text-465"/>
          <p:cNvSpPr txBox="1"/>
          <p:nvPr/>
        </p:nvSpPr>
        <p:spPr>
          <a:xfrm>
            <a:off x="3550844" y="3008376"/>
            <a:ext cx="22706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AY</a:t>
            </a:r>
            <a:endParaRPr lang="en-US" sz="1000" dirty="0"/>
          </a:p>
        </p:txBody>
      </p:sp>
      <p:sp>
        <p:nvSpPr>
          <p:cNvPr id="12" name="Text-466"/>
          <p:cNvSpPr txBox="1"/>
          <p:nvPr/>
        </p:nvSpPr>
        <p:spPr>
          <a:xfrm>
            <a:off x="3550844" y="3273552"/>
            <a:ext cx="22706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Aktivasyon</a:t>
            </a:r>
            <a:endParaRPr lang="en-US" sz="1900" dirty="0"/>
          </a:p>
        </p:txBody>
      </p:sp>
      <p:sp>
        <p:nvSpPr>
          <p:cNvPr id="13" name="Text-467"/>
          <p:cNvSpPr txBox="1"/>
          <p:nvPr/>
        </p:nvSpPr>
        <p:spPr>
          <a:xfrm>
            <a:off x="3550844" y="3730752"/>
            <a:ext cx="2270684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10.000 kayıtlı (eşik 4.000)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 ödeme yapan Pro (120)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beta yayıncı, Kelime-Resim 300 kelime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hafta elde tutma ≥ %30</a:t>
            </a:r>
            <a:endParaRPr lang="en-US" sz="1200" dirty="0"/>
          </a:p>
        </p:txBody>
      </p:sp>
      <p:sp>
        <p:nvSpPr>
          <p:cNvPr id="14" name="Card-468"/>
          <p:cNvSpPr/>
          <p:nvPr/>
        </p:nvSpPr>
        <p:spPr>
          <a:xfrm>
            <a:off x="6187288" y="2112264"/>
            <a:ext cx="2636444" cy="3557016"/>
          </a:xfrm>
          <a:prstGeom prst="roundRect">
            <a:avLst>
              <a:gd name="adj" fmla="val 4162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5" name="Text-469"/>
          <p:cNvSpPr txBox="1"/>
          <p:nvPr/>
        </p:nvSpPr>
        <p:spPr>
          <a:xfrm>
            <a:off x="6370168" y="2276856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G2a</a:t>
            </a:r>
            <a:endParaRPr lang="en-US" sz="2400" dirty="0"/>
          </a:p>
        </p:txBody>
      </p:sp>
      <p:sp>
        <p:nvSpPr>
          <p:cNvPr id="16" name="Text-470"/>
          <p:cNvSpPr txBox="1"/>
          <p:nvPr/>
        </p:nvSpPr>
        <p:spPr>
          <a:xfrm>
            <a:off x="6370168" y="2715768"/>
            <a:ext cx="22706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AY</a:t>
            </a:r>
            <a:endParaRPr lang="en-US" sz="1000" dirty="0"/>
          </a:p>
        </p:txBody>
      </p:sp>
      <p:sp>
        <p:nvSpPr>
          <p:cNvPr id="17" name="Text-471"/>
          <p:cNvSpPr txBox="1"/>
          <p:nvPr/>
        </p:nvSpPr>
        <p:spPr>
          <a:xfrm>
            <a:off x="6370168" y="2980944"/>
            <a:ext cx="22706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Çekiş</a:t>
            </a:r>
            <a:endParaRPr lang="en-US" sz="1900" dirty="0"/>
          </a:p>
        </p:txBody>
      </p:sp>
      <p:sp>
        <p:nvSpPr>
          <p:cNvPr id="18" name="Text-472"/>
          <p:cNvSpPr txBox="1"/>
          <p:nvPr/>
        </p:nvSpPr>
        <p:spPr>
          <a:xfrm>
            <a:off x="6370168" y="3438144"/>
            <a:ext cx="2270684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20.000 kayıtlı (8.000)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800 ödeme yapan Pro (240)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MRR 8.073 € (2.500 €)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platform veya eğitim pilotu</a:t>
            </a:r>
            <a:endParaRPr lang="en-US" sz="1200" dirty="0"/>
          </a:p>
        </p:txBody>
      </p:sp>
      <p:sp>
        <p:nvSpPr>
          <p:cNvPr id="19" name="Card-473"/>
          <p:cNvSpPr/>
          <p:nvPr/>
        </p:nvSpPr>
        <p:spPr>
          <a:xfrm>
            <a:off x="9006611" y="1819656"/>
            <a:ext cx="2636444" cy="3849624"/>
          </a:xfrm>
          <a:prstGeom prst="roundRect">
            <a:avLst>
              <a:gd name="adj" fmla="val 4162"/>
            </a:avLst>
          </a:prstGeom>
          <a:solidFill>
            <a:schemeClr val="accent6"/>
          </a:solidFill>
          <a:ln w="15875">
            <a:solidFill>
              <a:srgbClr val="FF2D75"/>
            </a:solidFill>
            <a:prstDash val="solid"/>
          </a:ln>
        </p:spPr>
      </p:sp>
      <p:sp>
        <p:nvSpPr>
          <p:cNvPr id="20" name="Text-474"/>
          <p:cNvSpPr txBox="1"/>
          <p:nvPr/>
        </p:nvSpPr>
        <p:spPr>
          <a:xfrm>
            <a:off x="9189491" y="198424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G2</a:t>
            </a:r>
            <a:endParaRPr lang="en-US" sz="2400" dirty="0"/>
          </a:p>
        </p:txBody>
      </p:sp>
      <p:sp>
        <p:nvSpPr>
          <p:cNvPr id="21" name="Text-475"/>
          <p:cNvSpPr txBox="1"/>
          <p:nvPr/>
        </p:nvSpPr>
        <p:spPr>
          <a:xfrm>
            <a:off x="9189491" y="2423160"/>
            <a:ext cx="22706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 AY</a:t>
            </a:r>
            <a:endParaRPr lang="en-US" sz="1000" dirty="0"/>
          </a:p>
        </p:txBody>
      </p:sp>
      <p:sp>
        <p:nvSpPr>
          <p:cNvPr id="22" name="Text-476"/>
          <p:cNvSpPr txBox="1"/>
          <p:nvPr/>
        </p:nvSpPr>
        <p:spPr>
          <a:xfrm>
            <a:off x="9189491" y="2688336"/>
            <a:ext cx="22706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Sonraki tur</a:t>
            </a:r>
            <a:endParaRPr lang="en-US" sz="1900" dirty="0"/>
          </a:p>
        </p:txBody>
      </p:sp>
      <p:sp>
        <p:nvSpPr>
          <p:cNvPr id="23" name="Text-477"/>
          <p:cNvSpPr txBox="1"/>
          <p:nvPr/>
        </p:nvSpPr>
        <p:spPr>
          <a:xfrm>
            <a:off x="9189491" y="3145536"/>
            <a:ext cx="227068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50.000 kayıtlı (19.000)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2.000 ödeme yapan Pro (570)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MRR 22.586 € (6.495 €)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ay elde tutma ≥ %75, ≥ 5 okul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seed turu ≈ 350 bin €</a:t>
            </a:r>
            <a:endParaRPr lang="en-US" sz="1200" dirty="0"/>
          </a:p>
        </p:txBody>
      </p:sp>
      <p:sp>
        <p:nvSpPr>
          <p:cNvPr id="24" name="Pill-478"/>
          <p:cNvSpPr txBox="1"/>
          <p:nvPr/>
        </p:nvSpPr>
        <p:spPr>
          <a:xfrm>
            <a:off x="7253935" y="347472"/>
            <a:ext cx="4389120" cy="29260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5875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ÖNERI – YATIRIMCILARLA NETLEŞTIRILECEK</a:t>
            </a:r>
            <a:endParaRPr lang="en-US" sz="850" dirty="0"/>
          </a:p>
        </p:txBody>
      </p:sp>
      <p:sp>
        <p:nvSpPr>
          <p:cNvPr id="25" name="Text-479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Hedef = baz senaryo, (eşik) = temkinli; tüm kapıların durumu: hedef (henüz ulaşılmadı). Kaynak: LiveFX_Finanzmodell.xlsx, Gates 18M sayfası.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LIVEFX / EKİP VE TUR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LiveFX’in arkasındaki ekip</a:t>
            </a:r>
            <a:endParaRPr lang="en-US" sz="3200" dirty="0"/>
          </a:p>
        </p:txBody>
      </p:sp>
      <p:sp>
        <p:nvSpPr>
          <p:cNvPr id="4" name="Card-480"/>
          <p:cNvSpPr/>
          <p:nvPr/>
        </p:nvSpPr>
        <p:spPr>
          <a:xfrm>
            <a:off x="548640" y="1554480"/>
            <a:ext cx="3703320" cy="2971800"/>
          </a:xfrm>
          <a:prstGeom prst="roundRect">
            <a:avLst>
              <a:gd name="adj" fmla="val 3692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5" name="Badge-481"/>
          <p:cNvSpPr txBox="1"/>
          <p:nvPr/>
        </p:nvSpPr>
        <p:spPr>
          <a:xfrm>
            <a:off x="777240" y="1783080"/>
            <a:ext cx="777240" cy="77724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</a:t>
            </a:r>
            <a:endParaRPr lang="en-US" sz="2000" dirty="0"/>
          </a:p>
        </p:txBody>
      </p:sp>
      <p:sp>
        <p:nvSpPr>
          <p:cNvPr id="6" name="Text-482"/>
          <p:cNvSpPr txBox="1"/>
          <p:nvPr/>
        </p:nvSpPr>
        <p:spPr>
          <a:xfrm>
            <a:off x="1737360" y="17830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Tuncay Sancak</a:t>
            </a:r>
            <a:endParaRPr lang="en-US" sz="1900" dirty="0"/>
          </a:p>
        </p:txBody>
      </p:sp>
      <p:sp>
        <p:nvSpPr>
          <p:cNvPr id="7" name="Text-483"/>
          <p:cNvSpPr txBox="1"/>
          <p:nvPr/>
        </p:nvSpPr>
        <p:spPr>
          <a:xfrm>
            <a:off x="1737360" y="21762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KURUCU &amp; MUCİT · GENEL MÜDÜR</a:t>
            </a:r>
            <a:endParaRPr lang="en-US" sz="900" dirty="0"/>
          </a:p>
        </p:txBody>
      </p:sp>
      <p:sp>
        <p:nvSpPr>
          <p:cNvPr id="8" name="Text-484"/>
          <p:cNvSpPr txBox="1"/>
          <p:nvPr/>
        </p:nvSpPr>
        <p:spPr>
          <a:xfrm>
            <a:off x="777240" y="2743200"/>
            <a:ext cx="3246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LiveFX’i icat etti ve finansmandan önce 2.1’e kadar geliştirdi. Mercedes-Benz’de eski proje lideri, yapay zekâ uzmanı ve veri bilimci; ana dili Almanca ve Türkçe. „İyi ki Varsın“ dahil çocuk kitaplarının yazarı.</a:t>
            </a:r>
            <a:endParaRPr lang="en-US" sz="1300" dirty="0"/>
          </a:p>
        </p:txBody>
      </p:sp>
      <p:sp>
        <p:nvSpPr>
          <p:cNvPr id="9" name="Card-485"/>
          <p:cNvSpPr/>
          <p:nvPr/>
        </p:nvSpPr>
        <p:spPr>
          <a:xfrm>
            <a:off x="4480560" y="1554480"/>
            <a:ext cx="3703320" cy="2971800"/>
          </a:xfrm>
          <a:prstGeom prst="roundRect">
            <a:avLst>
              <a:gd name="adj" fmla="val 3692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0" name="Badge-486"/>
          <p:cNvSpPr txBox="1"/>
          <p:nvPr/>
        </p:nvSpPr>
        <p:spPr>
          <a:xfrm>
            <a:off x="4709160" y="1783080"/>
            <a:ext cx="777240" cy="77724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</a:t>
            </a:r>
            <a:endParaRPr lang="en-US" sz="2000" dirty="0"/>
          </a:p>
        </p:txBody>
      </p:sp>
      <p:sp>
        <p:nvSpPr>
          <p:cNvPr id="11" name="Text-487"/>
          <p:cNvSpPr txBox="1"/>
          <p:nvPr/>
        </p:nvSpPr>
        <p:spPr>
          <a:xfrm>
            <a:off x="5669280" y="17830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Gönül Demet</a:t>
            </a:r>
            <a:endParaRPr lang="en-US" sz="1900" dirty="0"/>
          </a:p>
        </p:txBody>
      </p:sp>
      <p:sp>
        <p:nvSpPr>
          <p:cNvPr id="12" name="Text-488"/>
          <p:cNvSpPr txBox="1"/>
          <p:nvPr/>
        </p:nvSpPr>
        <p:spPr>
          <a:xfrm>
            <a:off x="5669280" y="21762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YATIRIMCI İLİŞKİLERİ &amp; FON TOPLAMA</a:t>
            </a:r>
            <a:endParaRPr lang="en-US" sz="900" dirty="0"/>
          </a:p>
        </p:txBody>
      </p:sp>
      <p:sp>
        <p:nvSpPr>
          <p:cNvPr id="13" name="Text-489"/>
          <p:cNvSpPr txBox="1"/>
          <p:nvPr/>
        </p:nvSpPr>
        <p:spPr>
          <a:xfrm>
            <a:off x="4709160" y="2743200"/>
            <a:ext cx="3246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Pre-seed turu için yatırımcılarla iletişimi yürütüyor ve bu belgeleri hazırladı.</a:t>
            </a:r>
            <a:endParaRPr lang="en-US" sz="1300" dirty="0"/>
          </a:p>
        </p:txBody>
      </p:sp>
      <p:sp>
        <p:nvSpPr>
          <p:cNvPr id="14" name="Card-490"/>
          <p:cNvSpPr/>
          <p:nvPr/>
        </p:nvSpPr>
        <p:spPr>
          <a:xfrm>
            <a:off x="8412480" y="1554480"/>
            <a:ext cx="3230575" cy="2971800"/>
          </a:xfrm>
          <a:prstGeom prst="roundRect">
            <a:avLst>
              <a:gd name="adj" fmla="val 3692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5" name="Text-491"/>
          <p:cNvSpPr txBox="1"/>
          <p:nvPr/>
        </p:nvSpPr>
        <p:spPr>
          <a:xfrm>
            <a:off x="8641080" y="1737360"/>
            <a:ext cx="2773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Finansmandan sonra ekip</a:t>
            </a:r>
            <a:endParaRPr lang="en-US" sz="1600" dirty="0"/>
          </a:p>
        </p:txBody>
      </p:sp>
      <p:sp>
        <p:nvSpPr>
          <p:cNvPr id="16" name="Text-492"/>
          <p:cNvSpPr txBox="1"/>
          <p:nvPr/>
        </p:nvSpPr>
        <p:spPr>
          <a:xfrm>
            <a:off x="8641080" y="2377440"/>
            <a:ext cx="27733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Mobil/web geliştirici</a:t>
            </a:r>
            <a:endParaRPr lang="en-US" sz="1300" dirty="0"/>
          </a:p>
        </p:txBody>
      </p:sp>
      <p:sp>
        <p:nvSpPr>
          <p:cNvPr id="17" name="Text-493"/>
          <p:cNvSpPr txBox="1"/>
          <p:nvPr/>
        </p:nvSpPr>
        <p:spPr>
          <a:xfrm>
            <a:off x="8641080" y="2624328"/>
            <a:ext cx="27733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aydan itibaren</a:t>
            </a:r>
            <a:endParaRPr lang="en-US" sz="1100" dirty="0"/>
          </a:p>
        </p:txBody>
      </p:sp>
      <p:sp>
        <p:nvSpPr>
          <p:cNvPr id="18" name="Text-494"/>
          <p:cNvSpPr txBox="1"/>
          <p:nvPr/>
        </p:nvSpPr>
        <p:spPr>
          <a:xfrm>
            <a:off x="8641080" y="2898648"/>
            <a:ext cx="27733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Kelime-Resim: illüstrasyon, ses</a:t>
            </a:r>
            <a:endParaRPr lang="en-US" sz="1300" dirty="0"/>
          </a:p>
        </p:txBody>
      </p:sp>
      <p:sp>
        <p:nvSpPr>
          <p:cNvPr id="19" name="Text-495"/>
          <p:cNvSpPr txBox="1"/>
          <p:nvPr/>
        </p:nvSpPr>
        <p:spPr>
          <a:xfrm>
            <a:off x="8641080" y="3145536"/>
            <a:ext cx="27733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4–15. ay (serbest)</a:t>
            </a:r>
            <a:endParaRPr lang="en-US" sz="1100" dirty="0"/>
          </a:p>
        </p:txBody>
      </p:sp>
      <p:sp>
        <p:nvSpPr>
          <p:cNvPr id="20" name="Text-496"/>
          <p:cNvSpPr txBox="1"/>
          <p:nvPr/>
        </p:nvSpPr>
        <p:spPr>
          <a:xfrm>
            <a:off x="8641080" y="3419856"/>
            <a:ext cx="27733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Backend/ML, topluluk</a:t>
            </a:r>
            <a:endParaRPr lang="en-US" sz="1300" dirty="0"/>
          </a:p>
        </p:txBody>
      </p:sp>
      <p:sp>
        <p:nvSpPr>
          <p:cNvPr id="21" name="Text-497"/>
          <p:cNvSpPr txBox="1"/>
          <p:nvPr/>
        </p:nvSpPr>
        <p:spPr>
          <a:xfrm>
            <a:off x="8641080" y="3666744"/>
            <a:ext cx="27733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 aydan (seed)</a:t>
            </a:r>
            <a:endParaRPr lang="en-US" sz="1100" dirty="0"/>
          </a:p>
        </p:txBody>
      </p:sp>
      <p:sp>
        <p:nvSpPr>
          <p:cNvPr id="22" name="Text-498"/>
          <p:cNvSpPr txBox="1"/>
          <p:nvPr/>
        </p:nvSpPr>
        <p:spPr>
          <a:xfrm>
            <a:off x="8641080" y="3941064"/>
            <a:ext cx="27733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İkinci geliştirici</a:t>
            </a:r>
            <a:endParaRPr lang="en-US" sz="1300" dirty="0"/>
          </a:p>
        </p:txBody>
      </p:sp>
      <p:sp>
        <p:nvSpPr>
          <p:cNvPr id="23" name="Text-499"/>
          <p:cNvSpPr txBox="1"/>
          <p:nvPr/>
        </p:nvSpPr>
        <p:spPr>
          <a:xfrm>
            <a:off x="8641080" y="4187952"/>
            <a:ext cx="27733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 aydan (seed)</a:t>
            </a:r>
            <a:endParaRPr lang="en-US" sz="1100" dirty="0"/>
          </a:p>
        </p:txBody>
      </p:sp>
      <p:sp>
        <p:nvSpPr>
          <p:cNvPr id="24" name="Wave-500"/>
          <p:cNvSpPr/>
          <p:nvPr/>
        </p:nvSpPr>
        <p:spPr>
          <a:xfrm>
            <a:off x="548640" y="5020056"/>
            <a:ext cx="62345" cy="10972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5" name="Wave-501"/>
          <p:cNvSpPr/>
          <p:nvPr/>
        </p:nvSpPr>
        <p:spPr>
          <a:xfrm>
            <a:off x="673331" y="4879619"/>
            <a:ext cx="62345" cy="39060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6" name="Wave-502"/>
          <p:cNvSpPr/>
          <p:nvPr/>
        </p:nvSpPr>
        <p:spPr>
          <a:xfrm>
            <a:off x="798022" y="4887390"/>
            <a:ext cx="62345" cy="37505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7" name="Wave-503"/>
          <p:cNvSpPr/>
          <p:nvPr/>
        </p:nvSpPr>
        <p:spPr>
          <a:xfrm>
            <a:off x="922713" y="4906774"/>
            <a:ext cx="62345" cy="33629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8" name="Wave-504"/>
          <p:cNvSpPr/>
          <p:nvPr/>
        </p:nvSpPr>
        <p:spPr>
          <a:xfrm>
            <a:off x="1047404" y="4859875"/>
            <a:ext cx="62345" cy="43009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9" name="Wave-505"/>
          <p:cNvSpPr/>
          <p:nvPr/>
        </p:nvSpPr>
        <p:spPr>
          <a:xfrm>
            <a:off x="1172095" y="4913429"/>
            <a:ext cx="62345" cy="322981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0" name="Wave-506"/>
          <p:cNvSpPr/>
          <p:nvPr/>
        </p:nvSpPr>
        <p:spPr>
          <a:xfrm>
            <a:off x="1296785" y="4955694"/>
            <a:ext cx="62345" cy="238451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1" name="Wave-507"/>
          <p:cNvSpPr/>
          <p:nvPr/>
        </p:nvSpPr>
        <p:spPr>
          <a:xfrm>
            <a:off x="1421476" y="4879055"/>
            <a:ext cx="62345" cy="39173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2" name="Wave-508"/>
          <p:cNvSpPr/>
          <p:nvPr/>
        </p:nvSpPr>
        <p:spPr>
          <a:xfrm>
            <a:off x="1546167" y="4910567"/>
            <a:ext cx="62345" cy="32870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3" name="Wave-509"/>
          <p:cNvSpPr/>
          <p:nvPr/>
        </p:nvSpPr>
        <p:spPr>
          <a:xfrm>
            <a:off x="1670858" y="4881855"/>
            <a:ext cx="62345" cy="38612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4" name="Wave-510"/>
          <p:cNvSpPr/>
          <p:nvPr/>
        </p:nvSpPr>
        <p:spPr>
          <a:xfrm>
            <a:off x="1795549" y="4851184"/>
            <a:ext cx="62345" cy="44747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5" name="Wave-511"/>
          <p:cNvSpPr/>
          <p:nvPr/>
        </p:nvSpPr>
        <p:spPr>
          <a:xfrm>
            <a:off x="1920240" y="4973848"/>
            <a:ext cx="62345" cy="2021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6" name="Wave-512"/>
          <p:cNvSpPr/>
          <p:nvPr/>
        </p:nvSpPr>
        <p:spPr>
          <a:xfrm>
            <a:off x="2044931" y="4913926"/>
            <a:ext cx="62345" cy="32198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7" name="Wave-513"/>
          <p:cNvSpPr/>
          <p:nvPr/>
        </p:nvSpPr>
        <p:spPr>
          <a:xfrm>
            <a:off x="2169622" y="4900553"/>
            <a:ext cx="62345" cy="348735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8" name="Wave-514"/>
          <p:cNvSpPr/>
          <p:nvPr/>
        </p:nvSpPr>
        <p:spPr>
          <a:xfrm>
            <a:off x="2294313" y="4910728"/>
            <a:ext cx="62345" cy="3283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9" name="Wave-515"/>
          <p:cNvSpPr/>
          <p:nvPr/>
        </p:nvSpPr>
        <p:spPr>
          <a:xfrm>
            <a:off x="2419004" y="4848503"/>
            <a:ext cx="62345" cy="452833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0" name="Wave-516"/>
          <p:cNvSpPr/>
          <p:nvPr/>
        </p:nvSpPr>
        <p:spPr>
          <a:xfrm>
            <a:off x="2543695" y="4875543"/>
            <a:ext cx="62345" cy="39875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1" name="Wave-517"/>
          <p:cNvSpPr/>
          <p:nvPr/>
        </p:nvSpPr>
        <p:spPr>
          <a:xfrm>
            <a:off x="2668385" y="5000222"/>
            <a:ext cx="62345" cy="14939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2" name="Wave-518"/>
          <p:cNvSpPr/>
          <p:nvPr/>
        </p:nvSpPr>
        <p:spPr>
          <a:xfrm>
            <a:off x="2793076" y="4904788"/>
            <a:ext cx="62345" cy="340263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3" name="Wave-519"/>
          <p:cNvSpPr/>
          <p:nvPr/>
        </p:nvSpPr>
        <p:spPr>
          <a:xfrm>
            <a:off x="2917767" y="4921786"/>
            <a:ext cx="62345" cy="3062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4" name="Wave-520"/>
          <p:cNvSpPr/>
          <p:nvPr/>
        </p:nvSpPr>
        <p:spPr>
          <a:xfrm>
            <a:off x="3042458" y="4884493"/>
            <a:ext cx="62345" cy="38085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5" name="Wave-521"/>
          <p:cNvSpPr/>
          <p:nvPr/>
        </p:nvSpPr>
        <p:spPr>
          <a:xfrm>
            <a:off x="3167149" y="4830211"/>
            <a:ext cx="62345" cy="489417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6" name="Card-522"/>
          <p:cNvSpPr/>
          <p:nvPr/>
        </p:nvSpPr>
        <p:spPr>
          <a:xfrm>
            <a:off x="3520440" y="4709160"/>
            <a:ext cx="8122615" cy="777240"/>
          </a:xfrm>
          <a:prstGeom prst="roundRect">
            <a:avLst>
              <a:gd name="adj" fmla="val 14118"/>
            </a:avLst>
          </a:prstGeom>
          <a:solidFill>
            <a:schemeClr val="accent6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47" name="Text-523"/>
          <p:cNvSpPr txBox="1"/>
          <p:nvPr/>
        </p:nvSpPr>
        <p:spPr>
          <a:xfrm>
            <a:off x="3749040" y="4736592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250.000 € pre-seed · teklif 2,25 milyon €, %10</a:t>
            </a:r>
            <a:endParaRPr lang="en-US" sz="1800" dirty="0"/>
          </a:p>
        </p:txBody>
      </p:sp>
      <p:sp>
        <p:nvSpPr>
          <p:cNvPr id="48" name="Text-524"/>
          <p:cNvSpPr txBox="1"/>
          <p:nvPr/>
        </p:nvSpPr>
        <p:spPr>
          <a:xfrm>
            <a:off x="8229600" y="4736592"/>
            <a:ext cx="32305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Yatırımcı iletişimi: Gönül Demet · [E-posta]</a:t>
            </a:r>
            <a:endParaRPr lang="en-US" sz="1300" dirty="0"/>
          </a:p>
        </p:txBody>
      </p:sp>
      <p:sp>
        <p:nvSpPr>
          <p:cNvPr id="49" name="Text-525"/>
          <p:cNvSpPr txBox="1"/>
          <p:nvPr/>
        </p:nvSpPr>
        <p:spPr>
          <a:xfrm>
            <a:off x="548640" y="571500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Gizli pre-seed belgeleri. Geleceğe yönelik ifadeler önemli risklere tabidir; yatırım, sermayenin tamamen kaybına yol açabilir.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LiveFX Investor">
      <a:dk1>
        <a:srgbClr val="0F1115"/>
      </a:dk1>
      <a:lt1>
        <a:srgbClr val="FFFFFF"/>
      </a:lt1>
      <a:dk2>
        <a:srgbClr val="1A1D24"/>
      </a:dk2>
      <a:lt2>
        <a:srgbClr val="A9B0BD"/>
      </a:lt2>
      <a:accent1>
        <a:srgbClr val="FF2D75"/>
      </a:accent1>
      <a:accent2>
        <a:srgbClr val="2DFFB5"/>
      </a:accent2>
      <a:accent3>
        <a:srgbClr val="FFD166"/>
      </a:accent3>
      <a:accent4>
        <a:srgbClr val="6CC4FF"/>
      </a:accent4>
      <a:accent5>
        <a:srgbClr val="2A2E38"/>
      </a:accent5>
      <a:accent6>
        <a:srgbClr val="3A0F22"/>
      </a:accent6>
      <a:hlink>
        <a:srgbClr val="FFD166"/>
      </a:hlink>
      <a:folHlink>
        <a:srgbClr val="2DFFB5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LiveFX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LiveFX – Yatırımcı Sunumu (Pre-Seed, Ekim 2026)</dc:title>
  <dc:subject>LiveFX – Yatırımcı Sunumu (Pre-Seed, Ekim 2026)</dc:subject>
  <dc:creator>Gönül Demet (Investor Relations)</dc:creator>
  <cp:lastModifiedBy>Gönül Demet (Investor Relations)</cp:lastModifiedBy>
  <cp:revision>1</cp:revision>
  <dcterms:created xsi:type="dcterms:W3CDTF">2026-10-04T18:23:38Z</dcterms:created>
  <dcterms:modified xsi:type="dcterms:W3CDTF">2026-10-04T18:23:38Z</dcterms:modified>
</cp:coreProperties>
</file>