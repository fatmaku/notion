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ırsat" id="{e3a9fe4a-e88e-bfc2-434b-62d425add816}">
          <p14:sldIdLst>
            <p14:sldId id="256"/>
            <p14:sldId id="257"/>
            <p14:sldId id="258"/>
          </p14:sldIdLst>
        </p14:section>
        <p14:section name="Ürün ve vizyon" id="{df9ecf64-ea79-19c3-291d-fa4319ddc0e3}">
          <p14:sldIdLst>
            <p14:sldId id="259"/>
            <p14:sldId id="260"/>
            <p14:sldId id="261"/>
          </p14:sldIdLst>
        </p14:section>
        <p14:section name="Pazar ve model" id="{9164b510-b377-ea93-c198-af6e2b522317}">
          <p14:sldIdLst>
            <p14:sldId id="262"/>
            <p14:sldId id="263"/>
            <p14:sldId id="264"/>
          </p14:sldIdLst>
        </p14:section>
        <p14:section name="Plan ve tur" id="{eeb7747e-6755-4ca2-599f-29ada085b573}">
          <p14:sldIdLst>
            <p14:sldId id="265"/>
            <p14:sldId id="266"/>
            <p14:sldId id="267"/>
            <p14:sldId id="268"/>
          </p14:sldIdLst>
        </p14:section>
        <p14:section name="Ekip" id="{7a1ec335-003b-634c-bc34-dbf886a62c0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9B0BD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9B0BD"/>
                </a:solidFill>
                <a:latin typeface="+mn-lt"/>
              </a:rPr>
              <a:t>Baz senaryo, bin € (tahmin)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Çekirdek gelir</c:v>
                </c:pt>
              </c:strCache>
            </c:strRef>
          </c:tx>
          <c:spPr>
            <a:solidFill>
              <a:srgbClr val="FF2D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1. yıl 2027</c:v>
                  </c:pt>
                  <c:pt idx="1">
                    <c:v>2. yıl 2028</c:v>
                  </c:pt>
                  <c:pt idx="2">
                    <c:v>3. yıl 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</c:v>
                </c:pt>
                <c:pt idx="1">
                  <c:v>336</c:v>
                </c:pt>
                <c:pt idx="2">
                  <c:v>1039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Vizyon geliri</c:v>
                </c:pt>
              </c:strCache>
            </c:strRef>
          </c:tx>
          <c:spPr>
            <a:solidFill>
              <a:srgbClr val="2DFF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1. yıl 2027</c:v>
                  </c:pt>
                  <c:pt idx="1">
                    <c:v>2. yıl 2028</c:v>
                  </c:pt>
                  <c:pt idx="2">
                    <c:v>3. yıl 2029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</c:v>
                </c:pt>
                <c:pt idx="1">
                  <c:v>192</c:v>
                </c:pt>
                <c:pt idx="2">
                  <c:v>617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Toplam maliyet</c:v>
                </c:pt>
              </c:strCache>
            </c:strRef>
          </c:tx>
          <c:spPr>
            <a:solidFill>
              <a:srgbClr val="5A60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1. yıl 2027</c:v>
                  </c:pt>
                  <c:pt idx="1">
                    <c:v>2. yıl 2028</c:v>
                  </c:pt>
                  <c:pt idx="2">
                    <c:v>3. yıl 2029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195</c:v>
                </c:pt>
                <c:pt idx="1">
                  <c:v>513</c:v>
                </c:pt>
                <c:pt idx="2">
                  <c:v>920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9B0B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500 bin €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2D75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DFFB5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D166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CC4FF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A6070"/>
              </a:solidFill>
              <a:ln w="25400" cap="flat">
                <a:solidFill>
                  <a:srgbClr val="0F1115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Ürün ve mühendislik ekibi</c:v>
                </c:pt>
                <c:pt idx="1">
                  <c:v>Vizyon hatları → ürün</c:v>
                </c:pt>
                <c:pt idx="2">
                  <c:v>Pazara giriş ve pilotlar</c:v>
                </c:pt>
                <c:pt idx="3">
                  <c:v>Hukuk, marka, veri koruma</c:v>
                </c:pt>
                <c:pt idx="4">
                  <c:v>Yedek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LiveFX: Dinleyen canlı yayınlar – Yayıncının sesi bir saniyeden kısa sürede meme’e, sese ve sahneye dönüşür – yarın da konuşulan her şeyin görüntüsüne.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500.000 € ürünü pazara taşır, iki vizyon hattını prototipten ürüne çevirir.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FX_TITLE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GİZLİ  ·  PRE-SEED  ·  EKİM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7607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FX_CONTENT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chemeClr val="bg2"/>
                </a:solidFill>
              </a:rPr>
              <a:t>GİZLİ  ·  PRE-SEED  ·  EKİM 2026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640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YATIRIM FIRSATI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LiveFX: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Dinleyen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yayınlar</a:t>
            </a:r>
            <a:endParaRPr lang="en-US" sz="4800" dirty="0"/>
          </a:p>
        </p:txBody>
      </p:sp>
      <p:sp>
        <p:nvSpPr>
          <p:cNvPr id="4" name="Text-2"/>
          <p:cNvSpPr txBox="1"/>
          <p:nvPr/>
        </p:nvSpPr>
        <p:spPr>
          <a:xfrm>
            <a:off x="548640" y="35661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Yayıncının sesi bir saniyeden kısa sürede meme’e, sese ve sahneye dönüşür – yarın da konuşulan her şeyin görüntüsüne.</a:t>
            </a:r>
            <a:endParaRPr lang="en-US" sz="1500" dirty="0"/>
          </a:p>
        </p:txBody>
      </p:sp>
      <p:sp>
        <p:nvSpPr>
          <p:cNvPr id="5" name="Wave-3"/>
          <p:cNvSpPr/>
          <p:nvPr/>
        </p:nvSpPr>
        <p:spPr>
          <a:xfrm>
            <a:off x="548640" y="4535424"/>
            <a:ext cx="76200" cy="73152"/>
          </a:xfrm>
          <a:prstGeom prst="roundRect">
            <a:avLst>
              <a:gd name="adj" fmla="val 52083"/>
            </a:avLst>
          </a:prstGeom>
          <a:solidFill>
            <a:schemeClr val="accent1"/>
          </a:solidFill>
          <a:ln/>
        </p:spPr>
      </p:sp>
      <p:sp>
        <p:nvSpPr>
          <p:cNvPr id="6" name="Wave-4"/>
          <p:cNvSpPr/>
          <p:nvPr/>
        </p:nvSpPr>
        <p:spPr>
          <a:xfrm>
            <a:off x="701040" y="4441799"/>
            <a:ext cx="76200" cy="26040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Wave-5"/>
          <p:cNvSpPr/>
          <p:nvPr/>
        </p:nvSpPr>
        <p:spPr>
          <a:xfrm>
            <a:off x="853440" y="4446980"/>
            <a:ext cx="76200" cy="25003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8" name="Wave-6"/>
          <p:cNvSpPr/>
          <p:nvPr/>
        </p:nvSpPr>
        <p:spPr>
          <a:xfrm>
            <a:off x="1005840" y="4459903"/>
            <a:ext cx="76200" cy="22419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Wave-7"/>
          <p:cNvSpPr/>
          <p:nvPr/>
        </p:nvSpPr>
        <p:spPr>
          <a:xfrm>
            <a:off x="1158240" y="4428637"/>
            <a:ext cx="76200" cy="28672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Wave-8"/>
          <p:cNvSpPr/>
          <p:nvPr/>
        </p:nvSpPr>
        <p:spPr>
          <a:xfrm>
            <a:off x="1310640" y="4464340"/>
            <a:ext cx="76200" cy="21532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Wave-9"/>
          <p:cNvSpPr/>
          <p:nvPr/>
        </p:nvSpPr>
        <p:spPr>
          <a:xfrm>
            <a:off x="1463040" y="4492516"/>
            <a:ext cx="76200" cy="15896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Wave-10"/>
          <p:cNvSpPr/>
          <p:nvPr/>
        </p:nvSpPr>
        <p:spPr>
          <a:xfrm>
            <a:off x="1615440" y="4441423"/>
            <a:ext cx="76200" cy="26115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Wave-11"/>
          <p:cNvSpPr/>
          <p:nvPr/>
        </p:nvSpPr>
        <p:spPr>
          <a:xfrm>
            <a:off x="1767840" y="4462431"/>
            <a:ext cx="76200" cy="21913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Wave-12"/>
          <p:cNvSpPr/>
          <p:nvPr/>
        </p:nvSpPr>
        <p:spPr>
          <a:xfrm>
            <a:off x="1920240" y="4443290"/>
            <a:ext cx="76200" cy="2574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Wave-13"/>
          <p:cNvSpPr/>
          <p:nvPr/>
        </p:nvSpPr>
        <p:spPr>
          <a:xfrm>
            <a:off x="2072640" y="4422842"/>
            <a:ext cx="76200" cy="29831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Wave-14"/>
          <p:cNvSpPr/>
          <p:nvPr/>
        </p:nvSpPr>
        <p:spPr>
          <a:xfrm>
            <a:off x="2225040" y="4504619"/>
            <a:ext cx="76200" cy="13476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Wave-15"/>
          <p:cNvSpPr/>
          <p:nvPr/>
        </p:nvSpPr>
        <p:spPr>
          <a:xfrm>
            <a:off x="2377440" y="4464671"/>
            <a:ext cx="76200" cy="21465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Wave-16"/>
          <p:cNvSpPr/>
          <p:nvPr/>
        </p:nvSpPr>
        <p:spPr>
          <a:xfrm>
            <a:off x="2529840" y="4455755"/>
            <a:ext cx="76200" cy="2324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Wave-17"/>
          <p:cNvSpPr/>
          <p:nvPr/>
        </p:nvSpPr>
        <p:spPr>
          <a:xfrm>
            <a:off x="2682240" y="4462539"/>
            <a:ext cx="76200" cy="21892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Wave-18"/>
          <p:cNvSpPr/>
          <p:nvPr/>
        </p:nvSpPr>
        <p:spPr>
          <a:xfrm>
            <a:off x="2834640" y="4421056"/>
            <a:ext cx="76200" cy="30188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Wave-19"/>
          <p:cNvSpPr/>
          <p:nvPr/>
        </p:nvSpPr>
        <p:spPr>
          <a:xfrm>
            <a:off x="2987040" y="4439082"/>
            <a:ext cx="76200" cy="2658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Wave-20"/>
          <p:cNvSpPr/>
          <p:nvPr/>
        </p:nvSpPr>
        <p:spPr>
          <a:xfrm>
            <a:off x="3139440" y="4522201"/>
            <a:ext cx="76200" cy="9959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Wave-21"/>
          <p:cNvSpPr/>
          <p:nvPr/>
        </p:nvSpPr>
        <p:spPr>
          <a:xfrm>
            <a:off x="3291840" y="4458579"/>
            <a:ext cx="76200" cy="22684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4" name="Wave-22"/>
          <p:cNvSpPr/>
          <p:nvPr/>
        </p:nvSpPr>
        <p:spPr>
          <a:xfrm>
            <a:off x="3444240" y="4469911"/>
            <a:ext cx="76200" cy="20417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5" name="Wave-23"/>
          <p:cNvSpPr/>
          <p:nvPr/>
        </p:nvSpPr>
        <p:spPr>
          <a:xfrm>
            <a:off x="3596640" y="4445049"/>
            <a:ext cx="76200" cy="25390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6" name="Wave-24"/>
          <p:cNvSpPr/>
          <p:nvPr/>
        </p:nvSpPr>
        <p:spPr>
          <a:xfrm>
            <a:off x="3749040" y="4408861"/>
            <a:ext cx="76200" cy="32627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7" name="Wave-25"/>
          <p:cNvSpPr/>
          <p:nvPr/>
        </p:nvSpPr>
        <p:spPr>
          <a:xfrm>
            <a:off x="3901440" y="4475307"/>
            <a:ext cx="76200" cy="1933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8" name="Wave-26"/>
          <p:cNvSpPr/>
          <p:nvPr/>
        </p:nvSpPr>
        <p:spPr>
          <a:xfrm>
            <a:off x="4053840" y="4490209"/>
            <a:ext cx="76200" cy="16358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9" name="Wave-27"/>
          <p:cNvSpPr/>
          <p:nvPr/>
        </p:nvSpPr>
        <p:spPr>
          <a:xfrm>
            <a:off x="4206240" y="4468969"/>
            <a:ext cx="76200" cy="20606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0" name="Wave-28"/>
          <p:cNvSpPr/>
          <p:nvPr/>
        </p:nvSpPr>
        <p:spPr>
          <a:xfrm>
            <a:off x="4358640" y="4470251"/>
            <a:ext cx="76200" cy="2034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1" name="Wave-29"/>
          <p:cNvSpPr/>
          <p:nvPr/>
        </p:nvSpPr>
        <p:spPr>
          <a:xfrm>
            <a:off x="4511040" y="4419248"/>
            <a:ext cx="76200" cy="30550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2" name="Wave-30"/>
          <p:cNvSpPr/>
          <p:nvPr/>
        </p:nvSpPr>
        <p:spPr>
          <a:xfrm>
            <a:off x="4663440" y="4418016"/>
            <a:ext cx="76200" cy="30796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3" name="Wave-31"/>
          <p:cNvSpPr/>
          <p:nvPr/>
        </p:nvSpPr>
        <p:spPr>
          <a:xfrm>
            <a:off x="4815840" y="4518927"/>
            <a:ext cx="76200" cy="10614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4" name="Wave-32"/>
          <p:cNvSpPr/>
          <p:nvPr/>
        </p:nvSpPr>
        <p:spPr>
          <a:xfrm>
            <a:off x="4968240" y="4479047"/>
            <a:ext cx="76200" cy="1859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5" name="Wave-33"/>
          <p:cNvSpPr/>
          <p:nvPr/>
        </p:nvSpPr>
        <p:spPr>
          <a:xfrm>
            <a:off x="5120640" y="4481836"/>
            <a:ext cx="76200" cy="18032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Wave-34"/>
          <p:cNvSpPr/>
          <p:nvPr/>
        </p:nvSpPr>
        <p:spPr>
          <a:xfrm>
            <a:off x="5273040" y="4452315"/>
            <a:ext cx="76200" cy="23937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Wave-35"/>
          <p:cNvSpPr/>
          <p:nvPr/>
        </p:nvSpPr>
        <p:spPr>
          <a:xfrm>
            <a:off x="5425440" y="4400672"/>
            <a:ext cx="76200" cy="3426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8" name="Wave-36"/>
          <p:cNvSpPr/>
          <p:nvPr/>
        </p:nvSpPr>
        <p:spPr>
          <a:xfrm>
            <a:off x="5577840" y="4448907"/>
            <a:ext cx="76200" cy="2461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Wave-37"/>
          <p:cNvSpPr/>
          <p:nvPr/>
        </p:nvSpPr>
        <p:spPr>
          <a:xfrm>
            <a:off x="5730240" y="4517048"/>
            <a:ext cx="76200" cy="1099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Wave-38"/>
          <p:cNvSpPr/>
          <p:nvPr/>
        </p:nvSpPr>
        <p:spPr>
          <a:xfrm>
            <a:off x="5882640" y="4485732"/>
            <a:ext cx="76200" cy="1725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Card-39"/>
          <p:cNvSpPr/>
          <p:nvPr/>
        </p:nvSpPr>
        <p:spPr>
          <a:xfrm>
            <a:off x="548640" y="4937760"/>
            <a:ext cx="28346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42" name="Text-40"/>
          <p:cNvSpPr txBox="1"/>
          <p:nvPr/>
        </p:nvSpPr>
        <p:spPr>
          <a:xfrm>
            <a:off x="777240" y="5047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</a:t>
            </a:r>
            <a:endParaRPr lang="en-US" sz="1000" dirty="0"/>
          </a:p>
        </p:txBody>
      </p:sp>
      <p:sp>
        <p:nvSpPr>
          <p:cNvPr id="43" name="Text-41"/>
          <p:cNvSpPr txBox="1"/>
          <p:nvPr/>
        </p:nvSpPr>
        <p:spPr>
          <a:xfrm>
            <a:off x="777240" y="5303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500.000 €</a:t>
            </a:r>
            <a:endParaRPr lang="en-US" sz="3000" dirty="0"/>
          </a:p>
        </p:txBody>
      </p:sp>
      <p:sp>
        <p:nvSpPr>
          <p:cNvPr id="44" name="Text-42"/>
          <p:cNvSpPr txBox="1"/>
          <p:nvPr/>
        </p:nvSpPr>
        <p:spPr>
          <a:xfrm>
            <a:off x="777240" y="5760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ve tüm LiveFX hatları için · 24 ay</a:t>
            </a:r>
            <a:endParaRPr lang="en-US" sz="1000" dirty="0"/>
          </a:p>
        </p:txBody>
      </p:sp>
      <p:sp>
        <p:nvSpPr>
          <p:cNvPr id="45" name="Text-43"/>
          <p:cNvSpPr txBox="1"/>
          <p:nvPr/>
        </p:nvSpPr>
        <p:spPr>
          <a:xfrm>
            <a:off x="3657600" y="4983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KURUCU &amp; MUCİT</a:t>
            </a:r>
            <a:endParaRPr lang="en-US" sz="900" dirty="0"/>
          </a:p>
        </p:txBody>
      </p:sp>
      <p:sp>
        <p:nvSpPr>
          <p:cNvPr id="46" name="Text-44"/>
          <p:cNvSpPr txBox="1"/>
          <p:nvPr/>
        </p:nvSpPr>
        <p:spPr>
          <a:xfrm>
            <a:off x="3657600" y="5184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800" dirty="0"/>
          </a:p>
        </p:txBody>
      </p:sp>
      <p:sp>
        <p:nvSpPr>
          <p:cNvPr id="47" name="Text-45"/>
          <p:cNvSpPr txBox="1"/>
          <p:nvPr/>
        </p:nvSpPr>
        <p:spPr>
          <a:xfrm>
            <a:off x="3657600" y="5623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YATIRIMCI İLİŞKİLERİ</a:t>
            </a:r>
            <a:endParaRPr lang="en-US" sz="900" dirty="0"/>
          </a:p>
        </p:txBody>
      </p:sp>
      <p:sp>
        <p:nvSpPr>
          <p:cNvPr id="48" name="Text-46"/>
          <p:cNvSpPr txBox="1"/>
          <p:nvPr/>
        </p:nvSpPr>
        <p:spPr>
          <a:xfrm>
            <a:off x="3657600" y="58247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800" dirty="0"/>
          </a:p>
        </p:txBody>
      </p:sp>
      <p:pic>
        <p:nvPicPr>
          <p:cNvPr id="49" name="Image-47" descr="/home/user/Notion/live-fx/business/video/assets/overlay-card.t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548640"/>
            <a:ext cx="5056632" cy="2843784"/>
          </a:xfrm>
          <a:prstGeom prst="rect">
            <a:avLst/>
          </a:prstGeom>
        </p:spPr>
      </p:pic>
      <p:pic>
        <p:nvPicPr>
          <p:cNvPr id="50" name="Image-48" descr="/home/user/Notion/live-fx/business/video/stills/vision-tr-16x9-8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3566160"/>
            <a:ext cx="5056632" cy="2843784"/>
          </a:xfrm>
          <a:prstGeom prst="rect">
            <a:avLst/>
          </a:prstGeom>
        </p:spPr>
      </p:pic>
      <p:sp>
        <p:nvSpPr>
          <p:cNvPr id="51" name="Pill-49"/>
          <p:cNvSpPr txBox="1"/>
          <p:nvPr/>
        </p:nvSpPr>
        <p:spPr>
          <a:xfrm>
            <a:off x="6766560" y="731520"/>
            <a:ext cx="14630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 2.0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YATIRIM TEZİ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yayında tetikleyici olarak sese odaklı bir yatırım</a:t>
            </a:r>
            <a:endParaRPr lang="en-US" sz="3200" dirty="0"/>
          </a:p>
        </p:txBody>
      </p:sp>
      <p:sp>
        <p:nvSpPr>
          <p:cNvPr id="4" name="Card-50"/>
          <p:cNvSpPr/>
          <p:nvPr/>
        </p:nvSpPr>
        <p:spPr>
          <a:xfrm>
            <a:off x="548640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Text-51"/>
          <p:cNvSpPr txBox="1"/>
          <p:nvPr/>
        </p:nvSpPr>
        <p:spPr>
          <a:xfrm>
            <a:off x="77724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-52"/>
          <p:cNvSpPr txBox="1"/>
          <p:nvPr/>
        </p:nvSpPr>
        <p:spPr>
          <a:xfrm>
            <a:off x="777240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 ve test edildi</a:t>
            </a:r>
            <a:endParaRPr lang="en-US" sz="1800" dirty="0"/>
          </a:p>
        </p:txBody>
      </p:sp>
      <p:sp>
        <p:nvSpPr>
          <p:cNvPr id="7" name="Text-53"/>
          <p:cNvSpPr txBox="1"/>
          <p:nvPr/>
        </p:nvSpPr>
        <p:spPr>
          <a:xfrm>
            <a:off x="777240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Sürüm 2.0 çalışıyor: 238 tetikleyici, 13 sahne, 240’tan fazla otomatik test.</a:t>
            </a:r>
            <a:endParaRPr lang="en-US" sz="1300" dirty="0"/>
          </a:p>
        </p:txBody>
      </p:sp>
      <p:sp>
        <p:nvSpPr>
          <p:cNvPr id="8" name="Card-54"/>
          <p:cNvSpPr/>
          <p:nvPr/>
        </p:nvSpPr>
        <p:spPr>
          <a:xfrm>
            <a:off x="2813243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Text-55"/>
          <p:cNvSpPr txBox="1"/>
          <p:nvPr/>
        </p:nvSpPr>
        <p:spPr>
          <a:xfrm>
            <a:off x="3041843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-56"/>
          <p:cNvSpPr txBox="1"/>
          <p:nvPr/>
        </p:nvSpPr>
        <p:spPr>
          <a:xfrm>
            <a:off x="3041843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Boş bir alan</a:t>
            </a:r>
            <a:endParaRPr lang="en-US" sz="1800" dirty="0"/>
          </a:p>
        </p:txBody>
      </p:sp>
      <p:sp>
        <p:nvSpPr>
          <p:cNvPr id="11" name="Text-57"/>
          <p:cNvSpPr txBox="1"/>
          <p:nvPr/>
        </p:nvSpPr>
        <p:spPr>
          <a:xfrm>
            <a:off x="3041843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Yaygın hiçbir araç yayıncının söylediğine tepki vermiyor.</a:t>
            </a:r>
            <a:endParaRPr lang="en-US" sz="1300" dirty="0"/>
          </a:p>
        </p:txBody>
      </p:sp>
      <p:sp>
        <p:nvSpPr>
          <p:cNvPr id="12" name="Card-58"/>
          <p:cNvSpPr/>
          <p:nvPr/>
        </p:nvSpPr>
        <p:spPr>
          <a:xfrm>
            <a:off x="5077846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3" name="Text-59"/>
          <p:cNvSpPr txBox="1"/>
          <p:nvPr/>
        </p:nvSpPr>
        <p:spPr>
          <a:xfrm>
            <a:off x="5306446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-60"/>
          <p:cNvSpPr txBox="1"/>
          <p:nvPr/>
        </p:nvSpPr>
        <p:spPr>
          <a:xfrm>
            <a:off x="5306446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yayında</a:t>
            </a:r>
            <a:endParaRPr lang="en-US" sz="1800" dirty="0"/>
          </a:p>
        </p:txBody>
      </p:sp>
      <p:sp>
        <p:nvSpPr>
          <p:cNvPr id="15" name="Text-61"/>
          <p:cNvSpPr txBox="1"/>
          <p:nvPr/>
        </p:nvSpPr>
        <p:spPr>
          <a:xfrm>
            <a:off x="5306446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Hediyeler yayıncı gelirinin ≈ %50’si [Kaynak 5, 6].</a:t>
            </a:r>
            <a:endParaRPr lang="en-US" sz="1300" dirty="0"/>
          </a:p>
        </p:txBody>
      </p:sp>
      <p:sp>
        <p:nvSpPr>
          <p:cNvPr id="16" name="Card-62"/>
          <p:cNvSpPr/>
          <p:nvPr/>
        </p:nvSpPr>
        <p:spPr>
          <a:xfrm>
            <a:off x="7342449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Text-63"/>
          <p:cNvSpPr txBox="1"/>
          <p:nvPr/>
        </p:nvSpPr>
        <p:spPr>
          <a:xfrm>
            <a:off x="7571049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-64"/>
          <p:cNvSpPr txBox="1"/>
          <p:nvPr/>
        </p:nvSpPr>
        <p:spPr>
          <a:xfrm>
            <a:off x="7571049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Hesaplamak değil çizmek</a:t>
            </a:r>
            <a:endParaRPr lang="en-US" sz="1800" dirty="0"/>
          </a:p>
        </p:txBody>
      </p:sp>
      <p:sp>
        <p:nvSpPr>
          <p:cNvPr id="19" name="Text-65"/>
          <p:cNvSpPr txBox="1"/>
          <p:nvPr/>
        </p:nvSpPr>
        <p:spPr>
          <a:xfrm>
            <a:off x="7571049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Sahneler tarayıcıda: video yapay zekâsından 240 ile 10.000 kattan fazla ucuz.</a:t>
            </a:r>
            <a:endParaRPr lang="en-US" sz="1300" dirty="0"/>
          </a:p>
        </p:txBody>
      </p:sp>
      <p:sp>
        <p:nvSpPr>
          <p:cNvPr id="20" name="Card-66"/>
          <p:cNvSpPr/>
          <p:nvPr/>
        </p:nvSpPr>
        <p:spPr>
          <a:xfrm>
            <a:off x="9607052" y="1600200"/>
            <a:ext cx="2036003" cy="3383280"/>
          </a:xfrm>
          <a:prstGeom prst="roundRect">
            <a:avLst>
              <a:gd name="adj" fmla="val 5389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1" name="Text-67"/>
          <p:cNvSpPr txBox="1"/>
          <p:nvPr/>
        </p:nvSpPr>
        <p:spPr>
          <a:xfrm>
            <a:off x="9835652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-68"/>
          <p:cNvSpPr txBox="1"/>
          <p:nvPr/>
        </p:nvSpPr>
        <p:spPr>
          <a:xfrm>
            <a:off x="9835652" y="2423160"/>
            <a:ext cx="162452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motor, dört hat</a:t>
            </a:r>
            <a:endParaRPr lang="en-US" sz="1800" dirty="0"/>
          </a:p>
        </p:txBody>
      </p:sp>
      <p:sp>
        <p:nvSpPr>
          <p:cNvPr id="23" name="Text-69"/>
          <p:cNvSpPr txBox="1"/>
          <p:nvPr/>
        </p:nvSpPr>
        <p:spPr>
          <a:xfrm>
            <a:off x="9835652" y="3200400"/>
            <a:ext cx="162452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Anlatı Filmi, Kelime-Resim, Mekânlar, Studio – ikinci teknoloji yığını yok.</a:t>
            </a:r>
            <a:endParaRPr lang="en-US" sz="1300" dirty="0"/>
          </a:p>
        </p:txBody>
      </p:sp>
      <p:sp>
        <p:nvSpPr>
          <p:cNvPr id="24" name="Text-70"/>
          <p:cNvSpPr txBox="1"/>
          <p:nvPr/>
        </p:nvSpPr>
        <p:spPr>
          <a:xfrm>
            <a:off x="548640" y="5303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500.000 € ürünü pazara taşır, iki vizyon hattını prototipten ürüne çevirir.</a:t>
            </a:r>
            <a:endParaRPr lang="en-US" sz="1800" dirty="0"/>
          </a:p>
        </p:txBody>
      </p:sp>
      <p:sp>
        <p:nvSpPr>
          <p:cNvPr id="25" name="Wave-71"/>
          <p:cNvSpPr/>
          <p:nvPr/>
        </p:nvSpPr>
        <p:spPr>
          <a:xfrm>
            <a:off x="8778240" y="5550408"/>
            <a:ext cx="65047" cy="1005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Wave-72"/>
          <p:cNvSpPr/>
          <p:nvPr/>
        </p:nvSpPr>
        <p:spPr>
          <a:xfrm>
            <a:off x="8908334" y="5421674"/>
            <a:ext cx="65047" cy="3580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Wave-73"/>
          <p:cNvSpPr/>
          <p:nvPr/>
        </p:nvSpPr>
        <p:spPr>
          <a:xfrm>
            <a:off x="9038428" y="5428798"/>
            <a:ext cx="65047" cy="3438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Wave-74"/>
          <p:cNvSpPr/>
          <p:nvPr/>
        </p:nvSpPr>
        <p:spPr>
          <a:xfrm>
            <a:off x="9168523" y="5446566"/>
            <a:ext cx="65047" cy="30826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9" name="Wave-75"/>
          <p:cNvSpPr/>
          <p:nvPr/>
        </p:nvSpPr>
        <p:spPr>
          <a:xfrm>
            <a:off x="9298617" y="5403575"/>
            <a:ext cx="65047" cy="3942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Wave-76"/>
          <p:cNvSpPr/>
          <p:nvPr/>
        </p:nvSpPr>
        <p:spPr>
          <a:xfrm>
            <a:off x="9428711" y="5452667"/>
            <a:ext cx="65047" cy="29606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Wave-77"/>
          <p:cNvSpPr/>
          <p:nvPr/>
        </p:nvSpPr>
        <p:spPr>
          <a:xfrm>
            <a:off x="9558805" y="5491410"/>
            <a:ext cx="65047" cy="21858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2" name="Wave-78"/>
          <p:cNvSpPr/>
          <p:nvPr/>
        </p:nvSpPr>
        <p:spPr>
          <a:xfrm>
            <a:off x="9688899" y="5421157"/>
            <a:ext cx="65047" cy="35908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3" name="Wave-79"/>
          <p:cNvSpPr/>
          <p:nvPr/>
        </p:nvSpPr>
        <p:spPr>
          <a:xfrm>
            <a:off x="9818993" y="5450043"/>
            <a:ext cx="65047" cy="30131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4" name="Wave-80"/>
          <p:cNvSpPr/>
          <p:nvPr/>
        </p:nvSpPr>
        <p:spPr>
          <a:xfrm>
            <a:off x="9949088" y="5423724"/>
            <a:ext cx="65047" cy="35395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5" name="Wave-81"/>
          <p:cNvSpPr/>
          <p:nvPr/>
        </p:nvSpPr>
        <p:spPr>
          <a:xfrm>
            <a:off x="10079182" y="5395608"/>
            <a:ext cx="65047" cy="41018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6" name="Wave-82"/>
          <p:cNvSpPr/>
          <p:nvPr/>
        </p:nvSpPr>
        <p:spPr>
          <a:xfrm>
            <a:off x="10209276" y="5508050"/>
            <a:ext cx="65047" cy="18529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Wave-83"/>
          <p:cNvSpPr/>
          <p:nvPr/>
        </p:nvSpPr>
        <p:spPr>
          <a:xfrm>
            <a:off x="10339370" y="5453122"/>
            <a:ext cx="65047" cy="29515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8" name="Wave-84"/>
          <p:cNvSpPr/>
          <p:nvPr/>
        </p:nvSpPr>
        <p:spPr>
          <a:xfrm>
            <a:off x="10469464" y="5440863"/>
            <a:ext cx="65047" cy="31967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Wave-85"/>
          <p:cNvSpPr/>
          <p:nvPr/>
        </p:nvSpPr>
        <p:spPr>
          <a:xfrm>
            <a:off x="10599559" y="5450191"/>
            <a:ext cx="65047" cy="30101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Wave-86"/>
          <p:cNvSpPr/>
          <p:nvPr/>
        </p:nvSpPr>
        <p:spPr>
          <a:xfrm>
            <a:off x="10729653" y="5393151"/>
            <a:ext cx="65047" cy="41509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Wave-87"/>
          <p:cNvSpPr/>
          <p:nvPr/>
        </p:nvSpPr>
        <p:spPr>
          <a:xfrm>
            <a:off x="10859747" y="5417938"/>
            <a:ext cx="65047" cy="36552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2" name="Wave-88"/>
          <p:cNvSpPr/>
          <p:nvPr/>
        </p:nvSpPr>
        <p:spPr>
          <a:xfrm>
            <a:off x="10989841" y="5532227"/>
            <a:ext cx="65047" cy="13694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3" name="Wave-89"/>
          <p:cNvSpPr/>
          <p:nvPr/>
        </p:nvSpPr>
        <p:spPr>
          <a:xfrm>
            <a:off x="11119935" y="5444746"/>
            <a:ext cx="65047" cy="3119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4" name="Wave-90"/>
          <p:cNvSpPr/>
          <p:nvPr/>
        </p:nvSpPr>
        <p:spPr>
          <a:xfrm>
            <a:off x="11250029" y="5460327"/>
            <a:ext cx="65047" cy="28074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5" name="Wave-91"/>
          <p:cNvSpPr/>
          <p:nvPr/>
        </p:nvSpPr>
        <p:spPr>
          <a:xfrm>
            <a:off x="11380124" y="5426142"/>
            <a:ext cx="65047" cy="34911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6" name="Wave-92"/>
          <p:cNvSpPr/>
          <p:nvPr/>
        </p:nvSpPr>
        <p:spPr>
          <a:xfrm>
            <a:off x="11510218" y="5376384"/>
            <a:ext cx="65047" cy="4486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PAZARDAKİ BOŞLUK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Kısa videolar kurgulanır. Canlı yayın ham kalır</a:t>
            </a:r>
            <a:endParaRPr lang="en-US" sz="3200" dirty="0"/>
          </a:p>
        </p:txBody>
      </p:sp>
      <p:sp>
        <p:nvSpPr>
          <p:cNvPr id="4" name="Text-93"/>
          <p:cNvSpPr txBox="1"/>
          <p:nvPr/>
        </p:nvSpPr>
        <p:spPr>
          <a:xfrm>
            <a:off x="548640" y="1783080"/>
            <a:ext cx="1188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İzleyici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kontrollü</a:t>
            </a:r>
            <a:endParaRPr lang="en-US" sz="1200" dirty="0"/>
          </a:p>
        </p:txBody>
      </p:sp>
      <p:sp>
        <p:nvSpPr>
          <p:cNvPr id="5" name="Text-94"/>
          <p:cNvSpPr txBox="1"/>
          <p:nvPr/>
        </p:nvSpPr>
        <p:spPr>
          <a:xfrm>
            <a:off x="548640" y="3675888"/>
            <a:ext cx="1188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kontrollü</a:t>
            </a:r>
            <a:endParaRPr lang="en-US" sz="1200" dirty="0"/>
          </a:p>
        </p:txBody>
      </p:sp>
      <p:sp>
        <p:nvSpPr>
          <p:cNvPr id="6" name="Text-95"/>
          <p:cNvSpPr txBox="1"/>
          <p:nvPr/>
        </p:nvSpPr>
        <p:spPr>
          <a:xfrm>
            <a:off x="1828800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</a:t>
            </a:r>
            <a:endParaRPr lang="en-US" sz="1000" dirty="0"/>
          </a:p>
        </p:txBody>
      </p:sp>
      <p:sp>
        <p:nvSpPr>
          <p:cNvPr id="7" name="Text-96"/>
          <p:cNvSpPr txBox="1"/>
          <p:nvPr/>
        </p:nvSpPr>
        <p:spPr>
          <a:xfrm>
            <a:off x="4453128" y="1463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</a:t>
            </a:r>
            <a:endParaRPr lang="en-US" sz="1000" dirty="0"/>
          </a:p>
        </p:txBody>
      </p:sp>
      <p:sp>
        <p:nvSpPr>
          <p:cNvPr id="8" name="Card-97"/>
          <p:cNvSpPr/>
          <p:nvPr/>
        </p:nvSpPr>
        <p:spPr>
          <a:xfrm>
            <a:off x="1828800" y="1783080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Text-98"/>
          <p:cNvSpPr txBox="1"/>
          <p:nvPr/>
        </p:nvSpPr>
        <p:spPr>
          <a:xfrm>
            <a:off x="2029968" y="205740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efektleri, çıkartmalar</a:t>
            </a:r>
            <a:endParaRPr lang="en-US" sz="1600" dirty="0"/>
          </a:p>
        </p:txBody>
      </p:sp>
      <p:sp>
        <p:nvSpPr>
          <p:cNvPr id="10" name="Text-99"/>
          <p:cNvSpPr txBox="1"/>
          <p:nvPr/>
        </p:nvSpPr>
        <p:spPr>
          <a:xfrm>
            <a:off x="2029968" y="27889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seçilir</a:t>
            </a:r>
            <a:endParaRPr lang="en-US" sz="1300" dirty="0"/>
          </a:p>
        </p:txBody>
      </p:sp>
      <p:sp>
        <p:nvSpPr>
          <p:cNvPr id="11" name="Card-100"/>
          <p:cNvSpPr/>
          <p:nvPr/>
        </p:nvSpPr>
        <p:spPr>
          <a:xfrm>
            <a:off x="4453128" y="1783080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-101"/>
          <p:cNvSpPr txBox="1"/>
          <p:nvPr/>
        </p:nvSpPr>
        <p:spPr>
          <a:xfrm>
            <a:off x="4654296" y="2057400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Uyarılar (Streamlabs, StreamElements)</a:t>
            </a:r>
            <a:endParaRPr lang="en-US" sz="1600" dirty="0"/>
          </a:p>
        </p:txBody>
      </p:sp>
      <p:sp>
        <p:nvSpPr>
          <p:cNvPr id="13" name="Text-102"/>
          <p:cNvSpPr txBox="1"/>
          <p:nvPr/>
        </p:nvSpPr>
        <p:spPr>
          <a:xfrm>
            <a:off x="4654296" y="27889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takibe, bağışa tepki verir</a:t>
            </a:r>
            <a:endParaRPr lang="en-US" sz="1300" dirty="0"/>
          </a:p>
        </p:txBody>
      </p:sp>
      <p:sp>
        <p:nvSpPr>
          <p:cNvPr id="14" name="Card-103"/>
          <p:cNvSpPr/>
          <p:nvPr/>
        </p:nvSpPr>
        <p:spPr>
          <a:xfrm>
            <a:off x="1828800" y="3675888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Text-104"/>
          <p:cNvSpPr txBox="1"/>
          <p:nvPr/>
        </p:nvSpPr>
        <p:spPr>
          <a:xfrm>
            <a:off x="2029968" y="3950208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Voicemod, Stream Deck</a:t>
            </a:r>
            <a:endParaRPr lang="en-US" sz="1600" dirty="0"/>
          </a:p>
        </p:txBody>
      </p:sp>
      <p:sp>
        <p:nvSpPr>
          <p:cNvPr id="16" name="Text-105"/>
          <p:cNvSpPr txBox="1"/>
          <p:nvPr/>
        </p:nvSpPr>
        <p:spPr>
          <a:xfrm>
            <a:off x="2029968" y="468172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eller gerekir</a:t>
            </a:r>
            <a:endParaRPr lang="en-US" sz="1300" dirty="0"/>
          </a:p>
        </p:txBody>
      </p:sp>
      <p:sp>
        <p:nvSpPr>
          <p:cNvPr id="17" name="Card-106"/>
          <p:cNvSpPr/>
          <p:nvPr/>
        </p:nvSpPr>
        <p:spPr>
          <a:xfrm>
            <a:off x="4453128" y="3675888"/>
            <a:ext cx="2514600" cy="1783080"/>
          </a:xfrm>
          <a:prstGeom prst="roundRect">
            <a:avLst>
              <a:gd name="adj" fmla="val 6154"/>
            </a:avLst>
          </a:prstGeom>
          <a:solidFill>
            <a:schemeClr val="accent6"/>
          </a:solidFill>
          <a:ln w="19050">
            <a:solidFill>
              <a:srgbClr val="FF2D75"/>
            </a:solidFill>
            <a:prstDash val="solid"/>
          </a:ln>
        </p:spPr>
      </p:sp>
      <p:sp>
        <p:nvSpPr>
          <p:cNvPr id="18" name="Text-107"/>
          <p:cNvSpPr txBox="1"/>
          <p:nvPr/>
        </p:nvSpPr>
        <p:spPr>
          <a:xfrm>
            <a:off x="4654296" y="3950208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2600" dirty="0"/>
          </a:p>
        </p:txBody>
      </p:sp>
      <p:sp>
        <p:nvSpPr>
          <p:cNvPr id="19" name="Text-108"/>
          <p:cNvSpPr txBox="1"/>
          <p:nvPr/>
        </p:nvSpPr>
        <p:spPr>
          <a:xfrm>
            <a:off x="4654296" y="4681728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sese tepki verir – bu alanda tek</a:t>
            </a:r>
            <a:endParaRPr lang="en-US" sz="1300" dirty="0"/>
          </a:p>
        </p:txBody>
      </p:sp>
      <p:sp>
        <p:nvSpPr>
          <p:cNvPr id="20" name="Text-109"/>
          <p:cNvSpPr txBox="1"/>
          <p:nvPr/>
        </p:nvSpPr>
        <p:spPr>
          <a:xfrm>
            <a:off x="7406640" y="160020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~%50</a:t>
            </a:r>
            <a:endParaRPr lang="en-US" sz="3400" dirty="0"/>
          </a:p>
        </p:txBody>
      </p:sp>
      <p:sp>
        <p:nvSpPr>
          <p:cNvPr id="21" name="Text-110"/>
          <p:cNvSpPr txBox="1"/>
          <p:nvPr/>
        </p:nvSpPr>
        <p:spPr>
          <a:xfrm>
            <a:off x="7406640" y="2194560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Hediyelerin canlı yayıncı gelirindeki payı [Kaynak 5, 6]</a:t>
            </a:r>
            <a:endParaRPr lang="en-US" sz="1300" dirty="0"/>
          </a:p>
        </p:txBody>
      </p:sp>
      <p:sp>
        <p:nvSpPr>
          <p:cNvPr id="22" name="Text-111"/>
          <p:cNvSpPr txBox="1"/>
          <p:nvPr/>
        </p:nvSpPr>
        <p:spPr>
          <a:xfrm>
            <a:off x="7406640" y="306324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500–3.000 USD</a:t>
            </a:r>
            <a:endParaRPr lang="en-US" sz="3400" dirty="0"/>
          </a:p>
        </p:txBody>
      </p:sp>
      <p:sp>
        <p:nvSpPr>
          <p:cNvPr id="23" name="Text-112"/>
          <p:cNvSpPr txBox="1"/>
          <p:nvPr/>
        </p:nvSpPr>
        <p:spPr>
          <a:xfrm>
            <a:off x="7406640" y="3657600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20–100 bin takipçide aylık hediye geliri [Kaynak 5]</a:t>
            </a:r>
            <a:endParaRPr lang="en-US" sz="1300" dirty="0"/>
          </a:p>
        </p:txBody>
      </p:sp>
      <p:sp>
        <p:nvSpPr>
          <p:cNvPr id="24" name="Text-113"/>
          <p:cNvSpPr txBox="1"/>
          <p:nvPr/>
        </p:nvSpPr>
        <p:spPr>
          <a:xfrm>
            <a:off x="7406640" y="4526280"/>
            <a:ext cx="4236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milyon+</a:t>
            </a:r>
            <a:endParaRPr lang="en-US" sz="3400" dirty="0"/>
          </a:p>
        </p:txBody>
      </p:sp>
      <p:sp>
        <p:nvSpPr>
          <p:cNvPr id="25" name="Text-114"/>
          <p:cNvSpPr txBox="1"/>
          <p:nvPr/>
        </p:nvSpPr>
        <p:spPr>
          <a:xfrm>
            <a:off x="7406640" y="5120640"/>
            <a:ext cx="4236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yayıncı 2025’te yalnızca GD Asya, Kafkasya ve Orta Asya’da TikTok’ta canlı yayın yaptı, +%77 [Kaynak 2]</a:t>
            </a:r>
            <a:endParaRPr lang="en-US" sz="1300" dirty="0"/>
          </a:p>
        </p:txBody>
      </p:sp>
      <p:sp>
        <p:nvSpPr>
          <p:cNvPr id="26" name="Text-115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Kaynaklar: QUELLEN.tr.md · 2×2, PITCH-DECK.tr.md slayt 10’a göre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KANITLANMIŞ ÜRÜN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Sesten efekte bir saniyeden kısa sürede</a:t>
            </a:r>
            <a:endParaRPr lang="en-US" sz="3200" dirty="0"/>
          </a:p>
        </p:txBody>
      </p:sp>
      <p:pic>
        <p:nvPicPr>
          <p:cNvPr id="4" name="Image-116" descr="/home/user/Notion/live-fx/business/video/assets/pa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5669280" cy="3543300"/>
          </a:xfrm>
          <a:prstGeom prst="rect">
            <a:avLst/>
          </a:prstGeom>
        </p:spPr>
      </p:pic>
      <p:pic>
        <p:nvPicPr>
          <p:cNvPr id="5" name="Image-117" descr="/home/user/Notion/live-fx/business/video/assets/overlay-card.t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86200" y="3954780"/>
            <a:ext cx="2194560" cy="12344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60000"/>
              </a:srgbClr>
            </a:outerShdw>
          </a:effectLst>
        </p:spPr>
      </p:pic>
      <p:sp>
        <p:nvSpPr>
          <p:cNvPr id="6" name="Pill-118"/>
          <p:cNvSpPr txBox="1"/>
          <p:nvPr/>
        </p:nvSpPr>
        <p:spPr>
          <a:xfrm>
            <a:off x="548640" y="5257800"/>
            <a:ext cx="5669280" cy="36576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Sürüm 2.0  →  TR lansmanı 4Ç 2026  →  Pro abonelik 1Ç 2027</a:t>
            </a:r>
            <a:endParaRPr lang="en-US" sz="1200" dirty="0"/>
          </a:p>
        </p:txBody>
      </p:sp>
      <p:sp>
        <p:nvSpPr>
          <p:cNvPr id="7" name="Text-119"/>
          <p:cNvSpPr txBox="1"/>
          <p:nvPr/>
        </p:nvSpPr>
        <p:spPr>
          <a:xfrm>
            <a:off x="6583680" y="1554480"/>
            <a:ext cx="5059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Yayıncı „yok artık“, „helal olsun“ ya da „alkış“ der – meme belirir, ses çalar. Sesli okuduğunda katman animasyonlu bir sahneye dönüşür.</a:t>
            </a:r>
            <a:endParaRPr lang="en-US" sz="1400" dirty="0"/>
          </a:p>
        </p:txBody>
      </p:sp>
      <p:sp>
        <p:nvSpPr>
          <p:cNvPr id="8" name="Text-120"/>
          <p:cNvSpPr txBox="1"/>
          <p:nvPr/>
        </p:nvSpPr>
        <p:spPr>
          <a:xfrm>
            <a:off x="6583680" y="260604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2800" dirty="0"/>
          </a:p>
        </p:txBody>
      </p:sp>
      <p:sp>
        <p:nvSpPr>
          <p:cNvPr id="9" name="Text-121"/>
          <p:cNvSpPr txBox="1"/>
          <p:nvPr/>
        </p:nvSpPr>
        <p:spPr>
          <a:xfrm>
            <a:off x="6583680" y="306324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tetikleyici, 5 paket</a:t>
            </a:r>
            <a:endParaRPr lang="en-US" sz="1200" dirty="0"/>
          </a:p>
        </p:txBody>
      </p:sp>
      <p:sp>
        <p:nvSpPr>
          <p:cNvPr id="10" name="Text-122"/>
          <p:cNvSpPr txBox="1"/>
          <p:nvPr/>
        </p:nvSpPr>
        <p:spPr>
          <a:xfrm>
            <a:off x="9227668" y="260604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12</a:t>
            </a:r>
            <a:endParaRPr lang="en-US" sz="2800" dirty="0"/>
          </a:p>
        </p:txBody>
      </p:sp>
      <p:sp>
        <p:nvSpPr>
          <p:cNvPr id="11" name="Text-123"/>
          <p:cNvSpPr txBox="1"/>
          <p:nvPr/>
        </p:nvSpPr>
        <p:spPr>
          <a:xfrm>
            <a:off x="9227668" y="306324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sahne · atmosfer döngüsü</a:t>
            </a:r>
            <a:endParaRPr lang="en-US" sz="1200" dirty="0"/>
          </a:p>
        </p:txBody>
      </p:sp>
      <p:sp>
        <p:nvSpPr>
          <p:cNvPr id="12" name="Text-124"/>
          <p:cNvSpPr txBox="1"/>
          <p:nvPr/>
        </p:nvSpPr>
        <p:spPr>
          <a:xfrm>
            <a:off x="6583680" y="347472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800" dirty="0"/>
          </a:p>
        </p:txBody>
      </p:sp>
      <p:sp>
        <p:nvSpPr>
          <p:cNvPr id="13" name="Text-125"/>
          <p:cNvSpPr txBox="1"/>
          <p:nvPr/>
        </p:nvSpPr>
        <p:spPr>
          <a:xfrm>
            <a:off x="6583680" y="393192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lisanssız ses</a:t>
            </a:r>
            <a:endParaRPr lang="en-US" sz="1200" dirty="0"/>
          </a:p>
        </p:txBody>
      </p:sp>
      <p:sp>
        <p:nvSpPr>
          <p:cNvPr id="14" name="Text-126"/>
          <p:cNvSpPr txBox="1"/>
          <p:nvPr/>
        </p:nvSpPr>
        <p:spPr>
          <a:xfrm>
            <a:off x="9227668" y="347472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-127"/>
          <p:cNvSpPr txBox="1"/>
          <p:nvPr/>
        </p:nvSpPr>
        <p:spPr>
          <a:xfrm>
            <a:off x="9227668" y="393192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dil, otomatik tanıma</a:t>
            </a:r>
            <a:endParaRPr lang="en-US" sz="1200" dirty="0"/>
          </a:p>
        </p:txBody>
      </p:sp>
      <p:sp>
        <p:nvSpPr>
          <p:cNvPr id="16" name="Text-128"/>
          <p:cNvSpPr txBox="1"/>
          <p:nvPr/>
        </p:nvSpPr>
        <p:spPr>
          <a:xfrm>
            <a:off x="6583680" y="434340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sn</a:t>
            </a:r>
            <a:endParaRPr lang="en-US" sz="2800" dirty="0"/>
          </a:p>
        </p:txBody>
      </p:sp>
      <p:sp>
        <p:nvSpPr>
          <p:cNvPr id="17" name="Text-129"/>
          <p:cNvSpPr txBox="1"/>
          <p:nvPr/>
        </p:nvSpPr>
        <p:spPr>
          <a:xfrm>
            <a:off x="6583680" y="480060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 → efekt</a:t>
            </a:r>
            <a:endParaRPr lang="en-US" sz="1200" dirty="0"/>
          </a:p>
        </p:txBody>
      </p:sp>
      <p:sp>
        <p:nvSpPr>
          <p:cNvPr id="18" name="Text-130"/>
          <p:cNvSpPr txBox="1"/>
          <p:nvPr/>
        </p:nvSpPr>
        <p:spPr>
          <a:xfrm>
            <a:off x="9227668" y="4343400"/>
            <a:ext cx="2415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240+</a:t>
            </a:r>
            <a:endParaRPr lang="en-US" sz="2800" dirty="0"/>
          </a:p>
        </p:txBody>
      </p:sp>
      <p:sp>
        <p:nvSpPr>
          <p:cNvPr id="19" name="Text-131"/>
          <p:cNvSpPr txBox="1"/>
          <p:nvPr/>
        </p:nvSpPr>
        <p:spPr>
          <a:xfrm>
            <a:off x="9227668" y="4800600"/>
            <a:ext cx="2415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test</a:t>
            </a:r>
            <a:endParaRPr lang="en-US" sz="1200" dirty="0"/>
          </a:p>
        </p:txBody>
      </p:sp>
      <p:sp>
        <p:nvSpPr>
          <p:cNvPr id="20" name="Text-132"/>
          <p:cNvSpPr txBox="1"/>
          <p:nvPr/>
        </p:nvSpPr>
        <p:spPr>
          <a:xfrm>
            <a:off x="6583680" y="5257800"/>
            <a:ext cx="5059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Hikâye modu · izleyici tetikleyicileri (sohbet, hediye) · telefondan kumanda · çevrimdışı · açık API · OBS/Streamlabs → TikTok LIVE, Instagram, YouTube, Twitch</a:t>
            </a:r>
            <a:endParaRPr lang="en-US" sz="1200" dirty="0"/>
          </a:p>
        </p:txBody>
      </p:sp>
      <p:sp>
        <p:nvSpPr>
          <p:cNvPr id="21" name="Text-133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BUSINESSPLAN.tr.md §3; testler: PITCH-DECK.tr.md slayt 9 · henüz gelir yok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VİZYON 2027–2029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anlat – sahne oluşsun</a:t>
            </a:r>
            <a:endParaRPr lang="en-US" sz="3200" dirty="0"/>
          </a:p>
        </p:txBody>
      </p:sp>
      <p:sp>
        <p:nvSpPr>
          <p:cNvPr id="4" name="Card-134"/>
          <p:cNvSpPr/>
          <p:nvPr/>
        </p:nvSpPr>
        <p:spPr>
          <a:xfrm>
            <a:off x="548640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5" name="Image-135" descr="/home/user/Notion/live-fx/business/video/stills/vision-tr-16x9-8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2602154" cy="1463712"/>
          </a:xfrm>
          <a:prstGeom prst="rect">
            <a:avLst/>
          </a:prstGeom>
        </p:spPr>
      </p:pic>
      <p:sp>
        <p:nvSpPr>
          <p:cNvPr id="6" name="Badge-136"/>
          <p:cNvSpPr txBox="1"/>
          <p:nvPr/>
        </p:nvSpPr>
        <p:spPr>
          <a:xfrm>
            <a:off x="731520" y="3219360"/>
            <a:ext cx="457200" cy="4572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-137"/>
          <p:cNvSpPr txBox="1"/>
          <p:nvPr/>
        </p:nvSpPr>
        <p:spPr>
          <a:xfrm>
            <a:off x="1325880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Anlatı Filmi</a:t>
            </a:r>
            <a:endParaRPr lang="en-US" sz="2000" dirty="0"/>
          </a:p>
        </p:txBody>
      </p:sp>
      <p:sp>
        <p:nvSpPr>
          <p:cNvPr id="8" name="Text-138"/>
          <p:cNvSpPr txBox="1"/>
          <p:nvPr/>
        </p:nvSpPr>
        <p:spPr>
          <a:xfrm>
            <a:off x="731520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Scene Engine: Anlatılan cümlelerden canlı ve kesintisiz bir animasyon filmi oluşur.</a:t>
            </a:r>
            <a:endParaRPr lang="en-US" sz="1300" dirty="0"/>
          </a:p>
        </p:txBody>
      </p:sp>
      <p:sp>
        <p:nvSpPr>
          <p:cNvPr id="9" name="Pill-139"/>
          <p:cNvSpPr txBox="1"/>
          <p:nvPr/>
        </p:nvSpPr>
        <p:spPr>
          <a:xfrm>
            <a:off x="731520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</a:t>
            </a:r>
            <a:endParaRPr lang="en-US" sz="1000" dirty="0"/>
          </a:p>
        </p:txBody>
      </p:sp>
      <p:sp>
        <p:nvSpPr>
          <p:cNvPr id="10" name="Card-140"/>
          <p:cNvSpPr/>
          <p:nvPr/>
        </p:nvSpPr>
        <p:spPr>
          <a:xfrm>
            <a:off x="3379394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11" name="Image-141" descr="/home/user/Notion/live-fx/business/video/stills/vision-tr-16x9-15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79394" y="1554480"/>
            <a:ext cx="2602154" cy="1463712"/>
          </a:xfrm>
          <a:prstGeom prst="rect">
            <a:avLst/>
          </a:prstGeom>
        </p:spPr>
      </p:pic>
      <p:sp>
        <p:nvSpPr>
          <p:cNvPr id="12" name="Badge-142"/>
          <p:cNvSpPr txBox="1"/>
          <p:nvPr/>
        </p:nvSpPr>
        <p:spPr>
          <a:xfrm>
            <a:off x="3562274" y="3219360"/>
            <a:ext cx="457200" cy="45720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-143"/>
          <p:cNvSpPr txBox="1"/>
          <p:nvPr/>
        </p:nvSpPr>
        <p:spPr>
          <a:xfrm>
            <a:off x="4156634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Kelime-Resim</a:t>
            </a:r>
            <a:endParaRPr lang="en-US" sz="2000" dirty="0"/>
          </a:p>
        </p:txBody>
      </p:sp>
      <p:sp>
        <p:nvSpPr>
          <p:cNvPr id="14" name="Text-144"/>
          <p:cNvSpPr txBox="1"/>
          <p:nvPr/>
        </p:nvSpPr>
        <p:spPr>
          <a:xfrm>
            <a:off x="3562274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 öğrenme: kelime → resim + hedef dil + telaffuz; okuma desteği, tekrar etme.</a:t>
            </a:r>
            <a:endParaRPr lang="en-US" sz="1300" dirty="0"/>
          </a:p>
        </p:txBody>
      </p:sp>
      <p:sp>
        <p:nvSpPr>
          <p:cNvPr id="15" name="Pill-145"/>
          <p:cNvSpPr txBox="1"/>
          <p:nvPr/>
        </p:nvSpPr>
        <p:spPr>
          <a:xfrm>
            <a:off x="3562274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</a:t>
            </a:r>
            <a:endParaRPr lang="en-US" sz="1000" dirty="0"/>
          </a:p>
        </p:txBody>
      </p:sp>
      <p:sp>
        <p:nvSpPr>
          <p:cNvPr id="16" name="Card-146"/>
          <p:cNvSpPr/>
          <p:nvPr/>
        </p:nvSpPr>
        <p:spPr>
          <a:xfrm>
            <a:off x="6210148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17" name="Image-147" descr="/home/user/Notion/live-fx/business/video/stills/vision-tr-16x9-22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0148" y="1554480"/>
            <a:ext cx="2602154" cy="1463712"/>
          </a:xfrm>
          <a:prstGeom prst="rect">
            <a:avLst/>
          </a:prstGeom>
        </p:spPr>
      </p:pic>
      <p:sp>
        <p:nvSpPr>
          <p:cNvPr id="18" name="Badge-148"/>
          <p:cNvSpPr txBox="1"/>
          <p:nvPr/>
        </p:nvSpPr>
        <p:spPr>
          <a:xfrm>
            <a:off x="6393028" y="3219360"/>
            <a:ext cx="457200" cy="4572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-149"/>
          <p:cNvSpPr txBox="1"/>
          <p:nvPr/>
        </p:nvSpPr>
        <p:spPr>
          <a:xfrm>
            <a:off x="6987388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Mekânlar</a:t>
            </a:r>
            <a:endParaRPr lang="en-US" sz="2000" dirty="0"/>
          </a:p>
        </p:txBody>
      </p:sp>
      <p:sp>
        <p:nvSpPr>
          <p:cNvPr id="20" name="Text-150"/>
          <p:cNvSpPr txBox="1"/>
          <p:nvPr/>
        </p:nvSpPr>
        <p:spPr>
          <a:xfrm>
            <a:off x="6393028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zaman çizelgesi sahnede, projeksiyonda, telefonda AR’da, VR’da ve gözlükte.</a:t>
            </a:r>
            <a:endParaRPr lang="en-US" sz="1300" dirty="0"/>
          </a:p>
        </p:txBody>
      </p:sp>
      <p:sp>
        <p:nvSpPr>
          <p:cNvPr id="21" name="Pill-151"/>
          <p:cNvSpPr txBox="1"/>
          <p:nvPr/>
        </p:nvSpPr>
        <p:spPr>
          <a:xfrm>
            <a:off x="6393028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SAHNE BUGÜN</a:t>
            </a:r>
            <a:endParaRPr lang="en-US" sz="1000" dirty="0"/>
          </a:p>
        </p:txBody>
      </p:sp>
      <p:sp>
        <p:nvSpPr>
          <p:cNvPr id="22" name="Card-152"/>
          <p:cNvSpPr/>
          <p:nvPr/>
        </p:nvSpPr>
        <p:spPr>
          <a:xfrm>
            <a:off x="9040901" y="1554480"/>
            <a:ext cx="2602154" cy="3886200"/>
          </a:xfrm>
          <a:prstGeom prst="roundRect">
            <a:avLst>
              <a:gd name="adj" fmla="val 4217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pic>
        <p:nvPicPr>
          <p:cNvPr id="23" name="Image-153" descr="/home/user/Notion/live-fx/business/video/stills/vision-tr-16x9-29s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40901" y="1554480"/>
            <a:ext cx="2602154" cy="1463712"/>
          </a:xfrm>
          <a:prstGeom prst="rect">
            <a:avLst/>
          </a:prstGeom>
        </p:spPr>
      </p:pic>
      <p:sp>
        <p:nvSpPr>
          <p:cNvPr id="24" name="Badge-154"/>
          <p:cNvSpPr txBox="1"/>
          <p:nvPr/>
        </p:nvSpPr>
        <p:spPr>
          <a:xfrm>
            <a:off x="9223781" y="3219360"/>
            <a:ext cx="457200" cy="4572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200" dirty="0"/>
          </a:p>
        </p:txBody>
      </p:sp>
      <p:sp>
        <p:nvSpPr>
          <p:cNvPr id="25" name="Text-155"/>
          <p:cNvSpPr txBox="1"/>
          <p:nvPr/>
        </p:nvSpPr>
        <p:spPr>
          <a:xfrm>
            <a:off x="9818141" y="3219360"/>
            <a:ext cx="1687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2000" dirty="0"/>
          </a:p>
        </p:txBody>
      </p:sp>
      <p:sp>
        <p:nvSpPr>
          <p:cNvPr id="26" name="Text-156"/>
          <p:cNvSpPr txBox="1"/>
          <p:nvPr/>
        </p:nvSpPr>
        <p:spPr>
          <a:xfrm>
            <a:off x="9223781" y="3841152"/>
            <a:ext cx="22363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Yayından öne çıkan anlar, hazır videoların otomatik kurgusu, yerel dışa aktarım.</a:t>
            </a:r>
            <a:endParaRPr lang="en-US" sz="1300" dirty="0"/>
          </a:p>
        </p:txBody>
      </p:sp>
      <p:sp>
        <p:nvSpPr>
          <p:cNvPr id="27" name="Pill-157"/>
          <p:cNvSpPr txBox="1"/>
          <p:nvPr/>
        </p:nvSpPr>
        <p:spPr>
          <a:xfrm>
            <a:off x="9223781" y="4983480"/>
            <a:ext cx="2236394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VIZYON</a:t>
            </a:r>
            <a:endParaRPr lang="en-US" sz="1000" dirty="0"/>
          </a:p>
        </p:txBody>
      </p:sp>
      <p:sp>
        <p:nvSpPr>
          <p:cNvPr id="28" name="Text-158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Gelire yakınlığa göre sıra: önce Kelime-Resim ve hikâye motoru – XR vitrin olarak kalır.</a:t>
            </a:r>
            <a:endParaRPr lang="en-US" sz="1500" dirty="0"/>
          </a:p>
        </p:txBody>
      </p:sp>
      <p:sp>
        <p:nvSpPr>
          <p:cNvPr id="29" name="Text-159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VISION.tr.md §1, BUSINESSPLAN.tr.md §15 · Görseller: vizyon fragmanı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PROTOTİPLER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hat şimdiden tarayıcıda çalışıyor</a:t>
            </a:r>
            <a:endParaRPr lang="en-US" sz="3200" dirty="0"/>
          </a:p>
        </p:txBody>
      </p:sp>
      <p:pic>
        <p:nvPicPr>
          <p:cNvPr id="4" name="Image-160" descr="/home/user/Notion/investor/assets/proto-story-t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3794760" cy="2924567"/>
          </a:xfrm>
          <a:prstGeom prst="rect">
            <a:avLst/>
          </a:prstGeom>
        </p:spPr>
      </p:pic>
      <p:pic>
        <p:nvPicPr>
          <p:cNvPr id="5" name="Image-161" descr="/home/user/Notion/investor/assets/proto-wortbild-t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1554480"/>
            <a:ext cx="3200400" cy="1916906"/>
          </a:xfrm>
          <a:prstGeom prst="rect">
            <a:avLst/>
          </a:prstGeom>
        </p:spPr>
      </p:pic>
      <p:sp>
        <p:nvSpPr>
          <p:cNvPr id="6" name="Text-162"/>
          <p:cNvSpPr txBox="1"/>
          <p:nvPr/>
        </p:nvSpPr>
        <p:spPr>
          <a:xfrm>
            <a:off x="548640" y="4570487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Anlatı Filmi</a:t>
            </a:r>
            <a:endParaRPr lang="en-US" sz="1500" dirty="0"/>
          </a:p>
        </p:txBody>
      </p:sp>
      <p:sp>
        <p:nvSpPr>
          <p:cNvPr id="7" name="Text-163"/>
          <p:cNvSpPr txBox="1"/>
          <p:nvPr/>
        </p:nvSpPr>
        <p:spPr>
          <a:xfrm>
            <a:off x="548640" y="4908815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live-story.html: 22 karakter, 10 mekân, hava, duygu · 60 fps</a:t>
            </a:r>
            <a:endParaRPr lang="en-US" sz="1200" dirty="0"/>
          </a:p>
        </p:txBody>
      </p:sp>
      <p:sp>
        <p:nvSpPr>
          <p:cNvPr id="8" name="Text-164"/>
          <p:cNvSpPr txBox="1"/>
          <p:nvPr/>
        </p:nvSpPr>
        <p:spPr>
          <a:xfrm>
            <a:off x="4617720" y="356282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Kelime-Resim</a:t>
            </a:r>
            <a:endParaRPr lang="en-US" sz="1500" dirty="0"/>
          </a:p>
        </p:txBody>
      </p:sp>
      <p:sp>
        <p:nvSpPr>
          <p:cNvPr id="9" name="Text-165"/>
          <p:cNvSpPr txBox="1"/>
          <p:nvPr/>
        </p:nvSpPr>
        <p:spPr>
          <a:xfrm>
            <a:off x="4617720" y="390115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sprachlernen.html: 85 kelime DE/TR/EN, hece, telaffuz</a:t>
            </a:r>
            <a:endParaRPr lang="en-US" sz="1200" dirty="0"/>
          </a:p>
        </p:txBody>
      </p:sp>
      <p:sp>
        <p:nvSpPr>
          <p:cNvPr id="10" name="Card-166"/>
          <p:cNvSpPr/>
          <p:nvPr/>
        </p:nvSpPr>
        <p:spPr>
          <a:xfrm>
            <a:off x="8183880" y="1554480"/>
            <a:ext cx="3459175" cy="4343400"/>
          </a:xfrm>
          <a:prstGeom prst="roundRect">
            <a:avLst>
              <a:gd name="adj" fmla="val 317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1" name="Text-167"/>
          <p:cNvSpPr txBox="1"/>
          <p:nvPr/>
        </p:nvSpPr>
        <p:spPr>
          <a:xfrm>
            <a:off x="8458200" y="1737360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Üretmek yerine çizmek</a:t>
            </a:r>
            <a:endParaRPr lang="en-US" sz="1800" dirty="0"/>
          </a:p>
        </p:txBody>
      </p:sp>
      <p:sp>
        <p:nvSpPr>
          <p:cNvPr id="12" name="Text-168"/>
          <p:cNvSpPr txBox="1"/>
          <p:nvPr/>
        </p:nvSpPr>
        <p:spPr>
          <a:xfrm>
            <a:off x="8458200" y="2331720"/>
            <a:ext cx="2910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YAPAY ZEKÂSI</a:t>
            </a:r>
            <a:endParaRPr lang="en-US" sz="1000" dirty="0"/>
          </a:p>
        </p:txBody>
      </p:sp>
      <p:sp>
        <p:nvSpPr>
          <p:cNvPr id="13" name="Text-169"/>
          <p:cNvSpPr txBox="1"/>
          <p:nvPr/>
        </p:nvSpPr>
        <p:spPr>
          <a:xfrm>
            <a:off x="8458200" y="2587752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180–2.700 USD</a:t>
            </a:r>
            <a:endParaRPr lang="en-US" sz="2600" dirty="0"/>
          </a:p>
        </p:txBody>
      </p:sp>
      <p:sp>
        <p:nvSpPr>
          <p:cNvPr id="14" name="Text-170"/>
          <p:cNvSpPr txBox="1"/>
          <p:nvPr/>
        </p:nvSpPr>
        <p:spPr>
          <a:xfrm>
            <a:off x="8458200" y="3108960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 başına [Kaynak 24, 25]</a:t>
            </a:r>
            <a:endParaRPr lang="en-US" sz="1100" dirty="0"/>
          </a:p>
        </p:txBody>
      </p:sp>
      <p:sp>
        <p:nvSpPr>
          <p:cNvPr id="15" name="Text-171"/>
          <p:cNvSpPr txBox="1"/>
          <p:nvPr/>
        </p:nvSpPr>
        <p:spPr>
          <a:xfrm>
            <a:off x="8458200" y="3566160"/>
            <a:ext cx="2910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000" dirty="0"/>
          </a:p>
        </p:txBody>
      </p:sp>
      <p:sp>
        <p:nvSpPr>
          <p:cNvPr id="16" name="Text-172"/>
          <p:cNvSpPr txBox="1"/>
          <p:nvPr/>
        </p:nvSpPr>
        <p:spPr>
          <a:xfrm>
            <a:off x="8458200" y="3822192"/>
            <a:ext cx="2910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 – 0,75 USD</a:t>
            </a:r>
            <a:endParaRPr lang="en-US" sz="2600" dirty="0"/>
          </a:p>
        </p:txBody>
      </p:sp>
      <p:sp>
        <p:nvSpPr>
          <p:cNvPr id="17" name="Text-173"/>
          <p:cNvSpPr txBox="1"/>
          <p:nvPr/>
        </p:nvSpPr>
        <p:spPr>
          <a:xfrm>
            <a:off x="8458200" y="4343400"/>
            <a:ext cx="2910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 başına (proje ölçümü)</a:t>
            </a:r>
            <a:endParaRPr lang="en-US" sz="1100" dirty="0"/>
          </a:p>
        </p:txBody>
      </p:sp>
      <p:sp>
        <p:nvSpPr>
          <p:cNvPr id="18" name="Text-174"/>
          <p:cNvSpPr txBox="1"/>
          <p:nvPr/>
        </p:nvSpPr>
        <p:spPr>
          <a:xfrm>
            <a:off x="8458200" y="4846320"/>
            <a:ext cx="2910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ile 10.000 kattan fazla ucuz – ve canlı çalışan tek çözüm.</a:t>
            </a:r>
            <a:endParaRPr lang="en-US" sz="1400" dirty="0"/>
          </a:p>
        </p:txBody>
      </p:sp>
      <p:sp>
        <p:nvSpPr>
          <p:cNvPr id="19" name="Text-175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prototypes/README.md, VISION.tr.md §2 · prototiplerin ekran görüntüleri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PAZAR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bir giriş noktası olan büyüme pazarı</a:t>
            </a:r>
            <a:endParaRPr lang="en-US" sz="3200" dirty="0"/>
          </a:p>
        </p:txBody>
      </p:sp>
      <p:sp>
        <p:nvSpPr>
          <p:cNvPr id="4" name="Ring-176"/>
          <p:cNvSpPr/>
          <p:nvPr/>
        </p:nvSpPr>
        <p:spPr>
          <a:xfrm>
            <a:off x="548640" y="1600200"/>
            <a:ext cx="4206240" cy="4206240"/>
          </a:xfrm>
          <a:prstGeom prst="ellipse">
            <a:avLst/>
          </a:prstGeom>
          <a:solidFill>
            <a:srgbClr val="1A1D24"/>
          </a:solidFill>
          <a:ln w="15875">
            <a:solidFill>
              <a:srgbClr val="2A2E38"/>
            </a:solidFill>
            <a:prstDash val="solid"/>
          </a:ln>
        </p:spPr>
      </p:sp>
      <p:sp>
        <p:nvSpPr>
          <p:cNvPr id="5" name="Ring-177"/>
          <p:cNvSpPr/>
          <p:nvPr/>
        </p:nvSpPr>
        <p:spPr>
          <a:xfrm>
            <a:off x="1234440" y="2971800"/>
            <a:ext cx="2834640" cy="2834640"/>
          </a:xfrm>
          <a:prstGeom prst="ellipse">
            <a:avLst/>
          </a:prstGeom>
          <a:solidFill>
            <a:srgbClr val="2A1622"/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6" name="Ring-178"/>
          <p:cNvSpPr/>
          <p:nvPr/>
        </p:nvSpPr>
        <p:spPr>
          <a:xfrm>
            <a:off x="1920240" y="4343400"/>
            <a:ext cx="1463040" cy="1463040"/>
          </a:xfrm>
          <a:prstGeom prst="ellipse">
            <a:avLst/>
          </a:prstGeom>
          <a:solidFill>
            <a:srgbClr val="3A0F22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7" name="Text-179"/>
          <p:cNvSpPr txBox="1"/>
          <p:nvPr/>
        </p:nvSpPr>
        <p:spPr>
          <a:xfrm>
            <a:off x="1005840" y="1874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gelir elde eden canlı yayıncı</a:t>
            </a:r>
            <a:endParaRPr lang="en-US" sz="1000" dirty="0"/>
          </a:p>
        </p:txBody>
      </p:sp>
      <p:sp>
        <p:nvSpPr>
          <p:cNvPr id="8" name="Text-180"/>
          <p:cNvSpPr txBox="1"/>
          <p:nvPr/>
        </p:nvSpPr>
        <p:spPr>
          <a:xfrm>
            <a:off x="1005840" y="2121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milyon</a:t>
            </a:r>
            <a:endParaRPr lang="en-US" sz="2200" dirty="0"/>
          </a:p>
        </p:txBody>
      </p:sp>
      <p:sp>
        <p:nvSpPr>
          <p:cNvPr id="9" name="Text-181"/>
          <p:cNvSpPr txBox="1"/>
          <p:nvPr/>
        </p:nvSpPr>
        <p:spPr>
          <a:xfrm>
            <a:off x="155448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TR/DE/EN</a:t>
            </a:r>
            <a:endParaRPr lang="en-US" sz="1000" dirty="0"/>
          </a:p>
        </p:txBody>
      </p:sp>
      <p:sp>
        <p:nvSpPr>
          <p:cNvPr id="10" name="Text-182"/>
          <p:cNvSpPr txBox="1"/>
          <p:nvPr/>
        </p:nvSpPr>
        <p:spPr>
          <a:xfrm>
            <a:off x="1554480" y="34472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milyon</a:t>
            </a:r>
            <a:endParaRPr lang="en-US" sz="2200" dirty="0"/>
          </a:p>
        </p:txBody>
      </p:sp>
      <p:sp>
        <p:nvSpPr>
          <p:cNvPr id="11" name="Text-183"/>
          <p:cNvSpPr txBox="1"/>
          <p:nvPr/>
        </p:nvSpPr>
        <p:spPr>
          <a:xfrm>
            <a:off x="2011680" y="4617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· 3. yıl ücretli</a:t>
            </a:r>
            <a:endParaRPr lang="en-US" sz="900" dirty="0"/>
          </a:p>
        </p:txBody>
      </p:sp>
      <p:sp>
        <p:nvSpPr>
          <p:cNvPr id="12" name="Text-184"/>
          <p:cNvSpPr txBox="1"/>
          <p:nvPr/>
        </p:nvSpPr>
        <p:spPr>
          <a:xfrm>
            <a:off x="2011680" y="4937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 bin</a:t>
            </a:r>
            <a:endParaRPr lang="en-US" sz="1800" dirty="0"/>
          </a:p>
        </p:txBody>
      </p:sp>
      <p:sp>
        <p:nvSpPr>
          <p:cNvPr id="13" name="Text-185"/>
          <p:cNvSpPr txBox="1"/>
          <p:nvPr/>
        </p:nvSpPr>
        <p:spPr>
          <a:xfrm>
            <a:off x="548640" y="58521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Aşağıdan yukarı, tahmin (BUSINESSPLAN.tr.md §6)</a:t>
            </a:r>
            <a:endParaRPr lang="en-US" sz="900" dirty="0"/>
          </a:p>
        </p:txBody>
      </p:sp>
      <p:sp>
        <p:nvSpPr>
          <p:cNvPr id="14" name="Text-186"/>
          <p:cNvSpPr txBox="1"/>
          <p:nvPr/>
        </p:nvSpPr>
        <p:spPr>
          <a:xfrm>
            <a:off x="5257800" y="15544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pazar: canlı yayın</a:t>
            </a:r>
            <a:endParaRPr lang="en-US" sz="1600" dirty="0"/>
          </a:p>
        </p:txBody>
      </p:sp>
      <p:sp>
        <p:nvSpPr>
          <p:cNvPr id="15" name="Text-187"/>
          <p:cNvSpPr txBox="1"/>
          <p:nvPr/>
        </p:nvSpPr>
        <p:spPr>
          <a:xfrm>
            <a:off x="5257800" y="20116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97–157 milyar USD</a:t>
            </a:r>
            <a:endParaRPr lang="en-US" sz="2400" dirty="0"/>
          </a:p>
        </p:txBody>
      </p:sp>
      <p:sp>
        <p:nvSpPr>
          <p:cNvPr id="16" name="Text-188"/>
          <p:cNvSpPr txBox="1"/>
          <p:nvPr/>
        </p:nvSpPr>
        <p:spPr>
          <a:xfrm>
            <a:off x="5257800" y="248716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yayın 2026 [K 1, 2]</a:t>
            </a:r>
            <a:endParaRPr lang="en-US" sz="1200" dirty="0"/>
          </a:p>
        </p:txBody>
      </p:sp>
      <p:sp>
        <p:nvSpPr>
          <p:cNvPr id="17" name="Text-189"/>
          <p:cNvSpPr txBox="1"/>
          <p:nvPr/>
        </p:nvSpPr>
        <p:spPr>
          <a:xfrm>
            <a:off x="5257800" y="320040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216–260 milyar USD</a:t>
            </a:r>
            <a:endParaRPr lang="en-US" sz="2400" dirty="0"/>
          </a:p>
        </p:txBody>
      </p:sp>
      <p:sp>
        <p:nvSpPr>
          <p:cNvPr id="18" name="Text-190"/>
          <p:cNvSpPr txBox="1"/>
          <p:nvPr/>
        </p:nvSpPr>
        <p:spPr>
          <a:xfrm>
            <a:off x="5257800" y="367588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İçerik üreticisi ekonomisi 2026 [K 3, 4]</a:t>
            </a:r>
            <a:endParaRPr lang="en-US" sz="1200" dirty="0"/>
          </a:p>
        </p:txBody>
      </p:sp>
      <p:sp>
        <p:nvSpPr>
          <p:cNvPr id="19" name="Text-191"/>
          <p:cNvSpPr txBox="1"/>
          <p:nvPr/>
        </p:nvSpPr>
        <p:spPr>
          <a:xfrm>
            <a:off x="5257800" y="43891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~%14</a:t>
            </a:r>
            <a:endParaRPr lang="en-US" sz="2400" dirty="0"/>
          </a:p>
        </p:txBody>
      </p:sp>
      <p:sp>
        <p:nvSpPr>
          <p:cNvPr id="20" name="Text-192"/>
          <p:cNvSpPr txBox="1"/>
          <p:nvPr/>
        </p:nvSpPr>
        <p:spPr>
          <a:xfrm>
            <a:off x="5257800" y="4864608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yayın payı ≈ 36 milyar USD [K 3]</a:t>
            </a:r>
            <a:endParaRPr lang="en-US" sz="1200" dirty="0"/>
          </a:p>
        </p:txBody>
      </p:sp>
      <p:sp>
        <p:nvSpPr>
          <p:cNvPr id="21" name="Text-193"/>
          <p:cNvSpPr txBox="1"/>
          <p:nvPr/>
        </p:nvSpPr>
        <p:spPr>
          <a:xfrm>
            <a:off x="8549640" y="1554480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Komşu pazarlar (vizyon)</a:t>
            </a:r>
            <a:endParaRPr lang="en-US" sz="1600" dirty="0"/>
          </a:p>
        </p:txBody>
      </p:sp>
      <p:sp>
        <p:nvSpPr>
          <p:cNvPr id="22" name="Text-194"/>
          <p:cNvSpPr txBox="1"/>
          <p:nvPr/>
        </p:nvSpPr>
        <p:spPr>
          <a:xfrm>
            <a:off x="8549640" y="201168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3,67 milyar USD</a:t>
            </a:r>
            <a:endParaRPr lang="en-US" sz="1800" dirty="0"/>
          </a:p>
        </p:txBody>
      </p:sp>
      <p:sp>
        <p:nvSpPr>
          <p:cNvPr id="23" name="Text-195"/>
          <p:cNvSpPr txBox="1"/>
          <p:nvPr/>
        </p:nvSpPr>
        <p:spPr>
          <a:xfrm>
            <a:off x="8549640" y="237744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ile video 2026 [K 23]</a:t>
            </a:r>
            <a:endParaRPr lang="en-US" sz="1100" dirty="0"/>
          </a:p>
        </p:txBody>
      </p:sp>
      <p:sp>
        <p:nvSpPr>
          <p:cNvPr id="24" name="Text-196"/>
          <p:cNvSpPr txBox="1"/>
          <p:nvPr/>
        </p:nvSpPr>
        <p:spPr>
          <a:xfrm>
            <a:off x="8549640" y="276148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 milyar USD</a:t>
            </a:r>
            <a:endParaRPr lang="en-US" sz="1800" dirty="0"/>
          </a:p>
        </p:txBody>
      </p:sp>
      <p:sp>
        <p:nvSpPr>
          <p:cNvPr id="25" name="Text-197"/>
          <p:cNvSpPr txBox="1"/>
          <p:nvPr/>
        </p:nvSpPr>
        <p:spPr>
          <a:xfrm>
            <a:off x="8549640" y="312724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kurgu 2026 [K 51]</a:t>
            </a:r>
            <a:endParaRPr lang="en-US" sz="1100" dirty="0"/>
          </a:p>
        </p:txBody>
      </p:sp>
      <p:sp>
        <p:nvSpPr>
          <p:cNvPr id="26" name="Text-198"/>
          <p:cNvSpPr txBox="1"/>
          <p:nvPr/>
        </p:nvSpPr>
        <p:spPr>
          <a:xfrm>
            <a:off x="8549640" y="3511296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1,54 milyar USD</a:t>
            </a:r>
            <a:endParaRPr lang="en-US" sz="1800" dirty="0"/>
          </a:p>
        </p:txBody>
      </p:sp>
      <p:sp>
        <p:nvSpPr>
          <p:cNvPr id="27" name="Text-199"/>
          <p:cNvSpPr txBox="1"/>
          <p:nvPr/>
        </p:nvSpPr>
        <p:spPr>
          <a:xfrm>
            <a:off x="8549640" y="38770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 öğrenme uygulamaları 2025 [K 33]</a:t>
            </a:r>
            <a:endParaRPr lang="en-US" sz="1100" dirty="0"/>
          </a:p>
        </p:txBody>
      </p:sp>
      <p:sp>
        <p:nvSpPr>
          <p:cNvPr id="28" name="Text-200"/>
          <p:cNvSpPr txBox="1"/>
          <p:nvPr/>
        </p:nvSpPr>
        <p:spPr>
          <a:xfrm>
            <a:off x="8549640" y="426110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374 milyon €</a:t>
            </a:r>
            <a:endParaRPr lang="en-US" sz="1800" dirty="0"/>
          </a:p>
        </p:txBody>
      </p:sp>
      <p:sp>
        <p:nvSpPr>
          <p:cNvPr id="29" name="Text-201"/>
          <p:cNvSpPr txBox="1"/>
          <p:nvPr/>
        </p:nvSpPr>
        <p:spPr>
          <a:xfrm>
            <a:off x="8549640" y="462686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Almanya sesli kitap 2025 [K 19]</a:t>
            </a:r>
            <a:endParaRPr lang="en-US" sz="1100" dirty="0"/>
          </a:p>
        </p:txBody>
      </p:sp>
      <p:sp>
        <p:nvSpPr>
          <p:cNvPr id="30" name="Text-202"/>
          <p:cNvSpPr txBox="1"/>
          <p:nvPr/>
        </p:nvSpPr>
        <p:spPr>
          <a:xfrm>
            <a:off x="8549640" y="501091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 milyar USD</a:t>
            </a:r>
            <a:endParaRPr lang="en-US" sz="1800" dirty="0"/>
          </a:p>
        </p:txBody>
      </p:sp>
      <p:sp>
        <p:nvSpPr>
          <p:cNvPr id="31" name="Text-203"/>
          <p:cNvSpPr txBox="1"/>
          <p:nvPr/>
        </p:nvSpPr>
        <p:spPr>
          <a:xfrm>
            <a:off x="8549640" y="53766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Akıllı gözlük 2026 [K 45]</a:t>
            </a:r>
            <a:endParaRPr lang="en-US" sz="1100" dirty="0"/>
          </a:p>
        </p:txBody>
      </p:sp>
      <p:sp>
        <p:nvSpPr>
          <p:cNvPr id="32" name="Text-204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 n] = QUELLEN.tr.md’deki [Kaynak n] · komşu pazarlar SOM’a dahil değil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İŞ MODELİ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Yayıncılar için freemium, kurumlar için lisans</a:t>
            </a:r>
            <a:endParaRPr lang="en-US" sz="3200" dirty="0"/>
          </a:p>
        </p:txBody>
      </p:sp>
      <p:sp>
        <p:nvSpPr>
          <p:cNvPr id="4" name="Card-205"/>
          <p:cNvSpPr/>
          <p:nvPr/>
        </p:nvSpPr>
        <p:spPr>
          <a:xfrm>
            <a:off x="548640" y="1554480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Text-206"/>
          <p:cNvSpPr txBox="1"/>
          <p:nvPr/>
        </p:nvSpPr>
        <p:spPr>
          <a:xfrm>
            <a:off x="749808" y="1737360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6" name="Text-207"/>
          <p:cNvSpPr txBox="1"/>
          <p:nvPr/>
        </p:nvSpPr>
        <p:spPr>
          <a:xfrm>
            <a:off x="749808" y="2029968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2100" dirty="0"/>
          </a:p>
        </p:txBody>
      </p:sp>
      <p:sp>
        <p:nvSpPr>
          <p:cNvPr id="7" name="Text-208"/>
          <p:cNvSpPr txBox="1"/>
          <p:nvPr/>
        </p:nvSpPr>
        <p:spPr>
          <a:xfrm>
            <a:off x="749808" y="2606040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işlev, standart paketler, telefondan kumanda</a:t>
            </a:r>
            <a:endParaRPr lang="en-US" sz="1200" dirty="0"/>
          </a:p>
        </p:txBody>
      </p:sp>
      <p:sp>
        <p:nvSpPr>
          <p:cNvPr id="8" name="Card-209"/>
          <p:cNvSpPr/>
          <p:nvPr/>
        </p:nvSpPr>
        <p:spPr>
          <a:xfrm>
            <a:off x="3176016" y="1554480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accent6"/>
          </a:solidFill>
          <a:ln w="19050">
            <a:solidFill>
              <a:srgbClr val="FF2D75"/>
            </a:solidFill>
            <a:prstDash val="solid"/>
          </a:ln>
        </p:spPr>
      </p:sp>
      <p:sp>
        <p:nvSpPr>
          <p:cNvPr id="9" name="Text-210"/>
          <p:cNvSpPr txBox="1"/>
          <p:nvPr/>
        </p:nvSpPr>
        <p:spPr>
          <a:xfrm>
            <a:off x="3377184" y="1737360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000" dirty="0"/>
          </a:p>
        </p:txBody>
      </p:sp>
      <p:sp>
        <p:nvSpPr>
          <p:cNvPr id="10" name="Text-211"/>
          <p:cNvSpPr txBox="1"/>
          <p:nvPr/>
        </p:nvSpPr>
        <p:spPr>
          <a:xfrm>
            <a:off x="3377184" y="2029968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Aylık 9,99 €</a:t>
            </a:r>
            <a:endParaRPr lang="en-US" sz="2100" dirty="0"/>
          </a:p>
        </p:txBody>
      </p:sp>
      <p:sp>
        <p:nvSpPr>
          <p:cNvPr id="11" name="Text-212"/>
          <p:cNvSpPr txBox="1"/>
          <p:nvPr/>
        </p:nvSpPr>
        <p:spPr>
          <a:xfrm>
            <a:off x="3377184" y="2606040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ile anlama, tüm sahneler, izleyici tetikleyicileri; yıllık 79 €</a:t>
            </a:r>
            <a:endParaRPr lang="en-US" sz="1200" dirty="0"/>
          </a:p>
        </p:txBody>
      </p:sp>
      <p:sp>
        <p:nvSpPr>
          <p:cNvPr id="12" name="Card-213"/>
          <p:cNvSpPr/>
          <p:nvPr/>
        </p:nvSpPr>
        <p:spPr>
          <a:xfrm>
            <a:off x="5803392" y="1554480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3" name="Text-214"/>
          <p:cNvSpPr txBox="1"/>
          <p:nvPr/>
        </p:nvSpPr>
        <p:spPr>
          <a:xfrm>
            <a:off x="6004560" y="1737360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PRO+ (VIZYON)</a:t>
            </a:r>
            <a:endParaRPr lang="en-US" sz="1000" dirty="0"/>
          </a:p>
        </p:txBody>
      </p:sp>
      <p:sp>
        <p:nvSpPr>
          <p:cNvPr id="14" name="Text-215"/>
          <p:cNvSpPr txBox="1"/>
          <p:nvPr/>
        </p:nvSpPr>
        <p:spPr>
          <a:xfrm>
            <a:off x="6004560" y="2029968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Aylık 14,99 €</a:t>
            </a:r>
            <a:endParaRPr lang="en-US" sz="2100" dirty="0"/>
          </a:p>
        </p:txBody>
      </p:sp>
      <p:sp>
        <p:nvSpPr>
          <p:cNvPr id="15" name="Text-216"/>
          <p:cNvSpPr txBox="1"/>
          <p:nvPr/>
        </p:nvSpPr>
        <p:spPr>
          <a:xfrm>
            <a:off x="6004560" y="2606040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Yapay zekâ sahneleri, otomatik kurgu, MP4</a:t>
            </a:r>
            <a:endParaRPr lang="en-US" sz="1200" dirty="0"/>
          </a:p>
        </p:txBody>
      </p:sp>
      <p:sp>
        <p:nvSpPr>
          <p:cNvPr id="16" name="Card-217"/>
          <p:cNvSpPr/>
          <p:nvPr/>
        </p:nvSpPr>
        <p:spPr>
          <a:xfrm>
            <a:off x="548640" y="3767328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Text-218"/>
          <p:cNvSpPr txBox="1"/>
          <p:nvPr/>
        </p:nvSpPr>
        <p:spPr>
          <a:xfrm>
            <a:off x="749808" y="3950208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KELIME-RESIM AILE</a:t>
            </a:r>
            <a:endParaRPr lang="en-US" sz="1000" dirty="0"/>
          </a:p>
        </p:txBody>
      </p:sp>
      <p:sp>
        <p:nvSpPr>
          <p:cNvPr id="18" name="Text-219"/>
          <p:cNvSpPr txBox="1"/>
          <p:nvPr/>
        </p:nvSpPr>
        <p:spPr>
          <a:xfrm>
            <a:off x="749808" y="4242816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Aylık 4,99 €</a:t>
            </a:r>
            <a:endParaRPr lang="en-US" sz="2100" dirty="0"/>
          </a:p>
        </p:txBody>
      </p:sp>
      <p:sp>
        <p:nvSpPr>
          <p:cNvPr id="19" name="Text-220"/>
          <p:cNvSpPr txBox="1"/>
          <p:nvPr/>
        </p:nvSpPr>
        <p:spPr>
          <a:xfrm>
            <a:off x="749808" y="4818888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 öğrenme ve okuma desteği</a:t>
            </a:r>
            <a:endParaRPr lang="en-US" sz="1200" dirty="0"/>
          </a:p>
        </p:txBody>
      </p:sp>
      <p:sp>
        <p:nvSpPr>
          <p:cNvPr id="20" name="Card-221"/>
          <p:cNvSpPr/>
          <p:nvPr/>
        </p:nvSpPr>
        <p:spPr>
          <a:xfrm>
            <a:off x="3176016" y="3767328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1" name="Text-222"/>
          <p:cNvSpPr txBox="1"/>
          <p:nvPr/>
        </p:nvSpPr>
        <p:spPr>
          <a:xfrm>
            <a:off x="3377184" y="3950208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PAKETLER</a:t>
            </a:r>
            <a:endParaRPr lang="en-US" sz="1000" dirty="0"/>
          </a:p>
        </p:txBody>
      </p:sp>
      <p:sp>
        <p:nvSpPr>
          <p:cNvPr id="22" name="Text-223"/>
          <p:cNvSpPr txBox="1"/>
          <p:nvPr/>
        </p:nvSpPr>
        <p:spPr>
          <a:xfrm>
            <a:off x="3377184" y="4242816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2,99–4,99 €</a:t>
            </a:r>
            <a:endParaRPr lang="en-US" sz="2100" dirty="0"/>
          </a:p>
        </p:txBody>
      </p:sp>
      <p:sp>
        <p:nvSpPr>
          <p:cNvPr id="23" name="Text-224"/>
          <p:cNvSpPr txBox="1"/>
          <p:nvPr/>
        </p:nvSpPr>
        <p:spPr>
          <a:xfrm>
            <a:off x="3377184" y="4818888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Meme, hikâye, dünya, kelime paketleri; pazar yeri %70/%30</a:t>
            </a:r>
            <a:endParaRPr lang="en-US" sz="1200" dirty="0"/>
          </a:p>
        </p:txBody>
      </p:sp>
      <p:sp>
        <p:nvSpPr>
          <p:cNvPr id="24" name="Card-225"/>
          <p:cNvSpPr/>
          <p:nvPr/>
        </p:nvSpPr>
        <p:spPr>
          <a:xfrm>
            <a:off x="5803392" y="3767328"/>
            <a:ext cx="2426208" cy="201168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5" name="Text-226"/>
          <p:cNvSpPr txBox="1"/>
          <p:nvPr/>
        </p:nvSpPr>
        <p:spPr>
          <a:xfrm>
            <a:off x="6004560" y="3950208"/>
            <a:ext cx="2023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OKUL LISANSI</a:t>
            </a:r>
            <a:endParaRPr lang="en-US" sz="1000" dirty="0"/>
          </a:p>
        </p:txBody>
      </p:sp>
      <p:sp>
        <p:nvSpPr>
          <p:cNvPr id="26" name="Text-227"/>
          <p:cNvSpPr txBox="1"/>
          <p:nvPr/>
        </p:nvSpPr>
        <p:spPr>
          <a:xfrm>
            <a:off x="6004560" y="4242816"/>
            <a:ext cx="202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Yılda 300–800 €</a:t>
            </a:r>
            <a:endParaRPr lang="en-US" sz="1700" dirty="0"/>
          </a:p>
        </p:txBody>
      </p:sp>
      <p:sp>
        <p:nvSpPr>
          <p:cNvPr id="27" name="Text-228"/>
          <p:cNvSpPr txBox="1"/>
          <p:nvPr/>
        </p:nvSpPr>
        <p:spPr>
          <a:xfrm>
            <a:off x="6004560" y="4818888"/>
            <a:ext cx="2023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 49 €/öğretmen · etkinlik · yayınevi · ajans · B2B/SDK</a:t>
            </a:r>
            <a:endParaRPr lang="en-US" sz="1200" dirty="0"/>
          </a:p>
        </p:txBody>
      </p:sp>
      <p:sp>
        <p:nvSpPr>
          <p:cNvPr id="28" name="Card-229"/>
          <p:cNvSpPr/>
          <p:nvPr/>
        </p:nvSpPr>
        <p:spPr>
          <a:xfrm>
            <a:off x="8503920" y="1554480"/>
            <a:ext cx="3139135" cy="4224528"/>
          </a:xfrm>
          <a:prstGeom prst="roundRect">
            <a:avLst>
              <a:gd name="adj" fmla="val 3495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9" name="Text-230"/>
          <p:cNvSpPr txBox="1"/>
          <p:nvPr/>
        </p:nvSpPr>
        <p:spPr>
          <a:xfrm>
            <a:off x="8732520" y="1719072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Fiyat çıpaları</a:t>
            </a:r>
            <a:endParaRPr lang="en-US" sz="1600" dirty="0"/>
          </a:p>
        </p:txBody>
      </p:sp>
      <p:sp>
        <p:nvSpPr>
          <p:cNvPr id="30" name="Text-231"/>
          <p:cNvSpPr txBox="1"/>
          <p:nvPr/>
        </p:nvSpPr>
        <p:spPr>
          <a:xfrm>
            <a:off x="8732520" y="2148840"/>
            <a:ext cx="268193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Streamlabs Ultra aylık 27 USD [K 11, 12]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StreamYard ~35 · Restream ~16 USD [K 12]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Voicemod aylık ~10 USD [K 13]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 okul lisansı yılda 250–700 € [K 41]</a:t>
            </a:r>
            <a:endParaRPr lang="en-US" sz="1200" dirty="0"/>
          </a:p>
        </p:txBody>
      </p:sp>
      <p:sp>
        <p:nvSpPr>
          <p:cNvPr id="31" name="Text-232"/>
          <p:cNvSpPr txBox="1"/>
          <p:nvPr/>
        </p:nvSpPr>
        <p:spPr>
          <a:xfrm>
            <a:off x="8732520" y="4343400"/>
            <a:ext cx="26819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Yerel yazılım: marjinal maliyet sıfıra yakın. Yapay zekâ yalnızca Pro’da: yayın saati başına 0,25–0,75 USD.</a:t>
            </a:r>
            <a:endParaRPr lang="en-US" sz="1300" dirty="0"/>
          </a:p>
        </p:txBody>
      </p:sp>
      <p:sp>
        <p:nvSpPr>
          <p:cNvPr id="32" name="Text-233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BUSINESSPLAN.tr.md §9, §15.6 · vizyon ve lisans fiyatları tahmindir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FARKLILAŞMA VE RİSKLER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zaman orada olan tek tetikleyici: ses</a:t>
            </a:r>
            <a:endParaRPr lang="en-US" sz="3200" dirty="0"/>
          </a:p>
        </p:txBody>
      </p:sp>
      <p:sp>
        <p:nvSpPr>
          <p:cNvPr id="4" name="Matrix-highlight"/>
          <p:cNvSpPr/>
          <p:nvPr/>
        </p:nvSpPr>
        <p:spPr>
          <a:xfrm>
            <a:off x="2880360" y="1554480"/>
            <a:ext cx="868680" cy="3584448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5" name="Text-234"/>
          <p:cNvSpPr txBox="1"/>
          <p:nvPr/>
        </p:nvSpPr>
        <p:spPr>
          <a:xfrm>
            <a:off x="288036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</a:t>
            </a:r>
            <a:endParaRPr lang="en-US" sz="1100" dirty="0"/>
          </a:p>
        </p:txBody>
      </p:sp>
      <p:sp>
        <p:nvSpPr>
          <p:cNvPr id="6" name="Text-235"/>
          <p:cNvSpPr txBox="1"/>
          <p:nvPr/>
        </p:nvSpPr>
        <p:spPr>
          <a:xfrm>
            <a:off x="374904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Uyarılar</a:t>
            </a:r>
            <a:endParaRPr lang="en-US" sz="1100" dirty="0"/>
          </a:p>
        </p:txBody>
      </p:sp>
      <p:sp>
        <p:nvSpPr>
          <p:cNvPr id="7" name="Text-236"/>
          <p:cNvSpPr txBox="1"/>
          <p:nvPr/>
        </p:nvSpPr>
        <p:spPr>
          <a:xfrm>
            <a:off x="461772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Voicemod</a:t>
            </a:r>
            <a:endParaRPr lang="en-US" sz="1100" dirty="0"/>
          </a:p>
        </p:txBody>
      </p:sp>
      <p:sp>
        <p:nvSpPr>
          <p:cNvPr id="8" name="Text-237"/>
          <p:cNvSpPr txBox="1"/>
          <p:nvPr/>
        </p:nvSpPr>
        <p:spPr>
          <a:xfrm>
            <a:off x="548640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100" dirty="0"/>
          </a:p>
        </p:txBody>
      </p:sp>
      <p:sp>
        <p:nvSpPr>
          <p:cNvPr id="9" name="Text-238"/>
          <p:cNvSpPr txBox="1"/>
          <p:nvPr/>
        </p:nvSpPr>
        <p:spPr>
          <a:xfrm>
            <a:off x="6355080" y="1554480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Kurgu</a:t>
            </a:r>
            <a:endParaRPr lang="en-US" sz="1100" dirty="0"/>
          </a:p>
        </p:txBody>
      </p:sp>
      <p:sp>
        <p:nvSpPr>
          <p:cNvPr id="10" name="Rule-239"/>
          <p:cNvSpPr/>
          <p:nvPr/>
        </p:nvSpPr>
        <p:spPr>
          <a:xfrm>
            <a:off x="548640" y="2066544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11" name="Text-240"/>
          <p:cNvSpPr txBox="1"/>
          <p:nvPr/>
        </p:nvSpPr>
        <p:spPr>
          <a:xfrm>
            <a:off x="548640" y="206654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Sesle kontrol</a:t>
            </a:r>
            <a:endParaRPr lang="en-US" sz="1300" dirty="0"/>
          </a:p>
        </p:txBody>
      </p:sp>
      <p:sp>
        <p:nvSpPr>
          <p:cNvPr id="12" name="Mark-241"/>
          <p:cNvSpPr/>
          <p:nvPr/>
        </p:nvSpPr>
        <p:spPr>
          <a:xfrm>
            <a:off x="3204972" y="2212848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13" name="Mark-242"/>
          <p:cNvSpPr/>
          <p:nvPr/>
        </p:nvSpPr>
        <p:spPr>
          <a:xfrm>
            <a:off x="407365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4" name="Mark-243"/>
          <p:cNvSpPr/>
          <p:nvPr/>
        </p:nvSpPr>
        <p:spPr>
          <a:xfrm>
            <a:off x="494233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5" name="Mark-244"/>
          <p:cNvSpPr/>
          <p:nvPr/>
        </p:nvSpPr>
        <p:spPr>
          <a:xfrm>
            <a:off x="581101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6" name="Mark-245"/>
          <p:cNvSpPr/>
          <p:nvPr/>
        </p:nvSpPr>
        <p:spPr>
          <a:xfrm>
            <a:off x="6679692" y="221284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17" name="Rule-246"/>
          <p:cNvSpPr/>
          <p:nvPr/>
        </p:nvSpPr>
        <p:spPr>
          <a:xfrm>
            <a:off x="548640" y="2578608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18" name="Text-247"/>
          <p:cNvSpPr txBox="1"/>
          <p:nvPr/>
        </p:nvSpPr>
        <p:spPr>
          <a:xfrm>
            <a:off x="548640" y="257860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/ 3 dil</a:t>
            </a:r>
            <a:endParaRPr lang="en-US" sz="1300" dirty="0"/>
          </a:p>
        </p:txBody>
      </p:sp>
      <p:sp>
        <p:nvSpPr>
          <p:cNvPr id="19" name="Mark-248"/>
          <p:cNvSpPr/>
          <p:nvPr/>
        </p:nvSpPr>
        <p:spPr>
          <a:xfrm>
            <a:off x="3204972" y="2724912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20" name="Mark-249"/>
          <p:cNvSpPr/>
          <p:nvPr/>
        </p:nvSpPr>
        <p:spPr>
          <a:xfrm>
            <a:off x="4073652" y="2724912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1" name="Mark-250"/>
          <p:cNvSpPr/>
          <p:nvPr/>
        </p:nvSpPr>
        <p:spPr>
          <a:xfrm>
            <a:off x="4942332" y="2724912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2" name="Mark-251"/>
          <p:cNvSpPr/>
          <p:nvPr/>
        </p:nvSpPr>
        <p:spPr>
          <a:xfrm>
            <a:off x="5811012" y="2724912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23" name="Mark-252"/>
          <p:cNvSpPr/>
          <p:nvPr/>
        </p:nvSpPr>
        <p:spPr>
          <a:xfrm>
            <a:off x="6679692" y="2724912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Rule-253"/>
          <p:cNvSpPr/>
          <p:nvPr/>
        </p:nvSpPr>
        <p:spPr>
          <a:xfrm>
            <a:off x="548640" y="3090672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5" name="Text-254"/>
          <p:cNvSpPr txBox="1"/>
          <p:nvPr/>
        </p:nvSpPr>
        <p:spPr>
          <a:xfrm>
            <a:off x="548640" y="309067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Hikâye/sahne modu</a:t>
            </a:r>
            <a:endParaRPr lang="en-US" sz="1300" dirty="0"/>
          </a:p>
        </p:txBody>
      </p:sp>
      <p:sp>
        <p:nvSpPr>
          <p:cNvPr id="26" name="Mark-255"/>
          <p:cNvSpPr/>
          <p:nvPr/>
        </p:nvSpPr>
        <p:spPr>
          <a:xfrm>
            <a:off x="3204972" y="3236976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27" name="Mark-256"/>
          <p:cNvSpPr/>
          <p:nvPr/>
        </p:nvSpPr>
        <p:spPr>
          <a:xfrm>
            <a:off x="407365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8" name="Mark-257"/>
          <p:cNvSpPr/>
          <p:nvPr/>
        </p:nvSpPr>
        <p:spPr>
          <a:xfrm>
            <a:off x="494233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29" name="Mark-258"/>
          <p:cNvSpPr/>
          <p:nvPr/>
        </p:nvSpPr>
        <p:spPr>
          <a:xfrm>
            <a:off x="581101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30" name="Mark-259"/>
          <p:cNvSpPr/>
          <p:nvPr/>
        </p:nvSpPr>
        <p:spPr>
          <a:xfrm>
            <a:off x="6679692" y="3236976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31" name="Rule-260"/>
          <p:cNvSpPr/>
          <p:nvPr/>
        </p:nvSpPr>
        <p:spPr>
          <a:xfrm>
            <a:off x="548640" y="3602736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2" name="Text-261"/>
          <p:cNvSpPr txBox="1"/>
          <p:nvPr/>
        </p:nvSpPr>
        <p:spPr>
          <a:xfrm>
            <a:off x="548640" y="360273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Yerel / çevrimdışı</a:t>
            </a:r>
            <a:endParaRPr lang="en-US" sz="1300" dirty="0"/>
          </a:p>
        </p:txBody>
      </p:sp>
      <p:sp>
        <p:nvSpPr>
          <p:cNvPr id="33" name="Mark-262"/>
          <p:cNvSpPr/>
          <p:nvPr/>
        </p:nvSpPr>
        <p:spPr>
          <a:xfrm>
            <a:off x="3204972" y="3749040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34" name="Mark-263"/>
          <p:cNvSpPr/>
          <p:nvPr/>
        </p:nvSpPr>
        <p:spPr>
          <a:xfrm>
            <a:off x="4073652" y="3749040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35" name="Mark-264"/>
          <p:cNvSpPr/>
          <p:nvPr/>
        </p:nvSpPr>
        <p:spPr>
          <a:xfrm>
            <a:off x="4942332" y="3749040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Mark-265"/>
          <p:cNvSpPr/>
          <p:nvPr/>
        </p:nvSpPr>
        <p:spPr>
          <a:xfrm>
            <a:off x="5811012" y="3749040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37" name="Mark-266"/>
          <p:cNvSpPr/>
          <p:nvPr/>
        </p:nvSpPr>
        <p:spPr>
          <a:xfrm>
            <a:off x="6679692" y="3749040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38" name="Rule-267"/>
          <p:cNvSpPr/>
          <p:nvPr/>
        </p:nvSpPr>
        <p:spPr>
          <a:xfrm>
            <a:off x="548640" y="4114800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9" name="Text-268"/>
          <p:cNvSpPr txBox="1"/>
          <p:nvPr/>
        </p:nvSpPr>
        <p:spPr>
          <a:xfrm>
            <a:off x="548640" y="411480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 API</a:t>
            </a:r>
            <a:endParaRPr lang="en-US" sz="1300" dirty="0"/>
          </a:p>
        </p:txBody>
      </p:sp>
      <p:sp>
        <p:nvSpPr>
          <p:cNvPr id="40" name="Mark-269"/>
          <p:cNvSpPr/>
          <p:nvPr/>
        </p:nvSpPr>
        <p:spPr>
          <a:xfrm>
            <a:off x="3204972" y="4261104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41" name="Mark-270"/>
          <p:cNvSpPr/>
          <p:nvPr/>
        </p:nvSpPr>
        <p:spPr>
          <a:xfrm>
            <a:off x="4073652" y="4261104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42" name="Mark-271"/>
          <p:cNvSpPr/>
          <p:nvPr/>
        </p:nvSpPr>
        <p:spPr>
          <a:xfrm>
            <a:off x="4942332" y="4261104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43" name="Mark-272"/>
          <p:cNvSpPr/>
          <p:nvPr/>
        </p:nvSpPr>
        <p:spPr>
          <a:xfrm>
            <a:off x="5811012" y="4261104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44" name="Mark-273"/>
          <p:cNvSpPr/>
          <p:nvPr/>
        </p:nvSpPr>
        <p:spPr>
          <a:xfrm>
            <a:off x="6679692" y="4261104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45" name="Rule-274"/>
          <p:cNvSpPr/>
          <p:nvPr/>
        </p:nvSpPr>
        <p:spPr>
          <a:xfrm>
            <a:off x="548640" y="4626864"/>
            <a:ext cx="667512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46" name="Text-275"/>
          <p:cNvSpPr txBox="1"/>
          <p:nvPr/>
        </p:nvSpPr>
        <p:spPr>
          <a:xfrm>
            <a:off x="548640" y="462686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(sonradan değil)</a:t>
            </a:r>
            <a:endParaRPr lang="en-US" sz="1300" dirty="0"/>
          </a:p>
        </p:txBody>
      </p:sp>
      <p:sp>
        <p:nvSpPr>
          <p:cNvPr id="47" name="Mark-276"/>
          <p:cNvSpPr/>
          <p:nvPr/>
        </p:nvSpPr>
        <p:spPr>
          <a:xfrm>
            <a:off x="3204972" y="4773168"/>
            <a:ext cx="219456" cy="219456"/>
          </a:xfrm>
          <a:prstGeom prst="ellipse">
            <a:avLst/>
          </a:prstGeom>
          <a:solidFill>
            <a:srgbClr val="FF2D75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48" name="Mark-277"/>
          <p:cNvSpPr/>
          <p:nvPr/>
        </p:nvSpPr>
        <p:spPr>
          <a:xfrm>
            <a:off x="4073652" y="477316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9" name="Mark-278"/>
          <p:cNvSpPr/>
          <p:nvPr/>
        </p:nvSpPr>
        <p:spPr>
          <a:xfrm>
            <a:off x="4942332" y="477316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Mark-279"/>
          <p:cNvSpPr/>
          <p:nvPr/>
        </p:nvSpPr>
        <p:spPr>
          <a:xfrm>
            <a:off x="5811012" y="477316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Mark-280"/>
          <p:cNvSpPr/>
          <p:nvPr/>
        </p:nvSpPr>
        <p:spPr>
          <a:xfrm>
            <a:off x="6679692" y="4773168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52" name="Mark-281"/>
          <p:cNvSpPr/>
          <p:nvPr/>
        </p:nvSpPr>
        <p:spPr>
          <a:xfrm>
            <a:off x="548640" y="5285232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3" name="Text-282"/>
          <p:cNvSpPr txBox="1"/>
          <p:nvPr/>
        </p:nvSpPr>
        <p:spPr>
          <a:xfrm>
            <a:off x="86868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evet</a:t>
            </a:r>
            <a:endParaRPr lang="en-US" sz="1100" dirty="0"/>
          </a:p>
        </p:txBody>
      </p:sp>
      <p:sp>
        <p:nvSpPr>
          <p:cNvPr id="54" name="Mark-283"/>
          <p:cNvSpPr/>
          <p:nvPr/>
        </p:nvSpPr>
        <p:spPr>
          <a:xfrm>
            <a:off x="2286000" y="5285232"/>
            <a:ext cx="219456" cy="219456"/>
          </a:xfrm>
          <a:prstGeom prst="ellipse">
            <a:avLst/>
          </a:prstGeom>
          <a:solidFill>
            <a:srgbClr val="FFD166">
              <a:alpha val="65000"/>
            </a:srgbClr>
          </a:solidFill>
          <a:ln w="15875">
            <a:solidFill>
              <a:srgbClr val="FFD166"/>
            </a:solidFill>
            <a:prstDash val="solid"/>
          </a:ln>
        </p:spPr>
      </p:sp>
      <p:sp>
        <p:nvSpPr>
          <p:cNvPr id="55" name="Text-284"/>
          <p:cNvSpPr txBox="1"/>
          <p:nvPr/>
        </p:nvSpPr>
        <p:spPr>
          <a:xfrm>
            <a:off x="260604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kısmen</a:t>
            </a:r>
            <a:endParaRPr lang="en-US" sz="1100" dirty="0"/>
          </a:p>
        </p:txBody>
      </p:sp>
      <p:sp>
        <p:nvSpPr>
          <p:cNvPr id="56" name="Mark-285"/>
          <p:cNvSpPr/>
          <p:nvPr/>
        </p:nvSpPr>
        <p:spPr>
          <a:xfrm>
            <a:off x="4023360" y="5285232"/>
            <a:ext cx="219456" cy="219456"/>
          </a:xfrm>
          <a:prstGeom prst="ellipse">
            <a:avLst/>
          </a:prstGeom>
          <a:ln w="15875">
            <a:solidFill>
              <a:srgbClr val="A9B0BD"/>
            </a:solidFill>
            <a:prstDash val="solid"/>
          </a:ln>
        </p:spPr>
      </p:sp>
      <p:sp>
        <p:nvSpPr>
          <p:cNvPr id="57" name="Text-286"/>
          <p:cNvSpPr txBox="1"/>
          <p:nvPr/>
        </p:nvSpPr>
        <p:spPr>
          <a:xfrm>
            <a:off x="434340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hayır</a:t>
            </a:r>
            <a:endParaRPr lang="en-US" sz="1100" dirty="0"/>
          </a:p>
        </p:txBody>
      </p:sp>
      <p:sp>
        <p:nvSpPr>
          <p:cNvPr id="58" name="Text-287"/>
          <p:cNvSpPr txBox="1"/>
          <p:nvPr/>
        </p:nvSpPr>
        <p:spPr>
          <a:xfrm>
            <a:off x="7589520" y="1554480"/>
            <a:ext cx="4053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Riskler – açıkça</a:t>
            </a:r>
            <a:endParaRPr lang="en-US" sz="1600" dirty="0"/>
          </a:p>
        </p:txBody>
      </p:sp>
      <p:sp>
        <p:nvSpPr>
          <p:cNvPr id="59" name="Badge-288"/>
          <p:cNvSpPr txBox="1"/>
          <p:nvPr/>
        </p:nvSpPr>
        <p:spPr>
          <a:xfrm>
            <a:off x="7589520" y="205740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0" name="Text-289"/>
          <p:cNvSpPr txBox="1"/>
          <p:nvPr/>
        </p:nvSpPr>
        <p:spPr>
          <a:xfrm>
            <a:off x="8001000" y="201168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Talep kanıtlanmadı</a:t>
            </a:r>
            <a:endParaRPr lang="en-US" sz="1300" dirty="0"/>
          </a:p>
        </p:txBody>
      </p:sp>
      <p:sp>
        <p:nvSpPr>
          <p:cNvPr id="61" name="Text-290"/>
          <p:cNvSpPr txBox="1"/>
          <p:nvPr/>
        </p:nvSpPr>
        <p:spPr>
          <a:xfrm>
            <a:off x="8001000" y="230428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Kohortlu kapılar, bütçe onaydan sonra</a:t>
            </a:r>
            <a:endParaRPr lang="en-US" sz="1100" dirty="0"/>
          </a:p>
        </p:txBody>
      </p:sp>
      <p:sp>
        <p:nvSpPr>
          <p:cNvPr id="62" name="Badge-291"/>
          <p:cNvSpPr txBox="1"/>
          <p:nvPr/>
        </p:nvSpPr>
        <p:spPr>
          <a:xfrm>
            <a:off x="7589520" y="283464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3" name="Text-292"/>
          <p:cNvSpPr txBox="1"/>
          <p:nvPr/>
        </p:nvSpPr>
        <p:spPr>
          <a:xfrm>
            <a:off x="8001000" y="278892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kopyalar</a:t>
            </a:r>
            <a:endParaRPr lang="en-US" sz="1300" dirty="0"/>
          </a:p>
        </p:txBody>
      </p:sp>
      <p:sp>
        <p:nvSpPr>
          <p:cNvPr id="64" name="Text-293"/>
          <p:cNvSpPr txBox="1"/>
          <p:nvPr/>
        </p:nvSpPr>
        <p:spPr>
          <a:xfrm>
            <a:off x="8001000" y="308152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 pilot, dil paketleri hendek olarak</a:t>
            </a:r>
            <a:endParaRPr lang="en-US" sz="1100" dirty="0"/>
          </a:p>
        </p:txBody>
      </p:sp>
      <p:sp>
        <p:nvSpPr>
          <p:cNvPr id="65" name="Badge-294"/>
          <p:cNvSpPr txBox="1"/>
          <p:nvPr/>
        </p:nvSpPr>
        <p:spPr>
          <a:xfrm>
            <a:off x="7589520" y="361188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6" name="Text-295"/>
          <p:cNvSpPr txBox="1"/>
          <p:nvPr/>
        </p:nvSpPr>
        <p:spPr>
          <a:xfrm>
            <a:off x="8001000" y="356616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OBS’siz telefon yayıncıları</a:t>
            </a:r>
            <a:endParaRPr lang="en-US" sz="1300" dirty="0"/>
          </a:p>
        </p:txBody>
      </p:sp>
      <p:sp>
        <p:nvSpPr>
          <p:cNvPr id="67" name="Text-296"/>
          <p:cNvSpPr txBox="1"/>
          <p:nvPr/>
        </p:nvSpPr>
        <p:spPr>
          <a:xfrm>
            <a:off x="8001000" y="385876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mobil geliştirici</a:t>
            </a:r>
            <a:endParaRPr lang="en-US" sz="1100" dirty="0"/>
          </a:p>
        </p:txBody>
      </p:sp>
      <p:sp>
        <p:nvSpPr>
          <p:cNvPr id="68" name="Badge-297"/>
          <p:cNvSpPr txBox="1"/>
          <p:nvPr/>
        </p:nvSpPr>
        <p:spPr>
          <a:xfrm>
            <a:off x="7589520" y="438912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69" name="Text-298"/>
          <p:cNvSpPr txBox="1"/>
          <p:nvPr/>
        </p:nvSpPr>
        <p:spPr>
          <a:xfrm>
            <a:off x="8001000" y="434340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Okul/aile veri koruması</a:t>
            </a:r>
            <a:endParaRPr lang="en-US" sz="1300" dirty="0"/>
          </a:p>
        </p:txBody>
      </p:sp>
      <p:sp>
        <p:nvSpPr>
          <p:cNvPr id="70" name="Text-299"/>
          <p:cNvSpPr txBox="1"/>
          <p:nvPr/>
        </p:nvSpPr>
        <p:spPr>
          <a:xfrm>
            <a:off x="8001000" y="463600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Yerel, hesapsız, cihazda tanıma</a:t>
            </a:r>
            <a:endParaRPr lang="en-US" sz="1100" dirty="0"/>
          </a:p>
        </p:txBody>
      </p:sp>
      <p:sp>
        <p:nvSpPr>
          <p:cNvPr id="71" name="Badge-300"/>
          <p:cNvSpPr txBox="1"/>
          <p:nvPr/>
        </p:nvSpPr>
        <p:spPr>
          <a:xfrm>
            <a:off x="7589520" y="5166360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000" dirty="0"/>
          </a:p>
        </p:txBody>
      </p:sp>
      <p:sp>
        <p:nvSpPr>
          <p:cNvPr id="72" name="Text-301"/>
          <p:cNvSpPr txBox="1"/>
          <p:nvPr/>
        </p:nvSpPr>
        <p:spPr>
          <a:xfrm>
            <a:off x="8001000" y="5120640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Vizyon dağıtır</a:t>
            </a:r>
            <a:endParaRPr lang="en-US" sz="1300" dirty="0"/>
          </a:p>
        </p:txBody>
      </p:sp>
      <p:sp>
        <p:nvSpPr>
          <p:cNvPr id="73" name="Text-302"/>
          <p:cNvSpPr txBox="1"/>
          <p:nvPr/>
        </p:nvSpPr>
        <p:spPr>
          <a:xfrm>
            <a:off x="8001000" y="5413248"/>
            <a:ext cx="3642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%20 bütçe tavanı, XR yalnızca vitrin</a:t>
            </a:r>
            <a:endParaRPr lang="en-US" sz="1100" dirty="0"/>
          </a:p>
        </p:txBody>
      </p:sp>
      <p:sp>
        <p:nvSpPr>
          <p:cNvPr id="74" name="Text-303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BUSINESSPLAN.tr.md §7, §13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YOL HARİTASI VE PAZARA GİRİŞ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Başlat. Ücretlendir. Genişlet</a:t>
            </a:r>
            <a:endParaRPr lang="en-US" sz="3200" dirty="0"/>
          </a:p>
        </p:txBody>
      </p:sp>
      <p:sp>
        <p:nvSpPr>
          <p:cNvPr id="4" name="Timeline"/>
          <p:cNvSpPr/>
          <p:nvPr/>
        </p:nvSpPr>
        <p:spPr>
          <a:xfrm>
            <a:off x="1341098" y="2148840"/>
            <a:ext cx="9509499" cy="0"/>
          </a:xfrm>
          <a:prstGeom prst="line">
            <a:avLst/>
          </a:prstGeom>
          <a:noFill/>
          <a:ln w="25400">
            <a:solidFill>
              <a:srgbClr val="2A2E38"/>
            </a:solidFill>
            <a:prstDash val="solid"/>
          </a:ln>
        </p:spPr>
      </p:sp>
      <p:sp>
        <p:nvSpPr>
          <p:cNvPr id="5" name="Text-304"/>
          <p:cNvSpPr txBox="1"/>
          <p:nvPr/>
        </p:nvSpPr>
        <p:spPr>
          <a:xfrm>
            <a:off x="548640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4Ç 2026</a:t>
            </a:r>
            <a:endParaRPr lang="en-US" sz="1200" dirty="0"/>
          </a:p>
        </p:txBody>
      </p:sp>
      <p:sp>
        <p:nvSpPr>
          <p:cNvPr id="6" name="Badge-305"/>
          <p:cNvSpPr txBox="1"/>
          <p:nvPr/>
        </p:nvSpPr>
        <p:spPr>
          <a:xfrm>
            <a:off x="1194794" y="2002536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7" name="Text-306"/>
          <p:cNvSpPr txBox="1"/>
          <p:nvPr/>
        </p:nvSpPr>
        <p:spPr>
          <a:xfrm>
            <a:off x="594360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 lansmanı</a:t>
            </a:r>
            <a:endParaRPr lang="en-US" sz="1500" dirty="0"/>
          </a:p>
        </p:txBody>
      </p:sp>
      <p:sp>
        <p:nvSpPr>
          <p:cNvPr id="8" name="Text-307"/>
          <p:cNvSpPr txBox="1"/>
          <p:nvPr/>
        </p:nvSpPr>
        <p:spPr>
          <a:xfrm>
            <a:off x="621792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İndirme, 10–20 elçi</a:t>
            </a:r>
            <a:endParaRPr lang="en-US" sz="1100" dirty="0"/>
          </a:p>
        </p:txBody>
      </p:sp>
      <p:sp>
        <p:nvSpPr>
          <p:cNvPr id="9" name="Text-308"/>
          <p:cNvSpPr txBox="1"/>
          <p:nvPr/>
        </p:nvSpPr>
        <p:spPr>
          <a:xfrm>
            <a:off x="2133556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1Ç 2027</a:t>
            </a:r>
            <a:endParaRPr lang="en-US" sz="1200" dirty="0"/>
          </a:p>
        </p:txBody>
      </p:sp>
      <p:sp>
        <p:nvSpPr>
          <p:cNvPr id="10" name="Badge-309"/>
          <p:cNvSpPr txBox="1"/>
          <p:nvPr/>
        </p:nvSpPr>
        <p:spPr>
          <a:xfrm>
            <a:off x="2779711" y="2002536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-310"/>
          <p:cNvSpPr txBox="1"/>
          <p:nvPr/>
        </p:nvSpPr>
        <p:spPr>
          <a:xfrm>
            <a:off x="2179276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canlı</a:t>
            </a:r>
            <a:endParaRPr lang="en-US" sz="1500" dirty="0"/>
          </a:p>
        </p:txBody>
      </p:sp>
      <p:sp>
        <p:nvSpPr>
          <p:cNvPr id="12" name="Text-311"/>
          <p:cNvSpPr txBox="1"/>
          <p:nvPr/>
        </p:nvSpPr>
        <p:spPr>
          <a:xfrm>
            <a:off x="2206708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DE/EN, Kelime-Resim 300 kelime</a:t>
            </a:r>
            <a:endParaRPr lang="en-US" sz="1100" dirty="0"/>
          </a:p>
        </p:txBody>
      </p:sp>
      <p:sp>
        <p:nvSpPr>
          <p:cNvPr id="13" name="Text-312"/>
          <p:cNvSpPr txBox="1"/>
          <p:nvPr/>
        </p:nvSpPr>
        <p:spPr>
          <a:xfrm>
            <a:off x="3718473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2Ç 2027</a:t>
            </a:r>
            <a:endParaRPr lang="en-US" sz="1200" dirty="0"/>
          </a:p>
        </p:txBody>
      </p:sp>
      <p:sp>
        <p:nvSpPr>
          <p:cNvPr id="14" name="Badge-313"/>
          <p:cNvSpPr txBox="1"/>
          <p:nvPr/>
        </p:nvSpPr>
        <p:spPr>
          <a:xfrm>
            <a:off x="4364627" y="2002536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5" name="Text-314"/>
          <p:cNvSpPr txBox="1"/>
          <p:nvPr/>
        </p:nvSpPr>
        <p:spPr>
          <a:xfrm>
            <a:off x="3764193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uygulama</a:t>
            </a:r>
            <a:endParaRPr lang="en-US" sz="1500" dirty="0"/>
          </a:p>
        </p:txBody>
      </p:sp>
      <p:sp>
        <p:nvSpPr>
          <p:cNvPr id="16" name="Text-315"/>
          <p:cNvSpPr txBox="1"/>
          <p:nvPr/>
        </p:nvSpPr>
        <p:spPr>
          <a:xfrm>
            <a:off x="3791625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Anlatı Filmi DE, ajans lisansı</a:t>
            </a:r>
            <a:endParaRPr lang="en-US" sz="1100" dirty="0"/>
          </a:p>
        </p:txBody>
      </p:sp>
      <p:sp>
        <p:nvSpPr>
          <p:cNvPr id="17" name="Text-316"/>
          <p:cNvSpPr txBox="1"/>
          <p:nvPr/>
        </p:nvSpPr>
        <p:spPr>
          <a:xfrm>
            <a:off x="5303389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3Ç 2027</a:t>
            </a:r>
            <a:endParaRPr lang="en-US" sz="1200" dirty="0"/>
          </a:p>
        </p:txBody>
      </p:sp>
      <p:sp>
        <p:nvSpPr>
          <p:cNvPr id="18" name="Badge-317"/>
          <p:cNvSpPr txBox="1"/>
          <p:nvPr/>
        </p:nvSpPr>
        <p:spPr>
          <a:xfrm>
            <a:off x="5949544" y="2002536"/>
            <a:ext cx="292608" cy="292608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9" name="Text-318"/>
          <p:cNvSpPr txBox="1"/>
          <p:nvPr/>
        </p:nvSpPr>
        <p:spPr>
          <a:xfrm>
            <a:off x="5349109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pilotu</a:t>
            </a:r>
            <a:endParaRPr lang="en-US" sz="1500" dirty="0"/>
          </a:p>
        </p:txBody>
      </p:sp>
      <p:sp>
        <p:nvSpPr>
          <p:cNvPr id="20" name="Text-319"/>
          <p:cNvSpPr txBox="1"/>
          <p:nvPr/>
        </p:nvSpPr>
        <p:spPr>
          <a:xfrm>
            <a:off x="5376541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Pro+, Anlatı Filmi TR/EN</a:t>
            </a:r>
            <a:endParaRPr lang="en-US" sz="1100" dirty="0"/>
          </a:p>
        </p:txBody>
      </p:sp>
      <p:sp>
        <p:nvSpPr>
          <p:cNvPr id="21" name="Text-320"/>
          <p:cNvSpPr txBox="1"/>
          <p:nvPr/>
        </p:nvSpPr>
        <p:spPr>
          <a:xfrm>
            <a:off x="6888306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4Ç 2027</a:t>
            </a:r>
            <a:endParaRPr lang="en-US" sz="1200" dirty="0"/>
          </a:p>
        </p:txBody>
      </p:sp>
      <p:sp>
        <p:nvSpPr>
          <p:cNvPr id="22" name="Badge-321"/>
          <p:cNvSpPr txBox="1"/>
          <p:nvPr/>
        </p:nvSpPr>
        <p:spPr>
          <a:xfrm>
            <a:off x="7534460" y="2002536"/>
            <a:ext cx="292608" cy="2926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Text-322"/>
          <p:cNvSpPr txBox="1"/>
          <p:nvPr/>
        </p:nvSpPr>
        <p:spPr>
          <a:xfrm>
            <a:off x="6934026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Okul lisansı</a:t>
            </a:r>
            <a:endParaRPr lang="en-US" sz="1500" dirty="0"/>
          </a:p>
        </p:txBody>
      </p:sp>
      <p:sp>
        <p:nvSpPr>
          <p:cNvPr id="24" name="Text-323"/>
          <p:cNvSpPr txBox="1"/>
          <p:nvPr/>
        </p:nvSpPr>
        <p:spPr>
          <a:xfrm>
            <a:off x="6961458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Zaman çizelgesi editörü, MP4</a:t>
            </a:r>
            <a:endParaRPr lang="en-US" sz="1100" dirty="0"/>
          </a:p>
        </p:txBody>
      </p:sp>
      <p:sp>
        <p:nvSpPr>
          <p:cNvPr id="25" name="Text-324"/>
          <p:cNvSpPr txBox="1"/>
          <p:nvPr/>
        </p:nvSpPr>
        <p:spPr>
          <a:xfrm>
            <a:off x="8473222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200" dirty="0"/>
          </a:p>
        </p:txBody>
      </p:sp>
      <p:sp>
        <p:nvSpPr>
          <p:cNvPr id="26" name="Badge-325"/>
          <p:cNvSpPr txBox="1"/>
          <p:nvPr/>
        </p:nvSpPr>
        <p:spPr>
          <a:xfrm>
            <a:off x="9119377" y="2002536"/>
            <a:ext cx="292608" cy="2926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7" name="Text-326"/>
          <p:cNvSpPr txBox="1"/>
          <p:nvPr/>
        </p:nvSpPr>
        <p:spPr>
          <a:xfrm>
            <a:off x="8518942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Scene-SDK v1</a:t>
            </a:r>
            <a:endParaRPr lang="en-US" sz="1500" dirty="0"/>
          </a:p>
        </p:txBody>
      </p:sp>
      <p:sp>
        <p:nvSpPr>
          <p:cNvPr id="28" name="Text-327"/>
          <p:cNvSpPr txBox="1"/>
          <p:nvPr/>
        </p:nvSpPr>
        <p:spPr>
          <a:xfrm>
            <a:off x="8546374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pilotu, aile aboneliği</a:t>
            </a:r>
            <a:endParaRPr lang="en-US" sz="1100" dirty="0"/>
          </a:p>
        </p:txBody>
      </p:sp>
      <p:sp>
        <p:nvSpPr>
          <p:cNvPr id="29" name="Text-328"/>
          <p:cNvSpPr txBox="1"/>
          <p:nvPr/>
        </p:nvSpPr>
        <p:spPr>
          <a:xfrm>
            <a:off x="10058139" y="1554480"/>
            <a:ext cx="1584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200" dirty="0"/>
          </a:p>
        </p:txBody>
      </p:sp>
      <p:sp>
        <p:nvSpPr>
          <p:cNvPr id="30" name="Badge-329"/>
          <p:cNvSpPr txBox="1"/>
          <p:nvPr/>
        </p:nvSpPr>
        <p:spPr>
          <a:xfrm>
            <a:off x="10704293" y="2002536"/>
            <a:ext cx="292608" cy="292608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1" name="Text-330"/>
          <p:cNvSpPr txBox="1"/>
          <p:nvPr/>
        </p:nvSpPr>
        <p:spPr>
          <a:xfrm>
            <a:off x="10103859" y="2468880"/>
            <a:ext cx="14934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ya da exit</a:t>
            </a:r>
            <a:endParaRPr lang="en-US" sz="1500" dirty="0"/>
          </a:p>
        </p:txBody>
      </p:sp>
      <p:sp>
        <p:nvSpPr>
          <p:cNvPr id="32" name="Text-331"/>
          <p:cNvSpPr txBox="1"/>
          <p:nvPr/>
        </p:nvSpPr>
        <p:spPr>
          <a:xfrm>
            <a:off x="10131291" y="3108960"/>
            <a:ext cx="1438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Anlatı Filmi 2.0, yayınevleri</a:t>
            </a:r>
            <a:endParaRPr lang="en-US" sz="1100" dirty="0"/>
          </a:p>
        </p:txBody>
      </p:sp>
      <p:sp>
        <p:nvSpPr>
          <p:cNvPr id="33" name="Card-332"/>
          <p:cNvSpPr/>
          <p:nvPr/>
        </p:nvSpPr>
        <p:spPr>
          <a:xfrm>
            <a:off x="548640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4" name="Text-333"/>
          <p:cNvSpPr txBox="1"/>
          <p:nvPr/>
        </p:nvSpPr>
        <p:spPr>
          <a:xfrm>
            <a:off x="749808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TR topluluğu</a:t>
            </a:r>
            <a:endParaRPr lang="en-US" sz="1500" dirty="0"/>
          </a:p>
        </p:txBody>
      </p:sp>
      <p:sp>
        <p:nvSpPr>
          <p:cNvPr id="35" name="Text-334"/>
          <p:cNvSpPr txBox="1"/>
          <p:nvPr/>
        </p:nvSpPr>
        <p:spPr>
          <a:xfrm>
            <a:off x="749808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 yayınlar, paket yayınları</a:t>
            </a:r>
            <a:endParaRPr lang="en-US" sz="1200" dirty="0"/>
          </a:p>
        </p:txBody>
      </p:sp>
      <p:sp>
        <p:nvSpPr>
          <p:cNvPr id="36" name="Card-335"/>
          <p:cNvSpPr/>
          <p:nvPr/>
        </p:nvSpPr>
        <p:spPr>
          <a:xfrm>
            <a:off x="3372536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7" name="Text-336"/>
          <p:cNvSpPr txBox="1"/>
          <p:nvPr/>
        </p:nvSpPr>
        <p:spPr>
          <a:xfrm>
            <a:off x="3573704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DE/EN</a:t>
            </a:r>
            <a:endParaRPr lang="en-US" sz="1500" dirty="0"/>
          </a:p>
        </p:txBody>
      </p:sp>
      <p:sp>
        <p:nvSpPr>
          <p:cNvPr id="38" name="Text-337"/>
          <p:cNvSpPr txBox="1"/>
          <p:nvPr/>
        </p:nvSpPr>
        <p:spPr>
          <a:xfrm>
            <a:off x="3573704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Okuma ve eğitim yayınları</a:t>
            </a:r>
            <a:endParaRPr lang="en-US" sz="1200" dirty="0"/>
          </a:p>
        </p:txBody>
      </p:sp>
      <p:sp>
        <p:nvSpPr>
          <p:cNvPr id="39" name="Card-338"/>
          <p:cNvSpPr/>
          <p:nvPr/>
        </p:nvSpPr>
        <p:spPr>
          <a:xfrm>
            <a:off x="6196432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0" name="Text-339"/>
          <p:cNvSpPr txBox="1"/>
          <p:nvPr/>
        </p:nvSpPr>
        <p:spPr>
          <a:xfrm>
            <a:off x="6397600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Ortaklar</a:t>
            </a:r>
            <a:endParaRPr lang="en-US" sz="1500" dirty="0"/>
          </a:p>
        </p:txBody>
      </p:sp>
      <p:sp>
        <p:nvSpPr>
          <p:cNvPr id="41" name="Text-340"/>
          <p:cNvSpPr txBox="1"/>
          <p:nvPr/>
        </p:nvSpPr>
        <p:spPr>
          <a:xfrm>
            <a:off x="6397600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Yayıncı programı, ajanslar</a:t>
            </a:r>
            <a:endParaRPr lang="en-US" sz="1200" dirty="0"/>
          </a:p>
        </p:txBody>
      </p:sp>
      <p:sp>
        <p:nvSpPr>
          <p:cNvPr id="42" name="Card-341"/>
          <p:cNvSpPr/>
          <p:nvPr/>
        </p:nvSpPr>
        <p:spPr>
          <a:xfrm>
            <a:off x="9020327" y="4297680"/>
            <a:ext cx="2622728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3" name="Text-342"/>
          <p:cNvSpPr txBox="1"/>
          <p:nvPr/>
        </p:nvSpPr>
        <p:spPr>
          <a:xfrm>
            <a:off x="9221495" y="4480560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Platform ve eğitim</a:t>
            </a:r>
            <a:endParaRPr lang="en-US" sz="1500" dirty="0"/>
          </a:p>
        </p:txBody>
      </p:sp>
      <p:sp>
        <p:nvSpPr>
          <p:cNvPr id="44" name="Text-343"/>
          <p:cNvSpPr txBox="1"/>
          <p:nvPr/>
        </p:nvSpPr>
        <p:spPr>
          <a:xfrm>
            <a:off x="9221495" y="4919472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hafta, 20 yayıncı; kurslar</a:t>
            </a:r>
            <a:endParaRPr lang="en-US" sz="1200" dirty="0"/>
          </a:p>
        </p:txBody>
      </p:sp>
      <p:sp>
        <p:nvSpPr>
          <p:cNvPr id="45" name="Text-344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BUSINESSPLAN.tr.md §10, §14.1, §14.2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FİNANSAL SENARYO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 senaryo: 3. yılda başabaş, vizyonla 2. yılda</a:t>
            </a:r>
            <a:endParaRPr lang="en-US" sz="3200" dirty="0"/>
          </a:p>
        </p:txBody>
      </p:sp>
      <p:graphicFrame>
        <p:nvGraphicFramePr>
          <p:cNvPr id="4" name="Scenario-chart" descr=""/>
          <p:cNvGraphicFramePr/>
          <p:nvPr/>
        </p:nvGraphicFramePr>
        <p:xfrm>
          <a:off x="548640" y="1508760"/>
          <a:ext cx="6309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345"/>
          <p:cNvSpPr txBox="1"/>
          <p:nvPr/>
        </p:nvSpPr>
        <p:spPr>
          <a:xfrm>
            <a:off x="548640" y="5193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Çekirdek sonuç</a:t>
            </a:r>
            <a:endParaRPr lang="en-US" sz="1200" dirty="0"/>
          </a:p>
        </p:txBody>
      </p:sp>
      <p:sp>
        <p:nvSpPr>
          <p:cNvPr id="6" name="Text-346"/>
          <p:cNvSpPr txBox="1"/>
          <p:nvPr/>
        </p:nvSpPr>
        <p:spPr>
          <a:xfrm>
            <a:off x="2606040" y="51937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−114 / −62 / +329 bin €</a:t>
            </a:r>
            <a:endParaRPr lang="en-US" sz="1200" dirty="0"/>
          </a:p>
        </p:txBody>
      </p:sp>
      <p:sp>
        <p:nvSpPr>
          <p:cNvPr id="7" name="Text-347"/>
          <p:cNvSpPr txBox="1"/>
          <p:nvPr/>
        </p:nvSpPr>
        <p:spPr>
          <a:xfrm>
            <a:off x="548640" y="5468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Vizyon dahil</a:t>
            </a:r>
            <a:endParaRPr lang="en-US" sz="1200" dirty="0"/>
          </a:p>
        </p:txBody>
      </p:sp>
      <p:sp>
        <p:nvSpPr>
          <p:cNvPr id="8" name="Text-348"/>
          <p:cNvSpPr txBox="1"/>
          <p:nvPr/>
        </p:nvSpPr>
        <p:spPr>
          <a:xfrm>
            <a:off x="2606040" y="5468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−117 / +15 / +736 bin €</a:t>
            </a:r>
            <a:endParaRPr lang="en-US" sz="1200" dirty="0"/>
          </a:p>
        </p:txBody>
      </p:sp>
      <p:sp>
        <p:nvSpPr>
          <p:cNvPr id="9" name="Text-349"/>
          <p:cNvSpPr txBox="1"/>
          <p:nvPr/>
        </p:nvSpPr>
        <p:spPr>
          <a:xfrm>
            <a:off x="548640" y="5742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Temkinli, 3 yıl</a:t>
            </a:r>
            <a:endParaRPr lang="en-US" sz="1200" dirty="0"/>
          </a:p>
        </p:txBody>
      </p:sp>
      <p:sp>
        <p:nvSpPr>
          <p:cNvPr id="10" name="Text-350"/>
          <p:cNvSpPr txBox="1"/>
          <p:nvPr/>
        </p:nvSpPr>
        <p:spPr>
          <a:xfrm>
            <a:off x="2606040" y="57424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−316 bin €</a:t>
            </a:r>
            <a:endParaRPr lang="en-US" sz="1200" dirty="0"/>
          </a:p>
        </p:txBody>
      </p:sp>
      <p:sp>
        <p:nvSpPr>
          <p:cNvPr id="11" name="Card-351"/>
          <p:cNvSpPr/>
          <p:nvPr/>
        </p:nvSpPr>
        <p:spPr>
          <a:xfrm>
            <a:off x="7223760" y="1554480"/>
            <a:ext cx="4419295" cy="4297680"/>
          </a:xfrm>
          <a:prstGeom prst="roundRect">
            <a:avLst>
              <a:gd name="adj" fmla="val 2553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-352"/>
          <p:cNvSpPr txBox="1"/>
          <p:nvPr/>
        </p:nvSpPr>
        <p:spPr>
          <a:xfrm>
            <a:off x="7498080" y="1719072"/>
            <a:ext cx="3870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500.000 €?</a:t>
            </a:r>
            <a:endParaRPr lang="en-US" sz="1700" dirty="0"/>
          </a:p>
        </p:txBody>
      </p:sp>
      <p:sp>
        <p:nvSpPr>
          <p:cNvPr id="13" name="Text-353"/>
          <p:cNvSpPr txBox="1"/>
          <p:nvPr/>
        </p:nvSpPr>
        <p:spPr>
          <a:xfrm>
            <a:off x="7498080" y="2514600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 ay</a:t>
            </a:r>
            <a:endParaRPr lang="en-US" sz="2800" dirty="0"/>
          </a:p>
        </p:txBody>
      </p:sp>
      <p:sp>
        <p:nvSpPr>
          <p:cNvPr id="14" name="Text-354"/>
          <p:cNvSpPr txBox="1"/>
          <p:nvPr/>
        </p:nvSpPr>
        <p:spPr>
          <a:xfrm>
            <a:off x="7498080" y="2990088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Sıfır gelirle pist (250–350 bin €: ≈ 15–18 ay)</a:t>
            </a:r>
            <a:endParaRPr lang="en-US" sz="1200" dirty="0"/>
          </a:p>
        </p:txBody>
      </p:sp>
      <p:sp>
        <p:nvSpPr>
          <p:cNvPr id="15" name="Text-355"/>
          <p:cNvSpPr txBox="1"/>
          <p:nvPr/>
        </p:nvSpPr>
        <p:spPr>
          <a:xfrm>
            <a:off x="7498080" y="3593592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184 bin €</a:t>
            </a:r>
            <a:endParaRPr lang="en-US" sz="2800" dirty="0"/>
          </a:p>
        </p:txBody>
      </p:sp>
      <p:sp>
        <p:nvSpPr>
          <p:cNvPr id="16" name="Text-356"/>
          <p:cNvSpPr txBox="1"/>
          <p:nvPr/>
        </p:nvSpPr>
        <p:spPr>
          <a:xfrm>
            <a:off x="7498080" y="4069080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Temkinli senaryodan sonra kalan (250 bin € yetmez)</a:t>
            </a:r>
            <a:endParaRPr lang="en-US" sz="1200" dirty="0"/>
          </a:p>
        </p:txBody>
      </p:sp>
      <p:sp>
        <p:nvSpPr>
          <p:cNvPr id="17" name="Text-357"/>
          <p:cNvSpPr txBox="1"/>
          <p:nvPr/>
        </p:nvSpPr>
        <p:spPr>
          <a:xfrm>
            <a:off x="7498080" y="4672584"/>
            <a:ext cx="3870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bin €</a:t>
            </a:r>
            <a:endParaRPr lang="en-US" sz="2800" dirty="0"/>
          </a:p>
        </p:txBody>
      </p:sp>
      <p:sp>
        <p:nvSpPr>
          <p:cNvPr id="18" name="Text-358"/>
          <p:cNvSpPr txBox="1"/>
          <p:nvPr/>
        </p:nvSpPr>
        <p:spPr>
          <a:xfrm>
            <a:off x="7498080" y="5148072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2027’de A ve B vizyon hatları için</a:t>
            </a:r>
            <a:endParaRPr lang="en-US" sz="1200" dirty="0"/>
          </a:p>
        </p:txBody>
      </p:sp>
      <p:sp>
        <p:nvSpPr>
          <p:cNvPr id="19" name="Text-359"/>
          <p:cNvSpPr txBox="1"/>
          <p:nvPr/>
        </p:nvSpPr>
        <p:spPr>
          <a:xfrm>
            <a:off x="548640" y="605332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Kaynak: BUSINESSPLAN.tr.md §11.2–11.5 · toplam maliyet = çekirdek + vizyon · senaryodur, öngörü değildir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FON KULLANIMI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Sermaye önce uygulama kapasitesine</a:t>
            </a:r>
            <a:endParaRPr lang="en-US" sz="3200" dirty="0"/>
          </a:p>
        </p:txBody>
      </p:sp>
      <p:graphicFrame>
        <p:nvGraphicFramePr>
          <p:cNvPr id="4" name="Use-of-funds-donut" descr=""/>
          <p:cNvGraphicFramePr/>
          <p:nvPr/>
        </p:nvGraphicFramePr>
        <p:xfrm>
          <a:off x="548640" y="1463040"/>
          <a:ext cx="4480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360"/>
          <p:cNvSpPr txBox="1"/>
          <p:nvPr/>
        </p:nvSpPr>
        <p:spPr>
          <a:xfrm>
            <a:off x="164592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bin €</a:t>
            </a:r>
            <a:endParaRPr lang="en-US" sz="3200" dirty="0"/>
          </a:p>
        </p:txBody>
      </p:sp>
      <p:sp>
        <p:nvSpPr>
          <p:cNvPr id="6" name="Text-361"/>
          <p:cNvSpPr txBox="1"/>
          <p:nvPr/>
        </p:nvSpPr>
        <p:spPr>
          <a:xfrm>
            <a:off x="164592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AY</a:t>
            </a:r>
            <a:endParaRPr lang="en-US" sz="1000" dirty="0"/>
          </a:p>
        </p:txBody>
      </p:sp>
      <p:sp>
        <p:nvSpPr>
          <p:cNvPr id="7" name="Pill-362"/>
          <p:cNvSpPr txBox="1"/>
          <p:nvPr/>
        </p:nvSpPr>
        <p:spPr>
          <a:xfrm>
            <a:off x="5486400" y="1508760"/>
            <a:ext cx="356616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 – LÜTFEN ONAYLAYIN</a:t>
            </a:r>
            <a:endParaRPr lang="en-US" sz="1000" dirty="0"/>
          </a:p>
        </p:txBody>
      </p:sp>
      <p:sp>
        <p:nvSpPr>
          <p:cNvPr id="8" name="Key-363"/>
          <p:cNvSpPr/>
          <p:nvPr/>
        </p:nvSpPr>
        <p:spPr>
          <a:xfrm>
            <a:off x="5486400" y="2121408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2D75"/>
          </a:solidFill>
          <a:ln/>
        </p:spPr>
      </p:sp>
      <p:sp>
        <p:nvSpPr>
          <p:cNvPr id="9" name="Text-364"/>
          <p:cNvSpPr txBox="1"/>
          <p:nvPr/>
        </p:nvSpPr>
        <p:spPr>
          <a:xfrm>
            <a:off x="5852160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%50</a:t>
            </a:r>
            <a:endParaRPr lang="en-US" sz="2400" dirty="0"/>
          </a:p>
        </p:txBody>
      </p:sp>
      <p:sp>
        <p:nvSpPr>
          <p:cNvPr id="10" name="Text-365"/>
          <p:cNvSpPr txBox="1"/>
          <p:nvPr/>
        </p:nvSpPr>
        <p:spPr>
          <a:xfrm>
            <a:off x="6858000" y="1984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 ve mühendislik ekibi</a:t>
            </a:r>
            <a:endParaRPr lang="en-US" sz="1400" dirty="0"/>
          </a:p>
        </p:txBody>
      </p:sp>
      <p:sp>
        <p:nvSpPr>
          <p:cNvPr id="11" name="Text-366"/>
          <p:cNvSpPr txBox="1"/>
          <p:nvPr/>
        </p:nvSpPr>
        <p:spPr>
          <a:xfrm>
            <a:off x="6858000" y="2267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Mobil/web, 13. aydan backend/ML, kurucu kısmen</a:t>
            </a:r>
            <a:endParaRPr lang="en-US" sz="1100" dirty="0"/>
          </a:p>
        </p:txBody>
      </p:sp>
      <p:sp>
        <p:nvSpPr>
          <p:cNvPr id="12" name="Text-367"/>
          <p:cNvSpPr txBox="1"/>
          <p:nvPr/>
        </p:nvSpPr>
        <p:spPr>
          <a:xfrm>
            <a:off x="9905695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250.000 €</a:t>
            </a:r>
            <a:endParaRPr lang="en-US" sz="1800" dirty="0"/>
          </a:p>
        </p:txBody>
      </p:sp>
      <p:sp>
        <p:nvSpPr>
          <p:cNvPr id="13" name="Rule-368"/>
          <p:cNvSpPr/>
          <p:nvPr/>
        </p:nvSpPr>
        <p:spPr>
          <a:xfrm>
            <a:off x="5486400" y="2642616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14" name="Key-369"/>
          <p:cNvSpPr/>
          <p:nvPr/>
        </p:nvSpPr>
        <p:spPr>
          <a:xfrm>
            <a:off x="5486400" y="28895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2DFFB5"/>
          </a:solidFill>
          <a:ln/>
        </p:spPr>
      </p:sp>
      <p:sp>
        <p:nvSpPr>
          <p:cNvPr id="15" name="Text-370"/>
          <p:cNvSpPr txBox="1"/>
          <p:nvPr/>
        </p:nvSpPr>
        <p:spPr>
          <a:xfrm>
            <a:off x="5852160" y="273405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%20</a:t>
            </a:r>
            <a:endParaRPr lang="en-US" sz="2400" dirty="0"/>
          </a:p>
        </p:txBody>
      </p:sp>
      <p:sp>
        <p:nvSpPr>
          <p:cNvPr id="16" name="Text-371"/>
          <p:cNvSpPr txBox="1"/>
          <p:nvPr/>
        </p:nvSpPr>
        <p:spPr>
          <a:xfrm>
            <a:off x="6858000" y="2752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Vizyon hatları → ürün</a:t>
            </a:r>
            <a:endParaRPr lang="en-US" sz="1400" dirty="0"/>
          </a:p>
        </p:txBody>
      </p:sp>
      <p:sp>
        <p:nvSpPr>
          <p:cNvPr id="17" name="Text-372"/>
          <p:cNvSpPr txBox="1"/>
          <p:nvPr/>
        </p:nvSpPr>
        <p:spPr>
          <a:xfrm>
            <a:off x="685800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Kelime-Resim ve hikâye motoru</a:t>
            </a:r>
            <a:endParaRPr lang="en-US" sz="1100" dirty="0"/>
          </a:p>
        </p:txBody>
      </p:sp>
      <p:sp>
        <p:nvSpPr>
          <p:cNvPr id="18" name="Text-373"/>
          <p:cNvSpPr txBox="1"/>
          <p:nvPr/>
        </p:nvSpPr>
        <p:spPr>
          <a:xfrm>
            <a:off x="9905695" y="27340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100.000 €</a:t>
            </a:r>
            <a:endParaRPr lang="en-US" sz="1800" dirty="0"/>
          </a:p>
        </p:txBody>
      </p:sp>
      <p:sp>
        <p:nvSpPr>
          <p:cNvPr id="19" name="Rule-374"/>
          <p:cNvSpPr/>
          <p:nvPr/>
        </p:nvSpPr>
        <p:spPr>
          <a:xfrm>
            <a:off x="5486400" y="3410712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0" name="Key-375"/>
          <p:cNvSpPr/>
          <p:nvPr/>
        </p:nvSpPr>
        <p:spPr>
          <a:xfrm>
            <a:off x="5486400" y="36576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D166"/>
          </a:solidFill>
          <a:ln/>
        </p:spPr>
      </p:sp>
      <p:sp>
        <p:nvSpPr>
          <p:cNvPr id="21" name="Text-376"/>
          <p:cNvSpPr txBox="1"/>
          <p:nvPr/>
        </p:nvSpPr>
        <p:spPr>
          <a:xfrm>
            <a:off x="5852160" y="35021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%15</a:t>
            </a:r>
            <a:endParaRPr lang="en-US" sz="2400" dirty="0"/>
          </a:p>
        </p:txBody>
      </p:sp>
      <p:sp>
        <p:nvSpPr>
          <p:cNvPr id="22" name="Text-377"/>
          <p:cNvSpPr txBox="1"/>
          <p:nvPr/>
        </p:nvSpPr>
        <p:spPr>
          <a:xfrm>
            <a:off x="685800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Pazara giriş ve pilotlar</a:t>
            </a:r>
            <a:endParaRPr lang="en-US" sz="1400" dirty="0"/>
          </a:p>
        </p:txBody>
      </p:sp>
      <p:sp>
        <p:nvSpPr>
          <p:cNvPr id="23" name="Text-378"/>
          <p:cNvSpPr txBox="1"/>
          <p:nvPr/>
        </p:nvSpPr>
        <p:spPr>
          <a:xfrm>
            <a:off x="6858000" y="3803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Yayıncı programı, platform, eğitim</a:t>
            </a:r>
            <a:endParaRPr lang="en-US" sz="1100" dirty="0"/>
          </a:p>
        </p:txBody>
      </p:sp>
      <p:sp>
        <p:nvSpPr>
          <p:cNvPr id="24" name="Text-379"/>
          <p:cNvSpPr txBox="1"/>
          <p:nvPr/>
        </p:nvSpPr>
        <p:spPr>
          <a:xfrm>
            <a:off x="9905695" y="3502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75.000 €</a:t>
            </a:r>
            <a:endParaRPr lang="en-US" sz="1800" dirty="0"/>
          </a:p>
        </p:txBody>
      </p:sp>
      <p:sp>
        <p:nvSpPr>
          <p:cNvPr id="25" name="Rule-380"/>
          <p:cNvSpPr/>
          <p:nvPr/>
        </p:nvSpPr>
        <p:spPr>
          <a:xfrm>
            <a:off x="5486400" y="4178808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6" name="Key-381"/>
          <p:cNvSpPr/>
          <p:nvPr/>
        </p:nvSpPr>
        <p:spPr>
          <a:xfrm>
            <a:off x="5486400" y="4425696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6CC4FF"/>
          </a:solidFill>
          <a:ln/>
        </p:spPr>
      </p:sp>
      <p:sp>
        <p:nvSpPr>
          <p:cNvPr id="27" name="Text-382"/>
          <p:cNvSpPr txBox="1"/>
          <p:nvPr/>
        </p:nvSpPr>
        <p:spPr>
          <a:xfrm>
            <a:off x="5852160" y="42702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%10</a:t>
            </a:r>
            <a:endParaRPr lang="en-US" sz="2400" dirty="0"/>
          </a:p>
        </p:txBody>
      </p:sp>
      <p:sp>
        <p:nvSpPr>
          <p:cNvPr id="28" name="Text-383"/>
          <p:cNvSpPr txBox="1"/>
          <p:nvPr/>
        </p:nvSpPr>
        <p:spPr>
          <a:xfrm>
            <a:off x="6858000" y="4288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Hukuk, marka, veri koruma</a:t>
            </a:r>
            <a:endParaRPr lang="en-US" sz="1400" dirty="0"/>
          </a:p>
        </p:txBody>
      </p:sp>
      <p:sp>
        <p:nvSpPr>
          <p:cNvPr id="29" name="Text-384"/>
          <p:cNvSpPr txBox="1"/>
          <p:nvPr/>
        </p:nvSpPr>
        <p:spPr>
          <a:xfrm>
            <a:off x="685800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Marka, GDPR/KVKK, platform onayları</a:t>
            </a:r>
            <a:endParaRPr lang="en-US" sz="1100" dirty="0"/>
          </a:p>
        </p:txBody>
      </p:sp>
      <p:sp>
        <p:nvSpPr>
          <p:cNvPr id="30" name="Text-385"/>
          <p:cNvSpPr txBox="1"/>
          <p:nvPr/>
        </p:nvSpPr>
        <p:spPr>
          <a:xfrm>
            <a:off x="9905695" y="42702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50.000 €</a:t>
            </a:r>
            <a:endParaRPr lang="en-US" sz="1800" dirty="0"/>
          </a:p>
        </p:txBody>
      </p:sp>
      <p:sp>
        <p:nvSpPr>
          <p:cNvPr id="31" name="Rule-386"/>
          <p:cNvSpPr/>
          <p:nvPr/>
        </p:nvSpPr>
        <p:spPr>
          <a:xfrm>
            <a:off x="5486400" y="4946904"/>
            <a:ext cx="6156655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2" name="Key-387"/>
          <p:cNvSpPr/>
          <p:nvPr/>
        </p:nvSpPr>
        <p:spPr>
          <a:xfrm>
            <a:off x="5486400" y="519379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5A6070"/>
          </a:solidFill>
          <a:ln/>
        </p:spPr>
      </p:sp>
      <p:sp>
        <p:nvSpPr>
          <p:cNvPr id="33" name="Text-388"/>
          <p:cNvSpPr txBox="1"/>
          <p:nvPr/>
        </p:nvSpPr>
        <p:spPr>
          <a:xfrm>
            <a:off x="5852160" y="503834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%5</a:t>
            </a:r>
            <a:endParaRPr lang="en-US" sz="2400" dirty="0"/>
          </a:p>
        </p:txBody>
      </p:sp>
      <p:sp>
        <p:nvSpPr>
          <p:cNvPr id="34" name="Text-389"/>
          <p:cNvSpPr txBox="1"/>
          <p:nvPr/>
        </p:nvSpPr>
        <p:spPr>
          <a:xfrm>
            <a:off x="6858000" y="5056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Yedek</a:t>
            </a:r>
            <a:endParaRPr lang="en-US" sz="1400" dirty="0"/>
          </a:p>
        </p:txBody>
      </p:sp>
      <p:sp>
        <p:nvSpPr>
          <p:cNvPr id="35" name="Text-390"/>
          <p:cNvSpPr txBox="1"/>
          <p:nvPr/>
        </p:nvSpPr>
        <p:spPr>
          <a:xfrm>
            <a:off x="6858000" y="5340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Tampon</a:t>
            </a:r>
            <a:endParaRPr lang="en-US" sz="1100" dirty="0"/>
          </a:p>
        </p:txBody>
      </p:sp>
      <p:sp>
        <p:nvSpPr>
          <p:cNvPr id="36" name="Text-391"/>
          <p:cNvSpPr txBox="1"/>
          <p:nvPr/>
        </p:nvSpPr>
        <p:spPr>
          <a:xfrm>
            <a:off x="9905695" y="50383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25.000 €</a:t>
            </a:r>
            <a:endParaRPr lang="en-US" sz="1800" dirty="0"/>
          </a:p>
        </p:txBody>
      </p:sp>
      <p:sp>
        <p:nvSpPr>
          <p:cNvPr id="37" name="Text-392"/>
          <p:cNvSpPr txBox="1"/>
          <p:nvPr/>
        </p:nvSpPr>
        <p:spPr>
          <a:xfrm>
            <a:off x="5486400" y="5852160"/>
            <a:ext cx="6156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BUSINESSPLAN.tr.md §11.3 ve §11.5 maliyet tablolarından türetilmiştir; altyapı ve yapay zekâ API’si Pro gelirlerinden karşılanır.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KİLOMETRE TAŞI KAPILARI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 kapıdan geçmeden ölçeklendirme yok</a:t>
            </a:r>
            <a:endParaRPr lang="en-US" sz="3200" dirty="0"/>
          </a:p>
        </p:txBody>
      </p:sp>
      <p:sp>
        <p:nvSpPr>
          <p:cNvPr id="4" name="Card-393"/>
          <p:cNvSpPr/>
          <p:nvPr/>
        </p:nvSpPr>
        <p:spPr>
          <a:xfrm>
            <a:off x="548640" y="2697480"/>
            <a:ext cx="2072579" cy="2971800"/>
          </a:xfrm>
          <a:prstGeom prst="roundRect">
            <a:avLst>
              <a:gd name="adj" fmla="val 529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Text-394"/>
          <p:cNvSpPr txBox="1"/>
          <p:nvPr/>
        </p:nvSpPr>
        <p:spPr>
          <a:xfrm>
            <a:off x="731520" y="28620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-395"/>
          <p:cNvSpPr txBox="1"/>
          <p:nvPr/>
        </p:nvSpPr>
        <p:spPr>
          <a:xfrm>
            <a:off x="731520" y="3300984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1Y 2027</a:t>
            </a:r>
            <a:endParaRPr lang="en-US" sz="1000" dirty="0"/>
          </a:p>
        </p:txBody>
      </p:sp>
      <p:sp>
        <p:nvSpPr>
          <p:cNvPr id="7" name="Text-396"/>
          <p:cNvSpPr txBox="1"/>
          <p:nvPr/>
        </p:nvSpPr>
        <p:spPr>
          <a:xfrm>
            <a:off x="731520" y="35661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Aktivasyon</a:t>
            </a:r>
            <a:endParaRPr lang="en-US" sz="1900" dirty="0"/>
          </a:p>
        </p:txBody>
      </p:sp>
      <p:sp>
        <p:nvSpPr>
          <p:cNvPr id="8" name="Text-397"/>
          <p:cNvSpPr txBox="1"/>
          <p:nvPr/>
        </p:nvSpPr>
        <p:spPr>
          <a:xfrm>
            <a:off x="731520" y="4023360"/>
            <a:ext cx="170681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canlı, mobil geliştirici ekipte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beta yayıncı + 10–20 elçi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hafta elde tutma ≥ %[Sayı]</a:t>
            </a:r>
            <a:endParaRPr lang="en-US" sz="1200" dirty="0"/>
          </a:p>
        </p:txBody>
      </p:sp>
      <p:sp>
        <p:nvSpPr>
          <p:cNvPr id="9" name="Card-398"/>
          <p:cNvSpPr/>
          <p:nvPr/>
        </p:nvSpPr>
        <p:spPr>
          <a:xfrm>
            <a:off x="2804099" y="2404872"/>
            <a:ext cx="2072579" cy="3264408"/>
          </a:xfrm>
          <a:prstGeom prst="roundRect">
            <a:avLst>
              <a:gd name="adj" fmla="val 529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Text-399"/>
          <p:cNvSpPr txBox="1"/>
          <p:nvPr/>
        </p:nvSpPr>
        <p:spPr>
          <a:xfrm>
            <a:off x="2986979" y="25694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-400"/>
          <p:cNvSpPr txBox="1"/>
          <p:nvPr/>
        </p:nvSpPr>
        <p:spPr>
          <a:xfrm>
            <a:off x="2986979" y="3008376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2Y 2027</a:t>
            </a:r>
            <a:endParaRPr lang="en-US" sz="1000" dirty="0"/>
          </a:p>
        </p:txBody>
      </p:sp>
      <p:sp>
        <p:nvSpPr>
          <p:cNvPr id="12" name="Text-401"/>
          <p:cNvSpPr txBox="1"/>
          <p:nvPr/>
        </p:nvSpPr>
        <p:spPr>
          <a:xfrm>
            <a:off x="2986979" y="3273552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Çekiş</a:t>
            </a:r>
            <a:endParaRPr lang="en-US" sz="1900" dirty="0"/>
          </a:p>
        </p:txBody>
      </p:sp>
      <p:sp>
        <p:nvSpPr>
          <p:cNvPr id="13" name="Text-402"/>
          <p:cNvSpPr txBox="1"/>
          <p:nvPr/>
        </p:nvSpPr>
        <p:spPr>
          <a:xfrm>
            <a:off x="2986979" y="3730752"/>
            <a:ext cx="1706819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20.000 kayıtlı kullanıcı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800 ücretli Pro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platform pilotu, 5 okul</a:t>
            </a:r>
            <a:endParaRPr lang="en-US" sz="1200" dirty="0"/>
          </a:p>
        </p:txBody>
      </p:sp>
      <p:sp>
        <p:nvSpPr>
          <p:cNvPr id="14" name="Card-403"/>
          <p:cNvSpPr/>
          <p:nvPr/>
        </p:nvSpPr>
        <p:spPr>
          <a:xfrm>
            <a:off x="5059558" y="2112264"/>
            <a:ext cx="2072579" cy="3557016"/>
          </a:xfrm>
          <a:prstGeom prst="roundRect">
            <a:avLst>
              <a:gd name="adj" fmla="val 529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Text-404"/>
          <p:cNvSpPr txBox="1"/>
          <p:nvPr/>
        </p:nvSpPr>
        <p:spPr>
          <a:xfrm>
            <a:off x="5242438" y="22768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-405"/>
          <p:cNvSpPr txBox="1"/>
          <p:nvPr/>
        </p:nvSpPr>
        <p:spPr>
          <a:xfrm>
            <a:off x="5242438" y="2715768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1Y 2028</a:t>
            </a:r>
            <a:endParaRPr lang="en-US" sz="1000" dirty="0"/>
          </a:p>
        </p:txBody>
      </p:sp>
      <p:sp>
        <p:nvSpPr>
          <p:cNvPr id="17" name="Text-406"/>
          <p:cNvSpPr txBox="1"/>
          <p:nvPr/>
        </p:nvSpPr>
        <p:spPr>
          <a:xfrm>
            <a:off x="5242438" y="2980944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Elde tutma</a:t>
            </a:r>
            <a:endParaRPr lang="en-US" sz="1900" dirty="0"/>
          </a:p>
        </p:txBody>
      </p:sp>
      <p:sp>
        <p:nvSpPr>
          <p:cNvPr id="18" name="Text-407"/>
          <p:cNvSpPr txBox="1"/>
          <p:nvPr/>
        </p:nvSpPr>
        <p:spPr>
          <a:xfrm>
            <a:off x="5242438" y="3438144"/>
            <a:ext cx="1706819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→ Pro ≥ %4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ay elde tutma ≥ %[Sayı]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Kelime-Resim pilotu değerlendirildi</a:t>
            </a:r>
            <a:endParaRPr lang="en-US" sz="1200" dirty="0"/>
          </a:p>
        </p:txBody>
      </p:sp>
      <p:sp>
        <p:nvSpPr>
          <p:cNvPr id="19" name="Card-408"/>
          <p:cNvSpPr/>
          <p:nvPr/>
        </p:nvSpPr>
        <p:spPr>
          <a:xfrm>
            <a:off x="7315017" y="1819656"/>
            <a:ext cx="2072579" cy="3849624"/>
          </a:xfrm>
          <a:prstGeom prst="roundRect">
            <a:avLst>
              <a:gd name="adj" fmla="val 5294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Text-409"/>
          <p:cNvSpPr txBox="1"/>
          <p:nvPr/>
        </p:nvSpPr>
        <p:spPr>
          <a:xfrm>
            <a:off x="7497897" y="198424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-410"/>
          <p:cNvSpPr txBox="1"/>
          <p:nvPr/>
        </p:nvSpPr>
        <p:spPr>
          <a:xfrm>
            <a:off x="7497897" y="2423160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2Y 2028</a:t>
            </a:r>
            <a:endParaRPr lang="en-US" sz="1000" dirty="0"/>
          </a:p>
        </p:txBody>
      </p:sp>
      <p:sp>
        <p:nvSpPr>
          <p:cNvPr id="22" name="Text-411"/>
          <p:cNvSpPr txBox="1"/>
          <p:nvPr/>
        </p:nvSpPr>
        <p:spPr>
          <a:xfrm>
            <a:off x="7497897" y="2688336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Ölçek</a:t>
            </a:r>
            <a:endParaRPr lang="en-US" sz="1900" dirty="0"/>
          </a:p>
        </p:txBody>
      </p:sp>
      <p:sp>
        <p:nvSpPr>
          <p:cNvPr id="23" name="Text-412"/>
          <p:cNvSpPr txBox="1"/>
          <p:nvPr/>
        </p:nvSpPr>
        <p:spPr>
          <a:xfrm>
            <a:off x="7497897" y="3145536"/>
            <a:ext cx="1706819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80.000 kayıtlı kullanıcı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3.200 Pro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50 bin €, 40 okul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SDK ortağı</a:t>
            </a:r>
            <a:endParaRPr lang="en-US" sz="1200" dirty="0"/>
          </a:p>
        </p:txBody>
      </p:sp>
      <p:sp>
        <p:nvSpPr>
          <p:cNvPr id="24" name="Card-413"/>
          <p:cNvSpPr/>
          <p:nvPr/>
        </p:nvSpPr>
        <p:spPr>
          <a:xfrm>
            <a:off x="9570476" y="1527048"/>
            <a:ext cx="2072579" cy="4142232"/>
          </a:xfrm>
          <a:prstGeom prst="roundRect">
            <a:avLst>
              <a:gd name="adj" fmla="val 5294"/>
            </a:avLst>
          </a:prstGeom>
          <a:solidFill>
            <a:schemeClr val="accent6"/>
          </a:solidFill>
          <a:ln w="15875">
            <a:solidFill>
              <a:srgbClr val="FF2D75"/>
            </a:solidFill>
            <a:prstDash val="solid"/>
          </a:ln>
        </p:spPr>
      </p:sp>
      <p:sp>
        <p:nvSpPr>
          <p:cNvPr id="25" name="Text-414"/>
          <p:cNvSpPr txBox="1"/>
          <p:nvPr/>
        </p:nvSpPr>
        <p:spPr>
          <a:xfrm>
            <a:off x="9753356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-415"/>
          <p:cNvSpPr txBox="1"/>
          <p:nvPr/>
        </p:nvSpPr>
        <p:spPr>
          <a:xfrm>
            <a:off x="9753356" y="2130552"/>
            <a:ext cx="1706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000" dirty="0"/>
          </a:p>
        </p:txBody>
      </p:sp>
      <p:sp>
        <p:nvSpPr>
          <p:cNvPr id="27" name="Text-416"/>
          <p:cNvSpPr txBox="1"/>
          <p:nvPr/>
        </p:nvSpPr>
        <p:spPr>
          <a:xfrm>
            <a:off x="9753356" y="2395728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</a:t>
            </a:r>
            <a:endParaRPr lang="en-US" sz="1900" dirty="0"/>
          </a:p>
        </p:txBody>
      </p:sp>
      <p:sp>
        <p:nvSpPr>
          <p:cNvPr id="28" name="Text-417"/>
          <p:cNvSpPr txBox="1"/>
          <p:nvPr/>
        </p:nvSpPr>
        <p:spPr>
          <a:xfrm>
            <a:off x="9753356" y="2852928"/>
            <a:ext cx="1706819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yılda başabaş yolu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 tur ya da platform görüşmesi</a:t>
            </a:r>
            <a:endParaRPr lang="en-US" sz="1200" dirty="0"/>
          </a:p>
        </p:txBody>
      </p:sp>
      <p:sp>
        <p:nvSpPr>
          <p:cNvPr id="29" name="Pill-418"/>
          <p:cNvSpPr txBox="1"/>
          <p:nvPr/>
        </p:nvSpPr>
        <p:spPr>
          <a:xfrm>
            <a:off x="8076895" y="347472"/>
            <a:ext cx="356616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 – LÜTFEN ONAYLAYIN</a:t>
            </a:r>
            <a:endParaRPr lang="en-US" sz="1000" dirty="0"/>
          </a:p>
        </p:txBody>
      </p:sp>
      <p:sp>
        <p:nvSpPr>
          <p:cNvPr id="30" name="Text-419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değerler baz senaryodan (BUSINESSPLAN.tr.md §11.1, §11.5, §14) – henüz ulaşılmadı, tahmin. [Sayı] ilk kohortlardan sonra belirlenir.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LIVEFX / EKİP VE TUR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LiveFX’in arkasındaki ekip</a:t>
            </a:r>
            <a:endParaRPr lang="en-US" sz="3200" dirty="0"/>
          </a:p>
        </p:txBody>
      </p:sp>
      <p:sp>
        <p:nvSpPr>
          <p:cNvPr id="4" name="Card-420"/>
          <p:cNvSpPr/>
          <p:nvPr/>
        </p:nvSpPr>
        <p:spPr>
          <a:xfrm>
            <a:off x="548640" y="1554480"/>
            <a:ext cx="370332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Badge-421"/>
          <p:cNvSpPr txBox="1"/>
          <p:nvPr/>
        </p:nvSpPr>
        <p:spPr>
          <a:xfrm>
            <a:off x="777240" y="1783080"/>
            <a:ext cx="777240" cy="7772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2000" dirty="0"/>
          </a:p>
        </p:txBody>
      </p:sp>
      <p:sp>
        <p:nvSpPr>
          <p:cNvPr id="6" name="Text-422"/>
          <p:cNvSpPr txBox="1"/>
          <p:nvPr/>
        </p:nvSpPr>
        <p:spPr>
          <a:xfrm>
            <a:off x="173736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Tuncay Sancak</a:t>
            </a:r>
            <a:endParaRPr lang="en-US" sz="1900" dirty="0"/>
          </a:p>
        </p:txBody>
      </p:sp>
      <p:sp>
        <p:nvSpPr>
          <p:cNvPr id="7" name="Text-423"/>
          <p:cNvSpPr txBox="1"/>
          <p:nvPr/>
        </p:nvSpPr>
        <p:spPr>
          <a:xfrm>
            <a:off x="173736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KURUCU &amp; MUCİT · GENEL MÜDÜR</a:t>
            </a:r>
            <a:endParaRPr lang="en-US" sz="900" dirty="0"/>
          </a:p>
        </p:txBody>
      </p:sp>
      <p:sp>
        <p:nvSpPr>
          <p:cNvPr id="8" name="Text-424"/>
          <p:cNvSpPr txBox="1"/>
          <p:nvPr/>
        </p:nvSpPr>
        <p:spPr>
          <a:xfrm>
            <a:off x="777240" y="27432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LiveFX’i icat etti ve finansmandan önce 2.0’a kadar geliştirdi. Mercedes-Benz’de eski proje lideri, yapay zekâ uzmanı ve veri bilimci; ana dili Almanca ve Türkçe. „İyi ki Varsın“ dahil çocuk kitaplarının yazarı.</a:t>
            </a:r>
            <a:endParaRPr lang="en-US" sz="1300" dirty="0"/>
          </a:p>
        </p:txBody>
      </p:sp>
      <p:sp>
        <p:nvSpPr>
          <p:cNvPr id="9" name="Card-425"/>
          <p:cNvSpPr/>
          <p:nvPr/>
        </p:nvSpPr>
        <p:spPr>
          <a:xfrm>
            <a:off x="4480560" y="1554480"/>
            <a:ext cx="370332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Badge-426"/>
          <p:cNvSpPr txBox="1"/>
          <p:nvPr/>
        </p:nvSpPr>
        <p:spPr>
          <a:xfrm>
            <a:off x="4709160" y="1783080"/>
            <a:ext cx="777240" cy="77724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</a:t>
            </a:r>
            <a:endParaRPr lang="en-US" sz="2000" dirty="0"/>
          </a:p>
        </p:txBody>
      </p:sp>
      <p:sp>
        <p:nvSpPr>
          <p:cNvPr id="11" name="Text-427"/>
          <p:cNvSpPr txBox="1"/>
          <p:nvPr/>
        </p:nvSpPr>
        <p:spPr>
          <a:xfrm>
            <a:off x="566928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Gönül Demet</a:t>
            </a:r>
            <a:endParaRPr lang="en-US" sz="1900" dirty="0"/>
          </a:p>
        </p:txBody>
      </p:sp>
      <p:sp>
        <p:nvSpPr>
          <p:cNvPr id="12" name="Text-428"/>
          <p:cNvSpPr txBox="1"/>
          <p:nvPr/>
        </p:nvSpPr>
        <p:spPr>
          <a:xfrm>
            <a:off x="5669280" y="21762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YATIRIMCI İLİŞKİLERİ &amp; FON TOPLAMA</a:t>
            </a:r>
            <a:endParaRPr lang="en-US" sz="900" dirty="0"/>
          </a:p>
        </p:txBody>
      </p:sp>
      <p:sp>
        <p:nvSpPr>
          <p:cNvPr id="13" name="Text-429"/>
          <p:cNvSpPr txBox="1"/>
          <p:nvPr/>
        </p:nvSpPr>
        <p:spPr>
          <a:xfrm>
            <a:off x="4709160" y="274320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turu için yatırımcılarla iletişimi yürütüyor ve bu belgeleri hazırladı.</a:t>
            </a:r>
            <a:endParaRPr lang="en-US" sz="1300" dirty="0"/>
          </a:p>
        </p:txBody>
      </p:sp>
      <p:sp>
        <p:nvSpPr>
          <p:cNvPr id="14" name="Card-430"/>
          <p:cNvSpPr/>
          <p:nvPr/>
        </p:nvSpPr>
        <p:spPr>
          <a:xfrm>
            <a:off x="8412480" y="1554480"/>
            <a:ext cx="3230575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Text-431"/>
          <p:cNvSpPr txBox="1"/>
          <p:nvPr/>
        </p:nvSpPr>
        <p:spPr>
          <a:xfrm>
            <a:off x="8641080" y="1737360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Finansmandan sonra ekip</a:t>
            </a:r>
            <a:endParaRPr lang="en-US" sz="1600" dirty="0"/>
          </a:p>
        </p:txBody>
      </p:sp>
      <p:sp>
        <p:nvSpPr>
          <p:cNvPr id="16" name="Text-432"/>
          <p:cNvSpPr txBox="1"/>
          <p:nvPr/>
        </p:nvSpPr>
        <p:spPr>
          <a:xfrm>
            <a:off x="8641080" y="2377440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 geliştirici</a:t>
            </a:r>
            <a:endParaRPr lang="en-US" sz="1300" dirty="0"/>
          </a:p>
        </p:txBody>
      </p:sp>
      <p:sp>
        <p:nvSpPr>
          <p:cNvPr id="17" name="Text-433"/>
          <p:cNvSpPr txBox="1"/>
          <p:nvPr/>
        </p:nvSpPr>
        <p:spPr>
          <a:xfrm>
            <a:off x="8641080" y="2624328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turla birlikte</a:t>
            </a:r>
            <a:endParaRPr lang="en-US" sz="1100" dirty="0"/>
          </a:p>
        </p:txBody>
      </p:sp>
      <p:sp>
        <p:nvSpPr>
          <p:cNvPr id="18" name="Text-434"/>
          <p:cNvSpPr txBox="1"/>
          <p:nvPr/>
        </p:nvSpPr>
        <p:spPr>
          <a:xfrm>
            <a:off x="8641080" y="2898648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Topluluk ve ortaklar TR/DE</a:t>
            </a:r>
            <a:endParaRPr lang="en-US" sz="1300" dirty="0"/>
          </a:p>
        </p:txBody>
      </p:sp>
      <p:sp>
        <p:nvSpPr>
          <p:cNvPr id="19" name="Text-435"/>
          <p:cNvSpPr txBox="1"/>
          <p:nvPr/>
        </p:nvSpPr>
        <p:spPr>
          <a:xfrm>
            <a:off x="8641080" y="3145536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1–2. yıl</a:t>
            </a:r>
            <a:endParaRPr lang="en-US" sz="1100" dirty="0"/>
          </a:p>
        </p:txBody>
      </p:sp>
      <p:sp>
        <p:nvSpPr>
          <p:cNvPr id="20" name="Text-436"/>
          <p:cNvSpPr txBox="1"/>
          <p:nvPr/>
        </p:nvSpPr>
        <p:spPr>
          <a:xfrm>
            <a:off x="8641080" y="3419856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Grafik/web geliştirici (Canvas)</a:t>
            </a:r>
            <a:endParaRPr lang="en-US" sz="1300" dirty="0"/>
          </a:p>
        </p:txBody>
      </p:sp>
      <p:sp>
        <p:nvSpPr>
          <p:cNvPr id="21" name="Text-437"/>
          <p:cNvSpPr txBox="1"/>
          <p:nvPr/>
        </p:nvSpPr>
        <p:spPr>
          <a:xfrm>
            <a:off x="8641080" y="3666744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1–2. yıl</a:t>
            </a:r>
            <a:endParaRPr lang="en-US" sz="1100" dirty="0"/>
          </a:p>
        </p:txBody>
      </p:sp>
      <p:sp>
        <p:nvSpPr>
          <p:cNvPr id="22" name="Text-438"/>
          <p:cNvSpPr txBox="1"/>
          <p:nvPr/>
        </p:nvSpPr>
        <p:spPr>
          <a:xfrm>
            <a:off x="8641080" y="3941064"/>
            <a:ext cx="2773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Backend/ML</a:t>
            </a:r>
            <a:endParaRPr lang="en-US" sz="1300" dirty="0"/>
          </a:p>
        </p:txBody>
      </p:sp>
      <p:sp>
        <p:nvSpPr>
          <p:cNvPr id="23" name="Text-439"/>
          <p:cNvSpPr txBox="1"/>
          <p:nvPr/>
        </p:nvSpPr>
        <p:spPr>
          <a:xfrm>
            <a:off x="8641080" y="4187952"/>
            <a:ext cx="2773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aydan itibaren</a:t>
            </a:r>
            <a:endParaRPr lang="en-US" sz="1100" dirty="0"/>
          </a:p>
        </p:txBody>
      </p:sp>
      <p:sp>
        <p:nvSpPr>
          <p:cNvPr id="24" name="Wave-440"/>
          <p:cNvSpPr/>
          <p:nvPr/>
        </p:nvSpPr>
        <p:spPr>
          <a:xfrm>
            <a:off x="548640" y="5020056"/>
            <a:ext cx="62345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5" name="Wave-441"/>
          <p:cNvSpPr/>
          <p:nvPr/>
        </p:nvSpPr>
        <p:spPr>
          <a:xfrm>
            <a:off x="673331" y="4879619"/>
            <a:ext cx="62345" cy="3906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Wave-442"/>
          <p:cNvSpPr/>
          <p:nvPr/>
        </p:nvSpPr>
        <p:spPr>
          <a:xfrm>
            <a:off x="798022" y="4887390"/>
            <a:ext cx="62345" cy="3750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Wave-443"/>
          <p:cNvSpPr/>
          <p:nvPr/>
        </p:nvSpPr>
        <p:spPr>
          <a:xfrm>
            <a:off x="922713" y="4906774"/>
            <a:ext cx="62345" cy="33629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Wave-444"/>
          <p:cNvSpPr/>
          <p:nvPr/>
        </p:nvSpPr>
        <p:spPr>
          <a:xfrm>
            <a:off x="1047404" y="4859875"/>
            <a:ext cx="62345" cy="4300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9" name="Wave-445"/>
          <p:cNvSpPr/>
          <p:nvPr/>
        </p:nvSpPr>
        <p:spPr>
          <a:xfrm>
            <a:off x="1172095" y="4913429"/>
            <a:ext cx="62345" cy="3229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Wave-446"/>
          <p:cNvSpPr/>
          <p:nvPr/>
        </p:nvSpPr>
        <p:spPr>
          <a:xfrm>
            <a:off x="1296785" y="4955694"/>
            <a:ext cx="62345" cy="2384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Wave-447"/>
          <p:cNvSpPr/>
          <p:nvPr/>
        </p:nvSpPr>
        <p:spPr>
          <a:xfrm>
            <a:off x="1421476" y="4879055"/>
            <a:ext cx="62345" cy="39173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2" name="Wave-448"/>
          <p:cNvSpPr/>
          <p:nvPr/>
        </p:nvSpPr>
        <p:spPr>
          <a:xfrm>
            <a:off x="1546167" y="4910567"/>
            <a:ext cx="62345" cy="32870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3" name="Wave-449"/>
          <p:cNvSpPr/>
          <p:nvPr/>
        </p:nvSpPr>
        <p:spPr>
          <a:xfrm>
            <a:off x="1670858" y="4881855"/>
            <a:ext cx="62345" cy="38612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4" name="Wave-450"/>
          <p:cNvSpPr/>
          <p:nvPr/>
        </p:nvSpPr>
        <p:spPr>
          <a:xfrm>
            <a:off x="1795549" y="4851184"/>
            <a:ext cx="62345" cy="4474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5" name="Wave-451"/>
          <p:cNvSpPr/>
          <p:nvPr/>
        </p:nvSpPr>
        <p:spPr>
          <a:xfrm>
            <a:off x="1920240" y="4973848"/>
            <a:ext cx="62345" cy="2021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Wave-452"/>
          <p:cNvSpPr/>
          <p:nvPr/>
        </p:nvSpPr>
        <p:spPr>
          <a:xfrm>
            <a:off x="2044931" y="4913926"/>
            <a:ext cx="62345" cy="32198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7" name="Wave-453"/>
          <p:cNvSpPr/>
          <p:nvPr/>
        </p:nvSpPr>
        <p:spPr>
          <a:xfrm>
            <a:off x="2169622" y="4900553"/>
            <a:ext cx="62345" cy="3487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8" name="Wave-454"/>
          <p:cNvSpPr/>
          <p:nvPr/>
        </p:nvSpPr>
        <p:spPr>
          <a:xfrm>
            <a:off x="2294313" y="4910728"/>
            <a:ext cx="62345" cy="3283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9" name="Wave-455"/>
          <p:cNvSpPr/>
          <p:nvPr/>
        </p:nvSpPr>
        <p:spPr>
          <a:xfrm>
            <a:off x="2419004" y="4848503"/>
            <a:ext cx="62345" cy="45283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0" name="Wave-456"/>
          <p:cNvSpPr/>
          <p:nvPr/>
        </p:nvSpPr>
        <p:spPr>
          <a:xfrm>
            <a:off x="2543695" y="4875543"/>
            <a:ext cx="62345" cy="39875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1" name="Wave-457"/>
          <p:cNvSpPr/>
          <p:nvPr/>
        </p:nvSpPr>
        <p:spPr>
          <a:xfrm>
            <a:off x="2668385" y="5000222"/>
            <a:ext cx="62345" cy="1493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2" name="Wave-458"/>
          <p:cNvSpPr/>
          <p:nvPr/>
        </p:nvSpPr>
        <p:spPr>
          <a:xfrm>
            <a:off x="2793076" y="4904788"/>
            <a:ext cx="62345" cy="34026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3" name="Wave-459"/>
          <p:cNvSpPr/>
          <p:nvPr/>
        </p:nvSpPr>
        <p:spPr>
          <a:xfrm>
            <a:off x="2917767" y="4921786"/>
            <a:ext cx="62345" cy="30626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4" name="Wave-460"/>
          <p:cNvSpPr/>
          <p:nvPr/>
        </p:nvSpPr>
        <p:spPr>
          <a:xfrm>
            <a:off x="3042458" y="4884493"/>
            <a:ext cx="62345" cy="38085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5" name="Wave-461"/>
          <p:cNvSpPr/>
          <p:nvPr/>
        </p:nvSpPr>
        <p:spPr>
          <a:xfrm>
            <a:off x="3167149" y="4830211"/>
            <a:ext cx="62345" cy="48941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6" name="Card-462"/>
          <p:cNvSpPr/>
          <p:nvPr/>
        </p:nvSpPr>
        <p:spPr>
          <a:xfrm>
            <a:off x="3520440" y="4709160"/>
            <a:ext cx="8122615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rgbClr val="FF2D75"/>
            </a:solidFill>
            <a:prstDash val="solid"/>
          </a:ln>
        </p:spPr>
      </p:sp>
      <p:sp>
        <p:nvSpPr>
          <p:cNvPr id="47" name="Text-463"/>
          <p:cNvSpPr txBox="1"/>
          <p:nvPr/>
        </p:nvSpPr>
        <p:spPr>
          <a:xfrm>
            <a:off x="3749040" y="47365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500.000 € pre-seed · Koşullar [açık]</a:t>
            </a:r>
            <a:endParaRPr lang="en-US" sz="1800" dirty="0"/>
          </a:p>
        </p:txBody>
      </p:sp>
      <p:sp>
        <p:nvSpPr>
          <p:cNvPr id="48" name="Text-464"/>
          <p:cNvSpPr txBox="1"/>
          <p:nvPr/>
        </p:nvSpPr>
        <p:spPr>
          <a:xfrm>
            <a:off x="8229600" y="473659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Yatırımcı iletişimi: Gönül Demet · [E-posta]</a:t>
            </a:r>
            <a:endParaRPr lang="en-US" sz="1300" dirty="0"/>
          </a:p>
        </p:txBody>
      </p:sp>
      <p:sp>
        <p:nvSpPr>
          <p:cNvPr id="49" name="Text-465"/>
          <p:cNvSpPr txBox="1"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Gizli pre-seed belgeleri. Geleceğe yönelik ifadeler önemli risklere tabidir; yatırım, sermayenin tamamen kaybına yol açabilir.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veFX Investor">
      <a:dk1>
        <a:srgbClr val="0F1115"/>
      </a:dk1>
      <a:lt1>
        <a:srgbClr val="FFFFFF"/>
      </a:lt1>
      <a:dk2>
        <a:srgbClr val="1A1D24"/>
      </a:dk2>
      <a:lt2>
        <a:srgbClr val="A9B0BD"/>
      </a:lt2>
      <a:accent1>
        <a:srgbClr val="FF2D75"/>
      </a:accent1>
      <a:accent2>
        <a:srgbClr val="2DFFB5"/>
      </a:accent2>
      <a:accent3>
        <a:srgbClr val="FFD166"/>
      </a:accent3>
      <a:accent4>
        <a:srgbClr val="6CC4FF"/>
      </a:accent4>
      <a:accent5>
        <a:srgbClr val="2A2E38"/>
      </a:accent5>
      <a:accent6>
        <a:srgbClr val="3A0F22"/>
      </a:accent6>
      <a:hlink>
        <a:srgbClr val="FFD166"/>
      </a:hlink>
      <a:folHlink>
        <a:srgbClr val="2DFFB5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LiveFX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LiveFX – Yatırımcı Sunumu (Pre-Seed, Ekim 2026)</dc:title>
  <dc:subject>LiveFX – Yatırımcı Sunumu (Pre-Seed, Ekim 2026)</dc:subject>
  <dc:creator>Gönül Demet (Investor Relations)</dc:creator>
  <cp:lastModifiedBy>Gönül Demet (Investor Relations)</cp:lastModifiedBy>
  <cp:revision>1</cp:revision>
  <dcterms:created xsi:type="dcterms:W3CDTF">2026-10-03T14:22:56Z</dcterms:created>
  <dcterms:modified xsi:type="dcterms:W3CDTF">2026-10-03T14:22:56Z</dcterms:modified>
</cp:coreProperties>
</file>