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ARR (Mio. €)</c:v>
                </c:pt>
              </c:strCache>
            </c:strRef>
          </c:tx>
          <c:spPr>
            <a:solidFill>
              <a:srgbClr val="C8A45C"/>
            </a:solidFill>
          </c:spPr>
          <c:cat>
            <c:strRef>
              <c:f>Sheet1!$A$2:$A$6</c:f>
              <c:strCache>
                <c:ptCount val="5"/>
                <c:pt idx="0">
                  <c:v>2027</c:v>
                </c:pt>
                <c:pt idx="1">
                  <c:v>2028</c:v>
                </c:pt>
                <c:pt idx="2">
                  <c:v>2029</c:v>
                </c:pt>
                <c:pt idx="3">
                  <c:v>2030</c:v>
                </c:pt>
                <c:pt idx="4">
                  <c:v>2031</c:v>
                </c:pt>
              </c:strCache>
            </c:strRef>
          </c:cat>
          <c:val>
            <c:numRef>
              <c:f>Sheet1!$B$2:$B$6</c:f>
              <c:numCache>
                <c:formatCode>General</c:formatCode>
                <c:ptCount val="5"/>
                <c:pt idx="0">
                  <c:v>0.13</c:v>
                </c:pt>
                <c:pt idx="1">
                  <c:v>0.44</c:v>
                </c:pt>
                <c:pt idx="2">
                  <c:v>0.9</c:v>
                </c:pt>
                <c:pt idx="3">
                  <c:v>1.41</c:v>
                </c:pt>
                <c:pt idx="4">
                  <c:v>1.98</c:v>
                </c:pt>
              </c:numCache>
            </c:numRef>
          </c:val>
        </c:ser>
        <c:dLbls>
          <c:numFmt formatCode="0.00" sourceLinked="0"/>
          <c:txPr>
            <a:bodyPr/>
            <a:lstStyle/>
            <a:p>
              <a:pPr>
                <a:defRPr sz="1100">
                  <a:solidFill>
                    <a:srgbClr val="F2F5F8"/>
                  </a:solidFill>
                  <a:latin typeface="Manrope"/>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2A3C50"/>
            </a:solidFill>
          </a:ln>
        </c:spPr>
        <c:txPr>
          <a:bodyPr/>
          <a:lstStyle/>
          <a:p>
            <a:pPr>
              <a:defRPr sz="1100">
                <a:solidFill>
                  <a:srgbClr val="9FB0C3"/>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Verwendung</c:v>
                </c:pt>
              </c:strCache>
            </c:strRef>
          </c:tx>
          <c:dPt>
            <c:idx val="0"/>
            <c:spPr>
              <a:solidFill>
                <a:srgbClr val="C8A45C"/>
              </a:solidFill>
            </c:spPr>
          </c:dPt>
          <c:dPt>
            <c:idx val="1"/>
            <c:spPr>
              <a:solidFill>
                <a:srgbClr val="0E7C7B"/>
              </a:solidFill>
            </c:spPr>
          </c:dPt>
          <c:dPt>
            <c:idx val="2"/>
            <c:spPr>
              <a:solidFill>
                <a:srgbClr val="5B6E86"/>
              </a:solidFill>
            </c:spPr>
          </c:dPt>
          <c:dPt>
            <c:idx val="3"/>
            <c:spPr>
              <a:solidFill>
                <a:srgbClr val="2A3C50"/>
              </a:solidFill>
            </c:spPr>
          </c:dPt>
          <c:cat>
            <c:strRef>
              <c:f>Sheet1!$A$2:$A$5</c:f>
              <c:strCache>
                <c:ptCount val="4"/>
                <c:pt idx="0">
                  <c:v>Personal</c:v>
                </c:pt>
                <c:pt idx="1">
                  <c:v>Marketing &amp; Messen</c:v>
                </c:pt>
                <c:pt idx="2">
                  <c:v>Betrieb</c:v>
                </c:pt>
                <c:pt idx="3">
                  <c:v>Variable Kosten</c:v>
                </c:pt>
              </c:strCache>
            </c:strRef>
          </c:cat>
          <c:val>
            <c:numRef>
              <c:f>Sheet1!$B$2:$B$5</c:f>
              <c:numCache>
                <c:formatCode>General</c:formatCode>
                <c:ptCount val="4"/>
                <c:pt idx="0">
                  <c:v>0.64</c:v>
                </c:pt>
                <c:pt idx="1">
                  <c:v>0.18</c:v>
                </c:pt>
                <c:pt idx="2">
                  <c:v>0.13</c:v>
                </c:pt>
                <c:pt idx="3">
                  <c:v>0.05</c:v>
                </c:pt>
              </c:numCache>
            </c:numRef>
          </c:val>
        </c:ser>
        <c:dLbls>
          <c:numFmt formatCode="0%" sourceLinked="0"/>
          <c:txPr>
            <a:bodyPr/>
            <a:lstStyle/>
            <a:p>
              <a:pPr>
                <a:defRPr sz="1100" b="1">
                  <a:solidFill>
                    <a:srgbClr val="F2F5F8"/>
                  </a:solidFill>
                </a:defRPr>
              </a:pPr>
            </a:p>
          </c:txPr>
          <c:showLegendKey val="0"/>
          <c:showVal val="0"/>
          <c:showCatName val="0"/>
          <c:showSerName val="0"/>
          <c:showPercent val="0"/>
          <c:showBubbleSize val="0"/>
          <c:showLeaderLines val="1"/>
        </c:dLbls>
        <c:firstSliceAng val="0"/>
        <c:holeSize val="50"/>
      </c:doughnutChart>
      <c:spPr>
        <a:noFill/>
        <a:ln>
          <a:noFill/>
        </a:ln>
      </c:spPr>
    </c:plotArea>
    <c:legend>
      <c:legendPos val="b"/>
      <c:layout/>
      <c:overlay val="0"/>
      <c:txPr>
        <a:bodyPr/>
        <a:lstStyle/>
        <a:p>
          <a:pPr>
            <a:defRPr sz="1050">
              <a:solidFill>
                <a:srgbClr val="F2F5F8"/>
              </a:solidFill>
              <a:latin typeface="Manrope"/>
            </a:defRPr>
          </a:pPr>
        </a:p>
      </c:txPr>
    </c:legend>
    <c:plotVisOnly val="1"/>
    <c:dispBlanksAs val="gap"/>
    <c:showDLblsOverMax val="0"/>
  </c:chart>
  <c:spPr>
    <a:noFill/>
    <a:ln>
      <a:noFill/>
    </a:ln>
  </c:spPr>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Guten Tag, ich bin [Name], Gründer von Ladeklar. Ladeklar ist eine App für Speditionen, Transportunternehmen und Betriebe mit eigenem Fuhrpark. Die Idee passt in einen Satz: Der Fahrer tippt einen Knopf, und im Büro ist alles klar. Kein Anruf, kein Zettel, kein Lieferschein, der drei Tage später im Handschuhfach auftaucht. Jeder Kunde nutzt Ladeklar unter seinem eigenen Logo. In den nächsten fünfzehn Minuten zeige ich Ihnen, welches Problem wir lösen, wie groß der Markt ist, wie wir Geld verdienen und wofür wir Ihr Kapital brauchen.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Sandra. Sie disponiert zwölf Lkw in einem Stückgutbetrieb bei Stuttgart. Um 6:12 Uhr ruft der erste Fahrer an: Er steht vor der Rampe, die Rampe ist zu. Um halb acht fragt ein Kunde, wo seine Ware bleibt, und Sandra telefoniert drei Fahrer ab, bis sie es weiß. Um neun hat sie 23 Telefonate hinter sich, zwei WhatsApp- Gruppen und einen Zettel mit Kennzeichen. Am Freitag fehlt ein Lieferschein. Die Rechnung bleibt liegen, und die zwei Stunden Wartezeit an der Rampe kann niemand belegen. So arbeiten die meisten kleinen Transportbetriebe in Deutschland. Nur 21 Prozent der Fuhrparks mit fünf oder mehr Fahrzeugen nutzen überhaupt Telematik. Und es wird schwerer: 64 Prozent der Speditionen finden keine Disponenten, und es fehlen rund 120.000 Lkw-Fahrer. Wer weniger Leute hat, kann sich diese Telefonzeit nicht mehr leisten.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Ladeklar ersetzt die Anrufe durch Knöpfe. Der Fahrer sieht auf seinem Handy immer genau einen großen Knopf: Bestätigen, Aufgeladen, Abgeladen, Lieferschein fotografieren. Jeder Tipp landet sofort als Push-Mitteilung in der Disposition, mit Uhrzeit. Bevor eine Tour abgeschlossen werden kann, braucht es ein Foto vom Lieferschein. Damit geht der Abliefernachweis noch am selben Tag an den Kunden und an die Buchhaltung. Wenn der Fahrer an der Rampe ankommt, tippt er „Angekommen“ – so entsteht ein Beleg für die Wartezeit, und Standgeld wird durchsetzbar. Die App läuft in acht Sprachen und funktioniert auch im Funkloch. Und ganz wichtig für Betriebsräte: Ladeklar ortet nicht dauerhaft. Ein Standort wird nur im Moment eines Statuswechsels gespeichert, und nur, wenn der Betrieb das einschaltet und der Fahrer zustimmt.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Einführung ist der Punkt, an dem die meisten Softwareprojekte in kleinen Betrieben scheitern. Deshalb haben wir sie radikal kurz gemacht. Schritt eins: Der Inhaber lädt sein Logo hoch, trägt seine Lkw und Fahrer ein und schickt jedem Fahrer einen Einladungslink per WhatsApp. Der Fahrer braucht keinen App Store, nur den Link und eine PIN. Schritt zwei: Die Disposition legt eine Lieferung an – Pflicht sind nur Route und Datum. Stammrouten legt sie mit „Wiederholen“ als Kopie neu an. Schritt drei: Der Fahrer tippt, das Büro sieht es. Es gibt keinen Einbautermin, keine Box, keinen Vertrag über 36 Monate. Nach etwa zehn Minuten läuft die erste Tour.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1. Vorher: Online-Demo (Artifact-Fassung, als Eigentümer angemeldet) auf beiden Geräten geöffnet, Live-Sync zwischen Handy und Laptop über „Mit zweitem Gerät verbinden“ aktiv, Beispielfirma „Kaya Logistik“ mit Logo, Fahrer „Andrei Popescu“ mit Sprache Rumänisch. 2. Auf dem Laptop Lieferung *Stuttgart → Hamburg* anlegen und Andrei zuweisen (20 Sekunden). 3. Handy hochhalten: Die Mitteilung kommt an, Andrei tippt „Buchung bestätigen“ – der Laptop zeigt die Meldung „gerade eben“. 4. „Angekommen“, „Aufgeladen“, „Angekommen“, „Abgeladen“ (Palettentausch bestätigen), Foto eines mitgebrachten Lieferscheins, auf Wunsch Unterschrift – Laptop zeigt das Foto. 5. Abliefernachweis öffnen: Zeitstempel, Standzeit, Foto, Unterschrift (in der echten App als PDF druckbar). 6. Zum Schluss Sprache am Handy auf Türkisch umstellen – die Knöpfe bleiben gleich.</a:t>
            </a:r>
          </a:p>
          <a:p/>
          <a:p>
            <a:r>
              <a:t>Ich zeige Ihnen das jetzt live. Links sehen Sie die Disposition, rechts das Handy eines Fahrers, eingestellt auf Rumänisch. Ich lege eine Lieferung an und weise sie Andrei zu. Achten Sie auf den Laptop, während Andrei tippt. [Demo] Was Sie gerade gesehen haben, ersetzt vier Telefonate und einen Lieferschein, der sonst erst am Freitag im Büro gewesen wäre.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deutsche Transportmarkt ist kleinteilig. Es gibt rund 47.000 gewerbliche Güterkraftverkehrsunternehmen und noch einmal fast 46.000 Betriebe mit Werkverkehr – Baustoffhändler, Bauunternehmen, Getränkehändler. Dazu kommen etwa 13.700 Kurier- und Expressbetriebe. Mehr als die Hälfte der gewerblichen Unternehmen fährt mit einem bis drei Fahrzeugen. Für diese Betriebe sind Telematik-Suiten und Speditionssoftware zu groß. Wir haben den Markt von unten gerechnet: Unternehmen je Größenklasse mal unserem Listenpreis. Das ergibt rund 140 Millionen Euro im Jahr für Deutschland. Ohne die großen Flotten und nur mit den Werkverkehrs- und Kurierbetrieben, die zu uns passen, bleiben 92 Millionen Euro erreichbarer Markt. Unser Plan für das Jahr fünf sind 1.276 Kunden – das sind weniger als zwei Prozent der Zielbetriebe. Österreich und die Schweiz sind darin noch nicht enthalten.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verkaufen ein Monatsabo je Betrieb, nicht je Fahrzeug. Start kostet 49 Euro für bis zu drei Fahrer, Flotte 129 Euro für fünfzehn Fahrer, Premium 299 Euro für vierzig Fahrer mit Schnittstelle und Service-Level. Wer mehr Fahrer hat, zahlt sieben beziehungsweise sechs Euro je Fahrer dazu. Premium-Kunden können ihre eigene App im App Store bekommen – für 1.990 Euro einmalig und 99 Euro im Monat. Jeder Kunde testet dreißig Tage kostenlos, ohne Zahlungsdaten. Im Flotte-Tarif kostet ein Fahrer 8,60 Euro im Monat; eine Telematik-Lösung kostet je Fahrzeug ein Vielfaches. Unser durchschnittlicher Umsatz je Kunde steigt im Plan von 122 auf 130 Euro, weil größere Kunden seltener kündigen. Weil wir keine Hardware verkaufen, bleiben nach variablen Kosten über 90 Prozent als Deckungsbeitrag. Ab 2028 vertreiben auch Partner gegen 25 Prozent Provision.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größter Wettbewerber ist nicht eine Firma, sondern die Gewohnheit: Telefon, WhatsApp, Zettel und Excel. Das kostet keine Lizenz, aber es erzeugt keine Belege und frisst Zeit. Telematik-Anbieter wie Webfleet oder YellowFox lösen Ortung und Lenkzeiten, brauchen aber meist eine Box im Fahrzeug, kosten je Fahrzeug 15 bis 35 Euro und binden zwei bis drei Jahre. Speditionssoftware wie CarLo oder WinSped ist ein Projekt für den Mittelstand. Am nächsten sind uns App-Tools wie LOGISTIQO oder die Apps von SPEDION und Couplink. Unser Unterschied: Wir sind in etwa zehn Minuten startklar, ohne Hardware, wir erscheinen unter der Marke des Kunden, wir führen Fahrer in acht Sprachen über Icons, und wir orten nicht dauerhaft. Für einen Betrieb mit zehn Fahrern kostet das 129 Euro im Monat. Was wir von den Wettbewerbern lernen, haben wir in die Roadmap übernommen: Mehrstopp-Touren, Saisonpause und Schnittstellen zur vorhandenen Telematik.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Ich will ehrlich sein: Wir haben noch keinen Umsatz. Was wir haben, ist ein fertiges Produkt. Version 1.0 läuft – mit Lizenzkonsole, White-Label, Disposition, Fahrer-App, Push-Mitteilungen, Offline-Betrieb und acht Sprachen. Die Rechtsvorlagen von AGB bis Muster-Betriebsvereinbarung liegen vor. Im November und Dezember starten wir mit fünf Pilotbetrieben mit vier bis fünfzehn Lkw, aus Stückgut und Baustofflogistik. Wir messen drei Dinge: Nutzen mindestens 80 Prozent der Fahrer die App in der ersten Woche? Haben mindestens 90 Prozent der Lieferungen ein Lieferschein-Foto? Und sinken die Telefonate um die Hälfte? Dafür führt jede Disposition zwei Wochen vor und zwei Wochen nach der Einführung eine Strichliste. Ab Januar 2027 werden die Piloten zahlende Kunden. Die Ergebnisse schicken wir Ihnen im Januar.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ersten Jahr verkauft der Gründer selbst – am Telefon, per Videodemo und vor Ort. Dazu kommen Google-Anzeigen auf Suchbegriffe wie „Fahrer App Spedition“ oder „digitaler Lieferschein“, Beiträge in Fahrer- und Unternehmergruppen und ein Postkarten-Mailing an 500 Betriebe in zwei Regionen. Im März besuchen wir die LogiMAT, Ende April stehen wir auf der transport logistic in München. Ab Juli verstärkt uns eine Vertriebskraft, die selbst disponiert hat und Polnisch oder Rumänisch spricht. Der wichtigste Hebel ab dem zweiten Jahr sind Partner: Landesverbände des BGL, Telematik-Händler und Steuerberater, die ihren Mandanten Ladeklar empfehlen. Im ersten Jahr kostet uns ein Kunde 777 Euro an Vertrieb und Marketing; ein Kunde bringt über seine Lebensdauer rund 6.900 Euro Deckungsbeitrag. Ziel für Ende 2027: 86 zahlende Kunden.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sieht der Plan aus. Ende 2027 haben wir 86 Kunden und rund 125.000 Euro wiederkehrenden Jahresumsatz. Ende 2028 sind es 300 Kunden und 445.000 Euro, Ende 2029 knapp 600 Kunden und 900.000 Euro. Im Juni 2029 ist das EBITDA erstmals positiv, ab April 2030 dauerhaft. Ende 2031 planen wir knapp 1.300 Kunden und fast zwei Millionen Euro ARR bei 22 Prozent EBITDA-Marge mit dreizehn Leuten. Alle Zahlen kommen aus einem Excel-Modell mit echten Formeln, das wir Ihnen gern geben. Wir haben es auch gegen schlechtere Annahmen gerechnet: Kündigen 50 Prozent mehr Kunden, verschiebt sich der Break-even um drei Monate. Wachsen wir 30 Prozent langsamer und stellen trotzdem wie geplant ein, verschiebt er sich um mehr als zwei Jahre. Deshalb koppeln wir jede Einstellung an den erreichten Monatsumsatz.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Modell ist ein Lizenzmodell. Ich bin der Lizenzgeber: Ich betreibe die Plattform, lege Lizenzen an und rechne ab. Jeder Kunde ist Lizenznehmer und arbeitet unter seinem eigenen Namen, Logo und App-Namen. Die Daten gehören dem Kunden; wir sind Auftragsverarbeiter und sehen keine Lieferungen, keine Fahrernamen und keine Lieferscheine. Braucht der Kunde Hilfe, erteilt er eine befristete Support-Freigabe, die protokolliert wird. Zu mir: [zwei Sätze zu Ausbildung und Erfahrung]. Ich habe Version 1.0 gebaut. Was mir fehlt, ist Vertriebskraft in der Fläche und eine zweite Entwicklerin oder ein zweiter Entwickler. Deshalb stellen wir im Juli 2027 jemanden für Vertrieb und Kundenerfolg ein, im Oktober eine Entwicklungskraft und im Januar 2028 Partnermanagement und mehrsprachigen Support. Ende 2028 sind wir sechs, Ende 2031 dreizehn.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brauchen bis zum Break-even insgesamt 350.000 Euro. Das ist der tiefste Punkt unseres kumulierten Cashflows, knapp 300.000 Euro im Juli 2029, plus 50.000 Euro Sicherheitspuffer. 25.000 Euro bringe ich als Stammkapital ein, 125.000 Euro kommen als KfW-Gründerkredit. Von Ihnen wünschen wir uns 200.000 Euro, im Oktober 2027 – dann, wenn der Pilot ausgewertet ist und wir rund 65 zahlende Kunden haben. Das Geld fließt zu zwei Dritteln in Menschen: Vertrieb, Kundenerfolg und Entwicklung. Ein knappes Fünftel geht in Marketing und Messen. Damit wollen wir Ende 2028 300 Kunden und 445.000 Euro ARR erreichen und ab Juni 2029 operativ Geld verdienen. Ob als Beteiligung oder Wandeldarlehen, besprechen wir gern offen. Wichtiger als die Form ist uns jemand, der Türen in die Transportbranche öffnet.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Danke für Ihre Zeit. Wenn Sie es selbst ausprobieren möchten: Der QR-Code öffnet die Online-Demo. Auf dem Laptop zeigt die geteilte Ansicht Büro und Fahrer-Handy nebeneinander – tippen Sie eine Tour durch. Sie werden merken: Ein Tipp, und alles ist klar. Ich freue mich auf Ihre Fragen.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a.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01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1417320"/>
            <a:ext cx="6400800" cy="365760"/>
          </a:xfrm>
          <a:prstGeom prst="rect">
            <a:avLst/>
          </a:prstGeom>
          <a:noFill/>
        </p:spPr>
        <p:txBody>
          <a:bodyPr wrap="square" lIns="0" rIns="0" tIns="0" bIns="0" anchor="t">
            <a:spAutoFit/>
          </a:bodyPr>
          <a:lstStyle/>
          <a:p>
            <a:pPr algn="l">
              <a:lnSpc>
                <a:spcPct val="112000"/>
              </a:lnSpc>
            </a:pPr>
            <a:r>
              <a:rPr sz="1200" b="1">
                <a:solidFill>
                  <a:srgbClr val="E6CD92"/>
                </a:solidFill>
                <a:latin typeface="Manrope"/>
              </a:rPr>
              <a:t>PITCH · OKTOBER 2026</a:t>
            </a:r>
          </a:p>
        </p:txBody>
      </p:sp>
      <p:sp>
        <p:nvSpPr>
          <p:cNvPr id="7" name="TextBox 6"/>
          <p:cNvSpPr txBox="1"/>
          <p:nvPr/>
        </p:nvSpPr>
        <p:spPr>
          <a:xfrm>
            <a:off x="548640" y="1828800"/>
            <a:ext cx="6949440" cy="2194560"/>
          </a:xfrm>
          <a:prstGeom prst="rect">
            <a:avLst/>
          </a:prstGeom>
          <a:noFill/>
        </p:spPr>
        <p:txBody>
          <a:bodyPr wrap="square" lIns="0" rIns="0" tIns="0" bIns="0" anchor="t">
            <a:spAutoFit/>
          </a:bodyPr>
          <a:lstStyle/>
          <a:p>
            <a:pPr algn="l">
              <a:lnSpc>
                <a:spcPct val="95000"/>
              </a:lnSpc>
            </a:pPr>
            <a:r>
              <a:rPr sz="5400" b="0">
                <a:solidFill>
                  <a:srgbClr val="F2F5F8"/>
                </a:solidFill>
                <a:latin typeface="Archivo ExtraBold"/>
              </a:rPr>
              <a:t>Ladeklar.</a:t>
            </a:r>
          </a:p>
          <a:p>
            <a:pPr algn="l">
              <a:lnSpc>
                <a:spcPct val="95000"/>
              </a:lnSpc>
            </a:pPr>
            <a:r>
              <a:rPr sz="5400" b="0">
                <a:solidFill>
                  <a:srgbClr val="F2F5F8"/>
                </a:solidFill>
                <a:latin typeface="Archivo ExtraBold"/>
              </a:rPr>
              <a:t>Ein Tipp. </a:t>
            </a:r>
            <a:r>
              <a:rPr sz="5400" b="0">
                <a:solidFill>
                  <a:srgbClr val="E6CD92"/>
                </a:solidFill>
                <a:latin typeface="Archivo ExtraBold"/>
              </a:rPr>
              <a:t>Alles klar.</a:t>
            </a:r>
          </a:p>
        </p:txBody>
      </p:sp>
      <p:sp>
        <p:nvSpPr>
          <p:cNvPr id="8" name="TextBox 7"/>
          <p:cNvSpPr txBox="1"/>
          <p:nvPr/>
        </p:nvSpPr>
        <p:spPr>
          <a:xfrm>
            <a:off x="548640" y="3977639"/>
            <a:ext cx="6217920" cy="3657600"/>
          </a:xfrm>
          <a:prstGeom prst="rect">
            <a:avLst/>
          </a:prstGeom>
          <a:noFill/>
        </p:spPr>
        <p:txBody>
          <a:bodyPr wrap="square" lIns="0" rIns="0" tIns="0">
            <a:spAutoFit/>
          </a:bodyPr>
          <a:lstStyle/>
          <a:p>
            <a:pPr>
              <a:lnSpc>
                <a:spcPct val="115000"/>
              </a:lnSpc>
              <a:spcAft>
                <a:spcPts val="1000"/>
              </a:spcAft>
            </a:pPr>
            <a:r>
              <a:rPr sz="1500" b="1">
                <a:solidFill>
                  <a:srgbClr val="C8A45C"/>
                </a:solidFill>
                <a:latin typeface="Manrope"/>
              </a:rPr>
              <a:t>—  </a:t>
            </a:r>
            <a:r>
              <a:rPr sz="1500">
                <a:solidFill>
                  <a:srgbClr val="F2F5F8"/>
                </a:solidFill>
                <a:latin typeface="Manrope"/>
              </a:rPr>
              <a:t>White-Label-App für Speditionen und Transportunternehmen</a:t>
            </a:r>
          </a:p>
          <a:p>
            <a:pPr>
              <a:lnSpc>
                <a:spcPct val="115000"/>
              </a:lnSpc>
              <a:spcAft>
                <a:spcPts val="1000"/>
              </a:spcAft>
            </a:pPr>
            <a:r>
              <a:rPr sz="1500" b="1">
                <a:solidFill>
                  <a:srgbClr val="C8A45C"/>
                </a:solidFill>
                <a:latin typeface="Manrope"/>
              </a:rPr>
              <a:t>—  </a:t>
            </a:r>
            <a:r>
              <a:rPr sz="1500">
                <a:solidFill>
                  <a:srgbClr val="F2F5F8"/>
                </a:solidFill>
                <a:latin typeface="Manrope"/>
              </a:rPr>
              <a:t>Fahrer tippen statt telefonieren, die Disposition sieht jede Tour live</a:t>
            </a:r>
          </a:p>
          <a:p>
            <a:pPr>
              <a:lnSpc>
                <a:spcPct val="115000"/>
              </a:lnSpc>
              <a:spcAft>
                <a:spcPts val="1000"/>
              </a:spcAft>
            </a:pPr>
            <a:r>
              <a:rPr sz="1500" b="1">
                <a:solidFill>
                  <a:srgbClr val="C8A45C"/>
                </a:solidFill>
                <a:latin typeface="Manrope"/>
              </a:rPr>
              <a:t>—  </a:t>
            </a:r>
            <a:r>
              <a:rPr sz="1500">
                <a:solidFill>
                  <a:srgbClr val="F2F5F8"/>
                </a:solidFill>
                <a:latin typeface="Manrope"/>
              </a:rPr>
              <a:t>In etwa 10 Minuten startklar, ohne Hardware, Fahrer-App in 8 Sprachen</a:t>
            </a:r>
          </a:p>
        </p:txBody>
      </p:sp>
      <p:sp>
        <p:nvSpPr>
          <p:cNvPr id="9" name="Rounded Rectangle 8"/>
          <p:cNvSpPr/>
          <p:nvPr/>
        </p:nvSpPr>
        <p:spPr>
          <a:xfrm>
            <a:off x="8467344" y="694944"/>
            <a:ext cx="2657523" cy="5559552"/>
          </a:xfrm>
          <a:prstGeom prst="roundRect">
            <a:avLst>
              <a:gd name="adj" fmla="val 16000"/>
            </a:avLst>
          </a:prstGeom>
          <a:solidFill>
            <a:srgbClr val="1A222D"/>
          </a:solidFill>
          <a:ln w="15875">
            <a:solidFill>
              <a:srgbClr val="3C48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hone-2-loaded.png"/>
          <p:cNvPicPr>
            <a:picLocks noChangeAspect="1"/>
          </p:cNvPicPr>
          <p:nvPr/>
        </p:nvPicPr>
        <p:blipFill>
          <a:blip r:embed="rId4"/>
          <a:stretch>
            <a:fillRect/>
          </a:stretch>
        </p:blipFill>
        <p:spPr>
          <a:xfrm>
            <a:off x="8549640" y="777240"/>
            <a:ext cx="2492931" cy="53949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02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914400"/>
            <a:ext cx="5943600" cy="1463040"/>
          </a:xfrm>
          <a:prstGeom prst="rect">
            <a:avLst/>
          </a:prstGeom>
          <a:noFill/>
        </p:spPr>
        <p:txBody>
          <a:bodyPr wrap="square" lIns="0" rIns="0" tIns="0" bIns="0" anchor="t">
            <a:spAutoFit/>
          </a:bodyPr>
          <a:lstStyle/>
          <a:p>
            <a:pPr algn="l">
              <a:lnSpc>
                <a:spcPct val="100000"/>
              </a:lnSpc>
            </a:pPr>
            <a:r>
              <a:rPr sz="3400" b="0">
                <a:solidFill>
                  <a:srgbClr val="F2F5F8"/>
                </a:solidFill>
                <a:latin typeface="Archivo ExtraBold"/>
              </a:rPr>
              <a:t>6:12 Uhr. Das Telefon klingelt schon.</a:t>
            </a:r>
          </a:p>
        </p:txBody>
      </p:sp>
      <p:sp>
        <p:nvSpPr>
          <p:cNvPr id="7" name="TextBox 6"/>
          <p:cNvSpPr txBox="1"/>
          <p:nvPr/>
        </p:nvSpPr>
        <p:spPr>
          <a:xfrm>
            <a:off x="548640" y="2057400"/>
            <a:ext cx="5760720" cy="3657600"/>
          </a:xfrm>
          <a:prstGeom prst="rect">
            <a:avLst/>
          </a:prstGeom>
          <a:noFill/>
        </p:spPr>
        <p:txBody>
          <a:bodyPr wrap="square" lIns="0" rIns="0" tIns="0">
            <a:spAutoFit/>
          </a:bodyPr>
          <a:lstStyle/>
          <a:p>
            <a:pPr>
              <a:lnSpc>
                <a:spcPct val="115000"/>
              </a:lnSpc>
              <a:spcAft>
                <a:spcPts val="1000"/>
              </a:spcAft>
            </a:pPr>
            <a:r>
              <a:rPr sz="1450" b="1">
                <a:solidFill>
                  <a:srgbClr val="C8A45C"/>
                </a:solidFill>
                <a:latin typeface="Manrope"/>
              </a:rPr>
              <a:t>—  </a:t>
            </a:r>
            <a:r>
              <a:rPr sz="1450">
                <a:solidFill>
                  <a:srgbClr val="F2F5F8"/>
                </a:solidFill>
                <a:latin typeface="Manrope"/>
              </a:rPr>
              <a:t>6:12 Uhr: „Bin da, Rampe 4 ist zu – was jetzt?“</a:t>
            </a:r>
          </a:p>
          <a:p>
            <a:pPr>
              <a:lnSpc>
                <a:spcPct val="115000"/>
              </a:lnSpc>
              <a:spcAft>
                <a:spcPts val="1000"/>
              </a:spcAft>
            </a:pPr>
            <a:r>
              <a:rPr sz="1450" b="1">
                <a:solidFill>
                  <a:srgbClr val="C8A45C"/>
                </a:solidFill>
                <a:latin typeface="Manrope"/>
              </a:rPr>
              <a:t>—  </a:t>
            </a:r>
            <a:r>
              <a:rPr sz="1450">
                <a:solidFill>
                  <a:srgbClr val="F2F5F8"/>
                </a:solidFill>
                <a:latin typeface="Manrope"/>
              </a:rPr>
              <a:t>7:30 Uhr: Kunde fragt, wo seine Ware ist. Disponentin ruft drei Fahrer an.</a:t>
            </a:r>
          </a:p>
          <a:p>
            <a:pPr>
              <a:lnSpc>
                <a:spcPct val="115000"/>
              </a:lnSpc>
              <a:spcAft>
                <a:spcPts val="1000"/>
              </a:spcAft>
            </a:pPr>
            <a:r>
              <a:rPr sz="1450" b="1">
                <a:solidFill>
                  <a:srgbClr val="C8A45C"/>
                </a:solidFill>
                <a:latin typeface="Manrope"/>
              </a:rPr>
              <a:t>—  </a:t>
            </a:r>
            <a:r>
              <a:rPr sz="1450">
                <a:solidFill>
                  <a:srgbClr val="F2F5F8"/>
                </a:solidFill>
                <a:latin typeface="Manrope"/>
              </a:rPr>
              <a:t>9:00 Uhr: 23 Anrufe, zwei WhatsApp-Gruppen, ein Zettel mit Kennzeichen</a:t>
            </a:r>
          </a:p>
          <a:p>
            <a:pPr>
              <a:lnSpc>
                <a:spcPct val="115000"/>
              </a:lnSpc>
              <a:spcAft>
                <a:spcPts val="1000"/>
              </a:spcAft>
            </a:pPr>
            <a:r>
              <a:rPr sz="1450" b="1">
                <a:solidFill>
                  <a:srgbClr val="C8A45C"/>
                </a:solidFill>
                <a:latin typeface="Manrope"/>
              </a:rPr>
              <a:t>—  </a:t>
            </a:r>
            <a:r>
              <a:rPr sz="1450">
                <a:solidFill>
                  <a:srgbClr val="F2F5F8"/>
                </a:solidFill>
                <a:latin typeface="Manrope"/>
              </a:rPr>
              <a:t>Freitag: Lieferschein fehlt, Rechnung bleibt liegen, Wartezeit an der Rampe ist nicht belegt</a:t>
            </a:r>
          </a:p>
        </p:txBody>
      </p:sp>
      <p:sp>
        <p:nvSpPr>
          <p:cNvPr id="8" name="TextBox 7"/>
          <p:cNvSpPr txBox="1"/>
          <p:nvPr/>
        </p:nvSpPr>
        <p:spPr>
          <a:xfrm>
            <a:off x="548640" y="4754880"/>
            <a:ext cx="5669280" cy="914400"/>
          </a:xfrm>
          <a:prstGeom prst="rect">
            <a:avLst/>
          </a:prstGeom>
          <a:noFill/>
        </p:spPr>
        <p:txBody>
          <a:bodyPr wrap="square" lIns="0" rIns="0" tIns="0" bIns="0" anchor="t">
            <a:spAutoFit/>
          </a:bodyPr>
          <a:lstStyle/>
          <a:p>
            <a:pPr algn="l">
              <a:lnSpc>
                <a:spcPct val="95000"/>
              </a:lnSpc>
            </a:pPr>
            <a:r>
              <a:rPr sz="4400" b="0">
                <a:solidFill>
                  <a:srgbClr val="E6CD92"/>
                </a:solidFill>
                <a:latin typeface="Archivo ExtraBold"/>
              </a:rPr>
              <a:t>42 Stunden</a:t>
            </a:r>
          </a:p>
        </p:txBody>
      </p:sp>
      <p:sp>
        <p:nvSpPr>
          <p:cNvPr id="9" name="TextBox 8"/>
          <p:cNvSpPr txBox="1"/>
          <p:nvPr/>
        </p:nvSpPr>
        <p:spPr>
          <a:xfrm>
            <a:off x="548640" y="5443220"/>
            <a:ext cx="5669280" cy="731520"/>
          </a:xfrm>
          <a:prstGeom prst="rect">
            <a:avLst/>
          </a:prstGeom>
          <a:noFill/>
        </p:spPr>
        <p:txBody>
          <a:bodyPr wrap="square" lIns="0" rIns="0" tIns="0" bIns="0" anchor="t">
            <a:spAutoFit/>
          </a:bodyPr>
          <a:lstStyle/>
          <a:p>
            <a:pPr algn="l">
              <a:lnSpc>
                <a:spcPct val="112000"/>
              </a:lnSpc>
            </a:pPr>
            <a:r>
              <a:rPr sz="1250" b="0">
                <a:solidFill>
                  <a:srgbClr val="9FB0C3"/>
                </a:solidFill>
                <a:latin typeface="Manrope"/>
              </a:rPr>
              <a:t>Telefon im Monat – bei 10 Fahrern (Beispielrechnung: 2 Statusanrufe à 3 Minuten je Lieferung)</a:t>
            </a:r>
          </a:p>
        </p:txBody>
      </p:sp>
      <p:pic>
        <p:nvPicPr>
          <p:cNvPr id="10" name="Picture 9" descr="chaos-chat.jpg"/>
          <p:cNvPicPr>
            <a:picLocks noChangeAspect="1"/>
          </p:cNvPicPr>
          <p:nvPr/>
        </p:nvPicPr>
        <p:blipFill>
          <a:blip r:embed="rId4"/>
          <a:stretch>
            <a:fillRect/>
          </a:stretch>
        </p:blipFill>
        <p:spPr>
          <a:xfrm>
            <a:off x="6720840" y="960120"/>
            <a:ext cx="4937760" cy="277749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a.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03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914400"/>
            <a:ext cx="6583680" cy="1463040"/>
          </a:xfrm>
          <a:prstGeom prst="rect">
            <a:avLst/>
          </a:prstGeom>
          <a:noFill/>
        </p:spPr>
        <p:txBody>
          <a:bodyPr wrap="square" lIns="0" rIns="0" tIns="0" bIns="0" anchor="t">
            <a:spAutoFit/>
          </a:bodyPr>
          <a:lstStyle/>
          <a:p>
            <a:pPr algn="l">
              <a:lnSpc>
                <a:spcPct val="100000"/>
              </a:lnSpc>
            </a:pPr>
            <a:r>
              <a:rPr sz="3600" b="0">
                <a:solidFill>
                  <a:srgbClr val="F2F5F8"/>
                </a:solidFill>
                <a:latin typeface="Archivo ExtraBold"/>
              </a:rPr>
              <a:t>Tippen statt telefonieren.</a:t>
            </a:r>
          </a:p>
        </p:txBody>
      </p:sp>
      <p:sp>
        <p:nvSpPr>
          <p:cNvPr id="7" name="TextBox 6"/>
          <p:cNvSpPr txBox="1"/>
          <p:nvPr/>
        </p:nvSpPr>
        <p:spPr>
          <a:xfrm>
            <a:off x="548640" y="1874519"/>
            <a:ext cx="6035040" cy="3657600"/>
          </a:xfrm>
          <a:prstGeom prst="rect">
            <a:avLst/>
          </a:prstGeom>
          <a:noFill/>
        </p:spPr>
        <p:txBody>
          <a:bodyPr wrap="square" lIns="0" rIns="0" tIns="0">
            <a:spAutoFit/>
          </a:bodyPr>
          <a:lstStyle/>
          <a:p>
            <a:pPr>
              <a:lnSpc>
                <a:spcPct val="115000"/>
              </a:lnSpc>
              <a:spcAft>
                <a:spcPts val="1000"/>
              </a:spcAft>
            </a:pPr>
            <a:r>
              <a:rPr sz="1500" b="1">
                <a:solidFill>
                  <a:srgbClr val="C8A45C"/>
                </a:solidFill>
                <a:latin typeface="Manrope"/>
              </a:rPr>
              <a:t>—  </a:t>
            </a:r>
            <a:r>
              <a:rPr sz="1500">
                <a:solidFill>
                  <a:srgbClr val="F2F5F8"/>
                </a:solidFill>
                <a:latin typeface="Manrope"/>
              </a:rPr>
              <a:t>Fahrer sieht immer genau einen großen Knopf: den nächsten Schritt</a:t>
            </a:r>
          </a:p>
          <a:p>
            <a:pPr>
              <a:lnSpc>
                <a:spcPct val="115000"/>
              </a:lnSpc>
              <a:spcAft>
                <a:spcPts val="1000"/>
              </a:spcAft>
            </a:pPr>
            <a:r>
              <a:rPr sz="1500" b="1">
                <a:solidFill>
                  <a:srgbClr val="C8A45C"/>
                </a:solidFill>
                <a:latin typeface="Manrope"/>
              </a:rPr>
              <a:t>—  </a:t>
            </a:r>
            <a:r>
              <a:rPr sz="1500">
                <a:solidFill>
                  <a:srgbClr val="F2F5F8"/>
                </a:solidFill>
                <a:latin typeface="Manrope"/>
              </a:rPr>
              <a:t>Jeder Schritt erzeugt eine Push-Mitteilung und einen Zeitstempel im Büro</a:t>
            </a:r>
          </a:p>
          <a:p>
            <a:pPr>
              <a:lnSpc>
                <a:spcPct val="115000"/>
              </a:lnSpc>
              <a:spcAft>
                <a:spcPts val="1000"/>
              </a:spcAft>
            </a:pPr>
            <a:r>
              <a:rPr sz="1500" b="1">
                <a:solidFill>
                  <a:srgbClr val="C8A45C"/>
                </a:solidFill>
                <a:latin typeface="Manrope"/>
              </a:rPr>
              <a:t>—  </a:t>
            </a:r>
            <a:r>
              <a:rPr sz="1500">
                <a:solidFill>
                  <a:srgbClr val="F2F5F8"/>
                </a:solidFill>
                <a:latin typeface="Manrope"/>
              </a:rPr>
              <a:t>Lieferschein-Foto vor Abschluss, Abliefernachweis als PDF am selben Tag</a:t>
            </a:r>
          </a:p>
          <a:p>
            <a:pPr>
              <a:lnSpc>
                <a:spcPct val="115000"/>
              </a:lnSpc>
              <a:spcAft>
                <a:spcPts val="1000"/>
              </a:spcAft>
            </a:pPr>
            <a:r>
              <a:rPr sz="1500" b="1">
                <a:solidFill>
                  <a:srgbClr val="C8A45C"/>
                </a:solidFill>
                <a:latin typeface="Manrope"/>
              </a:rPr>
              <a:t>—  </a:t>
            </a:r>
            <a:r>
              <a:rPr sz="1500">
                <a:solidFill>
                  <a:srgbClr val="F2F5F8"/>
                </a:solidFill>
                <a:latin typeface="Manrope"/>
              </a:rPr>
              <a:t>Standzeit an der Rampe wird aus den Ankunfts-Tipps gemessen – Beleg für Standgeld</a:t>
            </a:r>
          </a:p>
          <a:p>
            <a:pPr>
              <a:lnSpc>
                <a:spcPct val="115000"/>
              </a:lnSpc>
              <a:spcAft>
                <a:spcPts val="1000"/>
              </a:spcAft>
            </a:pPr>
            <a:r>
              <a:rPr sz="1500" b="1">
                <a:solidFill>
                  <a:srgbClr val="C8A45C"/>
                </a:solidFill>
                <a:latin typeface="Manrope"/>
              </a:rPr>
              <a:t>—  </a:t>
            </a:r>
            <a:r>
              <a:rPr sz="1500">
                <a:solidFill>
                  <a:srgbClr val="F2F5F8"/>
                </a:solidFill>
                <a:latin typeface="Manrope"/>
              </a:rPr>
              <a:t>Eigenes Logo, 8 Sprachen, keine Dauerortung</a:t>
            </a:r>
          </a:p>
        </p:txBody>
      </p:sp>
      <p:sp>
        <p:nvSpPr>
          <p:cNvPr id="8" name="TextBox 7"/>
          <p:cNvSpPr txBox="1"/>
          <p:nvPr/>
        </p:nvSpPr>
        <p:spPr>
          <a:xfrm>
            <a:off x="548640" y="5074920"/>
            <a:ext cx="4572000" cy="914400"/>
          </a:xfrm>
          <a:prstGeom prst="rect">
            <a:avLst/>
          </a:prstGeom>
          <a:noFill/>
        </p:spPr>
        <p:txBody>
          <a:bodyPr wrap="square" lIns="0" rIns="0" tIns="0" bIns="0" anchor="t">
            <a:spAutoFit/>
          </a:bodyPr>
          <a:lstStyle/>
          <a:p>
            <a:pPr algn="l">
              <a:lnSpc>
                <a:spcPct val="95000"/>
              </a:lnSpc>
            </a:pPr>
            <a:r>
              <a:rPr sz="4600" b="0">
                <a:solidFill>
                  <a:srgbClr val="E6CD92"/>
                </a:solidFill>
                <a:latin typeface="Archivo ExtraBold"/>
              </a:rPr>
              <a:t>1 Knopf</a:t>
            </a:r>
          </a:p>
        </p:txBody>
      </p:sp>
      <p:sp>
        <p:nvSpPr>
          <p:cNvPr id="9" name="TextBox 8"/>
          <p:cNvSpPr txBox="1"/>
          <p:nvPr/>
        </p:nvSpPr>
        <p:spPr>
          <a:xfrm>
            <a:off x="548640" y="5792469"/>
            <a:ext cx="4572000" cy="731520"/>
          </a:xfrm>
          <a:prstGeom prst="rect">
            <a:avLst/>
          </a:prstGeom>
          <a:noFill/>
        </p:spPr>
        <p:txBody>
          <a:bodyPr wrap="square" lIns="0" rIns="0" tIns="0" bIns="0" anchor="t">
            <a:spAutoFit/>
          </a:bodyPr>
          <a:lstStyle/>
          <a:p>
            <a:pPr algn="l">
              <a:lnSpc>
                <a:spcPct val="112000"/>
              </a:lnSpc>
            </a:pPr>
            <a:r>
              <a:rPr sz="1250" b="0">
                <a:solidFill>
                  <a:srgbClr val="9FB0C3"/>
                </a:solidFill>
                <a:latin typeface="Manrope"/>
              </a:rPr>
              <a:t>Der Fahrer sieht immer nur den nächsten Schritt.</a:t>
            </a:r>
          </a:p>
        </p:txBody>
      </p:sp>
      <p:sp>
        <p:nvSpPr>
          <p:cNvPr id="10" name="Rounded Rectangle 9"/>
          <p:cNvSpPr/>
          <p:nvPr/>
        </p:nvSpPr>
        <p:spPr>
          <a:xfrm rot="21360000">
            <a:off x="7232904" y="969263"/>
            <a:ext cx="2361752" cy="4919472"/>
          </a:xfrm>
          <a:prstGeom prst="roundRect">
            <a:avLst>
              <a:gd name="adj" fmla="val 16000"/>
            </a:avLst>
          </a:prstGeom>
          <a:solidFill>
            <a:srgbClr val="1A222D"/>
          </a:solidFill>
          <a:ln w="15875">
            <a:solidFill>
              <a:srgbClr val="3C48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one-1b-ok.png"/>
          <p:cNvPicPr>
            <a:picLocks noChangeAspect="1"/>
          </p:cNvPicPr>
          <p:nvPr/>
        </p:nvPicPr>
        <p:blipFill>
          <a:blip r:embed="rId4"/>
          <a:stretch>
            <a:fillRect/>
          </a:stretch>
        </p:blipFill>
        <p:spPr>
          <a:xfrm rot="21360000">
            <a:off x="7315200" y="1051560"/>
            <a:ext cx="2197160" cy="4754880"/>
          </a:xfrm>
          <a:prstGeom prst="rect">
            <a:avLst/>
          </a:prstGeom>
        </p:spPr>
      </p:pic>
      <p:sp>
        <p:nvSpPr>
          <p:cNvPr id="12" name="Rounded Rectangle 11"/>
          <p:cNvSpPr/>
          <p:nvPr/>
        </p:nvSpPr>
        <p:spPr>
          <a:xfrm rot="180000">
            <a:off x="9381744" y="603504"/>
            <a:ext cx="2530764" cy="5285231"/>
          </a:xfrm>
          <a:prstGeom prst="roundRect">
            <a:avLst>
              <a:gd name="adj" fmla="val 16000"/>
            </a:avLst>
          </a:prstGeom>
          <a:solidFill>
            <a:srgbClr val="1A222D"/>
          </a:solidFill>
          <a:ln w="15875">
            <a:solidFill>
              <a:srgbClr val="3C48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hone-2-loaded.png"/>
          <p:cNvPicPr>
            <a:picLocks noChangeAspect="1"/>
          </p:cNvPicPr>
          <p:nvPr/>
        </p:nvPicPr>
        <p:blipFill>
          <a:blip r:embed="rId5"/>
          <a:stretch>
            <a:fillRect/>
          </a:stretch>
        </p:blipFill>
        <p:spPr>
          <a:xfrm rot="180000">
            <a:off x="9464040" y="685800"/>
            <a:ext cx="2366172" cy="51206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04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914400"/>
            <a:ext cx="10058400" cy="1463040"/>
          </a:xfrm>
          <a:prstGeom prst="rect">
            <a:avLst/>
          </a:prstGeom>
          <a:noFill/>
        </p:spPr>
        <p:txBody>
          <a:bodyPr wrap="square" lIns="0" rIns="0" tIns="0" bIns="0" anchor="t">
            <a:spAutoFit/>
          </a:bodyPr>
          <a:lstStyle/>
          <a:p>
            <a:pPr algn="l">
              <a:lnSpc>
                <a:spcPct val="100000"/>
              </a:lnSpc>
            </a:pPr>
            <a:r>
              <a:rPr sz="3600" b="0">
                <a:solidFill>
                  <a:srgbClr val="F2F5F8"/>
                </a:solidFill>
                <a:latin typeface="Archivo ExtraBold"/>
              </a:rPr>
              <a:t>In drei Schritten zur ersten Tour</a:t>
            </a:r>
          </a:p>
        </p:txBody>
      </p:sp>
      <p:sp>
        <p:nvSpPr>
          <p:cNvPr id="7" name="Rounded Rectangle 6"/>
          <p:cNvSpPr/>
          <p:nvPr/>
        </p:nvSpPr>
        <p:spPr>
          <a:xfrm>
            <a:off x="548640" y="2148840"/>
            <a:ext cx="3520440" cy="3246120"/>
          </a:xfrm>
          <a:prstGeom prst="roundRect">
            <a:avLst>
              <a:gd name="adj" fmla="val 12000"/>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77440"/>
            <a:ext cx="1371600" cy="1097280"/>
          </a:xfrm>
          <a:prstGeom prst="rect">
            <a:avLst/>
          </a:prstGeom>
          <a:noFill/>
        </p:spPr>
        <p:txBody>
          <a:bodyPr wrap="square" lIns="0" rIns="0" tIns="0" bIns="0" anchor="t">
            <a:spAutoFit/>
          </a:bodyPr>
          <a:lstStyle/>
          <a:p>
            <a:pPr algn="l">
              <a:lnSpc>
                <a:spcPct val="112000"/>
              </a:lnSpc>
            </a:pPr>
            <a:r>
              <a:rPr sz="6000" b="0">
                <a:solidFill>
                  <a:srgbClr val="C8A45C"/>
                </a:solidFill>
                <a:latin typeface="Archivo ExtraBold"/>
              </a:rPr>
              <a:t>1</a:t>
            </a:r>
          </a:p>
        </p:txBody>
      </p:sp>
      <p:sp>
        <p:nvSpPr>
          <p:cNvPr id="9" name="TextBox 8"/>
          <p:cNvSpPr txBox="1"/>
          <p:nvPr/>
        </p:nvSpPr>
        <p:spPr>
          <a:xfrm>
            <a:off x="868680" y="3520440"/>
            <a:ext cx="2926080" cy="548640"/>
          </a:xfrm>
          <a:prstGeom prst="rect">
            <a:avLst/>
          </a:prstGeom>
          <a:noFill/>
        </p:spPr>
        <p:txBody>
          <a:bodyPr wrap="square" lIns="0" rIns="0" tIns="0" bIns="0" anchor="t">
            <a:spAutoFit/>
          </a:bodyPr>
          <a:lstStyle/>
          <a:p>
            <a:pPr algn="l">
              <a:lnSpc>
                <a:spcPct val="112000"/>
              </a:lnSpc>
            </a:pPr>
            <a:r>
              <a:rPr sz="1900" b="0">
                <a:solidFill>
                  <a:srgbClr val="F2F5F8"/>
                </a:solidFill>
                <a:latin typeface="Archivo ExtraBold"/>
              </a:rPr>
              <a:t>Einrichten (ca. 10 Min.)</a:t>
            </a:r>
          </a:p>
        </p:txBody>
      </p:sp>
      <p:sp>
        <p:nvSpPr>
          <p:cNvPr id="10" name="TextBox 9"/>
          <p:cNvSpPr txBox="1"/>
          <p:nvPr/>
        </p:nvSpPr>
        <p:spPr>
          <a:xfrm>
            <a:off x="868680" y="4069080"/>
            <a:ext cx="2926080" cy="1280160"/>
          </a:xfrm>
          <a:prstGeom prst="rect">
            <a:avLst/>
          </a:prstGeom>
          <a:noFill/>
        </p:spPr>
        <p:txBody>
          <a:bodyPr wrap="square" lIns="0" rIns="0" tIns="0" bIns="0" anchor="t">
            <a:spAutoFit/>
          </a:bodyPr>
          <a:lstStyle/>
          <a:p>
            <a:pPr algn="l">
              <a:lnSpc>
                <a:spcPct val="120000"/>
              </a:lnSpc>
            </a:pPr>
            <a:r>
              <a:rPr sz="1350" b="0">
                <a:solidFill>
                  <a:srgbClr val="9FB0C3"/>
                </a:solidFill>
                <a:latin typeface="Manrope"/>
              </a:rPr>
              <a:t>Logo hochladen, Lkw und Fahrer eintragen, Einladung per WhatsApp</a:t>
            </a:r>
          </a:p>
        </p:txBody>
      </p:sp>
      <p:sp>
        <p:nvSpPr>
          <p:cNvPr id="11" name="Rounded Rectangle 10"/>
          <p:cNvSpPr/>
          <p:nvPr/>
        </p:nvSpPr>
        <p:spPr>
          <a:xfrm>
            <a:off x="4343400" y="2148840"/>
            <a:ext cx="3520440" cy="3246120"/>
          </a:xfrm>
          <a:prstGeom prst="roundRect">
            <a:avLst>
              <a:gd name="adj" fmla="val 12000"/>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2377440"/>
            <a:ext cx="1371600" cy="1097280"/>
          </a:xfrm>
          <a:prstGeom prst="rect">
            <a:avLst/>
          </a:prstGeom>
          <a:noFill/>
        </p:spPr>
        <p:txBody>
          <a:bodyPr wrap="square" lIns="0" rIns="0" tIns="0" bIns="0" anchor="t">
            <a:spAutoFit/>
          </a:bodyPr>
          <a:lstStyle/>
          <a:p>
            <a:pPr algn="l">
              <a:lnSpc>
                <a:spcPct val="112000"/>
              </a:lnSpc>
            </a:pPr>
            <a:r>
              <a:rPr sz="6000" b="0">
                <a:solidFill>
                  <a:srgbClr val="C8A45C"/>
                </a:solidFill>
                <a:latin typeface="Archivo ExtraBold"/>
              </a:rPr>
              <a:t>2</a:t>
            </a:r>
          </a:p>
        </p:txBody>
      </p:sp>
      <p:sp>
        <p:nvSpPr>
          <p:cNvPr id="13" name="TextBox 12"/>
          <p:cNvSpPr txBox="1"/>
          <p:nvPr/>
        </p:nvSpPr>
        <p:spPr>
          <a:xfrm>
            <a:off x="4663440" y="3520440"/>
            <a:ext cx="2926080" cy="548640"/>
          </a:xfrm>
          <a:prstGeom prst="rect">
            <a:avLst/>
          </a:prstGeom>
          <a:noFill/>
        </p:spPr>
        <p:txBody>
          <a:bodyPr wrap="square" lIns="0" rIns="0" tIns="0" bIns="0" anchor="t">
            <a:spAutoFit/>
          </a:bodyPr>
          <a:lstStyle/>
          <a:p>
            <a:pPr algn="l">
              <a:lnSpc>
                <a:spcPct val="112000"/>
              </a:lnSpc>
            </a:pPr>
            <a:r>
              <a:rPr sz="1900" b="0">
                <a:solidFill>
                  <a:srgbClr val="F2F5F8"/>
                </a:solidFill>
                <a:latin typeface="Archivo ExtraBold"/>
              </a:rPr>
              <a:t>Lieferung anlegen</a:t>
            </a:r>
          </a:p>
        </p:txBody>
      </p:sp>
      <p:sp>
        <p:nvSpPr>
          <p:cNvPr id="14" name="TextBox 13"/>
          <p:cNvSpPr txBox="1"/>
          <p:nvPr/>
        </p:nvSpPr>
        <p:spPr>
          <a:xfrm>
            <a:off x="4663440" y="4069080"/>
            <a:ext cx="2926080" cy="1280160"/>
          </a:xfrm>
          <a:prstGeom prst="rect">
            <a:avLst/>
          </a:prstGeom>
          <a:noFill/>
        </p:spPr>
        <p:txBody>
          <a:bodyPr wrap="square" lIns="0" rIns="0" tIns="0" bIns="0" anchor="t">
            <a:spAutoFit/>
          </a:bodyPr>
          <a:lstStyle/>
          <a:p>
            <a:pPr algn="l">
              <a:lnSpc>
                <a:spcPct val="120000"/>
              </a:lnSpc>
            </a:pPr>
            <a:r>
              <a:rPr sz="1350" b="0">
                <a:solidFill>
                  <a:srgbClr val="9FB0C3"/>
                </a:solidFill>
                <a:latin typeface="Manrope"/>
              </a:rPr>
              <a:t>Route, Datum, Fahrer – die Buchungsnummer entsteht automatisch</a:t>
            </a:r>
          </a:p>
        </p:txBody>
      </p:sp>
      <p:sp>
        <p:nvSpPr>
          <p:cNvPr id="15" name="Rounded Rectangle 14"/>
          <p:cNvSpPr/>
          <p:nvPr/>
        </p:nvSpPr>
        <p:spPr>
          <a:xfrm>
            <a:off x="8138160" y="2148840"/>
            <a:ext cx="3520440" cy="3246120"/>
          </a:xfrm>
          <a:prstGeom prst="roundRect">
            <a:avLst>
              <a:gd name="adj" fmla="val 12000"/>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377440"/>
            <a:ext cx="1371600" cy="1097280"/>
          </a:xfrm>
          <a:prstGeom prst="rect">
            <a:avLst/>
          </a:prstGeom>
          <a:noFill/>
        </p:spPr>
        <p:txBody>
          <a:bodyPr wrap="square" lIns="0" rIns="0" tIns="0" bIns="0" anchor="t">
            <a:spAutoFit/>
          </a:bodyPr>
          <a:lstStyle/>
          <a:p>
            <a:pPr algn="l">
              <a:lnSpc>
                <a:spcPct val="112000"/>
              </a:lnSpc>
            </a:pPr>
            <a:r>
              <a:rPr sz="6000" b="0">
                <a:solidFill>
                  <a:srgbClr val="C8A45C"/>
                </a:solidFill>
                <a:latin typeface="Archivo ExtraBold"/>
              </a:rPr>
              <a:t>3</a:t>
            </a:r>
          </a:p>
        </p:txBody>
      </p:sp>
      <p:sp>
        <p:nvSpPr>
          <p:cNvPr id="17" name="TextBox 16"/>
          <p:cNvSpPr txBox="1"/>
          <p:nvPr/>
        </p:nvSpPr>
        <p:spPr>
          <a:xfrm>
            <a:off x="8458200" y="3520440"/>
            <a:ext cx="2926080" cy="548640"/>
          </a:xfrm>
          <a:prstGeom prst="rect">
            <a:avLst/>
          </a:prstGeom>
          <a:noFill/>
        </p:spPr>
        <p:txBody>
          <a:bodyPr wrap="square" lIns="0" rIns="0" tIns="0" bIns="0" anchor="t">
            <a:spAutoFit/>
          </a:bodyPr>
          <a:lstStyle/>
          <a:p>
            <a:pPr algn="l">
              <a:lnSpc>
                <a:spcPct val="112000"/>
              </a:lnSpc>
            </a:pPr>
            <a:r>
              <a:rPr sz="1900" b="0">
                <a:solidFill>
                  <a:srgbClr val="F2F5F8"/>
                </a:solidFill>
                <a:latin typeface="Archivo ExtraBold"/>
              </a:rPr>
              <a:t>Fahrer tippt, Büro sieht's</a:t>
            </a:r>
          </a:p>
        </p:txBody>
      </p:sp>
      <p:sp>
        <p:nvSpPr>
          <p:cNvPr id="18" name="TextBox 17"/>
          <p:cNvSpPr txBox="1"/>
          <p:nvPr/>
        </p:nvSpPr>
        <p:spPr>
          <a:xfrm>
            <a:off x="8458200" y="4069080"/>
            <a:ext cx="2926080" cy="1280160"/>
          </a:xfrm>
          <a:prstGeom prst="rect">
            <a:avLst/>
          </a:prstGeom>
          <a:noFill/>
        </p:spPr>
        <p:txBody>
          <a:bodyPr wrap="square" lIns="0" rIns="0" tIns="0" bIns="0" anchor="t">
            <a:spAutoFit/>
          </a:bodyPr>
          <a:lstStyle/>
          <a:p>
            <a:pPr algn="l">
              <a:lnSpc>
                <a:spcPct val="120000"/>
              </a:lnSpc>
            </a:pPr>
            <a:r>
              <a:rPr sz="1350" b="0">
                <a:solidFill>
                  <a:srgbClr val="9FB0C3"/>
                </a:solidFill>
                <a:latin typeface="Manrope"/>
              </a:rPr>
              <a:t>Live-Board, Push, Lieferschein im Archiv</a:t>
            </a:r>
          </a:p>
        </p:txBody>
      </p:sp>
      <p:sp>
        <p:nvSpPr>
          <p:cNvPr id="19" name="TextBox 18"/>
          <p:cNvSpPr txBox="1"/>
          <p:nvPr/>
        </p:nvSpPr>
        <p:spPr>
          <a:xfrm>
            <a:off x="548640" y="5532120"/>
            <a:ext cx="7315200" cy="914400"/>
          </a:xfrm>
          <a:prstGeom prst="rect">
            <a:avLst/>
          </a:prstGeom>
          <a:noFill/>
        </p:spPr>
        <p:txBody>
          <a:bodyPr wrap="square" lIns="0" rIns="0" tIns="0" bIns="0" anchor="t">
            <a:spAutoFit/>
          </a:bodyPr>
          <a:lstStyle/>
          <a:p>
            <a:pPr algn="l">
              <a:lnSpc>
                <a:spcPct val="95000"/>
              </a:lnSpc>
            </a:pPr>
            <a:r>
              <a:rPr sz="2600" b="0">
                <a:solidFill>
                  <a:srgbClr val="E6CD92"/>
                </a:solidFill>
                <a:latin typeface="Archivo ExtraBold"/>
              </a:rPr>
              <a:t>ca. 10 Minuten</a:t>
            </a:r>
          </a:p>
        </p:txBody>
      </p:sp>
      <p:sp>
        <p:nvSpPr>
          <p:cNvPr id="20" name="TextBox 19"/>
          <p:cNvSpPr txBox="1"/>
          <p:nvPr/>
        </p:nvSpPr>
        <p:spPr>
          <a:xfrm>
            <a:off x="548640" y="5957570"/>
            <a:ext cx="7315200" cy="731520"/>
          </a:xfrm>
          <a:prstGeom prst="rect">
            <a:avLst/>
          </a:prstGeom>
          <a:noFill/>
        </p:spPr>
        <p:txBody>
          <a:bodyPr wrap="square" lIns="0" rIns="0" tIns="0" bIns="0" anchor="t">
            <a:spAutoFit/>
          </a:bodyPr>
          <a:lstStyle/>
          <a:p>
            <a:pPr algn="l">
              <a:lnSpc>
                <a:spcPct val="112000"/>
              </a:lnSpc>
            </a:pPr>
            <a:r>
              <a:rPr sz="1250" b="0">
                <a:solidFill>
                  <a:srgbClr val="9FB0C3"/>
                </a:solidFill>
                <a:latin typeface="Manrope"/>
              </a:rPr>
              <a:t>bis zur ersten Tour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c.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05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914400"/>
            <a:ext cx="10058400" cy="1463040"/>
          </a:xfrm>
          <a:prstGeom prst="rect">
            <a:avLst/>
          </a:prstGeom>
          <a:noFill/>
        </p:spPr>
        <p:txBody>
          <a:bodyPr wrap="square" lIns="0" rIns="0" tIns="0" bIns="0" anchor="t">
            <a:spAutoFit/>
          </a:bodyPr>
          <a:lstStyle/>
          <a:p>
            <a:pPr algn="l">
              <a:lnSpc>
                <a:spcPct val="100000"/>
              </a:lnSpc>
            </a:pPr>
            <a:r>
              <a:rPr sz="3200" b="0">
                <a:solidFill>
                  <a:srgbClr val="F2F5F8"/>
                </a:solidFill>
                <a:latin typeface="Archivo ExtraBold"/>
              </a:rPr>
              <a:t>Live: Handy tippt, Laptop zeigt's</a:t>
            </a:r>
          </a:p>
        </p:txBody>
      </p:sp>
      <p:pic>
        <p:nvPicPr>
          <p:cNvPr id="7" name="Picture 6" descr="demo-split.png"/>
          <p:cNvPicPr>
            <a:picLocks noChangeAspect="1"/>
          </p:cNvPicPr>
          <p:nvPr/>
        </p:nvPicPr>
        <p:blipFill>
          <a:blip r:embed="rId4"/>
          <a:stretch>
            <a:fillRect/>
          </a:stretch>
        </p:blipFill>
        <p:spPr>
          <a:xfrm>
            <a:off x="548640" y="1691640"/>
            <a:ext cx="7589520" cy="4506278"/>
          </a:xfrm>
          <a:prstGeom prst="rect">
            <a:avLst/>
          </a:prstGeom>
        </p:spPr>
      </p:pic>
      <p:sp>
        <p:nvSpPr>
          <p:cNvPr id="8" name="TextBox 7"/>
          <p:cNvSpPr txBox="1"/>
          <p:nvPr/>
        </p:nvSpPr>
        <p:spPr>
          <a:xfrm>
            <a:off x="8458200" y="1828800"/>
            <a:ext cx="3291840" cy="3657600"/>
          </a:xfrm>
          <a:prstGeom prst="rect">
            <a:avLst/>
          </a:prstGeom>
          <a:noFill/>
        </p:spPr>
        <p:txBody>
          <a:bodyPr wrap="square" lIns="0" rIns="0" tIns="0">
            <a:spAutoFit/>
          </a:bodyPr>
          <a:lstStyle/>
          <a:p>
            <a:pPr>
              <a:lnSpc>
                <a:spcPct val="115000"/>
              </a:lnSpc>
              <a:spcAft>
                <a:spcPts val="800"/>
              </a:spcAft>
            </a:pPr>
            <a:r>
              <a:rPr sz="1250" b="1">
                <a:solidFill>
                  <a:srgbClr val="C8A45C"/>
                </a:solidFill>
                <a:latin typeface="Manrope"/>
              </a:rPr>
              <a:t>—  </a:t>
            </a:r>
            <a:r>
              <a:rPr sz="1250">
                <a:solidFill>
                  <a:srgbClr val="F2F5F8"/>
                </a:solidFill>
                <a:latin typeface="Manrope"/>
              </a:rPr>
              <a:t>Links Laptop: Disposition mit Live-Board (Logo eines Beispielkunden)</a:t>
            </a:r>
          </a:p>
          <a:p>
            <a:pPr>
              <a:lnSpc>
                <a:spcPct val="115000"/>
              </a:lnSpc>
              <a:spcAft>
                <a:spcPts val="800"/>
              </a:spcAft>
            </a:pPr>
            <a:r>
              <a:rPr sz="1250" b="1">
                <a:solidFill>
                  <a:srgbClr val="C8A45C"/>
                </a:solidFill>
                <a:latin typeface="Manrope"/>
              </a:rPr>
              <a:t>—  </a:t>
            </a:r>
            <a:r>
              <a:rPr sz="1250">
                <a:solidFill>
                  <a:srgbClr val="F2F5F8"/>
                </a:solidFill>
                <a:latin typeface="Manrope"/>
              </a:rPr>
              <a:t>Rechts Handy: Fahrer-App auf Rumänisch</a:t>
            </a:r>
          </a:p>
          <a:p>
            <a:pPr>
              <a:lnSpc>
                <a:spcPct val="115000"/>
              </a:lnSpc>
              <a:spcAft>
                <a:spcPts val="800"/>
              </a:spcAft>
            </a:pPr>
            <a:r>
              <a:rPr sz="1250" b="1">
                <a:solidFill>
                  <a:srgbClr val="C8A45C"/>
                </a:solidFill>
                <a:latin typeface="Manrope"/>
              </a:rPr>
              <a:t>—  </a:t>
            </a:r>
            <a:r>
              <a:rPr sz="1250">
                <a:solidFill>
                  <a:srgbClr val="F2F5F8"/>
                </a:solidFill>
                <a:latin typeface="Manrope"/>
              </a:rPr>
              <a:t>Ablauf: Lieferung anlegen → Bestätigen → Angekommen → Aufgeladen → Abgeladen → Lieferschein-Foto → Nachweis</a:t>
            </a:r>
          </a:p>
          <a:p>
            <a:pPr>
              <a:lnSpc>
                <a:spcPct val="115000"/>
              </a:lnSpc>
              <a:spcAft>
                <a:spcPts val="800"/>
              </a:spcAft>
            </a:pPr>
            <a:r>
              <a:rPr sz="1250" b="1">
                <a:solidFill>
                  <a:srgbClr val="C8A45C"/>
                </a:solidFill>
                <a:latin typeface="Manrope"/>
              </a:rPr>
              <a:t>—  </a:t>
            </a:r>
            <a:r>
              <a:rPr sz="1250">
                <a:solidFill>
                  <a:srgbClr val="F2F5F8"/>
                </a:solidFill>
                <a:latin typeface="Manrope"/>
              </a:rPr>
              <a:t>Dauer: 3 Minuten; Ersatz: geteilte Ansicht oder Video</a:t>
            </a:r>
          </a:p>
        </p:txBody>
      </p:sp>
      <p:sp>
        <p:nvSpPr>
          <p:cNvPr id="9" name="TextBox 8"/>
          <p:cNvSpPr txBox="1"/>
          <p:nvPr/>
        </p:nvSpPr>
        <p:spPr>
          <a:xfrm>
            <a:off x="8458200" y="4892040"/>
            <a:ext cx="3291840" cy="914400"/>
          </a:xfrm>
          <a:prstGeom prst="rect">
            <a:avLst/>
          </a:prstGeom>
          <a:noFill/>
        </p:spPr>
        <p:txBody>
          <a:bodyPr wrap="square" lIns="0" rIns="0" tIns="0" bIns="0" anchor="t">
            <a:spAutoFit/>
          </a:bodyPr>
          <a:lstStyle/>
          <a:p>
            <a:pPr algn="l">
              <a:lnSpc>
                <a:spcPct val="95000"/>
              </a:lnSpc>
            </a:pPr>
            <a:r>
              <a:rPr sz="4000" b="0">
                <a:solidFill>
                  <a:srgbClr val="E6CD92"/>
                </a:solidFill>
                <a:latin typeface="Archivo ExtraBold"/>
              </a:rPr>
              <a:t>3 Minuten</a:t>
            </a:r>
          </a:p>
        </p:txBody>
      </p:sp>
      <p:sp>
        <p:nvSpPr>
          <p:cNvPr id="10" name="TextBox 9"/>
          <p:cNvSpPr txBox="1"/>
          <p:nvPr/>
        </p:nvSpPr>
        <p:spPr>
          <a:xfrm>
            <a:off x="8458200" y="5521960"/>
            <a:ext cx="3291840" cy="731520"/>
          </a:xfrm>
          <a:prstGeom prst="rect">
            <a:avLst/>
          </a:prstGeom>
          <a:noFill/>
        </p:spPr>
        <p:txBody>
          <a:bodyPr wrap="square" lIns="0" rIns="0" tIns="0" bIns="0" anchor="t">
            <a:spAutoFit/>
          </a:bodyPr>
          <a:lstStyle/>
          <a:p>
            <a:pPr algn="l">
              <a:lnSpc>
                <a:spcPct val="112000"/>
              </a:lnSpc>
            </a:pPr>
            <a:r>
              <a:rPr sz="1250" b="0">
                <a:solidFill>
                  <a:srgbClr val="9FB0C3"/>
                </a:solidFill>
                <a:latin typeface="Manrope"/>
              </a:rPr>
              <a:t>Live zwischen Handy und Laptop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a.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06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914400"/>
            <a:ext cx="6858000" cy="1463040"/>
          </a:xfrm>
          <a:prstGeom prst="rect">
            <a:avLst/>
          </a:prstGeom>
          <a:noFill/>
        </p:spPr>
        <p:txBody>
          <a:bodyPr wrap="square" lIns="0" rIns="0" tIns="0" bIns="0" anchor="t">
            <a:spAutoFit/>
          </a:bodyPr>
          <a:lstStyle/>
          <a:p>
            <a:pPr algn="l">
              <a:lnSpc>
                <a:spcPct val="100000"/>
              </a:lnSpc>
            </a:pPr>
            <a:r>
              <a:rPr sz="3600" b="0">
                <a:solidFill>
                  <a:srgbClr val="F2F5F8"/>
                </a:solidFill>
                <a:latin typeface="Archivo ExtraBold"/>
              </a:rPr>
              <a:t>106.000 Betriebe, meist mit wenigen Lkw</a:t>
            </a:r>
          </a:p>
        </p:txBody>
      </p:sp>
      <p:sp>
        <p:nvSpPr>
          <p:cNvPr id="7" name="TextBox 6"/>
          <p:cNvSpPr txBox="1"/>
          <p:nvPr/>
        </p:nvSpPr>
        <p:spPr>
          <a:xfrm>
            <a:off x="548640" y="2011680"/>
            <a:ext cx="6035040" cy="3657600"/>
          </a:xfrm>
          <a:prstGeom prst="rect">
            <a:avLst/>
          </a:prstGeom>
          <a:noFill/>
        </p:spPr>
        <p:txBody>
          <a:bodyPr wrap="square" lIns="0" rIns="0" tIns="0">
            <a:spAutoFit/>
          </a:bodyPr>
          <a:lstStyle/>
          <a:p>
            <a:pPr>
              <a:lnSpc>
                <a:spcPct val="115000"/>
              </a:lnSpc>
              <a:spcAft>
                <a:spcPts val="800"/>
              </a:spcAft>
            </a:pPr>
            <a:r>
              <a:rPr sz="1350" b="1">
                <a:solidFill>
                  <a:srgbClr val="C8A45C"/>
                </a:solidFill>
                <a:latin typeface="Manrope"/>
              </a:rPr>
              <a:t>—  </a:t>
            </a:r>
            <a:r>
              <a:rPr sz="1350">
                <a:solidFill>
                  <a:srgbClr val="F2F5F8"/>
                </a:solidFill>
                <a:latin typeface="Manrope"/>
              </a:rPr>
              <a:t>46.902 gewerbliche Güterkraftverkehrsunternehmen und 45.929 Werkverkehrsunternehmen , dazu ca. 13.700 Kurierbetriebe</a:t>
            </a:r>
          </a:p>
          <a:p>
            <a:pPr>
              <a:lnSpc>
                <a:spcPct val="115000"/>
              </a:lnSpc>
              <a:spcAft>
                <a:spcPts val="800"/>
              </a:spcAft>
            </a:pPr>
            <a:r>
              <a:rPr sz="1350" b="1">
                <a:solidFill>
                  <a:srgbClr val="C8A45C"/>
                </a:solidFill>
                <a:latin typeface="Manrope"/>
              </a:rPr>
              <a:t>—  </a:t>
            </a:r>
            <a:r>
              <a:rPr sz="1350">
                <a:solidFill>
                  <a:srgbClr val="F2F5F8"/>
                </a:solidFill>
                <a:latin typeface="Manrope"/>
              </a:rPr>
              <a:t>53 % der gewerblichen Unternehmen fahren mit 1–3 Fahrzeugen</a:t>
            </a:r>
          </a:p>
          <a:p>
            <a:pPr>
              <a:lnSpc>
                <a:spcPct val="115000"/>
              </a:lnSpc>
              <a:spcAft>
                <a:spcPts val="800"/>
              </a:spcAft>
            </a:pPr>
            <a:r>
              <a:rPr sz="1350" b="1">
                <a:solidFill>
                  <a:srgbClr val="C8A45C"/>
                </a:solidFill>
                <a:latin typeface="Manrope"/>
              </a:rPr>
              <a:t>—  </a:t>
            </a:r>
            <a:r>
              <a:rPr sz="1350">
                <a:solidFill>
                  <a:srgbClr val="F2F5F8"/>
                </a:solidFill>
                <a:latin typeface="Manrope"/>
              </a:rPr>
              <a:t>30,4 % der Berufskraftfahrer ohne deutsche Staatsangehörigkeit</a:t>
            </a:r>
          </a:p>
          <a:p>
            <a:pPr>
              <a:lnSpc>
                <a:spcPct val="115000"/>
              </a:lnSpc>
              <a:spcAft>
                <a:spcPts val="800"/>
              </a:spcAft>
            </a:pPr>
            <a:r>
              <a:rPr sz="1350" b="1">
                <a:solidFill>
                  <a:srgbClr val="C8A45C"/>
                </a:solidFill>
                <a:latin typeface="Manrope"/>
              </a:rPr>
              <a:t>—  </a:t>
            </a:r>
            <a:r>
              <a:rPr sz="1350">
                <a:solidFill>
                  <a:srgbClr val="F2F5F8"/>
                </a:solidFill>
                <a:latin typeface="Manrope"/>
              </a:rPr>
              <a:t>TAM ca. 140 Mio. € · SAM ca. 92 Mio. € pro Jahr (eigene Rechnung)</a:t>
            </a:r>
          </a:p>
          <a:p>
            <a:pPr>
              <a:lnSpc>
                <a:spcPct val="115000"/>
              </a:lnSpc>
              <a:spcAft>
                <a:spcPts val="800"/>
              </a:spcAft>
            </a:pPr>
            <a:r>
              <a:rPr sz="1350" b="1">
                <a:solidFill>
                  <a:srgbClr val="C8A45C"/>
                </a:solidFill>
                <a:latin typeface="Manrope"/>
              </a:rPr>
              <a:t>—  </a:t>
            </a:r>
            <a:r>
              <a:rPr sz="1350">
                <a:solidFill>
                  <a:srgbClr val="F2F5F8"/>
                </a:solidFill>
                <a:latin typeface="Manrope"/>
              </a:rPr>
              <a:t>Ziel Jahr 5: 1.276 Kunden = 1,75 % der Zielbetriebe</a:t>
            </a:r>
          </a:p>
        </p:txBody>
      </p:sp>
      <p:sp>
        <p:nvSpPr>
          <p:cNvPr id="8" name="TextBox 7"/>
          <p:cNvSpPr txBox="1"/>
          <p:nvPr/>
        </p:nvSpPr>
        <p:spPr>
          <a:xfrm>
            <a:off x="7223760" y="1143000"/>
            <a:ext cx="4389120" cy="914400"/>
          </a:xfrm>
          <a:prstGeom prst="rect">
            <a:avLst/>
          </a:prstGeom>
          <a:noFill/>
        </p:spPr>
        <p:txBody>
          <a:bodyPr wrap="square" lIns="0" rIns="0" tIns="0" bIns="0" anchor="t">
            <a:spAutoFit/>
          </a:bodyPr>
          <a:lstStyle/>
          <a:p>
            <a:pPr algn="l">
              <a:lnSpc>
                <a:spcPct val="95000"/>
              </a:lnSpc>
            </a:pPr>
            <a:r>
              <a:rPr sz="5400" b="0">
                <a:solidFill>
                  <a:srgbClr val="E6CD92"/>
                </a:solidFill>
                <a:latin typeface="Archivo ExtraBold"/>
              </a:rPr>
              <a:t>92 Mio. €</a:t>
            </a:r>
          </a:p>
        </p:txBody>
      </p:sp>
      <p:sp>
        <p:nvSpPr>
          <p:cNvPr id="9" name="TextBox 8"/>
          <p:cNvSpPr txBox="1"/>
          <p:nvPr/>
        </p:nvSpPr>
        <p:spPr>
          <a:xfrm>
            <a:off x="7223760" y="1977389"/>
            <a:ext cx="4389120" cy="731520"/>
          </a:xfrm>
          <a:prstGeom prst="rect">
            <a:avLst/>
          </a:prstGeom>
          <a:noFill/>
        </p:spPr>
        <p:txBody>
          <a:bodyPr wrap="square" lIns="0" rIns="0" tIns="0" bIns="0" anchor="t">
            <a:spAutoFit/>
          </a:bodyPr>
          <a:lstStyle/>
          <a:p>
            <a:pPr algn="l">
              <a:lnSpc>
                <a:spcPct val="112000"/>
              </a:lnSpc>
            </a:pPr>
            <a:r>
              <a:rPr sz="1250" b="0">
                <a:solidFill>
                  <a:srgbClr val="9FB0C3"/>
                </a:solidFill>
                <a:latin typeface="Manrope"/>
              </a:rPr>
              <a:t>erreichbarer Markt pro Jahr (SAM)</a:t>
            </a:r>
          </a:p>
        </p:txBody>
      </p:sp>
      <p:sp>
        <p:nvSpPr>
          <p:cNvPr id="10" name="Rounded Rectangle 9"/>
          <p:cNvSpPr/>
          <p:nvPr/>
        </p:nvSpPr>
        <p:spPr>
          <a:xfrm>
            <a:off x="7223760" y="3063240"/>
            <a:ext cx="4206240" cy="566928"/>
          </a:xfrm>
          <a:prstGeom prst="roundRect">
            <a:avLst>
              <a:gd name="adj" fmla="val 25000"/>
            </a:avLst>
          </a:prstGeom>
          <a:solidFill>
            <a:srgbClr val="2A3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0" y="3685032"/>
            <a:ext cx="4389120" cy="274320"/>
          </a:xfrm>
          <a:prstGeom prst="rect">
            <a:avLst/>
          </a:prstGeom>
          <a:noFill/>
        </p:spPr>
        <p:txBody>
          <a:bodyPr wrap="square" lIns="0" rIns="0" tIns="0" bIns="0" anchor="t">
            <a:spAutoFit/>
          </a:bodyPr>
          <a:lstStyle/>
          <a:p>
            <a:pPr algn="l">
              <a:lnSpc>
                <a:spcPct val="112000"/>
              </a:lnSpc>
            </a:pPr>
            <a:r>
              <a:rPr sz="1200" b="1">
                <a:solidFill>
                  <a:srgbClr val="F2F5F8"/>
                </a:solidFill>
                <a:latin typeface="Manrope"/>
              </a:rPr>
              <a:t>TAM Deutschland  ·  ≈ 140 Mio. €</a:t>
            </a:r>
          </a:p>
        </p:txBody>
      </p:sp>
      <p:sp>
        <p:nvSpPr>
          <p:cNvPr id="12" name="Rounded Rectangle 11"/>
          <p:cNvSpPr/>
          <p:nvPr/>
        </p:nvSpPr>
        <p:spPr>
          <a:xfrm>
            <a:off x="7223760" y="4023360"/>
            <a:ext cx="2788920" cy="566928"/>
          </a:xfrm>
          <a:prstGeom prst="roundRect">
            <a:avLst>
              <a:gd name="adj" fmla="val 2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0" y="4645152"/>
            <a:ext cx="4389120" cy="274320"/>
          </a:xfrm>
          <a:prstGeom prst="rect">
            <a:avLst/>
          </a:prstGeom>
          <a:noFill/>
        </p:spPr>
        <p:txBody>
          <a:bodyPr wrap="square" lIns="0" rIns="0" tIns="0" bIns="0" anchor="t">
            <a:spAutoFit/>
          </a:bodyPr>
          <a:lstStyle/>
          <a:p>
            <a:pPr algn="l">
              <a:lnSpc>
                <a:spcPct val="112000"/>
              </a:lnSpc>
            </a:pPr>
            <a:r>
              <a:rPr sz="1200" b="1">
                <a:solidFill>
                  <a:srgbClr val="F2F5F8"/>
                </a:solidFill>
                <a:latin typeface="Manrope"/>
              </a:rPr>
              <a:t>SAM erreichbar  ·  ≈ 92 Mio. €</a:t>
            </a:r>
          </a:p>
        </p:txBody>
      </p:sp>
      <p:sp>
        <p:nvSpPr>
          <p:cNvPr id="14" name="Rounded Rectangle 13"/>
          <p:cNvSpPr/>
          <p:nvPr/>
        </p:nvSpPr>
        <p:spPr>
          <a:xfrm>
            <a:off x="7223760" y="4983480"/>
            <a:ext cx="502920" cy="566928"/>
          </a:xfrm>
          <a:prstGeom prst="roundRect">
            <a:avLst>
              <a:gd name="adj" fmla="val 25000"/>
            </a:avLst>
          </a:prstGeom>
          <a:solidFill>
            <a:srgbClr val="C8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5605272"/>
            <a:ext cx="4389120" cy="274320"/>
          </a:xfrm>
          <a:prstGeom prst="rect">
            <a:avLst/>
          </a:prstGeom>
          <a:noFill/>
        </p:spPr>
        <p:txBody>
          <a:bodyPr wrap="square" lIns="0" rIns="0" tIns="0" bIns="0" anchor="t">
            <a:spAutoFit/>
          </a:bodyPr>
          <a:lstStyle/>
          <a:p>
            <a:pPr algn="l">
              <a:lnSpc>
                <a:spcPct val="112000"/>
              </a:lnSpc>
            </a:pPr>
            <a:r>
              <a:rPr sz="1200" b="1">
                <a:solidFill>
                  <a:srgbClr val="E6CD92"/>
                </a:solidFill>
                <a:latin typeface="Manrope"/>
              </a:rPr>
              <a:t>Ziel Jahr 5 (ARR)  ·  ≈ 2,0 Mio.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07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914400"/>
            <a:ext cx="10058400" cy="1463040"/>
          </a:xfrm>
          <a:prstGeom prst="rect">
            <a:avLst/>
          </a:prstGeom>
          <a:noFill/>
        </p:spPr>
        <p:txBody>
          <a:bodyPr wrap="square" lIns="0" rIns="0" tIns="0" bIns="0" anchor="t">
            <a:spAutoFit/>
          </a:bodyPr>
          <a:lstStyle/>
          <a:p>
            <a:pPr algn="l">
              <a:lnSpc>
                <a:spcPct val="100000"/>
              </a:lnSpc>
            </a:pPr>
            <a:r>
              <a:rPr sz="3600" b="0">
                <a:solidFill>
                  <a:srgbClr val="F2F5F8"/>
                </a:solidFill>
                <a:latin typeface="Archivo ExtraBold"/>
              </a:rPr>
              <a:t>Abo je Betrieb, ab 49 € im Monat</a:t>
            </a:r>
          </a:p>
        </p:txBody>
      </p:sp>
      <p:sp>
        <p:nvSpPr>
          <p:cNvPr id="7" name="Rounded Rectangle 6"/>
          <p:cNvSpPr/>
          <p:nvPr/>
        </p:nvSpPr>
        <p:spPr>
          <a:xfrm>
            <a:off x="548640" y="2011680"/>
            <a:ext cx="2514600" cy="2331720"/>
          </a:xfrm>
          <a:prstGeom prst="roundRect">
            <a:avLst>
              <a:gd name="adj" fmla="val 12000"/>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240280"/>
            <a:ext cx="2011680" cy="274320"/>
          </a:xfrm>
          <a:prstGeom prst="rect">
            <a:avLst/>
          </a:prstGeom>
          <a:noFill/>
        </p:spPr>
        <p:txBody>
          <a:bodyPr wrap="square" lIns="0" rIns="0" tIns="0" bIns="0" anchor="t">
            <a:spAutoFit/>
          </a:bodyPr>
          <a:lstStyle/>
          <a:p>
            <a:pPr algn="l">
              <a:lnSpc>
                <a:spcPct val="112000"/>
              </a:lnSpc>
            </a:pPr>
            <a:r>
              <a:rPr sz="1100" b="1">
                <a:solidFill>
                  <a:srgbClr val="9FB0C3"/>
                </a:solidFill>
                <a:latin typeface="Manrope"/>
              </a:rPr>
              <a:t>START</a:t>
            </a:r>
          </a:p>
        </p:txBody>
      </p:sp>
      <p:sp>
        <p:nvSpPr>
          <p:cNvPr id="9" name="TextBox 8"/>
          <p:cNvSpPr txBox="1"/>
          <p:nvPr/>
        </p:nvSpPr>
        <p:spPr>
          <a:xfrm>
            <a:off x="822959" y="2560320"/>
            <a:ext cx="2103120" cy="822960"/>
          </a:xfrm>
          <a:prstGeom prst="rect">
            <a:avLst/>
          </a:prstGeom>
          <a:noFill/>
        </p:spPr>
        <p:txBody>
          <a:bodyPr wrap="square" lIns="0" rIns="0" tIns="0" bIns="0" anchor="t">
            <a:spAutoFit/>
          </a:bodyPr>
          <a:lstStyle/>
          <a:p>
            <a:pPr algn="l">
              <a:lnSpc>
                <a:spcPct val="112000"/>
              </a:lnSpc>
            </a:pPr>
            <a:r>
              <a:rPr sz="4000" b="0">
                <a:solidFill>
                  <a:srgbClr val="F2F5F8"/>
                </a:solidFill>
                <a:latin typeface="Archivo ExtraBold"/>
              </a:rPr>
              <a:t>49 €</a:t>
            </a:r>
          </a:p>
        </p:txBody>
      </p:sp>
      <p:sp>
        <p:nvSpPr>
          <p:cNvPr id="10" name="TextBox 9"/>
          <p:cNvSpPr txBox="1"/>
          <p:nvPr/>
        </p:nvSpPr>
        <p:spPr>
          <a:xfrm>
            <a:off x="822959" y="3337560"/>
            <a:ext cx="2011680" cy="274320"/>
          </a:xfrm>
          <a:prstGeom prst="rect">
            <a:avLst/>
          </a:prstGeom>
          <a:noFill/>
        </p:spPr>
        <p:txBody>
          <a:bodyPr wrap="square" lIns="0" rIns="0" tIns="0" bIns="0" anchor="t">
            <a:spAutoFit/>
          </a:bodyPr>
          <a:lstStyle/>
          <a:p>
            <a:pPr algn="l">
              <a:lnSpc>
                <a:spcPct val="112000"/>
              </a:lnSpc>
            </a:pPr>
            <a:r>
              <a:rPr sz="1100" b="0">
                <a:solidFill>
                  <a:srgbClr val="9FB0C3"/>
                </a:solidFill>
                <a:latin typeface="Manrope"/>
              </a:rPr>
              <a:t>netto / Monat</a:t>
            </a:r>
          </a:p>
        </p:txBody>
      </p:sp>
      <p:sp>
        <p:nvSpPr>
          <p:cNvPr id="11" name="TextBox 10"/>
          <p:cNvSpPr txBox="1"/>
          <p:nvPr/>
        </p:nvSpPr>
        <p:spPr>
          <a:xfrm>
            <a:off x="822959" y="3657600"/>
            <a:ext cx="2057400" cy="640080"/>
          </a:xfrm>
          <a:prstGeom prst="rect">
            <a:avLst/>
          </a:prstGeom>
          <a:noFill/>
        </p:spPr>
        <p:txBody>
          <a:bodyPr wrap="square" lIns="0" rIns="0" tIns="0" bIns="0" anchor="t">
            <a:spAutoFit/>
          </a:bodyPr>
          <a:lstStyle/>
          <a:p>
            <a:pPr algn="l">
              <a:lnSpc>
                <a:spcPct val="112000"/>
              </a:lnSpc>
            </a:pPr>
            <a:r>
              <a:rPr sz="1200" b="0">
                <a:solidFill>
                  <a:srgbClr val="F2F5F8"/>
                </a:solidFill>
                <a:latin typeface="Manrope"/>
              </a:rPr>
              <a:t>3 Fahrer · 6 Fahrzeuge</a:t>
            </a:r>
          </a:p>
        </p:txBody>
      </p:sp>
      <p:sp>
        <p:nvSpPr>
          <p:cNvPr id="12" name="Rounded Rectangle 11"/>
          <p:cNvSpPr/>
          <p:nvPr/>
        </p:nvSpPr>
        <p:spPr>
          <a:xfrm>
            <a:off x="3291840" y="2011680"/>
            <a:ext cx="2514600" cy="2331720"/>
          </a:xfrm>
          <a:prstGeom prst="roundRect">
            <a:avLst>
              <a:gd name="adj" fmla="val 12000"/>
            </a:avLst>
          </a:prstGeom>
          <a:solidFill>
            <a:srgbClr val="13233A"/>
          </a:solidFill>
          <a:ln w="15875">
            <a:solidFill>
              <a:srgbClr val="C8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2240280"/>
            <a:ext cx="2011680" cy="274320"/>
          </a:xfrm>
          <a:prstGeom prst="rect">
            <a:avLst/>
          </a:prstGeom>
          <a:noFill/>
        </p:spPr>
        <p:txBody>
          <a:bodyPr wrap="square" lIns="0" rIns="0" tIns="0" bIns="0" anchor="t">
            <a:spAutoFit/>
          </a:bodyPr>
          <a:lstStyle/>
          <a:p>
            <a:pPr algn="l">
              <a:lnSpc>
                <a:spcPct val="112000"/>
              </a:lnSpc>
            </a:pPr>
            <a:r>
              <a:rPr sz="1100" b="1">
                <a:solidFill>
                  <a:srgbClr val="E6CD92"/>
                </a:solidFill>
                <a:latin typeface="Manrope"/>
              </a:rPr>
              <a:t>FLOTTE</a:t>
            </a:r>
          </a:p>
        </p:txBody>
      </p:sp>
      <p:sp>
        <p:nvSpPr>
          <p:cNvPr id="14" name="TextBox 13"/>
          <p:cNvSpPr txBox="1"/>
          <p:nvPr/>
        </p:nvSpPr>
        <p:spPr>
          <a:xfrm>
            <a:off x="3566160" y="2560320"/>
            <a:ext cx="2103120" cy="822960"/>
          </a:xfrm>
          <a:prstGeom prst="rect">
            <a:avLst/>
          </a:prstGeom>
          <a:noFill/>
        </p:spPr>
        <p:txBody>
          <a:bodyPr wrap="square" lIns="0" rIns="0" tIns="0" bIns="0" anchor="t">
            <a:spAutoFit/>
          </a:bodyPr>
          <a:lstStyle/>
          <a:p>
            <a:pPr algn="l">
              <a:lnSpc>
                <a:spcPct val="112000"/>
              </a:lnSpc>
            </a:pPr>
            <a:r>
              <a:rPr sz="4000" b="0">
                <a:solidFill>
                  <a:srgbClr val="F2F5F8"/>
                </a:solidFill>
                <a:latin typeface="Archivo ExtraBold"/>
              </a:rPr>
              <a:t>129 €</a:t>
            </a:r>
          </a:p>
        </p:txBody>
      </p:sp>
      <p:sp>
        <p:nvSpPr>
          <p:cNvPr id="15" name="TextBox 14"/>
          <p:cNvSpPr txBox="1"/>
          <p:nvPr/>
        </p:nvSpPr>
        <p:spPr>
          <a:xfrm>
            <a:off x="3566160" y="3337560"/>
            <a:ext cx="2011680" cy="274320"/>
          </a:xfrm>
          <a:prstGeom prst="rect">
            <a:avLst/>
          </a:prstGeom>
          <a:noFill/>
        </p:spPr>
        <p:txBody>
          <a:bodyPr wrap="square" lIns="0" rIns="0" tIns="0" bIns="0" anchor="t">
            <a:spAutoFit/>
          </a:bodyPr>
          <a:lstStyle/>
          <a:p>
            <a:pPr algn="l">
              <a:lnSpc>
                <a:spcPct val="112000"/>
              </a:lnSpc>
            </a:pPr>
            <a:r>
              <a:rPr sz="1100" b="0">
                <a:solidFill>
                  <a:srgbClr val="9FB0C3"/>
                </a:solidFill>
                <a:latin typeface="Manrope"/>
              </a:rPr>
              <a:t>netto / Monat</a:t>
            </a:r>
          </a:p>
        </p:txBody>
      </p:sp>
      <p:sp>
        <p:nvSpPr>
          <p:cNvPr id="16" name="TextBox 15"/>
          <p:cNvSpPr txBox="1"/>
          <p:nvPr/>
        </p:nvSpPr>
        <p:spPr>
          <a:xfrm>
            <a:off x="3566160" y="3657600"/>
            <a:ext cx="2057400" cy="640080"/>
          </a:xfrm>
          <a:prstGeom prst="rect">
            <a:avLst/>
          </a:prstGeom>
          <a:noFill/>
        </p:spPr>
        <p:txBody>
          <a:bodyPr wrap="square" lIns="0" rIns="0" tIns="0" bIns="0" anchor="t">
            <a:spAutoFit/>
          </a:bodyPr>
          <a:lstStyle/>
          <a:p>
            <a:pPr algn="l">
              <a:lnSpc>
                <a:spcPct val="112000"/>
              </a:lnSpc>
            </a:pPr>
            <a:r>
              <a:rPr sz="1200" b="0">
                <a:solidFill>
                  <a:srgbClr val="F2F5F8"/>
                </a:solidFill>
                <a:latin typeface="Manrope"/>
              </a:rPr>
              <a:t>15 Fahrer · +7 € je weiterer</a:t>
            </a:r>
          </a:p>
        </p:txBody>
      </p:sp>
      <p:sp>
        <p:nvSpPr>
          <p:cNvPr id="17" name="Rounded Rectangle 16"/>
          <p:cNvSpPr/>
          <p:nvPr/>
        </p:nvSpPr>
        <p:spPr>
          <a:xfrm>
            <a:off x="6035040" y="2011680"/>
            <a:ext cx="2514600" cy="2331720"/>
          </a:xfrm>
          <a:prstGeom prst="roundRect">
            <a:avLst>
              <a:gd name="adj" fmla="val 12000"/>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59" y="2240280"/>
            <a:ext cx="2011680" cy="274320"/>
          </a:xfrm>
          <a:prstGeom prst="rect">
            <a:avLst/>
          </a:prstGeom>
          <a:noFill/>
        </p:spPr>
        <p:txBody>
          <a:bodyPr wrap="square" lIns="0" rIns="0" tIns="0" bIns="0" anchor="t">
            <a:spAutoFit/>
          </a:bodyPr>
          <a:lstStyle/>
          <a:p>
            <a:pPr algn="l">
              <a:lnSpc>
                <a:spcPct val="112000"/>
              </a:lnSpc>
            </a:pPr>
            <a:r>
              <a:rPr sz="1100" b="1">
                <a:solidFill>
                  <a:srgbClr val="9FB0C3"/>
                </a:solidFill>
                <a:latin typeface="Manrope"/>
              </a:rPr>
              <a:t>PREMIUM</a:t>
            </a:r>
          </a:p>
        </p:txBody>
      </p:sp>
      <p:sp>
        <p:nvSpPr>
          <p:cNvPr id="19" name="TextBox 18"/>
          <p:cNvSpPr txBox="1"/>
          <p:nvPr/>
        </p:nvSpPr>
        <p:spPr>
          <a:xfrm>
            <a:off x="6309359" y="2560320"/>
            <a:ext cx="2103120" cy="822960"/>
          </a:xfrm>
          <a:prstGeom prst="rect">
            <a:avLst/>
          </a:prstGeom>
          <a:noFill/>
        </p:spPr>
        <p:txBody>
          <a:bodyPr wrap="square" lIns="0" rIns="0" tIns="0" bIns="0" anchor="t">
            <a:spAutoFit/>
          </a:bodyPr>
          <a:lstStyle/>
          <a:p>
            <a:pPr algn="l">
              <a:lnSpc>
                <a:spcPct val="112000"/>
              </a:lnSpc>
            </a:pPr>
            <a:r>
              <a:rPr sz="4000" b="0">
                <a:solidFill>
                  <a:srgbClr val="F2F5F8"/>
                </a:solidFill>
                <a:latin typeface="Archivo ExtraBold"/>
              </a:rPr>
              <a:t>299 €</a:t>
            </a:r>
          </a:p>
        </p:txBody>
      </p:sp>
      <p:sp>
        <p:nvSpPr>
          <p:cNvPr id="20" name="TextBox 19"/>
          <p:cNvSpPr txBox="1"/>
          <p:nvPr/>
        </p:nvSpPr>
        <p:spPr>
          <a:xfrm>
            <a:off x="6309359" y="3337560"/>
            <a:ext cx="2011680" cy="274320"/>
          </a:xfrm>
          <a:prstGeom prst="rect">
            <a:avLst/>
          </a:prstGeom>
          <a:noFill/>
        </p:spPr>
        <p:txBody>
          <a:bodyPr wrap="square" lIns="0" rIns="0" tIns="0" bIns="0" anchor="t">
            <a:spAutoFit/>
          </a:bodyPr>
          <a:lstStyle/>
          <a:p>
            <a:pPr algn="l">
              <a:lnSpc>
                <a:spcPct val="112000"/>
              </a:lnSpc>
            </a:pPr>
            <a:r>
              <a:rPr sz="1100" b="0">
                <a:solidFill>
                  <a:srgbClr val="9FB0C3"/>
                </a:solidFill>
                <a:latin typeface="Manrope"/>
              </a:rPr>
              <a:t>netto / Monat</a:t>
            </a:r>
          </a:p>
        </p:txBody>
      </p:sp>
      <p:sp>
        <p:nvSpPr>
          <p:cNvPr id="21" name="TextBox 20"/>
          <p:cNvSpPr txBox="1"/>
          <p:nvPr/>
        </p:nvSpPr>
        <p:spPr>
          <a:xfrm>
            <a:off x="6309359" y="3657600"/>
            <a:ext cx="2057400" cy="640080"/>
          </a:xfrm>
          <a:prstGeom prst="rect">
            <a:avLst/>
          </a:prstGeom>
          <a:noFill/>
        </p:spPr>
        <p:txBody>
          <a:bodyPr wrap="square" lIns="0" rIns="0" tIns="0" bIns="0" anchor="t">
            <a:spAutoFit/>
          </a:bodyPr>
          <a:lstStyle/>
          <a:p>
            <a:pPr algn="l">
              <a:lnSpc>
                <a:spcPct val="112000"/>
              </a:lnSpc>
            </a:pPr>
            <a:r>
              <a:rPr sz="1200" b="0">
                <a:solidFill>
                  <a:srgbClr val="F2F5F8"/>
                </a:solidFill>
                <a:latin typeface="Manrope"/>
              </a:rPr>
              <a:t>40 Fahrer · API · SLA 99,5 %</a:t>
            </a:r>
          </a:p>
        </p:txBody>
      </p:sp>
      <p:sp>
        <p:nvSpPr>
          <p:cNvPr id="22" name="TextBox 21"/>
          <p:cNvSpPr txBox="1"/>
          <p:nvPr/>
        </p:nvSpPr>
        <p:spPr>
          <a:xfrm>
            <a:off x="548640" y="4617720"/>
            <a:ext cx="7863840" cy="3657600"/>
          </a:xfrm>
          <a:prstGeom prst="rect">
            <a:avLst/>
          </a:prstGeom>
          <a:noFill/>
        </p:spPr>
        <p:txBody>
          <a:bodyPr wrap="square" lIns="0" rIns="0" tIns="0">
            <a:spAutoFit/>
          </a:bodyPr>
          <a:lstStyle/>
          <a:p>
            <a:pPr>
              <a:lnSpc>
                <a:spcPct val="115000"/>
              </a:lnSpc>
              <a:spcAft>
                <a:spcPts val="600"/>
              </a:spcAft>
            </a:pPr>
            <a:r>
              <a:rPr sz="1250" b="1">
                <a:solidFill>
                  <a:srgbClr val="C8A45C"/>
                </a:solidFill>
                <a:latin typeface="Manrope"/>
              </a:rPr>
              <a:t>—  </a:t>
            </a:r>
            <a:r>
              <a:rPr sz="1250">
                <a:solidFill>
                  <a:srgbClr val="F2F5F8"/>
                </a:solidFill>
                <a:latin typeface="Manrope"/>
              </a:rPr>
              <a:t>White-Label-Store-App: 1.990 € einmalig + 99 € im Monat</a:t>
            </a:r>
          </a:p>
          <a:p>
            <a:pPr>
              <a:lnSpc>
                <a:spcPct val="115000"/>
              </a:lnSpc>
              <a:spcAft>
                <a:spcPts val="600"/>
              </a:spcAft>
            </a:pPr>
            <a:r>
              <a:rPr sz="1250" b="1">
                <a:solidFill>
                  <a:srgbClr val="C8A45C"/>
                </a:solidFill>
                <a:latin typeface="Manrope"/>
              </a:rPr>
              <a:t>—  </a:t>
            </a:r>
            <a:r>
              <a:rPr sz="1250">
                <a:solidFill>
                  <a:srgbClr val="F2F5F8"/>
                </a:solidFill>
                <a:latin typeface="Manrope"/>
              </a:rPr>
              <a:t>30 Tage kostenlos testen, Jahreszahlung: 2 Monate geschenkt</a:t>
            </a:r>
          </a:p>
          <a:p>
            <a:pPr>
              <a:lnSpc>
                <a:spcPct val="115000"/>
              </a:lnSpc>
              <a:spcAft>
                <a:spcPts val="600"/>
              </a:spcAft>
            </a:pPr>
            <a:r>
              <a:rPr sz="1250" b="1">
                <a:solidFill>
                  <a:srgbClr val="C8A45C"/>
                </a:solidFill>
                <a:latin typeface="Manrope"/>
              </a:rPr>
              <a:t>—  </a:t>
            </a:r>
            <a:r>
              <a:rPr sz="1250">
                <a:solidFill>
                  <a:srgbClr val="F2F5F8"/>
                </a:solidFill>
                <a:latin typeface="Manrope"/>
              </a:rPr>
              <a:t>ARPA 122 € (2027) bis 130 € (2031), Deckungsbeitrag 90–97 %</a:t>
            </a:r>
          </a:p>
          <a:p>
            <a:pPr>
              <a:lnSpc>
                <a:spcPct val="115000"/>
              </a:lnSpc>
              <a:spcAft>
                <a:spcPts val="600"/>
              </a:spcAft>
            </a:pPr>
            <a:r>
              <a:rPr sz="1250" b="1">
                <a:solidFill>
                  <a:srgbClr val="C8A45C"/>
                </a:solidFill>
                <a:latin typeface="Manrope"/>
              </a:rPr>
              <a:t>—  </a:t>
            </a:r>
            <a:r>
              <a:rPr sz="1250">
                <a:solidFill>
                  <a:srgbClr val="F2F5F8"/>
                </a:solidFill>
                <a:latin typeface="Manrope"/>
              </a:rPr>
              <a:t>Partner (Verbände, Telematik-Händler, Steuerberater): 25 % Provision</a:t>
            </a:r>
          </a:p>
        </p:txBody>
      </p:sp>
      <p:sp>
        <p:nvSpPr>
          <p:cNvPr id="23" name="TextBox 22"/>
          <p:cNvSpPr txBox="1"/>
          <p:nvPr/>
        </p:nvSpPr>
        <p:spPr>
          <a:xfrm>
            <a:off x="8915400" y="2011680"/>
            <a:ext cx="2834640" cy="914400"/>
          </a:xfrm>
          <a:prstGeom prst="rect">
            <a:avLst/>
          </a:prstGeom>
          <a:noFill/>
        </p:spPr>
        <p:txBody>
          <a:bodyPr wrap="square" lIns="0" rIns="0" tIns="0" bIns="0" anchor="t">
            <a:spAutoFit/>
          </a:bodyPr>
          <a:lstStyle/>
          <a:p>
            <a:pPr algn="l">
              <a:lnSpc>
                <a:spcPct val="95000"/>
              </a:lnSpc>
            </a:pPr>
            <a:r>
              <a:rPr sz="5000" b="0">
                <a:solidFill>
                  <a:srgbClr val="E6CD92"/>
                </a:solidFill>
                <a:latin typeface="Archivo ExtraBold"/>
              </a:rPr>
              <a:t>8,60 €</a:t>
            </a:r>
          </a:p>
        </p:txBody>
      </p:sp>
      <p:sp>
        <p:nvSpPr>
          <p:cNvPr id="24" name="TextBox 23"/>
          <p:cNvSpPr txBox="1"/>
          <p:nvPr/>
        </p:nvSpPr>
        <p:spPr>
          <a:xfrm>
            <a:off x="8915400" y="2787650"/>
            <a:ext cx="2834640" cy="731520"/>
          </a:xfrm>
          <a:prstGeom prst="rect">
            <a:avLst/>
          </a:prstGeom>
          <a:noFill/>
        </p:spPr>
        <p:txBody>
          <a:bodyPr wrap="square" lIns="0" rIns="0" tIns="0" bIns="0" anchor="t">
            <a:spAutoFit/>
          </a:bodyPr>
          <a:lstStyle/>
          <a:p>
            <a:pPr algn="l">
              <a:lnSpc>
                <a:spcPct val="112000"/>
              </a:lnSpc>
            </a:pPr>
            <a:r>
              <a:rPr sz="1250" b="0">
                <a:solidFill>
                  <a:srgbClr val="9FB0C3"/>
                </a:solidFill>
                <a:latin typeface="Manrope"/>
              </a:rPr>
              <a:t>je Fahrer und Monat (Flotte)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a.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08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914400"/>
            <a:ext cx="5852160" cy="1463040"/>
          </a:xfrm>
          <a:prstGeom prst="rect">
            <a:avLst/>
          </a:prstGeom>
          <a:noFill/>
        </p:spPr>
        <p:txBody>
          <a:bodyPr wrap="square" lIns="0" rIns="0" tIns="0" bIns="0" anchor="t">
            <a:spAutoFit/>
          </a:bodyPr>
          <a:lstStyle/>
          <a:p>
            <a:pPr algn="l">
              <a:lnSpc>
                <a:spcPct val="100000"/>
              </a:lnSpc>
            </a:pPr>
            <a:r>
              <a:rPr sz="3200" b="0">
                <a:solidFill>
                  <a:srgbClr val="F2F5F8"/>
                </a:solidFill>
                <a:latin typeface="Archivo ExtraBold"/>
              </a:rPr>
              <a:t>Schneller startklar als Telematik und TMS</a:t>
            </a:r>
          </a:p>
        </p:txBody>
      </p:sp>
      <p:sp>
        <p:nvSpPr>
          <p:cNvPr id="7" name="TextBox 6"/>
          <p:cNvSpPr txBox="1"/>
          <p:nvPr/>
        </p:nvSpPr>
        <p:spPr>
          <a:xfrm>
            <a:off x="548640" y="1920240"/>
            <a:ext cx="5486400" cy="3657600"/>
          </a:xfrm>
          <a:prstGeom prst="rect">
            <a:avLst/>
          </a:prstGeom>
          <a:noFill/>
        </p:spPr>
        <p:txBody>
          <a:bodyPr wrap="square" lIns="0" rIns="0" tIns="0">
            <a:spAutoFit/>
          </a:bodyPr>
          <a:lstStyle/>
          <a:p>
            <a:pPr>
              <a:lnSpc>
                <a:spcPct val="115000"/>
              </a:lnSpc>
              <a:spcAft>
                <a:spcPts val="700"/>
              </a:spcAft>
            </a:pPr>
            <a:r>
              <a:rPr sz="1250" b="1">
                <a:solidFill>
                  <a:srgbClr val="C8A45C"/>
                </a:solidFill>
                <a:latin typeface="Manrope"/>
              </a:rPr>
              <a:t>—  </a:t>
            </a:r>
            <a:r>
              <a:rPr sz="1250">
                <a:solidFill>
                  <a:srgbClr val="F2F5F8"/>
                </a:solidFill>
                <a:latin typeface="Manrope"/>
              </a:rPr>
              <a:t>Hauptgegner: Papier, Telefon, WhatsApp, Excel – kostenlos, aber ohne Belege</a:t>
            </a:r>
          </a:p>
          <a:p>
            <a:pPr>
              <a:lnSpc>
                <a:spcPct val="115000"/>
              </a:lnSpc>
              <a:spcAft>
                <a:spcPts val="700"/>
              </a:spcAft>
            </a:pPr>
            <a:r>
              <a:rPr sz="1250" b="1">
                <a:solidFill>
                  <a:srgbClr val="C8A45C"/>
                </a:solidFill>
                <a:latin typeface="Manrope"/>
              </a:rPr>
              <a:t>—  </a:t>
            </a:r>
            <a:r>
              <a:rPr sz="1250">
                <a:solidFill>
                  <a:srgbClr val="F2F5F8"/>
                </a:solidFill>
                <a:latin typeface="Manrope"/>
              </a:rPr>
              <a:t>Telematik (Webfleet, YellowFox, Fleetboard): Hardware, 15–35 € je Fahrzeug, 24–36 Monate Laufzeit</a:t>
            </a:r>
          </a:p>
          <a:p>
            <a:pPr>
              <a:lnSpc>
                <a:spcPct val="115000"/>
              </a:lnSpc>
              <a:spcAft>
                <a:spcPts val="700"/>
              </a:spcAft>
            </a:pPr>
            <a:r>
              <a:rPr sz="1250" b="1">
                <a:solidFill>
                  <a:srgbClr val="C8A45C"/>
                </a:solidFill>
                <a:latin typeface="Manrope"/>
              </a:rPr>
              <a:t>—  </a:t>
            </a:r>
            <a:r>
              <a:rPr sz="1250">
                <a:solidFill>
                  <a:srgbClr val="F2F5F8"/>
                </a:solidFill>
                <a:latin typeface="Manrope"/>
              </a:rPr>
              <a:t>TMS (CarLo, WinSped): Projekt, Preise auf Anfrage</a:t>
            </a:r>
          </a:p>
          <a:p>
            <a:pPr>
              <a:lnSpc>
                <a:spcPct val="115000"/>
              </a:lnSpc>
              <a:spcAft>
                <a:spcPts val="700"/>
              </a:spcAft>
            </a:pPr>
            <a:r>
              <a:rPr sz="1250" b="1">
                <a:solidFill>
                  <a:srgbClr val="C8A45C"/>
                </a:solidFill>
                <a:latin typeface="Manrope"/>
              </a:rPr>
              <a:t>—  </a:t>
            </a:r>
            <a:r>
              <a:rPr sz="1250">
                <a:solidFill>
                  <a:srgbClr val="F2F5F8"/>
                </a:solidFill>
                <a:latin typeface="Manrope"/>
              </a:rPr>
              <a:t>App-Tools (LOGISTIQO, SPEDION-App, Couplink): nah dran, aber ohne White-Label und ohne beworbene Mehrsprachigkeit</a:t>
            </a:r>
          </a:p>
          <a:p>
            <a:pPr>
              <a:lnSpc>
                <a:spcPct val="115000"/>
              </a:lnSpc>
              <a:spcAft>
                <a:spcPts val="700"/>
              </a:spcAft>
            </a:pPr>
            <a:r>
              <a:rPr sz="1250" b="1">
                <a:solidFill>
                  <a:srgbClr val="C8A45C"/>
                </a:solidFill>
                <a:latin typeface="Manrope"/>
              </a:rPr>
              <a:t>—  </a:t>
            </a:r>
            <a:r>
              <a:rPr sz="1250">
                <a:solidFill>
                  <a:srgbClr val="F2F5F8"/>
                </a:solidFill>
                <a:latin typeface="Manrope"/>
              </a:rPr>
              <a:t>Ladeklar: ca. 10 Minuten, keine Hardware, eigene Marke, 8 Sprachen, keine Dauerortung</a:t>
            </a:r>
          </a:p>
        </p:txBody>
      </p:sp>
      <p:sp>
        <p:nvSpPr>
          <p:cNvPr id="8" name="Rounded Rectangle 7"/>
          <p:cNvSpPr/>
          <p:nvPr/>
        </p:nvSpPr>
        <p:spPr>
          <a:xfrm>
            <a:off x="6583680" y="1143000"/>
            <a:ext cx="4937760" cy="4206240"/>
          </a:xfrm>
          <a:prstGeom prst="roundRect">
            <a:avLst>
              <a:gd name="adj" fmla="val 4000"/>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9052560" y="1325880"/>
            <a:ext cx="0" cy="3840479"/>
          </a:xfrm>
          <a:prstGeom prst="line">
            <a:avLst/>
          </a:prstGeom>
          <a:ln>
            <a:solidFill>
              <a:srgbClr val="2A3C5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766560" y="3246120"/>
            <a:ext cx="4572000" cy="0"/>
          </a:xfrm>
          <a:prstGeom prst="line">
            <a:avLst/>
          </a:prstGeom>
          <a:ln>
            <a:solidFill>
              <a:srgbClr val="2A3C5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0" y="5422392"/>
            <a:ext cx="4937760" cy="274320"/>
          </a:xfrm>
          <a:prstGeom prst="rect">
            <a:avLst/>
          </a:prstGeom>
          <a:noFill/>
        </p:spPr>
        <p:txBody>
          <a:bodyPr wrap="square" lIns="0" rIns="0" tIns="0" bIns="0" anchor="t">
            <a:spAutoFit/>
          </a:bodyPr>
          <a:lstStyle/>
          <a:p>
            <a:pPr algn="ctr">
              <a:lnSpc>
                <a:spcPct val="112000"/>
              </a:lnSpc>
            </a:pPr>
            <a:r>
              <a:rPr sz="950" b="0">
                <a:solidFill>
                  <a:srgbClr val="9FB0C3"/>
                </a:solidFill>
                <a:latin typeface="Manrope"/>
              </a:rPr>
              <a:t>←  sofort startklar          Einführungsaufwand          Projekt / Hardware  →</a:t>
            </a:r>
          </a:p>
        </p:txBody>
      </p:sp>
      <p:sp>
        <p:nvSpPr>
          <p:cNvPr id="12" name="TextBox 11"/>
          <p:cNvSpPr txBox="1"/>
          <p:nvPr/>
        </p:nvSpPr>
        <p:spPr>
          <a:xfrm>
            <a:off x="6537960" y="850392"/>
            <a:ext cx="4937760" cy="274320"/>
          </a:xfrm>
          <a:prstGeom prst="rect">
            <a:avLst/>
          </a:prstGeom>
          <a:noFill/>
        </p:spPr>
        <p:txBody>
          <a:bodyPr wrap="square" lIns="0" rIns="0" tIns="0" bIns="0" anchor="t">
            <a:spAutoFit/>
          </a:bodyPr>
          <a:lstStyle/>
          <a:p>
            <a:pPr algn="l">
              <a:lnSpc>
                <a:spcPct val="112000"/>
              </a:lnSpc>
            </a:pPr>
            <a:r>
              <a:rPr sz="950" b="0">
                <a:solidFill>
                  <a:srgbClr val="9FB0C3"/>
                </a:solidFill>
                <a:latin typeface="Manrope"/>
              </a:rPr>
              <a:t>↑ Fahrer &amp; Disposition im Mittelpunkt</a:t>
            </a:r>
          </a:p>
        </p:txBody>
      </p:sp>
      <p:sp>
        <p:nvSpPr>
          <p:cNvPr id="13" name="Oval 12"/>
          <p:cNvSpPr/>
          <p:nvPr/>
        </p:nvSpPr>
        <p:spPr>
          <a:xfrm>
            <a:off x="7075627" y="3650284"/>
            <a:ext cx="201168" cy="201168"/>
          </a:xfrm>
          <a:prstGeom prst="ellipse">
            <a:avLst/>
          </a:prstGeom>
          <a:solidFill>
            <a:srgbClr val="9FB0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4811" y="3613708"/>
            <a:ext cx="2011680" cy="274320"/>
          </a:xfrm>
          <a:prstGeom prst="rect">
            <a:avLst/>
          </a:prstGeom>
          <a:noFill/>
        </p:spPr>
        <p:txBody>
          <a:bodyPr wrap="square" lIns="0" rIns="0" tIns="0" bIns="0" anchor="t">
            <a:spAutoFit/>
          </a:bodyPr>
          <a:lstStyle/>
          <a:p>
            <a:pPr algn="l">
              <a:lnSpc>
                <a:spcPct val="112000"/>
              </a:lnSpc>
            </a:pPr>
            <a:r>
              <a:rPr sz="1100" b="0">
                <a:solidFill>
                  <a:srgbClr val="F2F5F8"/>
                </a:solidFill>
                <a:latin typeface="Manrope"/>
              </a:rPr>
              <a:t>Papier · WhatsApp</a:t>
            </a:r>
          </a:p>
        </p:txBody>
      </p:sp>
      <p:sp>
        <p:nvSpPr>
          <p:cNvPr id="15" name="Oval 14"/>
          <p:cNvSpPr/>
          <p:nvPr/>
        </p:nvSpPr>
        <p:spPr>
          <a:xfrm>
            <a:off x="8556955" y="2304288"/>
            <a:ext cx="201168" cy="201168"/>
          </a:xfrm>
          <a:prstGeom prst="ellipse">
            <a:avLst/>
          </a:prstGeom>
          <a:solidFill>
            <a:srgbClr val="9FB0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86139" y="2267712"/>
            <a:ext cx="2011680" cy="274320"/>
          </a:xfrm>
          <a:prstGeom prst="rect">
            <a:avLst/>
          </a:prstGeom>
          <a:noFill/>
        </p:spPr>
        <p:txBody>
          <a:bodyPr wrap="square" lIns="0" rIns="0" tIns="0" bIns="0" anchor="t">
            <a:spAutoFit/>
          </a:bodyPr>
          <a:lstStyle/>
          <a:p>
            <a:pPr algn="l">
              <a:lnSpc>
                <a:spcPct val="112000"/>
              </a:lnSpc>
            </a:pPr>
            <a:r>
              <a:rPr sz="1100" b="0">
                <a:solidFill>
                  <a:srgbClr val="F2F5F8"/>
                </a:solidFill>
                <a:latin typeface="Manrope"/>
              </a:rPr>
              <a:t>App-Tools</a:t>
            </a:r>
          </a:p>
        </p:txBody>
      </p:sp>
      <p:sp>
        <p:nvSpPr>
          <p:cNvPr id="17" name="Oval 16"/>
          <p:cNvSpPr/>
          <p:nvPr/>
        </p:nvSpPr>
        <p:spPr>
          <a:xfrm>
            <a:off x="10334548" y="3986783"/>
            <a:ext cx="201168" cy="201168"/>
          </a:xfrm>
          <a:prstGeom prst="ellipse">
            <a:avLst/>
          </a:prstGeom>
          <a:solidFill>
            <a:srgbClr val="9FB0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63732" y="3950207"/>
            <a:ext cx="2011680" cy="274320"/>
          </a:xfrm>
          <a:prstGeom prst="rect">
            <a:avLst/>
          </a:prstGeom>
          <a:noFill/>
        </p:spPr>
        <p:txBody>
          <a:bodyPr wrap="square" lIns="0" rIns="0" tIns="0" bIns="0" anchor="t">
            <a:spAutoFit/>
          </a:bodyPr>
          <a:lstStyle/>
          <a:p>
            <a:pPr algn="l">
              <a:lnSpc>
                <a:spcPct val="112000"/>
              </a:lnSpc>
            </a:pPr>
            <a:r>
              <a:rPr sz="1100" b="0">
                <a:solidFill>
                  <a:srgbClr val="F2F5F8"/>
                </a:solidFill>
                <a:latin typeface="Manrope"/>
              </a:rPr>
              <a:t>Telematik</a:t>
            </a:r>
          </a:p>
        </p:txBody>
      </p:sp>
      <p:sp>
        <p:nvSpPr>
          <p:cNvPr id="19" name="Oval 18"/>
          <p:cNvSpPr/>
          <p:nvPr/>
        </p:nvSpPr>
        <p:spPr>
          <a:xfrm>
            <a:off x="10729569" y="2514600"/>
            <a:ext cx="201168" cy="201168"/>
          </a:xfrm>
          <a:prstGeom prst="ellipse">
            <a:avLst/>
          </a:prstGeom>
          <a:solidFill>
            <a:srgbClr val="9FB0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058753" y="2478024"/>
            <a:ext cx="2011680" cy="274320"/>
          </a:xfrm>
          <a:prstGeom prst="rect">
            <a:avLst/>
          </a:prstGeom>
          <a:noFill/>
        </p:spPr>
        <p:txBody>
          <a:bodyPr wrap="square" lIns="0" rIns="0" tIns="0" bIns="0" anchor="t">
            <a:spAutoFit/>
          </a:bodyPr>
          <a:lstStyle/>
          <a:p>
            <a:pPr algn="l">
              <a:lnSpc>
                <a:spcPct val="112000"/>
              </a:lnSpc>
            </a:pPr>
            <a:r>
              <a:rPr sz="1100" b="0">
                <a:solidFill>
                  <a:srgbClr val="F2F5F8"/>
                </a:solidFill>
                <a:latin typeface="Manrope"/>
              </a:rPr>
              <a:t>TMS</a:t>
            </a:r>
          </a:p>
        </p:txBody>
      </p:sp>
      <p:sp>
        <p:nvSpPr>
          <p:cNvPr id="21" name="Oval 20"/>
          <p:cNvSpPr/>
          <p:nvPr/>
        </p:nvSpPr>
        <p:spPr>
          <a:xfrm>
            <a:off x="7119518" y="1492300"/>
            <a:ext cx="310896" cy="310896"/>
          </a:xfrm>
          <a:prstGeom prst="ellipse">
            <a:avLst/>
          </a:prstGeom>
          <a:solidFill>
            <a:srgbClr val="C8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03566" y="1510588"/>
            <a:ext cx="2011680" cy="274320"/>
          </a:xfrm>
          <a:prstGeom prst="rect">
            <a:avLst/>
          </a:prstGeom>
          <a:noFill/>
        </p:spPr>
        <p:txBody>
          <a:bodyPr wrap="square" lIns="0" rIns="0" tIns="0" bIns="0" anchor="t">
            <a:spAutoFit/>
          </a:bodyPr>
          <a:lstStyle/>
          <a:p>
            <a:pPr algn="l">
              <a:lnSpc>
                <a:spcPct val="112000"/>
              </a:lnSpc>
            </a:pPr>
            <a:r>
              <a:rPr sz="1300" b="1">
                <a:solidFill>
                  <a:srgbClr val="E6CD92"/>
                </a:solidFill>
                <a:latin typeface="Manrope"/>
              </a:rPr>
              <a:t>Ladeklar</a:t>
            </a:r>
          </a:p>
        </p:txBody>
      </p:sp>
      <p:sp>
        <p:nvSpPr>
          <p:cNvPr id="23" name="TextBox 22"/>
          <p:cNvSpPr txBox="1"/>
          <p:nvPr/>
        </p:nvSpPr>
        <p:spPr>
          <a:xfrm>
            <a:off x="548640" y="5257800"/>
            <a:ext cx="5852160" cy="914400"/>
          </a:xfrm>
          <a:prstGeom prst="rect">
            <a:avLst/>
          </a:prstGeom>
          <a:noFill/>
        </p:spPr>
        <p:txBody>
          <a:bodyPr wrap="square" lIns="0" rIns="0" tIns="0" bIns="0" anchor="t">
            <a:spAutoFit/>
          </a:bodyPr>
          <a:lstStyle/>
          <a:p>
            <a:pPr algn="l">
              <a:lnSpc>
                <a:spcPct val="95000"/>
              </a:lnSpc>
            </a:pPr>
            <a:r>
              <a:rPr sz="3000" b="0">
                <a:solidFill>
                  <a:srgbClr val="E6CD92"/>
                </a:solidFill>
                <a:latin typeface="Archivo ExtraBold"/>
              </a:rPr>
              <a:t>129 €</a:t>
            </a:r>
          </a:p>
        </p:txBody>
      </p:sp>
      <p:sp>
        <p:nvSpPr>
          <p:cNvPr id="24" name="TextBox 23"/>
          <p:cNvSpPr txBox="1"/>
          <p:nvPr/>
        </p:nvSpPr>
        <p:spPr>
          <a:xfrm>
            <a:off x="548640" y="5741670"/>
            <a:ext cx="5852160" cy="731520"/>
          </a:xfrm>
          <a:prstGeom prst="rect">
            <a:avLst/>
          </a:prstGeom>
          <a:noFill/>
        </p:spPr>
        <p:txBody>
          <a:bodyPr wrap="square" lIns="0" rIns="0" tIns="0" bIns="0" anchor="t">
            <a:spAutoFit/>
          </a:bodyPr>
          <a:lstStyle/>
          <a:p>
            <a:pPr algn="l">
              <a:lnSpc>
                <a:spcPct val="112000"/>
              </a:lnSpc>
            </a:pPr>
            <a:r>
              <a:rPr sz="1250" b="0">
                <a:solidFill>
                  <a:srgbClr val="9FB0C3"/>
                </a:solidFill>
                <a:latin typeface="Manrope"/>
              </a:rPr>
              <a:t>im Monat für 10 Fahrer – ohne Hardware und Einbau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09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914400"/>
            <a:ext cx="6766560" cy="1463040"/>
          </a:xfrm>
          <a:prstGeom prst="rect">
            <a:avLst/>
          </a:prstGeom>
          <a:noFill/>
        </p:spPr>
        <p:txBody>
          <a:bodyPr wrap="square" lIns="0" rIns="0" tIns="0" bIns="0" anchor="t">
            <a:spAutoFit/>
          </a:bodyPr>
          <a:lstStyle/>
          <a:p>
            <a:pPr algn="l">
              <a:lnSpc>
                <a:spcPct val="100000"/>
              </a:lnSpc>
            </a:pPr>
            <a:r>
              <a:rPr sz="3000" b="0">
                <a:solidFill>
                  <a:srgbClr val="F2F5F8"/>
                </a:solidFill>
                <a:latin typeface="Archivo ExtraBold"/>
              </a:rPr>
              <a:t>Produkt fertig, Pilot startet im November</a:t>
            </a:r>
          </a:p>
        </p:txBody>
      </p:sp>
      <p:sp>
        <p:nvSpPr>
          <p:cNvPr id="7" name="Oval 6"/>
          <p:cNvSpPr/>
          <p:nvPr/>
        </p:nvSpPr>
        <p:spPr>
          <a:xfrm>
            <a:off x="548640" y="2276856"/>
            <a:ext cx="310896" cy="310896"/>
          </a:xfrm>
          <a:prstGeom prst="ellipse">
            <a:avLst/>
          </a:prstGeom>
          <a:solidFill>
            <a:srgbClr val="3FC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295144"/>
            <a:ext cx="274320" cy="274320"/>
          </a:xfrm>
          <a:prstGeom prst="rect">
            <a:avLst/>
          </a:prstGeom>
          <a:noFill/>
        </p:spPr>
        <p:txBody>
          <a:bodyPr wrap="square" lIns="0" rIns="0" tIns="0" bIns="0" anchor="t">
            <a:spAutoFit/>
          </a:bodyPr>
          <a:lstStyle/>
          <a:p>
            <a:pPr algn="ctr">
              <a:lnSpc>
                <a:spcPct val="112000"/>
              </a:lnSpc>
            </a:pPr>
            <a:r>
              <a:rPr sz="1200" b="1">
                <a:solidFill>
                  <a:srgbClr val="0B1622"/>
                </a:solidFill>
                <a:latin typeface="Manrope"/>
              </a:rPr>
              <a:t>✓</a:t>
            </a:r>
          </a:p>
        </p:txBody>
      </p:sp>
      <p:sp>
        <p:nvSpPr>
          <p:cNvPr id="9" name="TextBox 8"/>
          <p:cNvSpPr txBox="1"/>
          <p:nvPr/>
        </p:nvSpPr>
        <p:spPr>
          <a:xfrm>
            <a:off x="1051560" y="2240280"/>
            <a:ext cx="6309360" cy="685800"/>
          </a:xfrm>
          <a:prstGeom prst="rect">
            <a:avLst/>
          </a:prstGeom>
          <a:noFill/>
        </p:spPr>
        <p:txBody>
          <a:bodyPr wrap="square" lIns="0" rIns="0" tIns="0" bIns="0" anchor="t">
            <a:spAutoFit/>
          </a:bodyPr>
          <a:lstStyle/>
          <a:p>
            <a:pPr algn="l">
              <a:lnSpc>
                <a:spcPct val="112000"/>
              </a:lnSpc>
            </a:pPr>
            <a:r>
              <a:rPr sz="1400" b="0">
                <a:solidFill>
                  <a:srgbClr val="F2F5F8"/>
                </a:solidFill>
                <a:latin typeface="Manrope"/>
              </a:rPr>
              <a:t>v1.0 fertig: Lizenzkonsole, White-Label, Disposition, Fahrer-App, Push, Offline, 8 Sprachen, Rechtsvorlagen</a:t>
            </a:r>
          </a:p>
        </p:txBody>
      </p:sp>
      <p:sp>
        <p:nvSpPr>
          <p:cNvPr id="10" name="Oval 9"/>
          <p:cNvSpPr/>
          <p:nvPr/>
        </p:nvSpPr>
        <p:spPr>
          <a:xfrm>
            <a:off x="548640" y="3008376"/>
            <a:ext cx="310896" cy="310896"/>
          </a:xfrm>
          <a:prstGeom prst="ellipse">
            <a:avLst/>
          </a:prstGeom>
          <a:solidFill>
            <a:srgbClr val="3FC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026664"/>
            <a:ext cx="274320" cy="274320"/>
          </a:xfrm>
          <a:prstGeom prst="rect">
            <a:avLst/>
          </a:prstGeom>
          <a:noFill/>
        </p:spPr>
        <p:txBody>
          <a:bodyPr wrap="square" lIns="0" rIns="0" tIns="0" bIns="0" anchor="t">
            <a:spAutoFit/>
          </a:bodyPr>
          <a:lstStyle/>
          <a:p>
            <a:pPr algn="ctr">
              <a:lnSpc>
                <a:spcPct val="112000"/>
              </a:lnSpc>
            </a:pPr>
            <a:r>
              <a:rPr sz="1200" b="1">
                <a:solidFill>
                  <a:srgbClr val="0B1622"/>
                </a:solidFill>
                <a:latin typeface="Manrope"/>
              </a:rPr>
              <a:t>✓</a:t>
            </a:r>
          </a:p>
        </p:txBody>
      </p:sp>
      <p:sp>
        <p:nvSpPr>
          <p:cNvPr id="12" name="TextBox 11"/>
          <p:cNvSpPr txBox="1"/>
          <p:nvPr/>
        </p:nvSpPr>
        <p:spPr>
          <a:xfrm>
            <a:off x="1051560" y="2971800"/>
            <a:ext cx="6309360" cy="685800"/>
          </a:xfrm>
          <a:prstGeom prst="rect">
            <a:avLst/>
          </a:prstGeom>
          <a:noFill/>
        </p:spPr>
        <p:txBody>
          <a:bodyPr wrap="square" lIns="0" rIns="0" tIns="0" bIns="0" anchor="t">
            <a:spAutoFit/>
          </a:bodyPr>
          <a:lstStyle/>
          <a:p>
            <a:pPr algn="l">
              <a:lnSpc>
                <a:spcPct val="112000"/>
              </a:lnSpc>
            </a:pPr>
            <a:r>
              <a:rPr sz="1400" b="0">
                <a:solidFill>
                  <a:srgbClr val="F2F5F8"/>
                </a:solidFill>
                <a:latin typeface="Manrope"/>
              </a:rPr>
              <a:t>Online-Demo: Büro und Fahrer-Handy nebeneinander, Live-Sync zwischen Handy und PC (Artifact-Fassung)</a:t>
            </a:r>
          </a:p>
        </p:txBody>
      </p:sp>
      <p:sp>
        <p:nvSpPr>
          <p:cNvPr id="13" name="Oval 12"/>
          <p:cNvSpPr/>
          <p:nvPr/>
        </p:nvSpPr>
        <p:spPr>
          <a:xfrm>
            <a:off x="548640" y="3739896"/>
            <a:ext cx="310896" cy="310896"/>
          </a:xfrm>
          <a:prstGeom prst="ellipse">
            <a:avLst/>
          </a:prstGeom>
          <a:solidFill>
            <a:srgbClr val="2A3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758184"/>
            <a:ext cx="274320" cy="274320"/>
          </a:xfrm>
          <a:prstGeom prst="rect">
            <a:avLst/>
          </a:prstGeom>
          <a:noFill/>
        </p:spPr>
        <p:txBody>
          <a:bodyPr wrap="square" lIns="0" rIns="0" tIns="0" bIns="0" anchor="t">
            <a:spAutoFit/>
          </a:bodyPr>
          <a:lstStyle/>
          <a:p>
            <a:pPr algn="ctr">
              <a:lnSpc>
                <a:spcPct val="112000"/>
              </a:lnSpc>
            </a:pPr>
            <a:r>
              <a:rPr sz="1200" b="1">
                <a:solidFill>
                  <a:srgbClr val="F2F5F8"/>
                </a:solidFill>
                <a:latin typeface="Manrope"/>
              </a:rPr>
              <a:t>1</a:t>
            </a:r>
          </a:p>
        </p:txBody>
      </p:sp>
      <p:sp>
        <p:nvSpPr>
          <p:cNvPr id="15" name="TextBox 14"/>
          <p:cNvSpPr txBox="1"/>
          <p:nvPr/>
        </p:nvSpPr>
        <p:spPr>
          <a:xfrm>
            <a:off x="1051560" y="3703320"/>
            <a:ext cx="6309360" cy="685800"/>
          </a:xfrm>
          <a:prstGeom prst="rect">
            <a:avLst/>
          </a:prstGeom>
          <a:noFill/>
        </p:spPr>
        <p:txBody>
          <a:bodyPr wrap="square" lIns="0" rIns="0" tIns="0" bIns="0" anchor="t">
            <a:spAutoFit/>
          </a:bodyPr>
          <a:lstStyle/>
          <a:p>
            <a:pPr algn="l">
              <a:lnSpc>
                <a:spcPct val="112000"/>
              </a:lnSpc>
            </a:pPr>
            <a:r>
              <a:rPr sz="1400" b="0">
                <a:solidFill>
                  <a:srgbClr val="F2F5F8"/>
                </a:solidFill>
                <a:latin typeface="Manrope"/>
              </a:rPr>
              <a:t>Pilot November/Dezember 2026: 5 Betriebe mit 4–15 Lkw (Stückgut, Baustoff)</a:t>
            </a:r>
          </a:p>
        </p:txBody>
      </p:sp>
      <p:sp>
        <p:nvSpPr>
          <p:cNvPr id="16" name="Oval 15"/>
          <p:cNvSpPr/>
          <p:nvPr/>
        </p:nvSpPr>
        <p:spPr>
          <a:xfrm>
            <a:off x="548640" y="4471416"/>
            <a:ext cx="310896" cy="310896"/>
          </a:xfrm>
          <a:prstGeom prst="ellipse">
            <a:avLst/>
          </a:prstGeom>
          <a:solidFill>
            <a:srgbClr val="2A3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489704"/>
            <a:ext cx="274320" cy="274320"/>
          </a:xfrm>
          <a:prstGeom prst="rect">
            <a:avLst/>
          </a:prstGeom>
          <a:noFill/>
        </p:spPr>
        <p:txBody>
          <a:bodyPr wrap="square" lIns="0" rIns="0" tIns="0" bIns="0" anchor="t">
            <a:spAutoFit/>
          </a:bodyPr>
          <a:lstStyle/>
          <a:p>
            <a:pPr algn="ctr">
              <a:lnSpc>
                <a:spcPct val="112000"/>
              </a:lnSpc>
            </a:pPr>
            <a:r>
              <a:rPr sz="1200" b="1">
                <a:solidFill>
                  <a:srgbClr val="F2F5F8"/>
                </a:solidFill>
                <a:latin typeface="Manrope"/>
              </a:rPr>
              <a:t>2</a:t>
            </a:r>
          </a:p>
        </p:txBody>
      </p:sp>
      <p:sp>
        <p:nvSpPr>
          <p:cNvPr id="18" name="TextBox 17"/>
          <p:cNvSpPr txBox="1"/>
          <p:nvPr/>
        </p:nvSpPr>
        <p:spPr>
          <a:xfrm>
            <a:off x="1051560" y="4434840"/>
            <a:ext cx="6309360" cy="685800"/>
          </a:xfrm>
          <a:prstGeom prst="rect">
            <a:avLst/>
          </a:prstGeom>
          <a:noFill/>
        </p:spPr>
        <p:txBody>
          <a:bodyPr wrap="square" lIns="0" rIns="0" tIns="0" bIns="0" anchor="t">
            <a:spAutoFit/>
          </a:bodyPr>
          <a:lstStyle/>
          <a:p>
            <a:pPr algn="l">
              <a:lnSpc>
                <a:spcPct val="112000"/>
              </a:lnSpc>
            </a:pPr>
            <a:r>
              <a:rPr sz="1400" b="0">
                <a:solidFill>
                  <a:srgbClr val="F2F5F8"/>
                </a:solidFill>
                <a:latin typeface="Manrope"/>
              </a:rPr>
              <a:t>Messgrößen: ≥ 80 % Fahrer aktiv in Woche 1, ≥ 90 % Lieferungen mit Foto, Telefonate −50 % (Strichliste)</a:t>
            </a:r>
          </a:p>
        </p:txBody>
      </p:sp>
      <p:sp>
        <p:nvSpPr>
          <p:cNvPr id="19" name="Oval 18"/>
          <p:cNvSpPr/>
          <p:nvPr/>
        </p:nvSpPr>
        <p:spPr>
          <a:xfrm>
            <a:off x="548640" y="5202936"/>
            <a:ext cx="310896" cy="310896"/>
          </a:xfrm>
          <a:prstGeom prst="ellipse">
            <a:avLst/>
          </a:prstGeom>
          <a:solidFill>
            <a:srgbClr val="2A3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5221224"/>
            <a:ext cx="274320" cy="274320"/>
          </a:xfrm>
          <a:prstGeom prst="rect">
            <a:avLst/>
          </a:prstGeom>
          <a:noFill/>
        </p:spPr>
        <p:txBody>
          <a:bodyPr wrap="square" lIns="0" rIns="0" tIns="0" bIns="0" anchor="t">
            <a:spAutoFit/>
          </a:bodyPr>
          <a:lstStyle/>
          <a:p>
            <a:pPr algn="ctr">
              <a:lnSpc>
                <a:spcPct val="112000"/>
              </a:lnSpc>
            </a:pPr>
            <a:r>
              <a:rPr sz="1200" b="1">
                <a:solidFill>
                  <a:srgbClr val="F2F5F8"/>
                </a:solidFill>
                <a:latin typeface="Manrope"/>
              </a:rPr>
              <a:t>3</a:t>
            </a:r>
          </a:p>
        </p:txBody>
      </p:sp>
      <p:sp>
        <p:nvSpPr>
          <p:cNvPr id="21" name="TextBox 20"/>
          <p:cNvSpPr txBox="1"/>
          <p:nvPr/>
        </p:nvSpPr>
        <p:spPr>
          <a:xfrm>
            <a:off x="1051560" y="5166360"/>
            <a:ext cx="6309360" cy="685800"/>
          </a:xfrm>
          <a:prstGeom prst="rect">
            <a:avLst/>
          </a:prstGeom>
          <a:noFill/>
        </p:spPr>
        <p:txBody>
          <a:bodyPr wrap="square" lIns="0" rIns="0" tIns="0" bIns="0" anchor="t">
            <a:spAutoFit/>
          </a:bodyPr>
          <a:lstStyle/>
          <a:p>
            <a:pPr algn="l">
              <a:lnSpc>
                <a:spcPct val="112000"/>
              </a:lnSpc>
            </a:pPr>
            <a:r>
              <a:rPr sz="1400" b="0">
                <a:solidFill>
                  <a:srgbClr val="F2F5F8"/>
                </a:solidFill>
                <a:latin typeface="Manrope"/>
              </a:rPr>
              <a:t>Umwandlung der Piloten in zahlende Kunden zum 01.01.2027</a:t>
            </a:r>
          </a:p>
        </p:txBody>
      </p:sp>
      <p:sp>
        <p:nvSpPr>
          <p:cNvPr id="22" name="TextBox 21"/>
          <p:cNvSpPr txBox="1"/>
          <p:nvPr/>
        </p:nvSpPr>
        <p:spPr>
          <a:xfrm>
            <a:off x="7680960" y="1051560"/>
            <a:ext cx="4206240" cy="914400"/>
          </a:xfrm>
          <a:prstGeom prst="rect">
            <a:avLst/>
          </a:prstGeom>
          <a:noFill/>
        </p:spPr>
        <p:txBody>
          <a:bodyPr wrap="square" lIns="0" rIns="0" tIns="0" bIns="0" anchor="t">
            <a:spAutoFit/>
          </a:bodyPr>
          <a:lstStyle/>
          <a:p>
            <a:pPr algn="l">
              <a:lnSpc>
                <a:spcPct val="95000"/>
              </a:lnSpc>
            </a:pPr>
            <a:r>
              <a:rPr sz="3600" b="0">
                <a:solidFill>
                  <a:srgbClr val="E6CD92"/>
                </a:solidFill>
                <a:latin typeface="Archivo ExtraBold"/>
              </a:rPr>
              <a:t>5 Pilotbetriebe</a:t>
            </a:r>
          </a:p>
        </p:txBody>
      </p:sp>
      <p:sp>
        <p:nvSpPr>
          <p:cNvPr id="23" name="TextBox 22"/>
          <p:cNvSpPr txBox="1"/>
          <p:nvPr/>
        </p:nvSpPr>
        <p:spPr>
          <a:xfrm>
            <a:off x="7680960" y="1623060"/>
            <a:ext cx="4206240" cy="731520"/>
          </a:xfrm>
          <a:prstGeom prst="rect">
            <a:avLst/>
          </a:prstGeom>
          <a:noFill/>
        </p:spPr>
        <p:txBody>
          <a:bodyPr wrap="square" lIns="0" rIns="0" tIns="0" bIns="0" anchor="t">
            <a:spAutoFit/>
          </a:bodyPr>
          <a:lstStyle/>
          <a:p>
            <a:pPr algn="l">
              <a:lnSpc>
                <a:spcPct val="112000"/>
              </a:lnSpc>
            </a:pPr>
            <a:r>
              <a:rPr sz="1250" b="0">
                <a:solidFill>
                  <a:srgbClr val="9FB0C3"/>
                </a:solidFill>
                <a:latin typeface="Manrope"/>
              </a:rPr>
              <a:t>bis Dezember 2026</a:t>
            </a:r>
          </a:p>
        </p:txBody>
      </p:sp>
      <p:sp>
        <p:nvSpPr>
          <p:cNvPr id="24" name="Rounded Rectangle 23"/>
          <p:cNvSpPr/>
          <p:nvPr/>
        </p:nvSpPr>
        <p:spPr>
          <a:xfrm>
            <a:off x="9153144" y="2249424"/>
            <a:ext cx="1918094" cy="3959352"/>
          </a:xfrm>
          <a:prstGeom prst="roundRect">
            <a:avLst>
              <a:gd name="adj" fmla="val 16000"/>
            </a:avLst>
          </a:prstGeom>
          <a:solidFill>
            <a:srgbClr val="1A222D"/>
          </a:solidFill>
          <a:ln w="15875">
            <a:solidFill>
              <a:srgbClr val="3C48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hone-5-pod.png"/>
          <p:cNvPicPr>
            <a:picLocks noChangeAspect="1"/>
          </p:cNvPicPr>
          <p:nvPr/>
        </p:nvPicPr>
        <p:blipFill>
          <a:blip r:embed="rId4"/>
          <a:stretch>
            <a:fillRect/>
          </a:stretch>
        </p:blipFill>
        <p:spPr>
          <a:xfrm>
            <a:off x="9235440" y="2331720"/>
            <a:ext cx="1753502" cy="37947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a.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10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914400"/>
            <a:ext cx="7772400" cy="1463040"/>
          </a:xfrm>
          <a:prstGeom prst="rect">
            <a:avLst/>
          </a:prstGeom>
          <a:noFill/>
        </p:spPr>
        <p:txBody>
          <a:bodyPr wrap="square" lIns="0" rIns="0" tIns="0" bIns="0" anchor="t">
            <a:spAutoFit/>
          </a:bodyPr>
          <a:lstStyle/>
          <a:p>
            <a:pPr algn="l">
              <a:lnSpc>
                <a:spcPct val="100000"/>
              </a:lnSpc>
            </a:pPr>
            <a:r>
              <a:rPr sz="3200" b="0">
                <a:solidFill>
                  <a:srgbClr val="F2F5F8"/>
                </a:solidFill>
                <a:latin typeface="Archivo ExtraBold"/>
              </a:rPr>
              <a:t>Direkt, digital, über Verbände und Partner</a:t>
            </a:r>
          </a:p>
        </p:txBody>
      </p:sp>
      <p:cxnSp>
        <p:nvCxnSpPr>
          <p:cNvPr id="7" name="Connector 6"/>
          <p:cNvCxnSpPr/>
          <p:nvPr/>
        </p:nvCxnSpPr>
        <p:spPr>
          <a:xfrm>
            <a:off x="731520" y="2395728"/>
            <a:ext cx="10789920" cy="0"/>
          </a:xfrm>
          <a:prstGeom prst="line">
            <a:avLst/>
          </a:prstGeom>
          <a:ln w="25400">
            <a:solidFill>
              <a:srgbClr val="C8A45C"/>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658368" y="2286000"/>
            <a:ext cx="219456" cy="219456"/>
          </a:xfrm>
          <a:prstGeom prst="ellipse">
            <a:avLst/>
          </a:prstGeom>
          <a:solidFill>
            <a:srgbClr val="C8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28800"/>
            <a:ext cx="2103120" cy="320040"/>
          </a:xfrm>
          <a:prstGeom prst="rect">
            <a:avLst/>
          </a:prstGeom>
          <a:noFill/>
        </p:spPr>
        <p:txBody>
          <a:bodyPr wrap="square" lIns="0" rIns="0" tIns="0" bIns="0" anchor="t">
            <a:spAutoFit/>
          </a:bodyPr>
          <a:lstStyle/>
          <a:p>
            <a:pPr algn="l">
              <a:lnSpc>
                <a:spcPct val="112000"/>
              </a:lnSpc>
            </a:pPr>
            <a:r>
              <a:rPr sz="1300" b="1">
                <a:solidFill>
                  <a:srgbClr val="E6CD92"/>
                </a:solidFill>
                <a:latin typeface="Manrope"/>
              </a:rPr>
              <a:t>Q1 2027</a:t>
            </a:r>
          </a:p>
        </p:txBody>
      </p:sp>
      <p:sp>
        <p:nvSpPr>
          <p:cNvPr id="10" name="TextBox 9"/>
          <p:cNvSpPr txBox="1"/>
          <p:nvPr/>
        </p:nvSpPr>
        <p:spPr>
          <a:xfrm>
            <a:off x="548640" y="2697480"/>
            <a:ext cx="2057400" cy="914400"/>
          </a:xfrm>
          <a:prstGeom prst="rect">
            <a:avLst/>
          </a:prstGeom>
          <a:noFill/>
        </p:spPr>
        <p:txBody>
          <a:bodyPr wrap="square" lIns="0" rIns="0" tIns="0" bIns="0" anchor="t">
            <a:spAutoFit/>
          </a:bodyPr>
          <a:lstStyle/>
          <a:p>
            <a:pPr algn="l">
              <a:lnSpc>
                <a:spcPct val="112000"/>
              </a:lnSpc>
            </a:pPr>
            <a:r>
              <a:rPr sz="1300" b="0">
                <a:solidFill>
                  <a:srgbClr val="F2F5F8"/>
                </a:solidFill>
                <a:latin typeface="Manrope"/>
              </a:rPr>
              <a:t>Gründer-Vertrieb, Google Ads, Postkarten</a:t>
            </a:r>
          </a:p>
        </p:txBody>
      </p:sp>
      <p:sp>
        <p:nvSpPr>
          <p:cNvPr id="11" name="Oval 10"/>
          <p:cNvSpPr/>
          <p:nvPr/>
        </p:nvSpPr>
        <p:spPr>
          <a:xfrm>
            <a:off x="2898648" y="2286000"/>
            <a:ext cx="219456" cy="219456"/>
          </a:xfrm>
          <a:prstGeom prst="ellipse">
            <a:avLst/>
          </a:prstGeom>
          <a:solidFill>
            <a:srgbClr val="C8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88920" y="1828800"/>
            <a:ext cx="2103120" cy="320040"/>
          </a:xfrm>
          <a:prstGeom prst="rect">
            <a:avLst/>
          </a:prstGeom>
          <a:noFill/>
        </p:spPr>
        <p:txBody>
          <a:bodyPr wrap="square" lIns="0" rIns="0" tIns="0" bIns="0" anchor="t">
            <a:spAutoFit/>
          </a:bodyPr>
          <a:lstStyle/>
          <a:p>
            <a:pPr algn="l">
              <a:lnSpc>
                <a:spcPct val="112000"/>
              </a:lnSpc>
            </a:pPr>
            <a:r>
              <a:rPr sz="1300" b="1">
                <a:solidFill>
                  <a:srgbClr val="E6CD92"/>
                </a:solidFill>
                <a:latin typeface="Manrope"/>
              </a:rPr>
              <a:t>März 2027</a:t>
            </a:r>
          </a:p>
        </p:txBody>
      </p:sp>
      <p:sp>
        <p:nvSpPr>
          <p:cNvPr id="13" name="TextBox 12"/>
          <p:cNvSpPr txBox="1"/>
          <p:nvPr/>
        </p:nvSpPr>
        <p:spPr>
          <a:xfrm>
            <a:off x="2788920" y="2697480"/>
            <a:ext cx="2057400" cy="914400"/>
          </a:xfrm>
          <a:prstGeom prst="rect">
            <a:avLst/>
          </a:prstGeom>
          <a:noFill/>
        </p:spPr>
        <p:txBody>
          <a:bodyPr wrap="square" lIns="0" rIns="0" tIns="0" bIns="0" anchor="t">
            <a:spAutoFit/>
          </a:bodyPr>
          <a:lstStyle/>
          <a:p>
            <a:pPr algn="l">
              <a:lnSpc>
                <a:spcPct val="112000"/>
              </a:lnSpc>
            </a:pPr>
            <a:r>
              <a:rPr sz="1300" b="0">
                <a:solidFill>
                  <a:srgbClr val="F2F5F8"/>
                </a:solidFill>
                <a:latin typeface="Manrope"/>
              </a:rPr>
              <a:t>LogiMAT Stuttgart</a:t>
            </a:r>
          </a:p>
        </p:txBody>
      </p:sp>
      <p:sp>
        <p:nvSpPr>
          <p:cNvPr id="14" name="Oval 13"/>
          <p:cNvSpPr/>
          <p:nvPr/>
        </p:nvSpPr>
        <p:spPr>
          <a:xfrm>
            <a:off x="5138928" y="2286000"/>
            <a:ext cx="219456" cy="219456"/>
          </a:xfrm>
          <a:prstGeom prst="ellipse">
            <a:avLst/>
          </a:prstGeom>
          <a:solidFill>
            <a:srgbClr val="C8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0" y="1828800"/>
            <a:ext cx="2103120" cy="320040"/>
          </a:xfrm>
          <a:prstGeom prst="rect">
            <a:avLst/>
          </a:prstGeom>
          <a:noFill/>
        </p:spPr>
        <p:txBody>
          <a:bodyPr wrap="square" lIns="0" rIns="0" tIns="0" bIns="0" anchor="t">
            <a:spAutoFit/>
          </a:bodyPr>
          <a:lstStyle/>
          <a:p>
            <a:pPr algn="l">
              <a:lnSpc>
                <a:spcPct val="112000"/>
              </a:lnSpc>
            </a:pPr>
            <a:r>
              <a:rPr sz="1300" b="1">
                <a:solidFill>
                  <a:srgbClr val="E6CD92"/>
                </a:solidFill>
                <a:latin typeface="Manrope"/>
              </a:rPr>
              <a:t>April 2027</a:t>
            </a:r>
          </a:p>
        </p:txBody>
      </p:sp>
      <p:sp>
        <p:nvSpPr>
          <p:cNvPr id="16" name="TextBox 15"/>
          <p:cNvSpPr txBox="1"/>
          <p:nvPr/>
        </p:nvSpPr>
        <p:spPr>
          <a:xfrm>
            <a:off x="5029200" y="2697480"/>
            <a:ext cx="2057400" cy="914400"/>
          </a:xfrm>
          <a:prstGeom prst="rect">
            <a:avLst/>
          </a:prstGeom>
          <a:noFill/>
        </p:spPr>
        <p:txBody>
          <a:bodyPr wrap="square" lIns="0" rIns="0" tIns="0" bIns="0" anchor="t">
            <a:spAutoFit/>
          </a:bodyPr>
          <a:lstStyle/>
          <a:p>
            <a:pPr algn="l">
              <a:lnSpc>
                <a:spcPct val="112000"/>
              </a:lnSpc>
            </a:pPr>
            <a:r>
              <a:rPr sz="1300" b="0">
                <a:solidFill>
                  <a:srgbClr val="F2F5F8"/>
                </a:solidFill>
                <a:latin typeface="Manrope"/>
              </a:rPr>
              <a:t>transport logistic München</a:t>
            </a:r>
          </a:p>
        </p:txBody>
      </p:sp>
      <p:sp>
        <p:nvSpPr>
          <p:cNvPr id="17" name="Oval 16"/>
          <p:cNvSpPr/>
          <p:nvPr/>
        </p:nvSpPr>
        <p:spPr>
          <a:xfrm>
            <a:off x="7379208" y="2286000"/>
            <a:ext cx="219456" cy="219456"/>
          </a:xfrm>
          <a:prstGeom prst="ellipse">
            <a:avLst/>
          </a:prstGeom>
          <a:solidFill>
            <a:srgbClr val="C8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828800"/>
            <a:ext cx="2103120" cy="320040"/>
          </a:xfrm>
          <a:prstGeom prst="rect">
            <a:avLst/>
          </a:prstGeom>
          <a:noFill/>
        </p:spPr>
        <p:txBody>
          <a:bodyPr wrap="square" lIns="0" rIns="0" tIns="0" bIns="0" anchor="t">
            <a:spAutoFit/>
          </a:bodyPr>
          <a:lstStyle/>
          <a:p>
            <a:pPr algn="l">
              <a:lnSpc>
                <a:spcPct val="112000"/>
              </a:lnSpc>
            </a:pPr>
            <a:r>
              <a:rPr sz="1300" b="1">
                <a:solidFill>
                  <a:srgbClr val="E6CD92"/>
                </a:solidFill>
                <a:latin typeface="Manrope"/>
              </a:rPr>
              <a:t>Juli 2027</a:t>
            </a:r>
          </a:p>
        </p:txBody>
      </p:sp>
      <p:sp>
        <p:nvSpPr>
          <p:cNvPr id="19" name="TextBox 18"/>
          <p:cNvSpPr txBox="1"/>
          <p:nvPr/>
        </p:nvSpPr>
        <p:spPr>
          <a:xfrm>
            <a:off x="7269480" y="2697480"/>
            <a:ext cx="2057400" cy="914400"/>
          </a:xfrm>
          <a:prstGeom prst="rect">
            <a:avLst/>
          </a:prstGeom>
          <a:noFill/>
        </p:spPr>
        <p:txBody>
          <a:bodyPr wrap="square" lIns="0" rIns="0" tIns="0" bIns="0" anchor="t">
            <a:spAutoFit/>
          </a:bodyPr>
          <a:lstStyle/>
          <a:p>
            <a:pPr algn="l">
              <a:lnSpc>
                <a:spcPct val="112000"/>
              </a:lnSpc>
            </a:pPr>
            <a:r>
              <a:rPr sz="1300" b="0">
                <a:solidFill>
                  <a:srgbClr val="F2F5F8"/>
                </a:solidFill>
                <a:latin typeface="Manrope"/>
              </a:rPr>
              <a:t>Vertrieb &amp; Kundenerfolg an Bord</a:t>
            </a:r>
          </a:p>
        </p:txBody>
      </p:sp>
      <p:sp>
        <p:nvSpPr>
          <p:cNvPr id="20" name="Oval 19"/>
          <p:cNvSpPr/>
          <p:nvPr/>
        </p:nvSpPr>
        <p:spPr>
          <a:xfrm>
            <a:off x="9619488" y="2286000"/>
            <a:ext cx="219456" cy="219456"/>
          </a:xfrm>
          <a:prstGeom prst="ellipse">
            <a:avLst/>
          </a:prstGeom>
          <a:solidFill>
            <a:srgbClr val="C8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0" y="1828800"/>
            <a:ext cx="2103120" cy="320040"/>
          </a:xfrm>
          <a:prstGeom prst="rect">
            <a:avLst/>
          </a:prstGeom>
          <a:noFill/>
        </p:spPr>
        <p:txBody>
          <a:bodyPr wrap="square" lIns="0" rIns="0" tIns="0" bIns="0" anchor="t">
            <a:spAutoFit/>
          </a:bodyPr>
          <a:lstStyle/>
          <a:p>
            <a:pPr algn="l">
              <a:lnSpc>
                <a:spcPct val="112000"/>
              </a:lnSpc>
            </a:pPr>
            <a:r>
              <a:rPr sz="1300" b="1">
                <a:solidFill>
                  <a:srgbClr val="E6CD92"/>
                </a:solidFill>
                <a:latin typeface="Manrope"/>
              </a:rPr>
              <a:t>2028</a:t>
            </a:r>
          </a:p>
        </p:txBody>
      </p:sp>
      <p:sp>
        <p:nvSpPr>
          <p:cNvPr id="22" name="TextBox 21"/>
          <p:cNvSpPr txBox="1"/>
          <p:nvPr/>
        </p:nvSpPr>
        <p:spPr>
          <a:xfrm>
            <a:off x="9509760" y="2697480"/>
            <a:ext cx="2057400" cy="914400"/>
          </a:xfrm>
          <a:prstGeom prst="rect">
            <a:avLst/>
          </a:prstGeom>
          <a:noFill/>
        </p:spPr>
        <p:txBody>
          <a:bodyPr wrap="square" lIns="0" rIns="0" tIns="0" bIns="0" anchor="t">
            <a:spAutoFit/>
          </a:bodyPr>
          <a:lstStyle/>
          <a:p>
            <a:pPr algn="l">
              <a:lnSpc>
                <a:spcPct val="112000"/>
              </a:lnSpc>
            </a:pPr>
            <a:r>
              <a:rPr sz="1300" b="0">
                <a:solidFill>
                  <a:srgbClr val="F2F5F8"/>
                </a:solidFill>
                <a:latin typeface="Manrope"/>
              </a:rPr>
              <a:t>Partner: Verbände, Telematik, Steuerberater</a:t>
            </a:r>
          </a:p>
        </p:txBody>
      </p:sp>
      <p:sp>
        <p:nvSpPr>
          <p:cNvPr id="23" name="TextBox 22"/>
          <p:cNvSpPr txBox="1"/>
          <p:nvPr/>
        </p:nvSpPr>
        <p:spPr>
          <a:xfrm>
            <a:off x="548640" y="3886200"/>
            <a:ext cx="6949440" cy="3657600"/>
          </a:xfrm>
          <a:prstGeom prst="rect">
            <a:avLst/>
          </a:prstGeom>
          <a:noFill/>
        </p:spPr>
        <p:txBody>
          <a:bodyPr wrap="square" lIns="0" rIns="0" tIns="0">
            <a:spAutoFit/>
          </a:bodyPr>
          <a:lstStyle/>
          <a:p>
            <a:pPr>
              <a:lnSpc>
                <a:spcPct val="115000"/>
              </a:lnSpc>
              <a:spcAft>
                <a:spcPts val="600"/>
              </a:spcAft>
            </a:pPr>
            <a:r>
              <a:rPr sz="1250" b="1">
                <a:solidFill>
                  <a:srgbClr val="C8A45C"/>
                </a:solidFill>
                <a:latin typeface="Manrope"/>
              </a:rPr>
              <a:t>—  </a:t>
            </a:r>
            <a:r>
              <a:rPr sz="1250">
                <a:solidFill>
                  <a:srgbClr val="F2F5F8"/>
                </a:solidFill>
                <a:latin typeface="Manrope"/>
              </a:rPr>
              <a:t>Verbände: BGL-Landesverbände (BGL ca. 7.000 Mitgliedsunternehmen ), z. B. VSL, LBT</a:t>
            </a:r>
          </a:p>
          <a:p>
            <a:pPr>
              <a:lnSpc>
                <a:spcPct val="115000"/>
              </a:lnSpc>
              <a:spcAft>
                <a:spcPts val="600"/>
              </a:spcAft>
            </a:pPr>
            <a:r>
              <a:rPr sz="1250" b="1">
                <a:solidFill>
                  <a:srgbClr val="C8A45C"/>
                </a:solidFill>
                <a:latin typeface="Manrope"/>
              </a:rPr>
              <a:t>—  </a:t>
            </a:r>
            <a:r>
              <a:rPr sz="1250">
                <a:solidFill>
                  <a:srgbClr val="F2F5F8"/>
                </a:solidFill>
                <a:latin typeface="Manrope"/>
              </a:rPr>
              <a:t>Partner ab 2028: Telematik-Händler, Steuerberater (25 % Provision)</a:t>
            </a:r>
          </a:p>
          <a:p>
            <a:pPr>
              <a:lnSpc>
                <a:spcPct val="115000"/>
              </a:lnSpc>
              <a:spcAft>
                <a:spcPts val="600"/>
              </a:spcAft>
            </a:pPr>
            <a:r>
              <a:rPr sz="1250" b="1">
                <a:solidFill>
                  <a:srgbClr val="C8A45C"/>
                </a:solidFill>
                <a:latin typeface="Manrope"/>
              </a:rPr>
              <a:t>—  </a:t>
            </a:r>
            <a:r>
              <a:rPr sz="1250">
                <a:solidFill>
                  <a:srgbClr val="F2F5F8"/>
                </a:solidFill>
                <a:latin typeface="Manrope"/>
              </a:rPr>
              <a:t>CAC Jahr 1: 777 €, LTV/CAC 8,9</a:t>
            </a:r>
          </a:p>
        </p:txBody>
      </p:sp>
      <p:sp>
        <p:nvSpPr>
          <p:cNvPr id="24" name="TextBox 23"/>
          <p:cNvSpPr txBox="1"/>
          <p:nvPr/>
        </p:nvSpPr>
        <p:spPr>
          <a:xfrm>
            <a:off x="8138160" y="3840480"/>
            <a:ext cx="3657600" cy="914400"/>
          </a:xfrm>
          <a:prstGeom prst="rect">
            <a:avLst/>
          </a:prstGeom>
          <a:noFill/>
        </p:spPr>
        <p:txBody>
          <a:bodyPr wrap="square" lIns="0" rIns="0" tIns="0" bIns="0" anchor="t">
            <a:spAutoFit/>
          </a:bodyPr>
          <a:lstStyle/>
          <a:p>
            <a:pPr algn="l">
              <a:lnSpc>
                <a:spcPct val="95000"/>
              </a:lnSpc>
            </a:pPr>
            <a:r>
              <a:rPr sz="4600" b="0">
                <a:solidFill>
                  <a:srgbClr val="E6CD92"/>
                </a:solidFill>
                <a:latin typeface="Archivo ExtraBold"/>
              </a:rPr>
              <a:t>86 Kunden</a:t>
            </a:r>
          </a:p>
        </p:txBody>
      </p:sp>
      <p:sp>
        <p:nvSpPr>
          <p:cNvPr id="25" name="TextBox 24"/>
          <p:cNvSpPr txBox="1"/>
          <p:nvPr/>
        </p:nvSpPr>
        <p:spPr>
          <a:xfrm>
            <a:off x="8138160" y="4558029"/>
            <a:ext cx="3657600" cy="731520"/>
          </a:xfrm>
          <a:prstGeom prst="rect">
            <a:avLst/>
          </a:prstGeom>
          <a:noFill/>
        </p:spPr>
        <p:txBody>
          <a:bodyPr wrap="square" lIns="0" rIns="0" tIns="0" bIns="0" anchor="t">
            <a:spAutoFit/>
          </a:bodyPr>
          <a:lstStyle/>
          <a:p>
            <a:pPr algn="l">
              <a:lnSpc>
                <a:spcPct val="112000"/>
              </a:lnSpc>
            </a:pPr>
            <a:r>
              <a:rPr sz="1250" b="0">
                <a:solidFill>
                  <a:srgbClr val="9FB0C3"/>
                </a:solidFill>
                <a:latin typeface="Manrope"/>
              </a:rPr>
              <a:t>Ende 2027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11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914400"/>
            <a:ext cx="7315200" cy="1463040"/>
          </a:xfrm>
          <a:prstGeom prst="rect">
            <a:avLst/>
          </a:prstGeom>
          <a:noFill/>
        </p:spPr>
        <p:txBody>
          <a:bodyPr wrap="square" lIns="0" rIns="0" tIns="0" bIns="0" anchor="t">
            <a:spAutoFit/>
          </a:bodyPr>
          <a:lstStyle/>
          <a:p>
            <a:pPr algn="l">
              <a:lnSpc>
                <a:spcPct val="100000"/>
              </a:lnSpc>
            </a:pPr>
            <a:r>
              <a:rPr sz="3600" b="0">
                <a:solidFill>
                  <a:srgbClr val="F2F5F8"/>
                </a:solidFill>
                <a:latin typeface="Archivo ExtraBold"/>
              </a:rPr>
              <a:t>Break-even im Juni 2029</a:t>
            </a:r>
          </a:p>
        </p:txBody>
      </p:sp>
      <p:graphicFrame>
        <p:nvGraphicFramePr>
          <p:cNvPr id="7" name="Table 6"/>
          <p:cNvGraphicFramePr>
            <a:graphicFrameLocks noGrp="1"/>
          </p:cNvGraphicFramePr>
          <p:nvPr/>
        </p:nvGraphicFramePr>
        <p:xfrm>
          <a:off x="548640" y="1920240"/>
          <a:ext cx="6309360" cy="2103120"/>
        </p:xfrm>
        <a:graphic>
          <a:graphicData uri="http://schemas.openxmlformats.org/drawingml/2006/table">
            <a:tbl>
              <a:tblPr firstRow="1" bandRow="1">
                <a:tableStyleId>{5C22544A-7EE6-4342-B048-85BDC9FD1C3A}</a:tableStyleId>
              </a:tblPr>
              <a:tblGrid>
                <a:gridCol w="1051560"/>
                <a:gridCol w="1051560"/>
                <a:gridCol w="1051560"/>
                <a:gridCol w="1051560"/>
                <a:gridCol w="1051560"/>
                <a:gridCol w="1051560"/>
              </a:tblGrid>
              <a:tr h="420624">
                <a:tc>
                  <a:txBody>
                    <a:bodyPr/>
                    <a:lstStyle/>
                    <a:p>
                      <a:pPr algn="l"/>
                    </a:p>
                  </a:txBody>
                  <a:tcPr>
                    <a:solidFill>
                      <a:srgbClr val="0B1622"/>
                    </a:solidFill>
                  </a:tcPr>
                </a:tc>
                <a:tc>
                  <a:txBody>
                    <a:bodyPr/>
                    <a:lstStyle/>
                    <a:p>
                      <a:pPr algn="r"/>
                      <a:r>
                        <a:rPr sz="1150" b="1">
                          <a:solidFill>
                            <a:srgbClr val="E6CD92"/>
                          </a:solidFill>
                          <a:latin typeface="Manrope"/>
                        </a:rPr>
                        <a:t>2027</a:t>
                      </a:r>
                    </a:p>
                  </a:txBody>
                  <a:tcPr>
                    <a:solidFill>
                      <a:srgbClr val="0B1622"/>
                    </a:solidFill>
                  </a:tcPr>
                </a:tc>
                <a:tc>
                  <a:txBody>
                    <a:bodyPr/>
                    <a:lstStyle/>
                    <a:p>
                      <a:pPr algn="r"/>
                      <a:r>
                        <a:rPr sz="1150" b="1">
                          <a:solidFill>
                            <a:srgbClr val="E6CD92"/>
                          </a:solidFill>
                          <a:latin typeface="Manrope"/>
                        </a:rPr>
                        <a:t>2028</a:t>
                      </a:r>
                    </a:p>
                  </a:txBody>
                  <a:tcPr>
                    <a:solidFill>
                      <a:srgbClr val="0B1622"/>
                    </a:solidFill>
                  </a:tcPr>
                </a:tc>
                <a:tc>
                  <a:txBody>
                    <a:bodyPr/>
                    <a:lstStyle/>
                    <a:p>
                      <a:pPr algn="r"/>
                      <a:r>
                        <a:rPr sz="1150" b="1">
                          <a:solidFill>
                            <a:srgbClr val="E6CD92"/>
                          </a:solidFill>
                          <a:latin typeface="Manrope"/>
                        </a:rPr>
                        <a:t>2029</a:t>
                      </a:r>
                    </a:p>
                  </a:txBody>
                  <a:tcPr>
                    <a:solidFill>
                      <a:srgbClr val="0B1622"/>
                    </a:solidFill>
                  </a:tcPr>
                </a:tc>
                <a:tc>
                  <a:txBody>
                    <a:bodyPr/>
                    <a:lstStyle/>
                    <a:p>
                      <a:pPr algn="r"/>
                      <a:r>
                        <a:rPr sz="1150" b="1">
                          <a:solidFill>
                            <a:srgbClr val="E6CD92"/>
                          </a:solidFill>
                          <a:latin typeface="Manrope"/>
                        </a:rPr>
                        <a:t>2030</a:t>
                      </a:r>
                    </a:p>
                  </a:txBody>
                  <a:tcPr>
                    <a:solidFill>
                      <a:srgbClr val="0B1622"/>
                    </a:solidFill>
                  </a:tcPr>
                </a:tc>
                <a:tc>
                  <a:txBody>
                    <a:bodyPr/>
                    <a:lstStyle/>
                    <a:p>
                      <a:pPr algn="r"/>
                      <a:r>
                        <a:rPr sz="1150" b="1">
                          <a:solidFill>
                            <a:srgbClr val="E6CD92"/>
                          </a:solidFill>
                          <a:latin typeface="Manrope"/>
                        </a:rPr>
                        <a:t>2031</a:t>
                      </a:r>
                    </a:p>
                  </a:txBody>
                  <a:tcPr>
                    <a:solidFill>
                      <a:srgbClr val="0B1622"/>
                    </a:solidFill>
                  </a:tcPr>
                </a:tc>
              </a:tr>
              <a:tr h="420624">
                <a:tc>
                  <a:txBody>
                    <a:bodyPr/>
                    <a:lstStyle/>
                    <a:p>
                      <a:pPr algn="l"/>
                      <a:r>
                        <a:rPr sz="1150" b="1">
                          <a:solidFill>
                            <a:srgbClr val="F2F5F8"/>
                          </a:solidFill>
                          <a:latin typeface="Manrope"/>
                        </a:rPr>
                        <a:t>Kunden</a:t>
                      </a:r>
                    </a:p>
                  </a:txBody>
                  <a:tcPr>
                    <a:solidFill>
                      <a:srgbClr val="13233A"/>
                    </a:solidFill>
                  </a:tcPr>
                </a:tc>
                <a:tc>
                  <a:txBody>
                    <a:bodyPr/>
                    <a:lstStyle/>
                    <a:p>
                      <a:pPr algn="r"/>
                      <a:r>
                        <a:rPr sz="1150" b="0">
                          <a:solidFill>
                            <a:srgbClr val="F2F5F8"/>
                          </a:solidFill>
                          <a:latin typeface="Manrope"/>
                        </a:rPr>
                        <a:t>86</a:t>
                      </a:r>
                    </a:p>
                  </a:txBody>
                  <a:tcPr>
                    <a:solidFill>
                      <a:srgbClr val="13233A"/>
                    </a:solidFill>
                  </a:tcPr>
                </a:tc>
                <a:tc>
                  <a:txBody>
                    <a:bodyPr/>
                    <a:lstStyle/>
                    <a:p>
                      <a:pPr algn="r"/>
                      <a:r>
                        <a:rPr sz="1150" b="0">
                          <a:solidFill>
                            <a:srgbClr val="F2F5F8"/>
                          </a:solidFill>
                          <a:latin typeface="Manrope"/>
                        </a:rPr>
                        <a:t>300</a:t>
                      </a:r>
                    </a:p>
                  </a:txBody>
                  <a:tcPr>
                    <a:solidFill>
                      <a:srgbClr val="13233A"/>
                    </a:solidFill>
                  </a:tcPr>
                </a:tc>
                <a:tc>
                  <a:txBody>
                    <a:bodyPr/>
                    <a:lstStyle/>
                    <a:p>
                      <a:pPr algn="r"/>
                      <a:r>
                        <a:rPr sz="1150" b="0">
                          <a:solidFill>
                            <a:srgbClr val="F2F5F8"/>
                          </a:solidFill>
                          <a:latin typeface="Manrope"/>
                        </a:rPr>
                        <a:t>595</a:t>
                      </a:r>
                    </a:p>
                  </a:txBody>
                  <a:tcPr>
                    <a:solidFill>
                      <a:srgbClr val="13233A"/>
                    </a:solidFill>
                  </a:tcPr>
                </a:tc>
                <a:tc>
                  <a:txBody>
                    <a:bodyPr/>
                    <a:lstStyle/>
                    <a:p>
                      <a:pPr algn="r"/>
                      <a:r>
                        <a:rPr sz="1150" b="0">
                          <a:solidFill>
                            <a:srgbClr val="F2F5F8"/>
                          </a:solidFill>
                          <a:latin typeface="Manrope"/>
                        </a:rPr>
                        <a:t>922</a:t>
                      </a:r>
                    </a:p>
                  </a:txBody>
                  <a:tcPr>
                    <a:solidFill>
                      <a:srgbClr val="13233A"/>
                    </a:solidFill>
                  </a:tcPr>
                </a:tc>
                <a:tc>
                  <a:txBody>
                    <a:bodyPr/>
                    <a:lstStyle/>
                    <a:p>
                      <a:pPr algn="r"/>
                      <a:r>
                        <a:rPr sz="1150" b="0">
                          <a:solidFill>
                            <a:srgbClr val="F2F5F8"/>
                          </a:solidFill>
                          <a:latin typeface="Manrope"/>
                        </a:rPr>
                        <a:t>1.276</a:t>
                      </a:r>
                    </a:p>
                  </a:txBody>
                  <a:tcPr>
                    <a:solidFill>
                      <a:srgbClr val="13233A"/>
                    </a:solidFill>
                  </a:tcPr>
                </a:tc>
              </a:tr>
              <a:tr h="420624">
                <a:tc>
                  <a:txBody>
                    <a:bodyPr/>
                    <a:lstStyle/>
                    <a:p>
                      <a:pPr algn="l"/>
                      <a:r>
                        <a:rPr sz="1150" b="1">
                          <a:solidFill>
                            <a:srgbClr val="F2F5F8"/>
                          </a:solidFill>
                          <a:latin typeface="Manrope"/>
                        </a:rPr>
                        <a:t>ARR</a:t>
                      </a:r>
                    </a:p>
                  </a:txBody>
                  <a:tcPr>
                    <a:solidFill>
                      <a:srgbClr val="13233A"/>
                    </a:solidFill>
                  </a:tcPr>
                </a:tc>
                <a:tc>
                  <a:txBody>
                    <a:bodyPr/>
                    <a:lstStyle/>
                    <a:p>
                      <a:pPr algn="r"/>
                      <a:r>
                        <a:rPr sz="1150" b="0">
                          <a:solidFill>
                            <a:srgbClr val="F2F5F8"/>
                          </a:solidFill>
                          <a:latin typeface="Manrope"/>
                        </a:rPr>
                        <a:t>0,13 Mio. €</a:t>
                      </a:r>
                    </a:p>
                  </a:txBody>
                  <a:tcPr>
                    <a:solidFill>
                      <a:srgbClr val="13233A"/>
                    </a:solidFill>
                  </a:tcPr>
                </a:tc>
                <a:tc>
                  <a:txBody>
                    <a:bodyPr/>
                    <a:lstStyle/>
                    <a:p>
                      <a:pPr algn="r"/>
                      <a:r>
                        <a:rPr sz="1150" b="0">
                          <a:solidFill>
                            <a:srgbClr val="F2F5F8"/>
                          </a:solidFill>
                          <a:latin typeface="Manrope"/>
                        </a:rPr>
                        <a:t>0,44 Mio. €</a:t>
                      </a:r>
                    </a:p>
                  </a:txBody>
                  <a:tcPr>
                    <a:solidFill>
                      <a:srgbClr val="13233A"/>
                    </a:solidFill>
                  </a:tcPr>
                </a:tc>
                <a:tc>
                  <a:txBody>
                    <a:bodyPr/>
                    <a:lstStyle/>
                    <a:p>
                      <a:pPr algn="r"/>
                      <a:r>
                        <a:rPr sz="1150" b="0">
                          <a:solidFill>
                            <a:srgbClr val="F2F5F8"/>
                          </a:solidFill>
                          <a:latin typeface="Manrope"/>
                        </a:rPr>
                        <a:t>0,90 Mio. €</a:t>
                      </a:r>
                    </a:p>
                  </a:txBody>
                  <a:tcPr>
                    <a:solidFill>
                      <a:srgbClr val="13233A"/>
                    </a:solidFill>
                  </a:tcPr>
                </a:tc>
                <a:tc>
                  <a:txBody>
                    <a:bodyPr/>
                    <a:lstStyle/>
                    <a:p>
                      <a:pPr algn="r"/>
                      <a:r>
                        <a:rPr sz="1150" b="0">
                          <a:solidFill>
                            <a:srgbClr val="F2F5F8"/>
                          </a:solidFill>
                          <a:latin typeface="Manrope"/>
                        </a:rPr>
                        <a:t>1,41 Mio. €</a:t>
                      </a:r>
                    </a:p>
                  </a:txBody>
                  <a:tcPr>
                    <a:solidFill>
                      <a:srgbClr val="13233A"/>
                    </a:solidFill>
                  </a:tcPr>
                </a:tc>
                <a:tc>
                  <a:txBody>
                    <a:bodyPr/>
                    <a:lstStyle/>
                    <a:p>
                      <a:pPr algn="r"/>
                      <a:r>
                        <a:rPr sz="1150" b="0">
                          <a:solidFill>
                            <a:srgbClr val="F2F5F8"/>
                          </a:solidFill>
                          <a:latin typeface="Manrope"/>
                        </a:rPr>
                        <a:t>1,98 Mio. €</a:t>
                      </a:r>
                    </a:p>
                  </a:txBody>
                  <a:tcPr>
                    <a:solidFill>
                      <a:srgbClr val="13233A"/>
                    </a:solidFill>
                  </a:tcPr>
                </a:tc>
              </a:tr>
              <a:tr h="420624">
                <a:tc>
                  <a:txBody>
                    <a:bodyPr/>
                    <a:lstStyle/>
                    <a:p>
                      <a:pPr algn="l"/>
                      <a:r>
                        <a:rPr sz="1150" b="1">
                          <a:solidFill>
                            <a:srgbClr val="F2F5F8"/>
                          </a:solidFill>
                          <a:latin typeface="Manrope"/>
                        </a:rPr>
                        <a:t>Umsatz</a:t>
                      </a:r>
                    </a:p>
                  </a:txBody>
                  <a:tcPr>
                    <a:solidFill>
                      <a:srgbClr val="13233A"/>
                    </a:solidFill>
                  </a:tcPr>
                </a:tc>
                <a:tc>
                  <a:txBody>
                    <a:bodyPr/>
                    <a:lstStyle/>
                    <a:p>
                      <a:pPr algn="r"/>
                      <a:r>
                        <a:rPr sz="1150" b="0">
                          <a:solidFill>
                            <a:srgbClr val="F2F5F8"/>
                          </a:solidFill>
                          <a:latin typeface="Manrope"/>
                        </a:rPr>
                        <a:t>0,06 Mio. €</a:t>
                      </a:r>
                    </a:p>
                  </a:txBody>
                  <a:tcPr>
                    <a:solidFill>
                      <a:srgbClr val="13233A"/>
                    </a:solidFill>
                  </a:tcPr>
                </a:tc>
                <a:tc>
                  <a:txBody>
                    <a:bodyPr/>
                    <a:lstStyle/>
                    <a:p>
                      <a:pPr algn="r"/>
                      <a:r>
                        <a:rPr sz="1150" b="0">
                          <a:solidFill>
                            <a:srgbClr val="F2F5F8"/>
                          </a:solidFill>
                          <a:latin typeface="Manrope"/>
                        </a:rPr>
                        <a:t>0,28 Mio. €</a:t>
                      </a:r>
                    </a:p>
                  </a:txBody>
                  <a:tcPr>
                    <a:solidFill>
                      <a:srgbClr val="13233A"/>
                    </a:solidFill>
                  </a:tcPr>
                </a:tc>
                <a:tc>
                  <a:txBody>
                    <a:bodyPr/>
                    <a:lstStyle/>
                    <a:p>
                      <a:pPr algn="r"/>
                      <a:r>
                        <a:rPr sz="1150" b="0">
                          <a:solidFill>
                            <a:srgbClr val="F2F5F8"/>
                          </a:solidFill>
                          <a:latin typeface="Manrope"/>
                        </a:rPr>
                        <a:t>0,67 Mio. €</a:t>
                      </a:r>
                    </a:p>
                  </a:txBody>
                  <a:tcPr>
                    <a:solidFill>
                      <a:srgbClr val="13233A"/>
                    </a:solidFill>
                  </a:tcPr>
                </a:tc>
                <a:tc>
                  <a:txBody>
                    <a:bodyPr/>
                    <a:lstStyle/>
                    <a:p>
                      <a:pPr algn="r"/>
                      <a:r>
                        <a:rPr sz="1150" b="0">
                          <a:solidFill>
                            <a:srgbClr val="F2F5F8"/>
                          </a:solidFill>
                          <a:latin typeface="Manrope"/>
                        </a:rPr>
                        <a:t>1,15 Mio. €</a:t>
                      </a:r>
                    </a:p>
                  </a:txBody>
                  <a:tcPr>
                    <a:solidFill>
                      <a:srgbClr val="13233A"/>
                    </a:solidFill>
                  </a:tcPr>
                </a:tc>
                <a:tc>
                  <a:txBody>
                    <a:bodyPr/>
                    <a:lstStyle/>
                    <a:p>
                      <a:pPr algn="r"/>
                      <a:r>
                        <a:rPr sz="1150" b="0">
                          <a:solidFill>
                            <a:srgbClr val="F2F5F8"/>
                          </a:solidFill>
                          <a:latin typeface="Manrope"/>
                        </a:rPr>
                        <a:t>1,68 Mio. €</a:t>
                      </a:r>
                    </a:p>
                  </a:txBody>
                  <a:tcPr>
                    <a:solidFill>
                      <a:srgbClr val="13233A"/>
                    </a:solidFill>
                  </a:tcPr>
                </a:tc>
              </a:tr>
              <a:tr h="420624">
                <a:tc>
                  <a:txBody>
                    <a:bodyPr/>
                    <a:lstStyle/>
                    <a:p>
                      <a:pPr algn="l"/>
                      <a:r>
                        <a:rPr sz="1150" b="1">
                          <a:solidFill>
                            <a:srgbClr val="F2F5F8"/>
                          </a:solidFill>
                          <a:latin typeface="Manrope"/>
                        </a:rPr>
                        <a:t>EBITDA</a:t>
                      </a:r>
                    </a:p>
                  </a:txBody>
                  <a:tcPr>
                    <a:solidFill>
                      <a:srgbClr val="13233A"/>
                    </a:solidFill>
                  </a:tcPr>
                </a:tc>
                <a:tc>
                  <a:txBody>
                    <a:bodyPr/>
                    <a:lstStyle/>
                    <a:p>
                      <a:pPr algn="r"/>
                      <a:r>
                        <a:rPr sz="1150" b="0">
                          <a:solidFill>
                            <a:srgbClr val="F07272"/>
                          </a:solidFill>
                          <a:latin typeface="Manrope"/>
                        </a:rPr>
                        <a:t>−0,10 Mio. €</a:t>
                      </a:r>
                    </a:p>
                  </a:txBody>
                  <a:tcPr>
                    <a:solidFill>
                      <a:srgbClr val="13233A"/>
                    </a:solidFill>
                  </a:tcPr>
                </a:tc>
                <a:tc>
                  <a:txBody>
                    <a:bodyPr/>
                    <a:lstStyle/>
                    <a:p>
                      <a:pPr algn="r"/>
                      <a:r>
                        <a:rPr sz="1150" b="0">
                          <a:solidFill>
                            <a:srgbClr val="F07272"/>
                          </a:solidFill>
                          <a:latin typeface="Manrope"/>
                        </a:rPr>
                        <a:t>−0,14 Mio. €</a:t>
                      </a:r>
                    </a:p>
                  </a:txBody>
                  <a:tcPr>
                    <a:solidFill>
                      <a:srgbClr val="13233A"/>
                    </a:solidFill>
                  </a:tcPr>
                </a:tc>
                <a:tc>
                  <a:txBody>
                    <a:bodyPr/>
                    <a:lstStyle/>
                    <a:p>
                      <a:pPr algn="r"/>
                      <a:r>
                        <a:rPr sz="1150" b="0">
                          <a:solidFill>
                            <a:srgbClr val="F2F5F8"/>
                          </a:solidFill>
                          <a:latin typeface="Manrope"/>
                        </a:rPr>
                        <a:t>0,005 Mio. €</a:t>
                      </a:r>
                    </a:p>
                  </a:txBody>
                  <a:tcPr>
                    <a:solidFill>
                      <a:srgbClr val="13233A"/>
                    </a:solidFill>
                  </a:tcPr>
                </a:tc>
                <a:tc>
                  <a:txBody>
                    <a:bodyPr/>
                    <a:lstStyle/>
                    <a:p>
                      <a:pPr algn="r"/>
                      <a:r>
                        <a:rPr sz="1150" b="0">
                          <a:solidFill>
                            <a:srgbClr val="F2F5F8"/>
                          </a:solidFill>
                          <a:latin typeface="Manrope"/>
                        </a:rPr>
                        <a:t>0,13 Mio. €</a:t>
                      </a:r>
                    </a:p>
                  </a:txBody>
                  <a:tcPr>
                    <a:solidFill>
                      <a:srgbClr val="13233A"/>
                    </a:solidFill>
                  </a:tcPr>
                </a:tc>
                <a:tc>
                  <a:txBody>
                    <a:bodyPr/>
                    <a:lstStyle/>
                    <a:p>
                      <a:pPr algn="r"/>
                      <a:r>
                        <a:rPr sz="1150" b="0">
                          <a:solidFill>
                            <a:srgbClr val="F2F5F8"/>
                          </a:solidFill>
                          <a:latin typeface="Manrope"/>
                        </a:rPr>
                        <a:t>0,37 Mio. €</a:t>
                      </a:r>
                    </a:p>
                  </a:txBody>
                  <a:tcPr>
                    <a:solidFill>
                      <a:srgbClr val="13233A"/>
                    </a:solidFill>
                  </a:tcPr>
                </a:tc>
              </a:tr>
            </a:tbl>
          </a:graphicData>
        </a:graphic>
      </p:graphicFrame>
      <p:sp>
        <p:nvSpPr>
          <p:cNvPr id="8" name="TextBox 7"/>
          <p:cNvSpPr txBox="1"/>
          <p:nvPr/>
        </p:nvSpPr>
        <p:spPr>
          <a:xfrm>
            <a:off x="548640" y="4343400"/>
            <a:ext cx="6309360" cy="3657600"/>
          </a:xfrm>
          <a:prstGeom prst="rect">
            <a:avLst/>
          </a:prstGeom>
          <a:noFill/>
        </p:spPr>
        <p:txBody>
          <a:bodyPr wrap="square" lIns="0" rIns="0" tIns="0">
            <a:spAutoFit/>
          </a:bodyPr>
          <a:lstStyle/>
          <a:p>
            <a:pPr>
              <a:lnSpc>
                <a:spcPct val="115000"/>
              </a:lnSpc>
              <a:spcAft>
                <a:spcPts val="600"/>
              </a:spcAft>
            </a:pPr>
            <a:r>
              <a:rPr sz="1250" b="1">
                <a:solidFill>
                  <a:srgbClr val="C8A45C"/>
                </a:solidFill>
                <a:latin typeface="Manrope"/>
              </a:rPr>
              <a:t>—  </a:t>
            </a:r>
            <a:r>
              <a:rPr sz="1250">
                <a:solidFill>
                  <a:srgbClr val="F2F5F8"/>
                </a:solidFill>
                <a:latin typeface="Manrope"/>
              </a:rPr>
              <a:t>Erster Monat mit positivem EBITDA: Juni 2029; dauerhaft ab April 2030</a:t>
            </a:r>
          </a:p>
          <a:p>
            <a:pPr>
              <a:lnSpc>
                <a:spcPct val="115000"/>
              </a:lnSpc>
              <a:spcAft>
                <a:spcPts val="600"/>
              </a:spcAft>
            </a:pPr>
            <a:r>
              <a:rPr sz="1250" b="1">
                <a:solidFill>
                  <a:srgbClr val="C8A45C"/>
                </a:solidFill>
                <a:latin typeface="Manrope"/>
              </a:rPr>
              <a:t>—  </a:t>
            </a:r>
            <a:r>
              <a:rPr sz="1250">
                <a:solidFill>
                  <a:srgbClr val="F2F5F8"/>
                </a:solidFill>
                <a:latin typeface="Manrope"/>
              </a:rPr>
              <a:t>EBITDA-Marge 2031: 22 %; 13 Mitarbeitende</a:t>
            </a:r>
          </a:p>
          <a:p>
            <a:pPr>
              <a:lnSpc>
                <a:spcPct val="115000"/>
              </a:lnSpc>
              <a:spcAft>
                <a:spcPts val="600"/>
              </a:spcAft>
            </a:pPr>
            <a:r>
              <a:rPr sz="1250" b="1">
                <a:solidFill>
                  <a:srgbClr val="C8A45C"/>
                </a:solidFill>
                <a:latin typeface="Manrope"/>
              </a:rPr>
              <a:t>—  </a:t>
            </a:r>
            <a:r>
              <a:rPr sz="1250">
                <a:solidFill>
                  <a:srgbClr val="F2F5F8"/>
                </a:solidFill>
                <a:latin typeface="Manrope"/>
              </a:rPr>
              <a:t>Größter Hebel laut Sensitivität: Neukundenwachstum</a:t>
            </a:r>
          </a:p>
        </p:txBody>
      </p:sp>
      <p:graphicFrame>
        <p:nvGraphicFramePr>
          <p:cNvPr id="9" name="Chart 8"/>
          <p:cNvGraphicFramePr>
            <a:graphicFrameLocks noGrp="1"/>
          </p:cNvGraphicFramePr>
          <p:nvPr/>
        </p:nvGraphicFramePr>
        <p:xfrm>
          <a:off x="7223760" y="1737360"/>
          <a:ext cx="4480560" cy="3566160"/>
        </p:xfrm>
        <a:graphic>
          <a:graphicData uri="http://schemas.openxmlformats.org/drawingml/2006/chart">
            <c:chart xmlns:c="http://schemas.openxmlformats.org/drawingml/2006/chart" r:id="rId4"/>
          </a:graphicData>
        </a:graphic>
      </p:graphicFrame>
      <p:sp>
        <p:nvSpPr>
          <p:cNvPr id="10" name="TextBox 9"/>
          <p:cNvSpPr txBox="1"/>
          <p:nvPr/>
        </p:nvSpPr>
        <p:spPr>
          <a:xfrm>
            <a:off x="7223760" y="1463040"/>
            <a:ext cx="4480560" cy="274320"/>
          </a:xfrm>
          <a:prstGeom prst="rect">
            <a:avLst/>
          </a:prstGeom>
          <a:noFill/>
        </p:spPr>
        <p:txBody>
          <a:bodyPr wrap="square" lIns="0" rIns="0" tIns="0" bIns="0" anchor="t">
            <a:spAutoFit/>
          </a:bodyPr>
          <a:lstStyle/>
          <a:p>
            <a:pPr algn="l">
              <a:lnSpc>
                <a:spcPct val="112000"/>
              </a:lnSpc>
            </a:pPr>
            <a:r>
              <a:rPr sz="1100" b="0">
                <a:solidFill>
                  <a:srgbClr val="9FB0C3"/>
                </a:solidFill>
                <a:latin typeface="Manrope"/>
              </a:rPr>
              <a:t>Wiederkehrender Jahresumsatz (ARR, Mio. €)</a:t>
            </a:r>
          </a:p>
        </p:txBody>
      </p:sp>
      <p:sp>
        <p:nvSpPr>
          <p:cNvPr id="11" name="TextBox 10"/>
          <p:cNvSpPr txBox="1"/>
          <p:nvPr/>
        </p:nvSpPr>
        <p:spPr>
          <a:xfrm>
            <a:off x="7223760" y="5440680"/>
            <a:ext cx="4480560" cy="914400"/>
          </a:xfrm>
          <a:prstGeom prst="rect">
            <a:avLst/>
          </a:prstGeom>
          <a:noFill/>
        </p:spPr>
        <p:txBody>
          <a:bodyPr wrap="square" lIns="0" rIns="0" tIns="0" bIns="0" anchor="t">
            <a:spAutoFit/>
          </a:bodyPr>
          <a:lstStyle/>
          <a:p>
            <a:pPr algn="l">
              <a:lnSpc>
                <a:spcPct val="95000"/>
              </a:lnSpc>
            </a:pPr>
            <a:r>
              <a:rPr sz="2600" b="0">
                <a:solidFill>
                  <a:srgbClr val="E6CD92"/>
                </a:solidFill>
                <a:latin typeface="Archivo ExtraBold"/>
              </a:rPr>
              <a:t>1,98 Mio. € ARR</a:t>
            </a:r>
          </a:p>
        </p:txBody>
      </p:sp>
      <p:sp>
        <p:nvSpPr>
          <p:cNvPr id="12" name="TextBox 11"/>
          <p:cNvSpPr txBox="1"/>
          <p:nvPr/>
        </p:nvSpPr>
        <p:spPr>
          <a:xfrm>
            <a:off x="7223760" y="5866130"/>
            <a:ext cx="4480560" cy="731520"/>
          </a:xfrm>
          <a:prstGeom prst="rect">
            <a:avLst/>
          </a:prstGeom>
          <a:noFill/>
        </p:spPr>
        <p:txBody>
          <a:bodyPr wrap="square" lIns="0" rIns="0" tIns="0" bIns="0" anchor="t">
            <a:spAutoFit/>
          </a:bodyPr>
          <a:lstStyle/>
          <a:p>
            <a:pPr algn="l">
              <a:lnSpc>
                <a:spcPct val="112000"/>
              </a:lnSpc>
            </a:pPr>
            <a:r>
              <a:rPr sz="1250" b="0">
                <a:solidFill>
                  <a:srgbClr val="9FB0C3"/>
                </a:solidFill>
                <a:latin typeface="Manrope"/>
              </a:rPr>
              <a:t>Ende 2031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a.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12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914400"/>
            <a:ext cx="6400800" cy="1463040"/>
          </a:xfrm>
          <a:prstGeom prst="rect">
            <a:avLst/>
          </a:prstGeom>
          <a:noFill/>
        </p:spPr>
        <p:txBody>
          <a:bodyPr wrap="square" lIns="0" rIns="0" tIns="0" bIns="0" anchor="t">
            <a:spAutoFit/>
          </a:bodyPr>
          <a:lstStyle/>
          <a:p>
            <a:pPr algn="l">
              <a:lnSpc>
                <a:spcPct val="100000"/>
              </a:lnSpc>
            </a:pPr>
            <a:r>
              <a:rPr sz="3600" b="0">
                <a:solidFill>
                  <a:srgbClr val="F2F5F8"/>
                </a:solidFill>
                <a:latin typeface="Archivo ExtraBold"/>
              </a:rPr>
              <a:t>Ein Lizenzgeber, viele Marken</a:t>
            </a:r>
          </a:p>
        </p:txBody>
      </p:sp>
      <p:sp>
        <p:nvSpPr>
          <p:cNvPr id="7" name="TextBox 6"/>
          <p:cNvSpPr txBox="1"/>
          <p:nvPr/>
        </p:nvSpPr>
        <p:spPr>
          <a:xfrm>
            <a:off x="548640" y="1920240"/>
            <a:ext cx="5943600" cy="3657600"/>
          </a:xfrm>
          <a:prstGeom prst="rect">
            <a:avLst/>
          </a:prstGeom>
          <a:noFill/>
        </p:spPr>
        <p:txBody>
          <a:bodyPr wrap="square" lIns="0" rIns="0" tIns="0">
            <a:spAutoFit/>
          </a:bodyPr>
          <a:lstStyle/>
          <a:p>
            <a:pPr>
              <a:lnSpc>
                <a:spcPct val="115000"/>
              </a:lnSpc>
              <a:spcAft>
                <a:spcPts val="700"/>
              </a:spcAft>
            </a:pPr>
            <a:r>
              <a:rPr sz="1300" b="1">
                <a:solidFill>
                  <a:srgbClr val="C8A45C"/>
                </a:solidFill>
                <a:latin typeface="Manrope"/>
              </a:rPr>
              <a:t>—  </a:t>
            </a:r>
            <a:r>
              <a:rPr sz="1300">
                <a:solidFill>
                  <a:srgbClr val="F2F5F8"/>
                </a:solidFill>
                <a:latin typeface="Manrope"/>
              </a:rPr>
              <a:t>Gründer = Lizenzgeber: betreibt die Plattform, sieht keine Auftragsdaten (Auftragsverarbeitung nach DSGVO)</a:t>
            </a:r>
          </a:p>
          <a:p>
            <a:pPr>
              <a:lnSpc>
                <a:spcPct val="115000"/>
              </a:lnSpc>
              <a:spcAft>
                <a:spcPts val="700"/>
              </a:spcAft>
            </a:pPr>
            <a:r>
              <a:rPr sz="1300" b="1">
                <a:solidFill>
                  <a:srgbClr val="C8A45C"/>
                </a:solidFill>
                <a:latin typeface="Manrope"/>
              </a:rPr>
              <a:t>—  </a:t>
            </a:r>
            <a:r>
              <a:rPr sz="1300">
                <a:solidFill>
                  <a:srgbClr val="F2F5F8"/>
                </a:solidFill>
                <a:latin typeface="Manrope"/>
              </a:rPr>
              <a:t>Kunden = Lizenznehmer: eigene Marke, eigene Fahrer, eigene Daten</a:t>
            </a:r>
          </a:p>
          <a:p>
            <a:pPr>
              <a:lnSpc>
                <a:spcPct val="115000"/>
              </a:lnSpc>
              <a:spcAft>
                <a:spcPts val="700"/>
              </a:spcAft>
            </a:pPr>
            <a:r>
              <a:rPr sz="1300" b="1">
                <a:solidFill>
                  <a:srgbClr val="C8A45C"/>
                </a:solidFill>
                <a:latin typeface="Manrope"/>
              </a:rPr>
              <a:t>—  </a:t>
            </a:r>
            <a:r>
              <a:rPr sz="1300">
                <a:solidFill>
                  <a:srgbClr val="F2F5F8"/>
                </a:solidFill>
                <a:latin typeface="Manrope"/>
              </a:rPr>
              <a:t>[Name], Gründer: [Erfahrung Software/Logistik]</a:t>
            </a:r>
          </a:p>
          <a:p>
            <a:pPr>
              <a:lnSpc>
                <a:spcPct val="115000"/>
              </a:lnSpc>
              <a:spcAft>
                <a:spcPts val="700"/>
              </a:spcAft>
            </a:pPr>
            <a:r>
              <a:rPr sz="1300" b="1">
                <a:solidFill>
                  <a:srgbClr val="C8A45C"/>
                </a:solidFill>
                <a:latin typeface="Manrope"/>
              </a:rPr>
              <a:t>—  </a:t>
            </a:r>
            <a:r>
              <a:rPr sz="1300">
                <a:solidFill>
                  <a:srgbClr val="F2F5F8"/>
                </a:solidFill>
                <a:latin typeface="Manrope"/>
              </a:rPr>
              <a:t>Einstellungen: Vertrieb &amp; Kundenerfolg (Juli 2027), Entwicklung (Okt. 2027), Partnermanagement und Support (Jan. 2028)</a:t>
            </a:r>
          </a:p>
          <a:p>
            <a:pPr>
              <a:lnSpc>
                <a:spcPct val="115000"/>
              </a:lnSpc>
              <a:spcAft>
                <a:spcPts val="700"/>
              </a:spcAft>
            </a:pPr>
            <a:r>
              <a:rPr sz="1300" b="1">
                <a:solidFill>
                  <a:srgbClr val="C8A45C"/>
                </a:solidFill>
                <a:latin typeface="Manrope"/>
              </a:rPr>
              <a:t>—  </a:t>
            </a:r>
            <a:r>
              <a:rPr sz="1300">
                <a:solidFill>
                  <a:srgbClr val="F2F5F8"/>
                </a:solidFill>
                <a:latin typeface="Manrope"/>
              </a:rPr>
              <a:t>Beirat geplant: Spediteur mit 10–30 Lkw, Steuerberater</a:t>
            </a:r>
          </a:p>
        </p:txBody>
      </p:sp>
      <p:sp>
        <p:nvSpPr>
          <p:cNvPr id="8" name="Rounded Rectangle 7"/>
          <p:cNvSpPr/>
          <p:nvPr/>
        </p:nvSpPr>
        <p:spPr>
          <a:xfrm>
            <a:off x="7818120" y="1234440"/>
            <a:ext cx="3108960" cy="822960"/>
          </a:xfrm>
          <a:prstGeom prst="roundRect">
            <a:avLst>
              <a:gd name="adj" fmla="val 12000"/>
            </a:avLst>
          </a:prstGeom>
          <a:solidFill>
            <a:srgbClr val="C8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1298448"/>
            <a:ext cx="3108960" cy="731520"/>
          </a:xfrm>
          <a:prstGeom prst="rect">
            <a:avLst/>
          </a:prstGeom>
          <a:noFill/>
        </p:spPr>
        <p:txBody>
          <a:bodyPr wrap="square" lIns="0" rIns="0" tIns="0" bIns="0" anchor="ctr">
            <a:spAutoFit/>
          </a:bodyPr>
          <a:lstStyle/>
          <a:p>
            <a:pPr algn="ctr">
              <a:lnSpc>
                <a:spcPct val="112000"/>
              </a:lnSpc>
            </a:pPr>
            <a:r>
              <a:rPr sz="1150" b="1">
                <a:solidFill>
                  <a:srgbClr val="0B1622"/>
                </a:solidFill>
                <a:latin typeface="Manrope"/>
              </a:rPr>
              <a:t>LIZENZGEBER</a:t>
            </a:r>
          </a:p>
          <a:p>
            <a:pPr algn="ctr">
              <a:lnSpc>
                <a:spcPct val="112000"/>
              </a:lnSpc>
            </a:pPr>
            <a:r>
              <a:rPr sz="1150" b="1">
                <a:solidFill>
                  <a:srgbClr val="0B1622"/>
                </a:solidFill>
                <a:latin typeface="Manrope"/>
              </a:rPr>
              <a:t>Plattform · Lizenzen · Abrechnung</a:t>
            </a:r>
          </a:p>
        </p:txBody>
      </p:sp>
      <p:cxnSp>
        <p:nvCxnSpPr>
          <p:cNvPr id="10" name="Connector 9"/>
          <p:cNvCxnSpPr/>
          <p:nvPr/>
        </p:nvCxnSpPr>
        <p:spPr>
          <a:xfrm flipH="1">
            <a:off x="7635240" y="2057400"/>
            <a:ext cx="1737360" cy="731520"/>
          </a:xfrm>
          <a:prstGeom prst="line">
            <a:avLst/>
          </a:prstGeom>
          <a:ln>
            <a:solidFill>
              <a:srgbClr val="C8A45C"/>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903720" y="2788920"/>
            <a:ext cx="1508760" cy="777240"/>
          </a:xfrm>
          <a:prstGeom prst="roundRect">
            <a:avLst>
              <a:gd name="adj" fmla="val 12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3720" y="2834640"/>
            <a:ext cx="1508760" cy="685800"/>
          </a:xfrm>
          <a:prstGeom prst="rect">
            <a:avLst/>
          </a:prstGeom>
          <a:noFill/>
        </p:spPr>
        <p:txBody>
          <a:bodyPr wrap="square" lIns="0" rIns="0" tIns="0" bIns="0" anchor="ctr">
            <a:spAutoFit/>
          </a:bodyPr>
          <a:lstStyle/>
          <a:p>
            <a:pPr algn="ctr">
              <a:lnSpc>
                <a:spcPct val="112000"/>
              </a:lnSpc>
            </a:pPr>
            <a:r>
              <a:rPr sz="1050" b="1">
                <a:solidFill>
                  <a:srgbClr val="F2F5F8"/>
                </a:solidFill>
                <a:latin typeface="Manrope"/>
              </a:rPr>
              <a:t>Kaya Logistik</a:t>
            </a:r>
          </a:p>
          <a:p>
            <a:pPr algn="ctr">
              <a:lnSpc>
                <a:spcPct val="112000"/>
              </a:lnSpc>
            </a:pPr>
            <a:r>
              <a:rPr sz="1050" b="1">
                <a:solidFill>
                  <a:srgbClr val="F2F5F8"/>
                </a:solidFill>
                <a:latin typeface="Manrope"/>
              </a:rPr>
              <a:t>eigenes Logo</a:t>
            </a:r>
          </a:p>
        </p:txBody>
      </p:sp>
      <p:sp>
        <p:nvSpPr>
          <p:cNvPr id="13" name="Oval 12"/>
          <p:cNvSpPr/>
          <p:nvPr/>
        </p:nvSpPr>
        <p:spPr>
          <a:xfrm>
            <a:off x="7068312" y="3886200"/>
            <a:ext cx="329184" cy="329184"/>
          </a:xfrm>
          <a:prstGeom prst="ellipse">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507223" y="3886200"/>
            <a:ext cx="329184" cy="329184"/>
          </a:xfrm>
          <a:prstGeom prst="ellipse">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946136" y="3886200"/>
            <a:ext cx="329184" cy="329184"/>
          </a:xfrm>
          <a:prstGeom prst="ellipse">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a:off x="9326880" y="2057400"/>
            <a:ext cx="45720" cy="731520"/>
          </a:xfrm>
          <a:prstGeom prst="line">
            <a:avLst/>
          </a:prstGeom>
          <a:ln>
            <a:solidFill>
              <a:srgbClr val="C8A45C"/>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595360" y="2788920"/>
            <a:ext cx="1508760" cy="777240"/>
          </a:xfrm>
          <a:prstGeom prst="roundRect">
            <a:avLst>
              <a:gd name="adj" fmla="val 12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2834640"/>
            <a:ext cx="1508760" cy="685800"/>
          </a:xfrm>
          <a:prstGeom prst="rect">
            <a:avLst/>
          </a:prstGeom>
          <a:noFill/>
        </p:spPr>
        <p:txBody>
          <a:bodyPr wrap="square" lIns="0" rIns="0" tIns="0" bIns="0" anchor="ctr">
            <a:spAutoFit/>
          </a:bodyPr>
          <a:lstStyle/>
          <a:p>
            <a:pPr algn="ctr">
              <a:lnSpc>
                <a:spcPct val="112000"/>
              </a:lnSpc>
            </a:pPr>
            <a:r>
              <a:rPr sz="1050" b="1">
                <a:solidFill>
                  <a:srgbClr val="F2F5F8"/>
                </a:solidFill>
                <a:latin typeface="Manrope"/>
              </a:rPr>
              <a:t>Nordlicht</a:t>
            </a:r>
          </a:p>
          <a:p>
            <a:pPr algn="ctr">
              <a:lnSpc>
                <a:spcPct val="112000"/>
              </a:lnSpc>
            </a:pPr>
            <a:r>
              <a:rPr sz="1050" b="1">
                <a:solidFill>
                  <a:srgbClr val="F2F5F8"/>
                </a:solidFill>
                <a:latin typeface="Manrope"/>
              </a:rPr>
              <a:t>eigenes Logo</a:t>
            </a:r>
          </a:p>
        </p:txBody>
      </p:sp>
      <p:sp>
        <p:nvSpPr>
          <p:cNvPr id="19" name="Oval 18"/>
          <p:cNvSpPr/>
          <p:nvPr/>
        </p:nvSpPr>
        <p:spPr>
          <a:xfrm>
            <a:off x="8759952" y="3886200"/>
            <a:ext cx="329184" cy="329184"/>
          </a:xfrm>
          <a:prstGeom prst="ellipse">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98864" y="3886200"/>
            <a:ext cx="329184" cy="329184"/>
          </a:xfrm>
          <a:prstGeom prst="ellipse">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37776" y="3886200"/>
            <a:ext cx="329184" cy="329184"/>
          </a:xfrm>
          <a:prstGeom prst="ellipse">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9372600" y="2057400"/>
            <a:ext cx="1645920" cy="731520"/>
          </a:xfrm>
          <a:prstGeom prst="line">
            <a:avLst/>
          </a:prstGeom>
          <a:ln>
            <a:solidFill>
              <a:srgbClr val="C8A45C"/>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287000" y="2788920"/>
            <a:ext cx="1508760" cy="777240"/>
          </a:xfrm>
          <a:prstGeom prst="roundRect">
            <a:avLst>
              <a:gd name="adj" fmla="val 12000"/>
            </a:avLst>
          </a:prstGeom>
          <a:solidFill>
            <a:srgbClr val="2A3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87000" y="2834640"/>
            <a:ext cx="1508760" cy="685800"/>
          </a:xfrm>
          <a:prstGeom prst="rect">
            <a:avLst/>
          </a:prstGeom>
          <a:noFill/>
        </p:spPr>
        <p:txBody>
          <a:bodyPr wrap="square" lIns="0" rIns="0" tIns="0" bIns="0" anchor="ctr">
            <a:spAutoFit/>
          </a:bodyPr>
          <a:lstStyle/>
          <a:p>
            <a:pPr algn="ctr">
              <a:lnSpc>
                <a:spcPct val="112000"/>
              </a:lnSpc>
            </a:pPr>
            <a:r>
              <a:rPr sz="1050" b="1">
                <a:solidFill>
                  <a:srgbClr val="F2F5F8"/>
                </a:solidFill>
                <a:latin typeface="Manrope"/>
              </a:rPr>
              <a:t>Ihre Kunden …</a:t>
            </a:r>
          </a:p>
          <a:p>
            <a:pPr algn="ctr">
              <a:lnSpc>
                <a:spcPct val="112000"/>
              </a:lnSpc>
            </a:pPr>
            <a:r>
              <a:rPr sz="1050" b="1">
                <a:solidFill>
                  <a:srgbClr val="F2F5F8"/>
                </a:solidFill>
                <a:latin typeface="Manrope"/>
              </a:rPr>
              <a:t>eigenes Logo</a:t>
            </a:r>
          </a:p>
        </p:txBody>
      </p:sp>
      <p:sp>
        <p:nvSpPr>
          <p:cNvPr id="25" name="Oval 24"/>
          <p:cNvSpPr/>
          <p:nvPr/>
        </p:nvSpPr>
        <p:spPr>
          <a:xfrm>
            <a:off x="10451592" y="3886200"/>
            <a:ext cx="329184" cy="329184"/>
          </a:xfrm>
          <a:prstGeom prst="ellipse">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890504" y="3886200"/>
            <a:ext cx="329184" cy="329184"/>
          </a:xfrm>
          <a:prstGeom prst="ellipse">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329416" y="3886200"/>
            <a:ext cx="329184" cy="329184"/>
          </a:xfrm>
          <a:prstGeom prst="ellipse">
            <a:avLst/>
          </a:prstGeom>
          <a:solidFill>
            <a:srgbClr val="13233A"/>
          </a:solidFill>
          <a:ln w="15875">
            <a:solidFill>
              <a:srgbClr val="2A3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3720" y="4343400"/>
            <a:ext cx="4937760" cy="365760"/>
          </a:xfrm>
          <a:prstGeom prst="rect">
            <a:avLst/>
          </a:prstGeom>
          <a:noFill/>
        </p:spPr>
        <p:txBody>
          <a:bodyPr wrap="square" lIns="0" rIns="0" tIns="0" bIns="0" anchor="t">
            <a:spAutoFit/>
          </a:bodyPr>
          <a:lstStyle/>
          <a:p>
            <a:pPr algn="ctr">
              <a:lnSpc>
                <a:spcPct val="112000"/>
              </a:lnSpc>
            </a:pPr>
            <a:r>
              <a:rPr sz="1100" b="0">
                <a:solidFill>
                  <a:srgbClr val="9FB0C3"/>
                </a:solidFill>
                <a:latin typeface="Manrope"/>
              </a:rPr>
              <a:t>Fahrer je Kunde – mit PIN, in 8 Sprachen</a:t>
            </a:r>
          </a:p>
        </p:txBody>
      </p:sp>
      <p:sp>
        <p:nvSpPr>
          <p:cNvPr id="29" name="TextBox 28"/>
          <p:cNvSpPr txBox="1"/>
          <p:nvPr/>
        </p:nvSpPr>
        <p:spPr>
          <a:xfrm>
            <a:off x="6903720" y="4892040"/>
            <a:ext cx="4937760" cy="914400"/>
          </a:xfrm>
          <a:prstGeom prst="rect">
            <a:avLst/>
          </a:prstGeom>
          <a:noFill/>
        </p:spPr>
        <p:txBody>
          <a:bodyPr wrap="square" lIns="0" rIns="0" tIns="0" bIns="0" anchor="t">
            <a:spAutoFit/>
          </a:bodyPr>
          <a:lstStyle/>
          <a:p>
            <a:pPr algn="l">
              <a:lnSpc>
                <a:spcPct val="95000"/>
              </a:lnSpc>
            </a:pPr>
            <a:r>
              <a:rPr sz="3400" b="0">
                <a:solidFill>
                  <a:srgbClr val="E6CD92"/>
                </a:solidFill>
                <a:latin typeface="Archivo ExtraBold"/>
              </a:rPr>
              <a:t>6 Köpfe</a:t>
            </a:r>
          </a:p>
        </p:txBody>
      </p:sp>
      <p:sp>
        <p:nvSpPr>
          <p:cNvPr id="30" name="TextBox 29"/>
          <p:cNvSpPr txBox="1"/>
          <p:nvPr/>
        </p:nvSpPr>
        <p:spPr>
          <a:xfrm>
            <a:off x="6903720" y="5434329"/>
            <a:ext cx="4937760" cy="731520"/>
          </a:xfrm>
          <a:prstGeom prst="rect">
            <a:avLst/>
          </a:prstGeom>
          <a:noFill/>
        </p:spPr>
        <p:txBody>
          <a:bodyPr wrap="square" lIns="0" rIns="0" tIns="0" bIns="0" anchor="t">
            <a:spAutoFit/>
          </a:bodyPr>
          <a:lstStyle/>
          <a:p>
            <a:pPr algn="l">
              <a:lnSpc>
                <a:spcPct val="112000"/>
              </a:lnSpc>
            </a:pPr>
            <a:r>
              <a:rPr sz="1250" b="0">
                <a:solidFill>
                  <a:srgbClr val="9FB0C3"/>
                </a:solidFill>
                <a:latin typeface="Manrope"/>
              </a:rPr>
              <a:t>Ende 2028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c.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13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548640" y="914400"/>
            <a:ext cx="6400800" cy="365760"/>
          </a:xfrm>
          <a:prstGeom prst="rect">
            <a:avLst/>
          </a:prstGeom>
          <a:noFill/>
        </p:spPr>
        <p:txBody>
          <a:bodyPr wrap="square" lIns="0" rIns="0" tIns="0" bIns="0" anchor="t">
            <a:spAutoFit/>
          </a:bodyPr>
          <a:lstStyle/>
          <a:p>
            <a:pPr algn="l">
              <a:lnSpc>
                <a:spcPct val="112000"/>
              </a:lnSpc>
            </a:pPr>
            <a:r>
              <a:rPr sz="1200" b="1">
                <a:solidFill>
                  <a:srgbClr val="E6CD92"/>
                </a:solidFill>
                <a:latin typeface="Manrope"/>
              </a:rPr>
              <a:t>ASK</a:t>
            </a:r>
          </a:p>
        </p:txBody>
      </p:sp>
      <p:sp>
        <p:nvSpPr>
          <p:cNvPr id="7" name="TextBox 6"/>
          <p:cNvSpPr txBox="1"/>
          <p:nvPr/>
        </p:nvSpPr>
        <p:spPr>
          <a:xfrm>
            <a:off x="548640" y="1234440"/>
            <a:ext cx="6858000" cy="1188720"/>
          </a:xfrm>
          <a:prstGeom prst="rect">
            <a:avLst/>
          </a:prstGeom>
          <a:noFill/>
        </p:spPr>
        <p:txBody>
          <a:bodyPr wrap="square" lIns="0" rIns="0" tIns="0" bIns="0" anchor="t">
            <a:spAutoFit/>
          </a:bodyPr>
          <a:lstStyle/>
          <a:p>
            <a:pPr algn="l">
              <a:lnSpc>
                <a:spcPct val="112000"/>
              </a:lnSpc>
            </a:pPr>
            <a:r>
              <a:rPr sz="7200" b="0">
                <a:solidFill>
                  <a:srgbClr val="F2F5F8"/>
                </a:solidFill>
                <a:latin typeface="Archivo ExtraBold"/>
              </a:rPr>
              <a:t>200.000 €</a:t>
            </a:r>
          </a:p>
        </p:txBody>
      </p:sp>
      <p:sp>
        <p:nvSpPr>
          <p:cNvPr id="8" name="TextBox 7"/>
          <p:cNvSpPr txBox="1"/>
          <p:nvPr/>
        </p:nvSpPr>
        <p:spPr>
          <a:xfrm>
            <a:off x="548640" y="2423160"/>
            <a:ext cx="6583680" cy="548640"/>
          </a:xfrm>
          <a:prstGeom prst="rect">
            <a:avLst/>
          </a:prstGeom>
          <a:noFill/>
        </p:spPr>
        <p:txBody>
          <a:bodyPr wrap="square" lIns="0" rIns="0" tIns="0" bIns="0" anchor="t">
            <a:spAutoFit/>
          </a:bodyPr>
          <a:lstStyle/>
          <a:p>
            <a:pPr algn="l">
              <a:lnSpc>
                <a:spcPct val="112000"/>
              </a:lnSpc>
            </a:pPr>
            <a:r>
              <a:rPr sz="2000" b="0">
                <a:solidFill>
                  <a:srgbClr val="E6CD92"/>
                </a:solidFill>
                <a:latin typeface="Archivo ExtraBold"/>
              </a:rPr>
              <a:t>200.000 € für den Weg zum Break-even</a:t>
            </a:r>
          </a:p>
        </p:txBody>
      </p:sp>
      <p:sp>
        <p:nvSpPr>
          <p:cNvPr id="9" name="TextBox 8"/>
          <p:cNvSpPr txBox="1"/>
          <p:nvPr/>
        </p:nvSpPr>
        <p:spPr>
          <a:xfrm>
            <a:off x="548640" y="3154680"/>
            <a:ext cx="6400800" cy="3657600"/>
          </a:xfrm>
          <a:prstGeom prst="rect">
            <a:avLst/>
          </a:prstGeom>
          <a:noFill/>
        </p:spPr>
        <p:txBody>
          <a:bodyPr wrap="square" lIns="0" rIns="0" tIns="0">
            <a:spAutoFit/>
          </a:bodyPr>
          <a:lstStyle/>
          <a:p>
            <a:pPr>
              <a:lnSpc>
                <a:spcPct val="115000"/>
              </a:lnSpc>
              <a:spcAft>
                <a:spcPts val="700"/>
              </a:spcAft>
            </a:pPr>
            <a:r>
              <a:rPr sz="1300" b="1">
                <a:solidFill>
                  <a:srgbClr val="C8A45C"/>
                </a:solidFill>
                <a:latin typeface="Manrope"/>
              </a:rPr>
              <a:t>—  </a:t>
            </a:r>
            <a:r>
              <a:rPr sz="1300">
                <a:solidFill>
                  <a:srgbClr val="F2F5F8"/>
                </a:solidFill>
                <a:latin typeface="Manrope"/>
              </a:rPr>
              <a:t>Gesamtfinanzierung 350.000 €: 25.000 € Eigenkapital, 125.000 € KfW StartGeld, 200.000 € Business Angel / Pre-Seed</a:t>
            </a:r>
          </a:p>
          <a:p>
            <a:pPr>
              <a:lnSpc>
                <a:spcPct val="115000"/>
              </a:lnSpc>
              <a:spcAft>
                <a:spcPts val="700"/>
              </a:spcAft>
            </a:pPr>
            <a:r>
              <a:rPr sz="1300" b="1">
                <a:solidFill>
                  <a:srgbClr val="C8A45C"/>
                </a:solidFill>
                <a:latin typeface="Manrope"/>
              </a:rPr>
              <a:t>—  </a:t>
            </a:r>
            <a:r>
              <a:rPr sz="1300">
                <a:solidFill>
                  <a:srgbClr val="F2F5F8"/>
                </a:solidFill>
                <a:latin typeface="Manrope"/>
              </a:rPr>
              <a:t>Zeitpunkt der Angel-Runde: Oktober 2027, nach Pilot und rund 65 zahlenden Kunden</a:t>
            </a:r>
          </a:p>
          <a:p>
            <a:pPr>
              <a:lnSpc>
                <a:spcPct val="115000"/>
              </a:lnSpc>
              <a:spcAft>
                <a:spcPts val="700"/>
              </a:spcAft>
            </a:pPr>
            <a:r>
              <a:rPr sz="1300" b="1">
                <a:solidFill>
                  <a:srgbClr val="C8A45C"/>
                </a:solidFill>
                <a:latin typeface="Manrope"/>
              </a:rPr>
              <a:t>—  </a:t>
            </a:r>
            <a:r>
              <a:rPr sz="1300">
                <a:solidFill>
                  <a:srgbClr val="F2F5F8"/>
                </a:solidFill>
                <a:latin typeface="Manrope"/>
              </a:rPr>
              <a:t>Verwendung bis zum Tiefpunkt Juli 2029: Personal 64 %, Marketing und Messen 18 %, Betrieb 13 %, variable Kosten 5 %</a:t>
            </a:r>
          </a:p>
          <a:p>
            <a:pPr>
              <a:lnSpc>
                <a:spcPct val="115000"/>
              </a:lnSpc>
              <a:spcAft>
                <a:spcPts val="700"/>
              </a:spcAft>
            </a:pPr>
            <a:r>
              <a:rPr sz="1300" b="1">
                <a:solidFill>
                  <a:srgbClr val="C8A45C"/>
                </a:solidFill>
                <a:latin typeface="Manrope"/>
              </a:rPr>
              <a:t>—  </a:t>
            </a:r>
            <a:r>
              <a:rPr sz="1300">
                <a:solidFill>
                  <a:srgbClr val="F2F5F8"/>
                </a:solidFill>
                <a:latin typeface="Manrope"/>
              </a:rPr>
              <a:t>Ziele mit dem Geld: 300 Kunden und 445.000 € ARR Ende 2028, positives EBITDA ab Juni 2029</a:t>
            </a:r>
          </a:p>
          <a:p>
            <a:pPr>
              <a:lnSpc>
                <a:spcPct val="115000"/>
              </a:lnSpc>
              <a:spcAft>
                <a:spcPts val="700"/>
              </a:spcAft>
            </a:pPr>
            <a:r>
              <a:rPr sz="1300" b="1">
                <a:solidFill>
                  <a:srgbClr val="C8A45C"/>
                </a:solidFill>
                <a:latin typeface="Manrope"/>
              </a:rPr>
              <a:t>—  </a:t>
            </a:r>
            <a:r>
              <a:rPr sz="1300">
                <a:solidFill>
                  <a:srgbClr val="F2F5F8"/>
                </a:solidFill>
                <a:latin typeface="Manrope"/>
              </a:rPr>
              <a:t>Form: offene Gespräche über Beteiligung oder Wandeldarlehen</a:t>
            </a:r>
          </a:p>
        </p:txBody>
      </p:sp>
      <p:graphicFrame>
        <p:nvGraphicFramePr>
          <p:cNvPr id="10" name="Chart 9"/>
          <p:cNvGraphicFramePr>
            <a:graphicFrameLocks noGrp="1"/>
          </p:cNvGraphicFramePr>
          <p:nvPr/>
        </p:nvGraphicFramePr>
        <p:xfrm>
          <a:off x="7680960" y="1188720"/>
          <a:ext cx="4023360" cy="4206240"/>
        </p:xfrm>
        <a:graphic>
          <a:graphicData uri="http://schemas.openxmlformats.org/drawingml/2006/chart">
            <c:chart xmlns:c="http://schemas.openxmlformats.org/drawingml/2006/chart" r:id="rId4"/>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c.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48640" y="384048"/>
            <a:ext cx="3657600" cy="274320"/>
          </a:xfrm>
          <a:prstGeom prst="rect">
            <a:avLst/>
          </a:prstGeom>
          <a:noFill/>
        </p:spPr>
        <p:txBody>
          <a:bodyPr wrap="square" lIns="0" rIns="0" tIns="0" bIns="0" anchor="t">
            <a:spAutoFit/>
          </a:bodyPr>
          <a:lstStyle/>
          <a:p>
            <a:pPr algn="l">
              <a:lnSpc>
                <a:spcPct val="112000"/>
              </a:lnSpc>
            </a:pPr>
            <a:r>
              <a:rPr sz="1100" b="0">
                <a:solidFill>
                  <a:srgbClr val="E6CD92"/>
                </a:solidFill>
                <a:latin typeface="Archivo ExtraBold"/>
              </a:rPr>
              <a:t>LADEKLAR</a:t>
            </a:r>
          </a:p>
        </p:txBody>
      </p:sp>
      <p:sp>
        <p:nvSpPr>
          <p:cNvPr id="4" name="TextBox 3"/>
          <p:cNvSpPr txBox="1"/>
          <p:nvPr/>
        </p:nvSpPr>
        <p:spPr>
          <a:xfrm>
            <a:off x="8869680" y="6400800"/>
            <a:ext cx="2788920" cy="274320"/>
          </a:xfrm>
          <a:prstGeom prst="rect">
            <a:avLst/>
          </a:prstGeom>
          <a:noFill/>
        </p:spPr>
        <p:txBody>
          <a:bodyPr wrap="square" lIns="0" rIns="0" tIns="0" bIns="0" anchor="t">
            <a:spAutoFit/>
          </a:bodyPr>
          <a:lstStyle/>
          <a:p>
            <a:pPr algn="r">
              <a:lnSpc>
                <a:spcPct val="112000"/>
              </a:lnSpc>
            </a:pPr>
            <a:r>
              <a:rPr sz="1000" b="0">
                <a:solidFill>
                  <a:srgbClr val="9FB0C3"/>
                </a:solidFill>
                <a:latin typeface="Manrope"/>
              </a:rPr>
              <a:t>14 / 14</a:t>
            </a:r>
          </a:p>
        </p:txBody>
      </p:sp>
      <p:sp>
        <p:nvSpPr>
          <p:cNvPr id="5" name="TextBox 4"/>
          <p:cNvSpPr txBox="1"/>
          <p:nvPr/>
        </p:nvSpPr>
        <p:spPr>
          <a:xfrm>
            <a:off x="548640" y="6400800"/>
            <a:ext cx="5486400" cy="274320"/>
          </a:xfrm>
          <a:prstGeom prst="rect">
            <a:avLst/>
          </a:prstGeom>
          <a:noFill/>
        </p:spPr>
        <p:txBody>
          <a:bodyPr wrap="square" lIns="0" rIns="0" tIns="0" bIns="0" anchor="t">
            <a:spAutoFit/>
          </a:bodyPr>
          <a:lstStyle/>
          <a:p>
            <a:pPr algn="l">
              <a:lnSpc>
                <a:spcPct val="112000"/>
              </a:lnSpc>
            </a:pPr>
            <a:r>
              <a:rPr sz="1000" b="0">
                <a:solidFill>
                  <a:srgbClr val="9FB0C3"/>
                </a:solidFill>
                <a:latin typeface="Manrope"/>
              </a:rPr>
              <a:t>Ein Tipp. Alles klar.</a:t>
            </a:r>
          </a:p>
        </p:txBody>
      </p:sp>
      <p:sp>
        <p:nvSpPr>
          <p:cNvPr id="6" name="TextBox 5"/>
          <p:cNvSpPr txBox="1"/>
          <p:nvPr/>
        </p:nvSpPr>
        <p:spPr>
          <a:xfrm>
            <a:off x="0" y="1828800"/>
            <a:ext cx="12191695" cy="1188720"/>
          </a:xfrm>
          <a:prstGeom prst="rect">
            <a:avLst/>
          </a:prstGeom>
          <a:noFill/>
        </p:spPr>
        <p:txBody>
          <a:bodyPr wrap="square" lIns="0" rIns="0" tIns="0" bIns="0" anchor="t">
            <a:spAutoFit/>
          </a:bodyPr>
          <a:lstStyle/>
          <a:p>
            <a:pPr algn="ctr">
              <a:lnSpc>
                <a:spcPct val="112000"/>
              </a:lnSpc>
            </a:pPr>
            <a:r>
              <a:rPr sz="6000" b="0">
                <a:solidFill>
                  <a:srgbClr val="F2F5F8"/>
                </a:solidFill>
                <a:latin typeface="Archivo ExtraBold"/>
              </a:rPr>
              <a:t>Ein Tipp. </a:t>
            </a:r>
            <a:r>
              <a:rPr sz="6000" b="0">
                <a:solidFill>
                  <a:srgbClr val="E6CD92"/>
                </a:solidFill>
                <a:latin typeface="Archivo ExtraBold"/>
              </a:rPr>
              <a:t>Alles klar.</a:t>
            </a:r>
          </a:p>
        </p:txBody>
      </p:sp>
      <p:sp>
        <p:nvSpPr>
          <p:cNvPr id="7" name="TextBox 6"/>
          <p:cNvSpPr txBox="1"/>
          <p:nvPr/>
        </p:nvSpPr>
        <p:spPr>
          <a:xfrm>
            <a:off x="0" y="3154680"/>
            <a:ext cx="12191695" cy="457200"/>
          </a:xfrm>
          <a:prstGeom prst="rect">
            <a:avLst/>
          </a:prstGeom>
          <a:noFill/>
        </p:spPr>
        <p:txBody>
          <a:bodyPr wrap="square" lIns="0" rIns="0" tIns="0" bIns="0" anchor="t">
            <a:spAutoFit/>
          </a:bodyPr>
          <a:lstStyle/>
          <a:p>
            <a:pPr algn="ctr">
              <a:lnSpc>
                <a:spcPct val="112000"/>
              </a:lnSpc>
            </a:pPr>
            <a:r>
              <a:rPr sz="1800" b="1">
                <a:solidFill>
                  <a:srgbClr val="F2F5F8"/>
                </a:solidFill>
                <a:latin typeface="Manrope"/>
              </a:rPr>
              <a:t>[Name] · Gründer und Lizenzgeber</a:t>
            </a:r>
          </a:p>
        </p:txBody>
      </p:sp>
      <p:sp>
        <p:nvSpPr>
          <p:cNvPr id="8" name="TextBox 7"/>
          <p:cNvSpPr txBox="1"/>
          <p:nvPr/>
        </p:nvSpPr>
        <p:spPr>
          <a:xfrm>
            <a:off x="0" y="3611880"/>
            <a:ext cx="12191695" cy="457200"/>
          </a:xfrm>
          <a:prstGeom prst="rect">
            <a:avLst/>
          </a:prstGeom>
          <a:noFill/>
        </p:spPr>
        <p:txBody>
          <a:bodyPr wrap="square" lIns="0" rIns="0" tIns="0" bIns="0" anchor="t">
            <a:spAutoFit/>
          </a:bodyPr>
          <a:lstStyle/>
          <a:p>
            <a:pPr algn="ctr">
              <a:lnSpc>
                <a:spcPct val="112000"/>
              </a:lnSpc>
            </a:pPr>
            <a:r>
              <a:rPr sz="1600" b="0">
                <a:solidFill>
                  <a:srgbClr val="9FB0C3"/>
                </a:solidFill>
                <a:latin typeface="Manrope"/>
              </a:rPr>
              <a:t>[E-Mail] · [Telefon] · [Website]</a:t>
            </a:r>
          </a:p>
        </p:txBody>
      </p:sp>
      <p:sp>
        <p:nvSpPr>
          <p:cNvPr id="9" name="Rounded Rectangle 8"/>
          <p:cNvSpPr/>
          <p:nvPr/>
        </p:nvSpPr>
        <p:spPr>
          <a:xfrm>
            <a:off x="4727448" y="4343400"/>
            <a:ext cx="2743200" cy="640080"/>
          </a:xfrm>
          <a:prstGeom prst="roundRect">
            <a:avLst>
              <a:gd name="adj" fmla="val 30000"/>
            </a:avLst>
          </a:prstGeom>
          <a:solidFill>
            <a:srgbClr val="C8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27448" y="4416552"/>
            <a:ext cx="2743200" cy="502920"/>
          </a:xfrm>
          <a:prstGeom prst="rect">
            <a:avLst/>
          </a:prstGeom>
          <a:noFill/>
        </p:spPr>
        <p:txBody>
          <a:bodyPr wrap="square" lIns="0" rIns="0" tIns="0" bIns="0" anchor="ctr">
            <a:spAutoFit/>
          </a:bodyPr>
          <a:lstStyle/>
          <a:p>
            <a:pPr algn="ctr">
              <a:lnSpc>
                <a:spcPct val="112000"/>
              </a:lnSpc>
            </a:pPr>
            <a:r>
              <a:rPr sz="1500" b="1">
                <a:solidFill>
                  <a:srgbClr val="0B1622"/>
                </a:solidFill>
                <a:latin typeface="Manrope"/>
              </a:rPr>
              <a:t>30 Tage kostenlos testen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